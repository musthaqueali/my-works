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3.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324" r:id="rId26"/>
    <p:sldId id="280" r:id="rId27"/>
    <p:sldId id="281" r:id="rId28"/>
    <p:sldId id="282" r:id="rId29"/>
    <p:sldId id="283" r:id="rId30"/>
    <p:sldId id="284" r:id="rId31"/>
    <p:sldId id="285" r:id="rId32"/>
    <p:sldId id="325" r:id="rId33"/>
    <p:sldId id="286" r:id="rId34"/>
    <p:sldId id="287" r:id="rId35"/>
    <p:sldId id="326" r:id="rId36"/>
    <p:sldId id="288" r:id="rId37"/>
    <p:sldId id="289" r:id="rId38"/>
    <p:sldId id="290" r:id="rId39"/>
    <p:sldId id="291" r:id="rId40"/>
    <p:sldId id="292" r:id="rId41"/>
    <p:sldId id="293" r:id="rId42"/>
    <p:sldId id="294" r:id="rId43"/>
    <p:sldId id="295" r:id="rId44"/>
    <p:sldId id="296" r:id="rId45"/>
    <p:sldId id="327" r:id="rId46"/>
    <p:sldId id="328" r:id="rId47"/>
    <p:sldId id="297" r:id="rId48"/>
    <p:sldId id="298" r:id="rId49"/>
    <p:sldId id="329" r:id="rId50"/>
    <p:sldId id="299" r:id="rId51"/>
    <p:sldId id="300" r:id="rId52"/>
    <p:sldId id="330" r:id="rId53"/>
    <p:sldId id="301" r:id="rId54"/>
    <p:sldId id="331" r:id="rId55"/>
    <p:sldId id="332" r:id="rId56"/>
    <p:sldId id="333" r:id="rId57"/>
    <p:sldId id="302" r:id="rId58"/>
    <p:sldId id="303" r:id="rId59"/>
    <p:sldId id="304" r:id="rId60"/>
    <p:sldId id="305" r:id="rId61"/>
    <p:sldId id="306" r:id="rId62"/>
    <p:sldId id="307" r:id="rId63"/>
    <p:sldId id="308" r:id="rId64"/>
    <p:sldId id="334" r:id="rId65"/>
    <p:sldId id="309" r:id="rId66"/>
    <p:sldId id="310" r:id="rId67"/>
    <p:sldId id="311" r:id="rId68"/>
    <p:sldId id="312" r:id="rId69"/>
    <p:sldId id="335" r:id="rId70"/>
    <p:sldId id="313" r:id="rId71"/>
    <p:sldId id="314" r:id="rId72"/>
    <p:sldId id="315" r:id="rId73"/>
    <p:sldId id="316" r:id="rId74"/>
    <p:sldId id="317" r:id="rId75"/>
    <p:sldId id="318" r:id="rId76"/>
    <p:sldId id="319" r:id="rId77"/>
    <p:sldId id="320" r:id="rId78"/>
    <p:sldId id="321" r:id="rId79"/>
    <p:sldId id="322" r:id="rId80"/>
    <p:sldId id="323" r:id="rId8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1712"/>
                </a:solidFill>
                <a:latin typeface="Cambria"/>
              </a:defRPr>
            </a:pPr>
            <a:r>
              <a:rPr lang="en-US" sz="1200" b="0" i="0" u="none" strike="noStrike">
                <a:solidFill>
                  <a:srgbClr val="1C1712"/>
                </a:solidFill>
                <a:latin typeface="Cambria"/>
              </a:rPr>
              <a:t>Sensitivity: Availability vs. Unplanned Downtime</a:t>
            </a:r>
          </a:p>
        </c:rich>
      </c:tx>
      <c:overlay val="0"/>
    </c:title>
    <c:autoTitleDeleted val="0"/>
    <c:plotArea>
      <c:layout/>
      <c:lineChart>
        <c:grouping val="standard"/>
        <c:varyColors val="0"/>
        <c:ser>
          <c:idx val="0"/>
          <c:order val="0"/>
          <c:tx>
            <c:strRef>
              <c:f>Sheet1!$B$1</c:f>
              <c:strCache>
                <c:ptCount val="1"/>
                <c:pt idx="0">
                  <c:v>Availability (%) — Uptime 8,500 h, Planned DT 40 h</c:v>
                </c:pt>
              </c:strCache>
            </c:strRef>
          </c:tx>
          <c:spPr>
            <a:ln w="31750" cap="flat">
              <a:solidFill>
                <a:srgbClr val="7A1F1A"/>
              </a:solidFill>
              <a:prstDash val="solid"/>
              <a:round/>
            </a:ln>
            <a:effectLst/>
          </c:spPr>
          <c:marker>
            <c:symbol val="none"/>
          </c:marker>
          <c:cat>
            <c:strRef>
              <c:f>Sheet1!$A$2:$A$14</c:f>
              <c:strCache>
                <c:ptCount val="13"/>
                <c:pt idx="0">
                  <c:v>0</c:v>
                </c:pt>
                <c:pt idx="1">
                  <c:v>50</c:v>
                </c:pt>
                <c:pt idx="2">
                  <c:v>100</c:v>
                </c:pt>
                <c:pt idx="3">
                  <c:v>150</c:v>
                </c:pt>
                <c:pt idx="4">
                  <c:v>200</c:v>
                </c:pt>
                <c:pt idx="5">
                  <c:v>250</c:v>
                </c:pt>
                <c:pt idx="6">
                  <c:v>300</c:v>
                </c:pt>
                <c:pt idx="7">
                  <c:v>350</c:v>
                </c:pt>
                <c:pt idx="8">
                  <c:v>400</c:v>
                </c:pt>
                <c:pt idx="9">
                  <c:v>450</c:v>
                </c:pt>
                <c:pt idx="10">
                  <c:v>500</c:v>
                </c:pt>
                <c:pt idx="11">
                  <c:v>550</c:v>
                </c:pt>
                <c:pt idx="12">
                  <c:v>600</c:v>
                </c:pt>
              </c:strCache>
            </c:strRef>
          </c:cat>
          <c:val>
            <c:numRef>
              <c:f>Sheet1!$B$2:$B$14</c:f>
              <c:numCache>
                <c:formatCode>General</c:formatCode>
                <c:ptCount val="13"/>
                <c:pt idx="0">
                  <c:v>99.531999999999996</c:v>
                </c:pt>
                <c:pt idx="1">
                  <c:v>98.951999999999998</c:v>
                </c:pt>
                <c:pt idx="2">
                  <c:v>98.38</c:v>
                </c:pt>
                <c:pt idx="3">
                  <c:v>97.813999999999993</c:v>
                </c:pt>
                <c:pt idx="4">
                  <c:v>97.254000000000005</c:v>
                </c:pt>
                <c:pt idx="5">
                  <c:v>96.700999999999993</c:v>
                </c:pt>
                <c:pt idx="6">
                  <c:v>96.153999999999996</c:v>
                </c:pt>
                <c:pt idx="7">
                  <c:v>95.613</c:v>
                </c:pt>
                <c:pt idx="8">
                  <c:v>95.078000000000003</c:v>
                </c:pt>
                <c:pt idx="9">
                  <c:v>94.549000000000007</c:v>
                </c:pt>
                <c:pt idx="10">
                  <c:v>94.027000000000001</c:v>
                </c:pt>
                <c:pt idx="11">
                  <c:v>93.509</c:v>
                </c:pt>
                <c:pt idx="12">
                  <c:v>92.998000000000005</c:v>
                </c:pt>
              </c:numCache>
            </c:numRef>
          </c:val>
          <c:smooth val="0"/>
          <c:extLst>
            <c:ext xmlns:c16="http://schemas.microsoft.com/office/drawing/2014/chart" uri="{C3380CC4-5D6E-409C-BE32-E72D297353CC}">
              <c16:uniqueId val="{00000000-57FE-41E5-A963-4CFC1D16F424}"/>
            </c:ext>
          </c:extLst>
        </c:ser>
        <c:ser>
          <c:idx val="1"/>
          <c:order val="1"/>
          <c:tx>
            <c:strRef>
              <c:f>Sheet1!$C$1</c:f>
              <c:strCache>
                <c:ptCount val="1"/>
                <c:pt idx="0">
                  <c:v>99% Industrial Benchmark</c:v>
                </c:pt>
              </c:strCache>
            </c:strRef>
          </c:tx>
          <c:spPr>
            <a:ln w="31750" cap="flat">
              <a:solidFill>
                <a:srgbClr val="7A1F1A"/>
              </a:solidFill>
              <a:prstDash val="solid"/>
              <a:round/>
            </a:ln>
            <a:effectLst/>
          </c:spPr>
          <c:marker>
            <c:symbol val="none"/>
          </c:marker>
          <c:cat>
            <c:strRef>
              <c:f>Sheet1!$A$2:$A$14</c:f>
              <c:strCache>
                <c:ptCount val="13"/>
                <c:pt idx="0">
                  <c:v>0</c:v>
                </c:pt>
                <c:pt idx="1">
                  <c:v>50</c:v>
                </c:pt>
                <c:pt idx="2">
                  <c:v>100</c:v>
                </c:pt>
                <c:pt idx="3">
                  <c:v>150</c:v>
                </c:pt>
                <c:pt idx="4">
                  <c:v>200</c:v>
                </c:pt>
                <c:pt idx="5">
                  <c:v>250</c:v>
                </c:pt>
                <c:pt idx="6">
                  <c:v>300</c:v>
                </c:pt>
                <c:pt idx="7">
                  <c:v>350</c:v>
                </c:pt>
                <c:pt idx="8">
                  <c:v>400</c:v>
                </c:pt>
                <c:pt idx="9">
                  <c:v>450</c:v>
                </c:pt>
                <c:pt idx="10">
                  <c:v>500</c:v>
                </c:pt>
                <c:pt idx="11">
                  <c:v>550</c:v>
                </c:pt>
                <c:pt idx="12">
                  <c:v>600</c:v>
                </c:pt>
              </c:strCache>
            </c:strRef>
          </c:cat>
          <c:val>
            <c:numRef>
              <c:f>Sheet1!$C$2:$C$14</c:f>
              <c:numCache>
                <c:formatCode>General</c:formatCode>
                <c:ptCount val="13"/>
                <c:pt idx="0">
                  <c:v>99</c:v>
                </c:pt>
                <c:pt idx="1">
                  <c:v>99</c:v>
                </c:pt>
                <c:pt idx="2">
                  <c:v>99</c:v>
                </c:pt>
                <c:pt idx="3">
                  <c:v>99</c:v>
                </c:pt>
                <c:pt idx="4">
                  <c:v>99</c:v>
                </c:pt>
                <c:pt idx="5">
                  <c:v>99</c:v>
                </c:pt>
                <c:pt idx="6">
                  <c:v>99</c:v>
                </c:pt>
                <c:pt idx="7">
                  <c:v>99</c:v>
                </c:pt>
                <c:pt idx="8">
                  <c:v>99</c:v>
                </c:pt>
                <c:pt idx="9">
                  <c:v>99</c:v>
                </c:pt>
                <c:pt idx="10">
                  <c:v>99</c:v>
                </c:pt>
                <c:pt idx="11">
                  <c:v>99</c:v>
                </c:pt>
                <c:pt idx="12">
                  <c:v>99</c:v>
                </c:pt>
              </c:numCache>
            </c:numRef>
          </c:val>
          <c:smooth val="0"/>
          <c:extLst>
            <c:ext xmlns:c16="http://schemas.microsoft.com/office/drawing/2014/chart" uri="{C3380CC4-5D6E-409C-BE32-E72D297353CC}">
              <c16:uniqueId val="{00000001-57FE-41E5-A963-4CFC1D16F424}"/>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A5347"/>
                    </a:solidFill>
                    <a:latin typeface="Arial"/>
                  </a:defRPr>
                </a:pPr>
                <a:r>
                  <a:rPr lang="en-IN" sz="1000" b="0" i="0" u="none" strike="noStrike">
                    <a:solidFill>
                      <a:srgbClr val="5A5347"/>
                    </a:solidFill>
                    <a:latin typeface="Arial"/>
                  </a:rPr>
                  <a:t>Unplanned Downtime (hrs / yr)</a:t>
                </a:r>
              </a:p>
            </c:rich>
          </c:tx>
          <c:overlay val="0"/>
        </c:title>
        <c:numFmt formatCode="General" sourceLinked="1"/>
        <c:majorTickMark val="out"/>
        <c:minorTickMark val="none"/>
        <c:tickLblPos val="low"/>
        <c:spPr>
          <a:ln w="12700" cap="flat">
            <a:solidFill>
              <a:srgbClr val="A68C5E"/>
            </a:solidFill>
            <a:prstDash val="solid"/>
            <a:round/>
          </a:ln>
        </c:spPr>
        <c:txPr>
          <a:bodyPr/>
          <a:lstStyle/>
          <a:p>
            <a:pPr>
              <a:defRPr sz="1000" b="0" i="0" u="none" strike="noStrike">
                <a:solidFill>
                  <a:srgbClr val="5A5347"/>
                </a:solidFill>
                <a:latin typeface="Calibri"/>
              </a:defRPr>
            </a:pPr>
            <a:endParaRPr lang="en-US"/>
          </a:p>
        </c:txPr>
        <c:crossAx val="2094734552"/>
        <c:crosses val="autoZero"/>
        <c:auto val="1"/>
        <c:lblAlgn val="ctr"/>
        <c:lblOffset val="100"/>
        <c:noMultiLvlLbl val="1"/>
      </c:catAx>
      <c:valAx>
        <c:axId val="2094734552"/>
        <c:scaling>
          <c:orientation val="minMax"/>
          <c:max val="100"/>
          <c:min val="92"/>
        </c:scaling>
        <c:delete val="0"/>
        <c:axPos val="l"/>
        <c:majorGridlines>
          <c:spPr>
            <a:ln w="6350" cap="flat">
              <a:solidFill>
                <a:srgbClr val="D9C9A8"/>
              </a:solidFill>
              <a:prstDash val="solid"/>
              <a:round/>
            </a:ln>
          </c:spPr>
        </c:majorGridlines>
        <c:title>
          <c:tx>
            <c:rich>
              <a:bodyPr/>
              <a:lstStyle/>
              <a:p>
                <a:pPr>
                  <a:defRPr sz="1000" b="0" i="0" u="none" strike="noStrike">
                    <a:solidFill>
                      <a:srgbClr val="5A5347"/>
                    </a:solidFill>
                    <a:latin typeface="Arial"/>
                  </a:defRPr>
                </a:pPr>
                <a:r>
                  <a:rPr lang="en-IN" sz="1000" b="0" i="0" u="none" strike="noStrike">
                    <a:solidFill>
                      <a:srgbClr val="5A5347"/>
                    </a:solidFill>
                    <a:latin typeface="Arial"/>
                  </a:rPr>
                  <a:t>Availability (%)</a:t>
                </a:r>
              </a:p>
            </c:rich>
          </c:tx>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A5347"/>
                </a:solidFill>
                <a:latin typeface="Calibri"/>
              </a:defRPr>
            </a:pPr>
            <a:endParaRPr lang="en-US"/>
          </a:p>
        </c:txPr>
        <c:crossAx val="2094734554"/>
        <c:crosses val="autoZero"/>
        <c:crossBetween val="between"/>
        <c:majorUnit val="1"/>
      </c:valAx>
      <c:spPr>
        <a:solidFill>
          <a:srgbClr val="FBF4E4"/>
        </a:solidFill>
        <a:ln>
          <a:noFill/>
        </a:ln>
        <a:effectLst/>
      </c:spPr>
    </c:plotArea>
    <c:legend>
      <c:legendPos val="b"/>
      <c:overlay val="0"/>
      <c:txPr>
        <a:bodyPr/>
        <a:lstStyle/>
        <a:p>
          <a:pPr>
            <a:defRPr sz="1050">
              <a:solidFill>
                <a:srgbClr val="2C261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1712"/>
                </a:solidFill>
                <a:latin typeface="Cambria"/>
              </a:defRPr>
            </a:pPr>
            <a:r>
              <a:rPr lang="en-US" sz="1200" b="0" i="0" u="none" strike="noStrike">
                <a:solidFill>
                  <a:srgbClr val="1C1712"/>
                </a:solidFill>
                <a:latin typeface="Cambria"/>
              </a:rPr>
              <a:t>Hazard Rate h(t) vs. Operating Time by Shape Parameter β</a:t>
            </a:r>
          </a:p>
        </c:rich>
      </c:tx>
      <c:overlay val="0"/>
    </c:title>
    <c:autoTitleDeleted val="0"/>
    <c:plotArea>
      <c:layout/>
      <c:lineChart>
        <c:grouping val="standard"/>
        <c:varyColors val="0"/>
        <c:ser>
          <c:idx val="0"/>
          <c:order val="0"/>
          <c:tx>
            <c:strRef>
              <c:f>Sheet1!$B$1</c:f>
              <c:strCache>
                <c:ptCount val="1"/>
                <c:pt idx="0">
                  <c:v>β = 0.5 (Infant)</c:v>
                </c:pt>
              </c:strCache>
            </c:strRef>
          </c:tx>
          <c:spPr>
            <a:ln w="31750" cap="flat">
              <a:solidFill>
                <a:srgbClr val="1A4A6E"/>
              </a:solidFill>
              <a:prstDash val="solid"/>
              <a:round/>
            </a:ln>
            <a:effectLst/>
          </c:spPr>
          <c:marker>
            <c:symbol val="none"/>
          </c:marker>
          <c:cat>
            <c:strRef>
              <c:f>Sheet1!$A$2:$A$42</c:f>
              <c:strCache>
                <c:ptCount val="4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strCache>
            </c:strRef>
          </c:cat>
          <c:val>
            <c:numRef>
              <c:f>Sheet1!$B$2:$B$42</c:f>
              <c:numCache>
                <c:formatCode>General</c:formatCode>
                <c:ptCount val="41"/>
                <c:pt idx="0">
                  <c:v>2</c:v>
                </c:pt>
                <c:pt idx="1">
                  <c:v>0.84499999999999997</c:v>
                </c:pt>
                <c:pt idx="2">
                  <c:v>0.59799999999999998</c:v>
                </c:pt>
                <c:pt idx="3">
                  <c:v>0.48799999999999999</c:v>
                </c:pt>
                <c:pt idx="4">
                  <c:v>0.42299999999999999</c:v>
                </c:pt>
                <c:pt idx="5">
                  <c:v>0.378</c:v>
                </c:pt>
                <c:pt idx="6">
                  <c:v>0.34499999999999997</c:v>
                </c:pt>
                <c:pt idx="7">
                  <c:v>0.31900000000000001</c:v>
                </c:pt>
                <c:pt idx="8">
                  <c:v>0.29899999999999999</c:v>
                </c:pt>
                <c:pt idx="9">
                  <c:v>0.28199999999999997</c:v>
                </c:pt>
                <c:pt idx="10">
                  <c:v>0.26700000000000002</c:v>
                </c:pt>
                <c:pt idx="11">
                  <c:v>0.255</c:v>
                </c:pt>
                <c:pt idx="12">
                  <c:v>0.24399999999999999</c:v>
                </c:pt>
                <c:pt idx="13">
                  <c:v>0.23400000000000001</c:v>
                </c:pt>
                <c:pt idx="14">
                  <c:v>0.22600000000000001</c:v>
                </c:pt>
                <c:pt idx="15">
                  <c:v>0.218</c:v>
                </c:pt>
                <c:pt idx="16">
                  <c:v>0.21099999999999999</c:v>
                </c:pt>
                <c:pt idx="17">
                  <c:v>0.20499999999999999</c:v>
                </c:pt>
                <c:pt idx="18">
                  <c:v>0.19900000000000001</c:v>
                </c:pt>
                <c:pt idx="19">
                  <c:v>0.19400000000000001</c:v>
                </c:pt>
                <c:pt idx="20">
                  <c:v>0.189</c:v>
                </c:pt>
                <c:pt idx="21">
                  <c:v>0.184</c:v>
                </c:pt>
                <c:pt idx="22">
                  <c:v>0.18</c:v>
                </c:pt>
                <c:pt idx="23">
                  <c:v>0.17599999999999999</c:v>
                </c:pt>
                <c:pt idx="24">
                  <c:v>0.17299999999999999</c:v>
                </c:pt>
                <c:pt idx="25">
                  <c:v>0.16900000000000001</c:v>
                </c:pt>
                <c:pt idx="26">
                  <c:v>0.16600000000000001</c:v>
                </c:pt>
                <c:pt idx="27">
                  <c:v>0.16300000000000001</c:v>
                </c:pt>
                <c:pt idx="28">
                  <c:v>0.16</c:v>
                </c:pt>
                <c:pt idx="29">
                  <c:v>0.157</c:v>
                </c:pt>
                <c:pt idx="30">
                  <c:v>0.154</c:v>
                </c:pt>
                <c:pt idx="31">
                  <c:v>0.152</c:v>
                </c:pt>
                <c:pt idx="32">
                  <c:v>0.14899999999999999</c:v>
                </c:pt>
                <c:pt idx="33">
                  <c:v>0.14699999999999999</c:v>
                </c:pt>
                <c:pt idx="34">
                  <c:v>0.14499999999999999</c:v>
                </c:pt>
                <c:pt idx="35">
                  <c:v>0.14299999999999999</c:v>
                </c:pt>
                <c:pt idx="36">
                  <c:v>0.14099999999999999</c:v>
                </c:pt>
                <c:pt idx="37">
                  <c:v>0.13900000000000001</c:v>
                </c:pt>
                <c:pt idx="38">
                  <c:v>0.13700000000000001</c:v>
                </c:pt>
                <c:pt idx="39">
                  <c:v>0.13500000000000001</c:v>
                </c:pt>
                <c:pt idx="40">
                  <c:v>0.13400000000000001</c:v>
                </c:pt>
              </c:numCache>
            </c:numRef>
          </c:val>
          <c:smooth val="0"/>
          <c:extLst>
            <c:ext xmlns:c16="http://schemas.microsoft.com/office/drawing/2014/chart" uri="{C3380CC4-5D6E-409C-BE32-E72D297353CC}">
              <c16:uniqueId val="{00000000-92E9-4B93-A7C1-094477E9CBA1}"/>
            </c:ext>
          </c:extLst>
        </c:ser>
        <c:ser>
          <c:idx val="1"/>
          <c:order val="1"/>
          <c:tx>
            <c:strRef>
              <c:f>Sheet1!$C$1</c:f>
              <c:strCache>
                <c:ptCount val="1"/>
                <c:pt idx="0">
                  <c:v>β = 1.0 (Random)</c:v>
                </c:pt>
              </c:strCache>
            </c:strRef>
          </c:tx>
          <c:spPr>
            <a:ln w="31750" cap="flat">
              <a:solidFill>
                <a:srgbClr val="7A1F1A"/>
              </a:solidFill>
              <a:prstDash val="solid"/>
              <a:round/>
            </a:ln>
            <a:effectLst/>
          </c:spPr>
          <c:marker>
            <c:symbol val="none"/>
          </c:marker>
          <c:cat>
            <c:strRef>
              <c:f>Sheet1!$A$2:$A$42</c:f>
              <c:strCache>
                <c:ptCount val="4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strCache>
            </c:strRef>
          </c:cat>
          <c:val>
            <c:numRef>
              <c:f>Sheet1!$C$2:$C$42</c:f>
              <c:numCache>
                <c:formatCode>General</c:formatCode>
                <c:ptCount val="41"/>
                <c:pt idx="0">
                  <c:v>0</c:v>
                </c:pt>
                <c:pt idx="1">
                  <c:v>0.28599999999999998</c:v>
                </c:pt>
                <c:pt idx="2">
                  <c:v>0.28599999999999998</c:v>
                </c:pt>
                <c:pt idx="3">
                  <c:v>0.28599999999999998</c:v>
                </c:pt>
                <c:pt idx="4">
                  <c:v>0.28599999999999998</c:v>
                </c:pt>
                <c:pt idx="5">
                  <c:v>0.28599999999999998</c:v>
                </c:pt>
                <c:pt idx="6">
                  <c:v>0.28599999999999998</c:v>
                </c:pt>
                <c:pt idx="7">
                  <c:v>0.28599999999999998</c:v>
                </c:pt>
                <c:pt idx="8">
                  <c:v>0.28599999999999998</c:v>
                </c:pt>
                <c:pt idx="9">
                  <c:v>0.28599999999999998</c:v>
                </c:pt>
                <c:pt idx="10">
                  <c:v>0.28599999999999998</c:v>
                </c:pt>
                <c:pt idx="11">
                  <c:v>0.28599999999999998</c:v>
                </c:pt>
                <c:pt idx="12">
                  <c:v>0.28599999999999998</c:v>
                </c:pt>
                <c:pt idx="13">
                  <c:v>0.28599999999999998</c:v>
                </c:pt>
                <c:pt idx="14">
                  <c:v>0.28599999999999998</c:v>
                </c:pt>
                <c:pt idx="15">
                  <c:v>0.28599999999999998</c:v>
                </c:pt>
                <c:pt idx="16">
                  <c:v>0.28599999999999998</c:v>
                </c:pt>
                <c:pt idx="17">
                  <c:v>0.28599999999999998</c:v>
                </c:pt>
                <c:pt idx="18">
                  <c:v>0.28599999999999998</c:v>
                </c:pt>
                <c:pt idx="19">
                  <c:v>0.28599999999999998</c:v>
                </c:pt>
                <c:pt idx="20">
                  <c:v>0.28599999999999998</c:v>
                </c:pt>
                <c:pt idx="21">
                  <c:v>0.28599999999999998</c:v>
                </c:pt>
                <c:pt idx="22">
                  <c:v>0.28599999999999998</c:v>
                </c:pt>
                <c:pt idx="23">
                  <c:v>0.28599999999999998</c:v>
                </c:pt>
                <c:pt idx="24">
                  <c:v>0.28599999999999998</c:v>
                </c:pt>
                <c:pt idx="25">
                  <c:v>0.28599999999999998</c:v>
                </c:pt>
                <c:pt idx="26">
                  <c:v>0.28599999999999998</c:v>
                </c:pt>
                <c:pt idx="27">
                  <c:v>0.28599999999999998</c:v>
                </c:pt>
                <c:pt idx="28">
                  <c:v>0.28599999999999998</c:v>
                </c:pt>
                <c:pt idx="29">
                  <c:v>0.28599999999999998</c:v>
                </c:pt>
                <c:pt idx="30">
                  <c:v>0.28599999999999998</c:v>
                </c:pt>
                <c:pt idx="31">
                  <c:v>0.28599999999999998</c:v>
                </c:pt>
                <c:pt idx="32">
                  <c:v>0.28599999999999998</c:v>
                </c:pt>
                <c:pt idx="33">
                  <c:v>0.28599999999999998</c:v>
                </c:pt>
                <c:pt idx="34">
                  <c:v>0.28599999999999998</c:v>
                </c:pt>
                <c:pt idx="35">
                  <c:v>0.28599999999999998</c:v>
                </c:pt>
                <c:pt idx="36">
                  <c:v>0.28599999999999998</c:v>
                </c:pt>
                <c:pt idx="37">
                  <c:v>0.28599999999999998</c:v>
                </c:pt>
                <c:pt idx="38">
                  <c:v>0.28599999999999998</c:v>
                </c:pt>
                <c:pt idx="39">
                  <c:v>0.28599999999999998</c:v>
                </c:pt>
                <c:pt idx="40">
                  <c:v>0.28599999999999998</c:v>
                </c:pt>
              </c:numCache>
            </c:numRef>
          </c:val>
          <c:smooth val="0"/>
          <c:extLst>
            <c:ext xmlns:c16="http://schemas.microsoft.com/office/drawing/2014/chart" uri="{C3380CC4-5D6E-409C-BE32-E72D297353CC}">
              <c16:uniqueId val="{00000001-92E9-4B93-A7C1-094477E9CBA1}"/>
            </c:ext>
          </c:extLst>
        </c:ser>
        <c:ser>
          <c:idx val="2"/>
          <c:order val="2"/>
          <c:tx>
            <c:strRef>
              <c:f>Sheet1!$D$1</c:f>
              <c:strCache>
                <c:ptCount val="1"/>
                <c:pt idx="0">
                  <c:v>β = 3.5 (Wear-out)</c:v>
                </c:pt>
              </c:strCache>
            </c:strRef>
          </c:tx>
          <c:spPr>
            <a:ln w="31750" cap="flat">
              <a:solidFill>
                <a:srgbClr val="2F6B3A"/>
              </a:solidFill>
              <a:prstDash val="solid"/>
              <a:round/>
            </a:ln>
            <a:effectLst/>
          </c:spPr>
          <c:marker>
            <c:symbol val="none"/>
          </c:marker>
          <c:cat>
            <c:strRef>
              <c:f>Sheet1!$A$2:$A$42</c:f>
              <c:strCache>
                <c:ptCount val="4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strCache>
            </c:strRef>
          </c:cat>
          <c:val>
            <c:numRef>
              <c:f>Sheet1!$D$2:$D$42</c:f>
              <c:numCache>
                <c:formatCode>General</c:formatCode>
                <c:ptCount val="41"/>
                <c:pt idx="0">
                  <c:v>0</c:v>
                </c:pt>
                <c:pt idx="1">
                  <c:v>0</c:v>
                </c:pt>
                <c:pt idx="2">
                  <c:v>1E-3</c:v>
                </c:pt>
                <c:pt idx="3">
                  <c:v>2E-3</c:v>
                </c:pt>
                <c:pt idx="4">
                  <c:v>4.0000000000000001E-3</c:v>
                </c:pt>
                <c:pt idx="5">
                  <c:v>8.0000000000000002E-3</c:v>
                </c:pt>
                <c:pt idx="6">
                  <c:v>1.2E-2</c:v>
                </c:pt>
                <c:pt idx="7">
                  <c:v>1.7999999999999999E-2</c:v>
                </c:pt>
                <c:pt idx="8">
                  <c:v>2.5000000000000001E-2</c:v>
                </c:pt>
                <c:pt idx="9">
                  <c:v>3.4000000000000002E-2</c:v>
                </c:pt>
                <c:pt idx="10">
                  <c:v>4.3999999999999997E-2</c:v>
                </c:pt>
                <c:pt idx="11">
                  <c:v>5.5E-2</c:v>
                </c:pt>
                <c:pt idx="12">
                  <c:v>6.9000000000000006E-2</c:v>
                </c:pt>
                <c:pt idx="13">
                  <c:v>8.4000000000000005E-2</c:v>
                </c:pt>
                <c:pt idx="14">
                  <c:v>0.10100000000000001</c:v>
                </c:pt>
                <c:pt idx="15">
                  <c:v>0.12</c:v>
                </c:pt>
                <c:pt idx="16">
                  <c:v>0.14099999999999999</c:v>
                </c:pt>
                <c:pt idx="17">
                  <c:v>0.16400000000000001</c:v>
                </c:pt>
                <c:pt idx="18">
                  <c:v>0.19</c:v>
                </c:pt>
                <c:pt idx="19">
                  <c:v>0.217</c:v>
                </c:pt>
                <c:pt idx="20">
                  <c:v>0.247</c:v>
                </c:pt>
                <c:pt idx="21">
                  <c:v>0.27900000000000003</c:v>
                </c:pt>
                <c:pt idx="22">
                  <c:v>0.313</c:v>
                </c:pt>
                <c:pt idx="23">
                  <c:v>0.35</c:v>
                </c:pt>
                <c:pt idx="24">
                  <c:v>0.38900000000000001</c:v>
                </c:pt>
                <c:pt idx="25">
                  <c:v>0.43099999999999999</c:v>
                </c:pt>
                <c:pt idx="26">
                  <c:v>0.47599999999999998</c:v>
                </c:pt>
                <c:pt idx="27">
                  <c:v>0.52300000000000002</c:v>
                </c:pt>
                <c:pt idx="28">
                  <c:v>0.57199999999999995</c:v>
                </c:pt>
                <c:pt idx="29">
                  <c:v>0.625</c:v>
                </c:pt>
                <c:pt idx="30">
                  <c:v>0.68</c:v>
                </c:pt>
                <c:pt idx="31">
                  <c:v>0.73799999999999999</c:v>
                </c:pt>
                <c:pt idx="32">
                  <c:v>0.79900000000000004</c:v>
                </c:pt>
                <c:pt idx="33">
                  <c:v>0.86299999999999999</c:v>
                </c:pt>
                <c:pt idx="34">
                  <c:v>0.93</c:v>
                </c:pt>
                <c:pt idx="35">
                  <c:v>1</c:v>
                </c:pt>
                <c:pt idx="36">
                  <c:v>1.073</c:v>
                </c:pt>
                <c:pt idx="37">
                  <c:v>1.149</c:v>
                </c:pt>
                <c:pt idx="38">
                  <c:v>1.228</c:v>
                </c:pt>
                <c:pt idx="39">
                  <c:v>1.3109999999999999</c:v>
                </c:pt>
                <c:pt idx="40">
                  <c:v>1.3959999999999999</c:v>
                </c:pt>
              </c:numCache>
            </c:numRef>
          </c:val>
          <c:smooth val="0"/>
          <c:extLst>
            <c:ext xmlns:c16="http://schemas.microsoft.com/office/drawing/2014/chart" uri="{C3380CC4-5D6E-409C-BE32-E72D297353CC}">
              <c16:uniqueId val="{00000002-92E9-4B93-A7C1-094477E9CBA1}"/>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A5347"/>
                    </a:solidFill>
                    <a:latin typeface="Arial"/>
                  </a:defRPr>
                </a:pPr>
                <a:r>
                  <a:rPr lang="en-IN" sz="1000" b="0" i="0" u="none" strike="noStrike">
                    <a:solidFill>
                      <a:srgbClr val="5A5347"/>
                    </a:solidFill>
                    <a:latin typeface="Arial"/>
                  </a:rPr>
                  <a:t>Operating Time (t)</a:t>
                </a:r>
              </a:p>
            </c:rich>
          </c:tx>
          <c:overlay val="0"/>
        </c:title>
        <c:numFmt formatCode="General" sourceLinked="1"/>
        <c:majorTickMark val="out"/>
        <c:minorTickMark val="none"/>
        <c:tickLblPos val="low"/>
        <c:spPr>
          <a:ln w="12700" cap="flat">
            <a:solidFill>
              <a:srgbClr val="A68C5E"/>
            </a:solidFill>
            <a:prstDash val="solid"/>
            <a:round/>
          </a:ln>
        </c:spPr>
        <c:txPr>
          <a:bodyPr/>
          <a:lstStyle/>
          <a:p>
            <a:pPr>
              <a:defRPr sz="1000" b="0" i="0" u="none" strike="noStrike">
                <a:solidFill>
                  <a:srgbClr val="5A5347"/>
                </a:solidFill>
                <a:latin typeface="Calibri"/>
              </a:defRPr>
            </a:pPr>
            <a:endParaRPr lang="en-US"/>
          </a:p>
        </c:txPr>
        <c:crossAx val="2094734552"/>
        <c:crosses val="autoZero"/>
        <c:auto val="1"/>
        <c:lblAlgn val="ctr"/>
        <c:lblOffset val="100"/>
        <c:noMultiLvlLbl val="1"/>
      </c:catAx>
      <c:valAx>
        <c:axId val="2094734552"/>
        <c:scaling>
          <c:orientation val="minMax"/>
          <c:max val="2"/>
          <c:min val="0"/>
        </c:scaling>
        <c:delete val="0"/>
        <c:axPos val="l"/>
        <c:majorGridlines>
          <c:spPr>
            <a:ln w="6350" cap="flat">
              <a:solidFill>
                <a:srgbClr val="D9C9A8"/>
              </a:solidFill>
              <a:prstDash val="solid"/>
              <a:round/>
            </a:ln>
          </c:spPr>
        </c:majorGridlines>
        <c:title>
          <c:tx>
            <c:rich>
              <a:bodyPr/>
              <a:lstStyle/>
              <a:p>
                <a:pPr>
                  <a:defRPr sz="1000" b="0" i="0" u="none" strike="noStrike">
                    <a:solidFill>
                      <a:srgbClr val="5A5347"/>
                    </a:solidFill>
                    <a:latin typeface="Arial"/>
                  </a:defRPr>
                </a:pPr>
                <a:r>
                  <a:rPr lang="en-IN" sz="1000" b="0" i="0" u="none" strike="noStrike">
                    <a:solidFill>
                      <a:srgbClr val="5A5347"/>
                    </a:solidFill>
                    <a:latin typeface="Arial"/>
                  </a:rPr>
                  <a:t>Hazard Rate h(t)</a:t>
                </a:r>
              </a:p>
            </c:rich>
          </c:tx>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A5347"/>
                </a:solidFill>
                <a:latin typeface="Calibri"/>
              </a:defRPr>
            </a:pPr>
            <a:endParaRPr lang="en-US"/>
          </a:p>
        </c:txPr>
        <c:crossAx val="2094734554"/>
        <c:crosses val="autoZero"/>
        <c:crossBetween val="between"/>
      </c:valAx>
      <c:spPr>
        <a:solidFill>
          <a:srgbClr val="FBF4E4"/>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1712"/>
                </a:solidFill>
                <a:latin typeface="Cambria"/>
              </a:defRPr>
            </a:pPr>
            <a:r>
              <a:rPr lang="en-US" sz="1200" b="0" i="0" u="none" strike="noStrike">
                <a:solidFill>
                  <a:srgbClr val="1C1712"/>
                </a:solidFill>
                <a:latin typeface="Cambria"/>
              </a:rPr>
              <a:t>Monetized Risk vs. POF at Fixed Consequence</a:t>
            </a:r>
          </a:p>
        </c:rich>
      </c:tx>
      <c:overlay val="0"/>
    </c:title>
    <c:autoTitleDeleted val="0"/>
    <c:plotArea>
      <c:layout/>
      <c:lineChart>
        <c:grouping val="standard"/>
        <c:varyColors val="0"/>
        <c:ser>
          <c:idx val="0"/>
          <c:order val="0"/>
          <c:tx>
            <c:strRef>
              <c:f>Sheet1!$B$1</c:f>
              <c:strCache>
                <c:ptCount val="1"/>
                <c:pt idx="0">
                  <c:v>Annualized Risk @ COF $500k</c:v>
                </c:pt>
              </c:strCache>
            </c:strRef>
          </c:tx>
          <c:spPr>
            <a:ln w="31750" cap="flat">
              <a:solidFill>
                <a:srgbClr val="7A1F1A"/>
              </a:solidFill>
              <a:prstDash val="solid"/>
              <a:round/>
            </a:ln>
            <a:effectLst/>
          </c:spPr>
          <c:marker>
            <c:symbol val="none"/>
          </c:marker>
          <c:cat>
            <c:strRef>
              <c:f>Sheet1!$A$2:$A$17</c:f>
              <c:strCache>
                <c:ptCount val="1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strCache>
            </c:strRef>
          </c:cat>
          <c:val>
            <c:numRef>
              <c:f>Sheet1!$B$2:$B$17</c:f>
              <c:numCache>
                <c:formatCode>General</c:formatCode>
                <c:ptCount val="16"/>
                <c:pt idx="0">
                  <c:v>0</c:v>
                </c:pt>
                <c:pt idx="1">
                  <c:v>10000</c:v>
                </c:pt>
                <c:pt idx="2">
                  <c:v>20000</c:v>
                </c:pt>
                <c:pt idx="3">
                  <c:v>30000</c:v>
                </c:pt>
                <c:pt idx="4">
                  <c:v>40000</c:v>
                </c:pt>
                <c:pt idx="5">
                  <c:v>50000</c:v>
                </c:pt>
                <c:pt idx="6">
                  <c:v>60000</c:v>
                </c:pt>
                <c:pt idx="7">
                  <c:v>70000</c:v>
                </c:pt>
                <c:pt idx="8">
                  <c:v>80000</c:v>
                </c:pt>
                <c:pt idx="9">
                  <c:v>90000</c:v>
                </c:pt>
                <c:pt idx="10">
                  <c:v>100000</c:v>
                </c:pt>
                <c:pt idx="11">
                  <c:v>110000</c:v>
                </c:pt>
                <c:pt idx="12">
                  <c:v>120000</c:v>
                </c:pt>
                <c:pt idx="13">
                  <c:v>130000</c:v>
                </c:pt>
                <c:pt idx="14">
                  <c:v>140000</c:v>
                </c:pt>
                <c:pt idx="15">
                  <c:v>150000</c:v>
                </c:pt>
              </c:numCache>
            </c:numRef>
          </c:val>
          <c:smooth val="0"/>
          <c:extLst>
            <c:ext xmlns:c16="http://schemas.microsoft.com/office/drawing/2014/chart" uri="{C3380CC4-5D6E-409C-BE32-E72D297353CC}">
              <c16:uniqueId val="{00000000-038B-4B56-8D6C-4560F86D6766}"/>
            </c:ext>
          </c:extLst>
        </c:ser>
        <c:ser>
          <c:idx val="1"/>
          <c:order val="1"/>
          <c:tx>
            <c:strRef>
              <c:f>Sheet1!$C$1</c:f>
              <c:strCache>
                <c:ptCount val="1"/>
                <c:pt idx="0">
                  <c:v>Corporate Risk Ceiling ($100k/yr)</c:v>
                </c:pt>
              </c:strCache>
            </c:strRef>
          </c:tx>
          <c:spPr>
            <a:ln w="31750" cap="flat">
              <a:solidFill>
                <a:srgbClr val="1A4A6E"/>
              </a:solidFill>
              <a:prstDash val="solid"/>
              <a:round/>
            </a:ln>
            <a:effectLst/>
          </c:spPr>
          <c:marker>
            <c:symbol val="none"/>
          </c:marker>
          <c:cat>
            <c:strRef>
              <c:f>Sheet1!$A$2:$A$17</c:f>
              <c:strCache>
                <c:ptCount val="16"/>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strCache>
            </c:strRef>
          </c:cat>
          <c:val>
            <c:numRef>
              <c:f>Sheet1!$C$2:$C$17</c:f>
              <c:numCache>
                <c:formatCode>General</c:formatCode>
                <c:ptCount val="16"/>
                <c:pt idx="0">
                  <c:v>100000</c:v>
                </c:pt>
                <c:pt idx="1">
                  <c:v>100000</c:v>
                </c:pt>
                <c:pt idx="2">
                  <c:v>100000</c:v>
                </c:pt>
                <c:pt idx="3">
                  <c:v>100000</c:v>
                </c:pt>
                <c:pt idx="4">
                  <c:v>100000</c:v>
                </c:pt>
                <c:pt idx="5">
                  <c:v>100000</c:v>
                </c:pt>
                <c:pt idx="6">
                  <c:v>100000</c:v>
                </c:pt>
                <c:pt idx="7">
                  <c:v>100000</c:v>
                </c:pt>
                <c:pt idx="8">
                  <c:v>100000</c:v>
                </c:pt>
                <c:pt idx="9">
                  <c:v>100000</c:v>
                </c:pt>
                <c:pt idx="10">
                  <c:v>100000</c:v>
                </c:pt>
                <c:pt idx="11">
                  <c:v>100000</c:v>
                </c:pt>
                <c:pt idx="12">
                  <c:v>100000</c:v>
                </c:pt>
                <c:pt idx="13">
                  <c:v>100000</c:v>
                </c:pt>
                <c:pt idx="14">
                  <c:v>100000</c:v>
                </c:pt>
                <c:pt idx="15">
                  <c:v>100000</c:v>
                </c:pt>
              </c:numCache>
            </c:numRef>
          </c:val>
          <c:smooth val="0"/>
          <c:extLst>
            <c:ext xmlns:c16="http://schemas.microsoft.com/office/drawing/2014/chart" uri="{C3380CC4-5D6E-409C-BE32-E72D297353CC}">
              <c16:uniqueId val="{00000001-038B-4B56-8D6C-4560F86D6766}"/>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A5347"/>
                    </a:solidFill>
                    <a:latin typeface="Arial"/>
                  </a:defRPr>
                </a:pPr>
                <a:r>
                  <a:rPr lang="en-IN" sz="1000" b="0" i="0" u="none" strike="noStrike">
                    <a:solidFill>
                      <a:srgbClr val="5A5347"/>
                    </a:solidFill>
                    <a:latin typeface="Arial"/>
                  </a:rPr>
                  <a:t>Probability of Failure</a:t>
                </a:r>
              </a:p>
            </c:rich>
          </c:tx>
          <c:overlay val="0"/>
        </c:title>
        <c:numFmt formatCode="General" sourceLinked="1"/>
        <c:majorTickMark val="out"/>
        <c:minorTickMark val="none"/>
        <c:tickLblPos val="low"/>
        <c:spPr>
          <a:ln w="12700" cap="flat">
            <a:solidFill>
              <a:srgbClr val="A68C5E"/>
            </a:solidFill>
            <a:prstDash val="solid"/>
            <a:round/>
          </a:ln>
        </c:spPr>
        <c:txPr>
          <a:bodyPr/>
          <a:lstStyle/>
          <a:p>
            <a:pPr>
              <a:defRPr sz="1000" b="0" i="0" u="none" strike="noStrike">
                <a:solidFill>
                  <a:srgbClr val="5A5347"/>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C9A8"/>
              </a:solidFill>
              <a:prstDash val="solid"/>
              <a:round/>
            </a:ln>
          </c:spPr>
        </c:majorGridlines>
        <c:title>
          <c:tx>
            <c:rich>
              <a:bodyPr/>
              <a:lstStyle/>
              <a:p>
                <a:pPr>
                  <a:defRPr sz="1000" b="0" i="0" u="none" strike="noStrike">
                    <a:solidFill>
                      <a:srgbClr val="5A5347"/>
                    </a:solidFill>
                    <a:latin typeface="Arial"/>
                  </a:defRPr>
                </a:pPr>
                <a:r>
                  <a:rPr lang="en-IN" sz="1000" b="0" i="0" u="none" strike="noStrike">
                    <a:solidFill>
                      <a:srgbClr val="5A5347"/>
                    </a:solidFill>
                    <a:latin typeface="Arial"/>
                  </a:rPr>
                  <a:t>Annual Risk ($)</a:t>
                </a:r>
              </a:p>
            </c:rich>
          </c:tx>
          <c:overlay val="0"/>
        </c:title>
        <c:numFmt formatCode="\$#,##0" sourceLinked="0"/>
        <c:majorTickMark val="out"/>
        <c:minorTickMark val="none"/>
        <c:tickLblPos val="nextTo"/>
        <c:spPr>
          <a:ln w="12700" cap="flat">
            <a:noFill/>
            <a:prstDash val="solid"/>
            <a:round/>
          </a:ln>
        </c:spPr>
        <c:txPr>
          <a:bodyPr/>
          <a:lstStyle/>
          <a:p>
            <a:pPr>
              <a:defRPr sz="1000" b="0" i="0" u="none" strike="noStrike">
                <a:solidFill>
                  <a:srgbClr val="5A5347"/>
                </a:solidFill>
                <a:latin typeface="Calibri"/>
              </a:defRPr>
            </a:pPr>
            <a:endParaRPr lang="en-US"/>
          </a:p>
        </c:txPr>
        <c:crossAx val="2094734554"/>
        <c:crosses val="autoZero"/>
        <c:crossBetween val="between"/>
      </c:valAx>
      <c:spPr>
        <a:solidFill>
          <a:srgbClr val="FBF4E4"/>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4743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jpg"/><Relationship Id="rId7"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57.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64.png"/></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1.png"/><Relationship Id="rId4" Type="http://schemas.openxmlformats.org/officeDocument/2006/relationships/image" Target="../media/image70.png"/></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74.png"/></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75.png"/></Relationships>
</file>

<file path=ppt/slides/_rels/slide5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76.png"/></Relationships>
</file>

<file path=ppt/slides/_rels/slide5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78.png"/></Relationships>
</file>

<file path=ppt/slides/_rels/slide5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jpg"/><Relationship Id="rId7" Type="http://schemas.openxmlformats.org/officeDocument/2006/relationships/image" Target="../media/image8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image" Target="../media/image83.png"/></Relationships>
</file>

<file path=ppt/slides/_rels/slide5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87.png"/></Relationships>
</file>

<file path=ppt/slides/_rels/slide5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5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9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6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6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97.png"/><Relationship Id="rId4" Type="http://schemas.openxmlformats.org/officeDocument/2006/relationships/image" Target="../media/image96.png"/></Relationships>
</file>

<file path=ppt/slides/_rels/slide63.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6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6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6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106.png"/></Relationships>
</file>

<file path=ppt/slides/_rels/slide6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80.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6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111.png"/></Relationships>
</file>

<file path=ppt/slides/_rels/slide7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113.png"/><Relationship Id="rId4" Type="http://schemas.openxmlformats.org/officeDocument/2006/relationships/image" Target="../media/image112.png"/></Relationships>
</file>

<file path=ppt/slides/_rels/slide7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1.xml"/><Relationship Id="rId1" Type="http://schemas.openxmlformats.org/officeDocument/2006/relationships/slideLayout" Target="../slideLayouts/slideLayout1.xml"/><Relationship Id="rId4" Type="http://schemas.openxmlformats.org/officeDocument/2006/relationships/image" Target="../media/image114.png"/></Relationships>
</file>

<file path=ppt/slides/_rels/slide7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115.png"/></Relationships>
</file>

<file path=ppt/slides/_rels/slide7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117.png"/><Relationship Id="rId4" Type="http://schemas.openxmlformats.org/officeDocument/2006/relationships/image" Target="../media/image116.png"/></Relationships>
</file>

<file path=ppt/slides/_rels/slide7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118.png"/></Relationships>
</file>

<file path=ppt/slides/_rels/slide7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20.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19.png"/><Relationship Id="rId4" Type="http://schemas.openxmlformats.org/officeDocument/2006/relationships/image" Target="../media/image11.png"/></Relationships>
</file>

<file path=ppt/slides/_rels/slide79.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124.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s>
</file>

<file path=ppt/slides/_rels/slide8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BD7"/>
        </a:solidFill>
        <a:effectLst/>
      </p:bgPr>
    </p:bg>
    <p:spTree>
      <p:nvGrpSpPr>
        <p:cNvPr id="1" name=""/>
        <p:cNvGrpSpPr/>
        <p:nvPr/>
      </p:nvGrpSpPr>
      <p:grpSpPr>
        <a:xfrm>
          <a:off x="0" y="0"/>
          <a:ext cx="0" cy="0"/>
          <a:chOff x="0" y="0"/>
          <a:chExt cx="0" cy="0"/>
        </a:xfrm>
      </p:grpSpPr>
      <p:pic>
        <p:nvPicPr>
          <p:cNvPr id="2" name="Image 0" descr="assets/bg_cover.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10896"/>
            <a:ext cx="3657600" cy="219456"/>
          </a:xfrm>
          <a:prstGeom prst="rect">
            <a:avLst/>
          </a:prstGeom>
          <a:noFill/>
          <a:ln/>
        </p:spPr>
        <p:txBody>
          <a:bodyPr wrap="square" lIns="0" tIns="0" rIns="0" bIns="0" rtlCol="0" anchor="t"/>
          <a:lstStyle/>
          <a:p>
            <a:pPr marL="0" indent="0">
              <a:buNone/>
            </a:pPr>
            <a:r>
              <a:rPr lang="en-US" sz="950" b="1" kern="0" spc="100" dirty="0">
                <a:solidFill>
                  <a:srgbClr val="5A5347"/>
                </a:solidFill>
                <a:latin typeface="Courier New" pitchFamily="34" charset="0"/>
                <a:ea typeface="Courier New" pitchFamily="34" charset="-122"/>
                <a:cs typeface="Courier New" pitchFamily="34" charset="-120"/>
              </a:rPr>
              <a:t>VOL. VII — NO. 26</a:t>
            </a:r>
            <a:endParaRPr lang="en-US" sz="950" dirty="0"/>
          </a:p>
        </p:txBody>
      </p:sp>
      <p:sp>
        <p:nvSpPr>
          <p:cNvPr id="4" name="Text 1"/>
          <p:cNvSpPr txBox="1"/>
          <p:nvPr/>
        </p:nvSpPr>
        <p:spPr>
          <a:xfrm>
            <a:off x="3657600" y="310896"/>
            <a:ext cx="4873752" cy="219456"/>
          </a:xfrm>
          <a:prstGeom prst="rect">
            <a:avLst/>
          </a:prstGeom>
          <a:noFill/>
          <a:ln/>
        </p:spPr>
        <p:txBody>
          <a:bodyPr wrap="square" lIns="0" tIns="0" rIns="0" bIns="0" rtlCol="0" anchor="t"/>
          <a:lstStyle/>
          <a:p>
            <a:pPr marL="0" indent="0" algn="ctr">
              <a:buNone/>
            </a:pPr>
            <a:r>
              <a:rPr lang="en-US" sz="950" kern="0" spc="100" dirty="0">
                <a:solidFill>
                  <a:srgbClr val="5A5347"/>
                </a:solidFill>
                <a:latin typeface="Courier New" pitchFamily="34" charset="0"/>
                <a:ea typeface="Courier New" pitchFamily="34" charset="-122"/>
                <a:cs typeface="Courier New" pitchFamily="34" charset="-120"/>
              </a:rPr>
              <a:t>PINNACLE RELIABILITY · HYDERABAD DISPATCH</a:t>
            </a:r>
            <a:endParaRPr lang="en-US" sz="950" dirty="0"/>
          </a:p>
        </p:txBody>
      </p:sp>
      <p:sp>
        <p:nvSpPr>
          <p:cNvPr id="5" name="Text 2"/>
          <p:cNvSpPr txBox="1"/>
          <p:nvPr/>
        </p:nvSpPr>
        <p:spPr>
          <a:xfrm>
            <a:off x="8531352" y="310896"/>
            <a:ext cx="3108960" cy="219456"/>
          </a:xfrm>
          <a:prstGeom prst="rect">
            <a:avLst/>
          </a:prstGeom>
          <a:noFill/>
          <a:ln/>
        </p:spPr>
        <p:txBody>
          <a:bodyPr wrap="square" lIns="0" tIns="0" rIns="0" bIns="0" rtlCol="0" anchor="t"/>
          <a:lstStyle/>
          <a:p>
            <a:pPr marL="0" indent="0" algn="r">
              <a:buNone/>
            </a:pPr>
            <a:r>
              <a:rPr lang="en-US" sz="950" b="1" kern="0" spc="100" dirty="0">
                <a:solidFill>
                  <a:srgbClr val="5A5347"/>
                </a:solidFill>
                <a:latin typeface="Courier New" pitchFamily="34" charset="0"/>
                <a:ea typeface="Courier New" pitchFamily="34" charset="-122"/>
                <a:cs typeface="Courier New" pitchFamily="34" charset="-120"/>
              </a:rPr>
              <a:t>AUGUST 2026</a:t>
            </a:r>
            <a:endParaRPr lang="en-US" sz="950" dirty="0"/>
          </a:p>
        </p:txBody>
      </p:sp>
      <p:sp>
        <p:nvSpPr>
          <p:cNvPr id="6" name="Shape 3"/>
          <p:cNvSpPr/>
          <p:nvPr/>
        </p:nvSpPr>
        <p:spPr>
          <a:xfrm>
            <a:off x="548640" y="603504"/>
            <a:ext cx="11091672" cy="41148"/>
          </a:xfrm>
          <a:prstGeom prst="rect">
            <a:avLst/>
          </a:prstGeom>
          <a:solidFill>
            <a:srgbClr val="1C1712"/>
          </a:solidFill>
          <a:ln w="12700">
            <a:solidFill>
              <a:srgbClr val="333333"/>
            </a:solidFill>
            <a:prstDash val="solid"/>
          </a:ln>
        </p:spPr>
        <p:txBody>
          <a:bodyPr/>
          <a:lstStyle/>
          <a:p>
            <a:endParaRPr lang="en-IN"/>
          </a:p>
        </p:txBody>
      </p:sp>
      <p:sp>
        <p:nvSpPr>
          <p:cNvPr id="7" name="Shape 4"/>
          <p:cNvSpPr/>
          <p:nvPr/>
        </p:nvSpPr>
        <p:spPr>
          <a:xfrm>
            <a:off x="548640" y="685800"/>
            <a:ext cx="11091672" cy="0"/>
          </a:xfrm>
          <a:prstGeom prst="line">
            <a:avLst/>
          </a:prstGeom>
          <a:noFill/>
          <a:ln w="12700">
            <a:solidFill>
              <a:srgbClr val="1C1712"/>
            </a:solidFill>
            <a:prstDash val="solid"/>
          </a:ln>
        </p:spPr>
        <p:txBody>
          <a:bodyPr/>
          <a:lstStyle/>
          <a:p>
            <a:endParaRPr lang="en-IN"/>
          </a:p>
        </p:txBody>
      </p:sp>
      <p:sp>
        <p:nvSpPr>
          <p:cNvPr id="8" name="Text 5"/>
          <p:cNvSpPr txBox="1"/>
          <p:nvPr/>
        </p:nvSpPr>
        <p:spPr>
          <a:xfrm>
            <a:off x="548640" y="731520"/>
            <a:ext cx="11091672" cy="237744"/>
          </a:xfrm>
          <a:prstGeom prst="rect">
            <a:avLst/>
          </a:prstGeom>
          <a:noFill/>
          <a:ln/>
        </p:spPr>
        <p:txBody>
          <a:bodyPr wrap="square" lIns="0" tIns="0" rIns="0" bIns="0" rtlCol="0" anchor="t"/>
          <a:lstStyle/>
          <a:p>
            <a:pPr marL="0" indent="0" algn="ctr">
              <a:buNone/>
            </a:pPr>
            <a:r>
              <a:rPr lang="en-US" sz="1000" b="1" kern="0" spc="300" dirty="0">
                <a:solidFill>
                  <a:srgbClr val="7A1F1A"/>
                </a:solidFill>
                <a:latin typeface="Courier New" pitchFamily="34" charset="0"/>
                <a:ea typeface="Courier New" pitchFamily="34" charset="-122"/>
                <a:cs typeface="Courier New" pitchFamily="34" charset="-120"/>
              </a:rPr>
              <a:t>MECHANICAL INTEGRITY &amp; RELIABILITY DISPATCH</a:t>
            </a:r>
            <a:endParaRPr lang="en-US" sz="1000" dirty="0"/>
          </a:p>
        </p:txBody>
      </p:sp>
      <p:sp>
        <p:nvSpPr>
          <p:cNvPr id="9" name="Shape 6"/>
          <p:cNvSpPr/>
          <p:nvPr/>
        </p:nvSpPr>
        <p:spPr>
          <a:xfrm>
            <a:off x="548640" y="1024128"/>
            <a:ext cx="11091672" cy="0"/>
          </a:xfrm>
          <a:prstGeom prst="line">
            <a:avLst/>
          </a:prstGeom>
          <a:noFill/>
          <a:ln w="12700">
            <a:solidFill>
              <a:srgbClr val="1C1712"/>
            </a:solidFill>
            <a:prstDash val="solid"/>
          </a:ln>
        </p:spPr>
        <p:txBody>
          <a:bodyPr/>
          <a:lstStyle/>
          <a:p>
            <a:endParaRPr lang="en-IN"/>
          </a:p>
        </p:txBody>
      </p:sp>
      <p:sp>
        <p:nvSpPr>
          <p:cNvPr id="10" name="Text 7"/>
          <p:cNvSpPr txBox="1"/>
          <p:nvPr/>
        </p:nvSpPr>
        <p:spPr>
          <a:xfrm>
            <a:off x="548640" y="1234440"/>
            <a:ext cx="11091672" cy="1554480"/>
          </a:xfrm>
          <a:prstGeom prst="rect">
            <a:avLst/>
          </a:prstGeom>
          <a:noFill/>
          <a:ln/>
        </p:spPr>
        <p:txBody>
          <a:bodyPr wrap="square" lIns="0" tIns="0" rIns="0" bIns="0" rtlCol="0" anchor="ctr">
            <a:normAutofit/>
          </a:bodyPr>
          <a:lstStyle/>
          <a:p>
            <a:pPr marL="0" indent="0" algn="ctr">
              <a:buNone/>
            </a:pPr>
            <a:r>
              <a:rPr lang="en-US" sz="5500" b="1" dirty="0">
                <a:solidFill>
                  <a:srgbClr val="1C1712"/>
                </a:solidFill>
                <a:latin typeface="Cambria" pitchFamily="34" charset="0"/>
                <a:ea typeface="Cambria" pitchFamily="34" charset="-122"/>
                <a:cs typeface="Cambria" pitchFamily="34" charset="-120"/>
              </a:rPr>
              <a:t>Quantitative Reliability Optimization</a:t>
            </a:r>
            <a:endParaRPr lang="en-US" sz="5500" dirty="0"/>
          </a:p>
        </p:txBody>
      </p:sp>
      <p:sp>
        <p:nvSpPr>
          <p:cNvPr id="11" name="Shape 8"/>
          <p:cNvSpPr/>
          <p:nvPr/>
        </p:nvSpPr>
        <p:spPr>
          <a:xfrm>
            <a:off x="2194560" y="2852928"/>
            <a:ext cx="7799832" cy="0"/>
          </a:xfrm>
          <a:prstGeom prst="line">
            <a:avLst/>
          </a:prstGeom>
          <a:noFill/>
          <a:ln w="19050">
            <a:solidFill>
              <a:srgbClr val="7A1F1A"/>
            </a:solidFill>
            <a:prstDash val="solid"/>
          </a:ln>
        </p:spPr>
        <p:txBody>
          <a:bodyPr/>
          <a:lstStyle/>
          <a:p>
            <a:endParaRPr lang="en-IN"/>
          </a:p>
        </p:txBody>
      </p:sp>
      <p:sp>
        <p:nvSpPr>
          <p:cNvPr id="12" name="Text 9"/>
          <p:cNvSpPr txBox="1"/>
          <p:nvPr/>
        </p:nvSpPr>
        <p:spPr>
          <a:xfrm>
            <a:off x="548640" y="2962656"/>
            <a:ext cx="11091672" cy="365760"/>
          </a:xfrm>
          <a:prstGeom prst="rect">
            <a:avLst/>
          </a:prstGeom>
          <a:noFill/>
          <a:ln/>
        </p:spPr>
        <p:txBody>
          <a:bodyPr wrap="square" lIns="0" tIns="0" rIns="0" bIns="0" rtlCol="0" anchor="t"/>
          <a:lstStyle/>
          <a:p>
            <a:pPr marL="0" indent="0" algn="ctr">
              <a:buNone/>
            </a:pPr>
            <a:r>
              <a:rPr lang="en-US" sz="1800" i="1" dirty="0">
                <a:solidFill>
                  <a:srgbClr val="2C261E"/>
                </a:solidFill>
                <a:latin typeface="Cambria" pitchFamily="34" charset="0"/>
                <a:ea typeface="Cambria" pitchFamily="34" charset="-122"/>
                <a:cs typeface="Cambria" pitchFamily="34" charset="-120"/>
              </a:rPr>
              <a:t>Empowering Better Reliability Decisions for Industrial Facilities</a:t>
            </a:r>
            <a:endParaRPr lang="en-US" sz="1800" dirty="0"/>
          </a:p>
        </p:txBody>
      </p:sp>
      <p:sp>
        <p:nvSpPr>
          <p:cNvPr id="13" name="Shape 10"/>
          <p:cNvSpPr/>
          <p:nvPr/>
        </p:nvSpPr>
        <p:spPr>
          <a:xfrm>
            <a:off x="548640" y="3520440"/>
            <a:ext cx="11091672" cy="0"/>
          </a:xfrm>
          <a:prstGeom prst="line">
            <a:avLst/>
          </a:prstGeom>
          <a:noFill/>
          <a:ln w="9525">
            <a:solidFill>
              <a:srgbClr val="A68C5E"/>
            </a:solidFill>
            <a:prstDash val="solid"/>
          </a:ln>
        </p:spPr>
        <p:txBody>
          <a:bodyPr/>
          <a:lstStyle/>
          <a:p>
            <a:endParaRPr lang="en-IN"/>
          </a:p>
        </p:txBody>
      </p:sp>
      <p:sp>
        <p:nvSpPr>
          <p:cNvPr id="14" name="Text 11"/>
          <p:cNvSpPr txBox="1"/>
          <p:nvPr/>
        </p:nvSpPr>
        <p:spPr>
          <a:xfrm>
            <a:off x="548640" y="3703320"/>
            <a:ext cx="3566160" cy="219456"/>
          </a:xfrm>
          <a:prstGeom prst="rect">
            <a:avLst/>
          </a:prstGeom>
          <a:noFill/>
          <a:ln/>
        </p:spPr>
        <p:txBody>
          <a:bodyPr wrap="square" lIns="0" tIns="0" rIns="0" bIns="0" rtlCol="0" anchor="t"/>
          <a:lstStyle/>
          <a:p>
            <a:pPr marL="0" indent="0" algn="ctr">
              <a:buNone/>
            </a:pPr>
            <a:r>
              <a:rPr lang="en-US" sz="950" b="1" kern="0" spc="150" dirty="0">
                <a:solidFill>
                  <a:srgbClr val="7A1F1A"/>
                </a:solidFill>
                <a:latin typeface="Courier New" pitchFamily="34" charset="0"/>
                <a:ea typeface="Courier New" pitchFamily="34" charset="-122"/>
                <a:cs typeface="Courier New" pitchFamily="34" charset="-120"/>
              </a:rPr>
              <a:t>THE FRAMEWORK</a:t>
            </a:r>
            <a:endParaRPr lang="en-US" sz="950" dirty="0"/>
          </a:p>
        </p:txBody>
      </p:sp>
      <p:sp>
        <p:nvSpPr>
          <p:cNvPr id="15" name="Text 12"/>
          <p:cNvSpPr txBox="1"/>
          <p:nvPr/>
        </p:nvSpPr>
        <p:spPr>
          <a:xfrm>
            <a:off x="548640" y="3986784"/>
            <a:ext cx="3566160" cy="1097280"/>
          </a:xfrm>
          <a:prstGeom prst="rect">
            <a:avLst/>
          </a:prstGeom>
          <a:noFill/>
          <a:ln/>
        </p:spPr>
        <p:txBody>
          <a:bodyPr wrap="square" lIns="0" tIns="0" rIns="0" bIns="0" rtlCol="0" anchor="t"/>
          <a:lstStyle/>
          <a:p>
            <a:pPr marL="0" indent="0" algn="l">
              <a:buNone/>
            </a:pPr>
            <a:r>
              <a:rPr lang="en-US" sz="1250" dirty="0">
                <a:solidFill>
                  <a:srgbClr val="2C261E"/>
                </a:solidFill>
                <a:latin typeface="Cambria" pitchFamily="34" charset="0"/>
                <a:ea typeface="Cambria" pitchFamily="34" charset="-122"/>
                <a:cs typeface="Cambria" pitchFamily="34" charset="-120"/>
              </a:rPr>
              <a:t>An advanced, multi-variate operational framework uniting Asset Risk Analysis, Lifetime Variability Curves, Markov-chain availability simulation, and value-driven task optimization.</a:t>
            </a:r>
            <a:endParaRPr lang="en-US" sz="1250" dirty="0"/>
          </a:p>
        </p:txBody>
      </p:sp>
      <p:sp>
        <p:nvSpPr>
          <p:cNvPr id="16" name="Shape 13"/>
          <p:cNvSpPr/>
          <p:nvPr/>
        </p:nvSpPr>
        <p:spPr>
          <a:xfrm>
            <a:off x="4178808" y="3703320"/>
            <a:ext cx="0" cy="1371600"/>
          </a:xfrm>
          <a:prstGeom prst="line">
            <a:avLst/>
          </a:prstGeom>
          <a:noFill/>
          <a:ln w="9525">
            <a:solidFill>
              <a:srgbClr val="C9B48F"/>
            </a:solidFill>
            <a:prstDash val="solid"/>
          </a:ln>
        </p:spPr>
        <p:txBody>
          <a:bodyPr/>
          <a:lstStyle/>
          <a:p>
            <a:endParaRPr lang="en-IN"/>
          </a:p>
        </p:txBody>
      </p:sp>
      <p:sp>
        <p:nvSpPr>
          <p:cNvPr id="17" name="Text 14"/>
          <p:cNvSpPr txBox="1"/>
          <p:nvPr/>
        </p:nvSpPr>
        <p:spPr>
          <a:xfrm>
            <a:off x="4242816" y="3703320"/>
            <a:ext cx="3566160" cy="219456"/>
          </a:xfrm>
          <a:prstGeom prst="rect">
            <a:avLst/>
          </a:prstGeom>
          <a:noFill/>
          <a:ln/>
        </p:spPr>
        <p:txBody>
          <a:bodyPr wrap="square" lIns="0" tIns="0" rIns="0" bIns="0" rtlCol="0" anchor="t"/>
          <a:lstStyle/>
          <a:p>
            <a:pPr marL="0" indent="0" algn="ctr">
              <a:buNone/>
            </a:pPr>
            <a:r>
              <a:rPr lang="en-US" sz="950" b="1" kern="0" spc="150" dirty="0">
                <a:solidFill>
                  <a:srgbClr val="7A1F1A"/>
                </a:solidFill>
                <a:latin typeface="Courier New" pitchFamily="34" charset="0"/>
                <a:ea typeface="Courier New" pitchFamily="34" charset="-122"/>
                <a:cs typeface="Courier New" pitchFamily="34" charset="-120"/>
              </a:rPr>
              <a:t>THE MANDATE</a:t>
            </a:r>
            <a:endParaRPr lang="en-US" sz="950" dirty="0"/>
          </a:p>
        </p:txBody>
      </p:sp>
      <p:sp>
        <p:nvSpPr>
          <p:cNvPr id="18" name="Text 15"/>
          <p:cNvSpPr txBox="1"/>
          <p:nvPr/>
        </p:nvSpPr>
        <p:spPr>
          <a:xfrm>
            <a:off x="4242816" y="3986784"/>
            <a:ext cx="3566160" cy="1097280"/>
          </a:xfrm>
          <a:prstGeom prst="rect">
            <a:avLst/>
          </a:prstGeom>
          <a:noFill/>
          <a:ln/>
        </p:spPr>
        <p:txBody>
          <a:bodyPr wrap="square" lIns="0" tIns="0" rIns="0" bIns="0" rtlCol="0" anchor="t"/>
          <a:lstStyle/>
          <a:p>
            <a:pPr marL="0" indent="0" algn="l">
              <a:buNone/>
            </a:pPr>
            <a:r>
              <a:rPr lang="en-US" sz="1250" dirty="0">
                <a:solidFill>
                  <a:srgbClr val="2C261E"/>
                </a:solidFill>
                <a:latin typeface="Cambria" pitchFamily="34" charset="0"/>
                <a:ea typeface="Cambria" pitchFamily="34" charset="-122"/>
                <a:cs typeface="Cambria" pitchFamily="34" charset="-120"/>
              </a:rPr>
              <a:t>Model every facet of plant reliability dynamically, updated in near-real-time as fresh inspection and sensor telemetry emerges from the field.</a:t>
            </a:r>
            <a:endParaRPr lang="en-US" sz="1250" dirty="0"/>
          </a:p>
        </p:txBody>
      </p:sp>
      <p:sp>
        <p:nvSpPr>
          <p:cNvPr id="19" name="Shape 16"/>
          <p:cNvSpPr/>
          <p:nvPr/>
        </p:nvSpPr>
        <p:spPr>
          <a:xfrm>
            <a:off x="7872984" y="3703320"/>
            <a:ext cx="0" cy="1371600"/>
          </a:xfrm>
          <a:prstGeom prst="line">
            <a:avLst/>
          </a:prstGeom>
          <a:noFill/>
          <a:ln w="9525">
            <a:solidFill>
              <a:srgbClr val="C9B48F"/>
            </a:solidFill>
            <a:prstDash val="solid"/>
          </a:ln>
        </p:spPr>
        <p:txBody>
          <a:bodyPr/>
          <a:lstStyle/>
          <a:p>
            <a:endParaRPr lang="en-IN"/>
          </a:p>
        </p:txBody>
      </p:sp>
      <p:sp>
        <p:nvSpPr>
          <p:cNvPr id="20" name="Text 17"/>
          <p:cNvSpPr txBox="1"/>
          <p:nvPr/>
        </p:nvSpPr>
        <p:spPr>
          <a:xfrm>
            <a:off x="7936992" y="3703320"/>
            <a:ext cx="3566160" cy="219456"/>
          </a:xfrm>
          <a:prstGeom prst="rect">
            <a:avLst/>
          </a:prstGeom>
          <a:noFill/>
          <a:ln/>
        </p:spPr>
        <p:txBody>
          <a:bodyPr wrap="square" lIns="0" tIns="0" rIns="0" bIns="0" rtlCol="0" anchor="t"/>
          <a:lstStyle/>
          <a:p>
            <a:pPr marL="0" indent="0" algn="ctr">
              <a:buNone/>
            </a:pPr>
            <a:r>
              <a:rPr lang="en-US" sz="950" b="1" kern="0" spc="150" dirty="0">
                <a:solidFill>
                  <a:srgbClr val="7A1F1A"/>
                </a:solidFill>
                <a:latin typeface="Courier New" pitchFamily="34" charset="0"/>
                <a:ea typeface="Courier New" pitchFamily="34" charset="-122"/>
                <a:cs typeface="Courier New" pitchFamily="34" charset="-120"/>
              </a:rPr>
              <a:t>THE OUTCOME</a:t>
            </a:r>
            <a:endParaRPr lang="en-US" sz="950" dirty="0"/>
          </a:p>
        </p:txBody>
      </p:sp>
      <p:sp>
        <p:nvSpPr>
          <p:cNvPr id="21" name="Text 18"/>
          <p:cNvSpPr txBox="1"/>
          <p:nvPr/>
        </p:nvSpPr>
        <p:spPr>
          <a:xfrm>
            <a:off x="7936992" y="3986784"/>
            <a:ext cx="3566160" cy="1097280"/>
          </a:xfrm>
          <a:prstGeom prst="rect">
            <a:avLst/>
          </a:prstGeom>
          <a:noFill/>
          <a:ln/>
        </p:spPr>
        <p:txBody>
          <a:bodyPr wrap="square" lIns="0" tIns="0" rIns="0" bIns="0" rtlCol="0" anchor="t"/>
          <a:lstStyle/>
          <a:p>
            <a:pPr marL="0" indent="0" algn="l">
              <a:buNone/>
            </a:pPr>
            <a:r>
              <a:rPr lang="en-US" sz="1250" dirty="0">
                <a:solidFill>
                  <a:srgbClr val="2C261E"/>
                </a:solidFill>
                <a:latin typeface="Cambria" pitchFamily="34" charset="0"/>
                <a:ea typeface="Cambria" pitchFamily="34" charset="-122"/>
                <a:cs typeface="Cambria" pitchFamily="34" charset="-120"/>
              </a:rPr>
              <a:t>Highest reliability performance at the lowest possible cost — every maintenance dollar ranked by quantified Benefit-Cost Ratio and bounded by hard HSE ceilings.</a:t>
            </a:r>
            <a:endParaRPr lang="en-US" sz="1250" dirty="0"/>
          </a:p>
        </p:txBody>
      </p:sp>
      <p:sp>
        <p:nvSpPr>
          <p:cNvPr id="22" name="Shape 19"/>
          <p:cNvSpPr/>
          <p:nvPr/>
        </p:nvSpPr>
        <p:spPr>
          <a:xfrm>
            <a:off x="548640" y="5230368"/>
            <a:ext cx="11091672" cy="0"/>
          </a:xfrm>
          <a:prstGeom prst="line">
            <a:avLst/>
          </a:prstGeom>
          <a:noFill/>
          <a:ln w="12700">
            <a:solidFill>
              <a:srgbClr val="1C1712"/>
            </a:solidFill>
            <a:prstDash val="solid"/>
          </a:ln>
        </p:spPr>
        <p:txBody>
          <a:bodyPr/>
          <a:lstStyle/>
          <a:p>
            <a:endParaRPr lang="en-IN"/>
          </a:p>
        </p:txBody>
      </p:sp>
      <p:sp>
        <p:nvSpPr>
          <p:cNvPr id="23" name="Text 20"/>
          <p:cNvSpPr txBox="1"/>
          <p:nvPr/>
        </p:nvSpPr>
        <p:spPr>
          <a:xfrm>
            <a:off x="548640" y="5440680"/>
            <a:ext cx="6858000" cy="548640"/>
          </a:xfrm>
          <a:prstGeom prst="rect">
            <a:avLst/>
          </a:prstGeom>
          <a:noFill/>
          <a:ln/>
        </p:spPr>
        <p:txBody>
          <a:bodyPr wrap="square" lIns="0" tIns="0" rIns="0" bIns="0" rtlCol="0" anchor="ctr"/>
          <a:lstStyle/>
          <a:p>
            <a:pPr marL="0" indent="0">
              <a:buNone/>
            </a:pPr>
            <a:r>
              <a:rPr lang="en-US" sz="1100" kern="0" spc="100" dirty="0">
                <a:solidFill>
                  <a:srgbClr val="8A8477"/>
                </a:solidFill>
                <a:latin typeface="Courier New" pitchFamily="34" charset="0"/>
                <a:ea typeface="Courier New" pitchFamily="34" charset="-122"/>
                <a:cs typeface="Courier New" pitchFamily="34" charset="-120"/>
              </a:rPr>
              <a:t>PRESENTED BY   </a:t>
            </a:r>
            <a:r>
              <a:rPr lang="en-US" sz="2200" b="1" dirty="0">
                <a:solidFill>
                  <a:srgbClr val="1C1712"/>
                </a:solidFill>
                <a:latin typeface="Cambria" pitchFamily="34" charset="0"/>
                <a:ea typeface="Cambria" pitchFamily="34" charset="-122"/>
                <a:cs typeface="Cambria" pitchFamily="34" charset="-120"/>
              </a:rPr>
              <a:t>MUSTHAQUE ALI</a:t>
            </a:r>
            <a:endParaRPr lang="en-US" sz="1250" dirty="0"/>
          </a:p>
        </p:txBody>
      </p:sp>
      <p:sp>
        <p:nvSpPr>
          <p:cNvPr id="24" name="Text 21"/>
          <p:cNvSpPr txBox="1"/>
          <p:nvPr/>
        </p:nvSpPr>
        <p:spPr>
          <a:xfrm>
            <a:off x="548640" y="5943600"/>
            <a:ext cx="6858000" cy="274320"/>
          </a:xfrm>
          <a:prstGeom prst="rect">
            <a:avLst/>
          </a:prstGeom>
          <a:noFill/>
          <a:ln/>
        </p:spPr>
        <p:txBody>
          <a:bodyPr wrap="square" lIns="0" tIns="0" rIns="0" bIns="0" rtlCol="0" anchor="t"/>
          <a:lstStyle/>
          <a:p>
            <a:pPr marL="0" indent="0">
              <a:buNone/>
            </a:pPr>
            <a:r>
              <a:rPr lang="en-US" sz="1250" i="1" dirty="0">
                <a:solidFill>
                  <a:srgbClr val="5A5347"/>
                </a:solidFill>
                <a:latin typeface="Cambria" pitchFamily="34" charset="0"/>
                <a:ea typeface="Cambria" pitchFamily="34" charset="-122"/>
                <a:cs typeface="Cambria" pitchFamily="34" charset="-120"/>
              </a:rPr>
              <a:t>Mechanical Integrity Engineer · Reliability Data Analyst</a:t>
            </a:r>
            <a:endParaRPr lang="en-US" sz="1250" dirty="0"/>
          </a:p>
        </p:txBody>
      </p:sp>
      <p:sp>
        <p:nvSpPr>
          <p:cNvPr id="25" name="Shape 22"/>
          <p:cNvSpPr/>
          <p:nvPr/>
        </p:nvSpPr>
        <p:spPr>
          <a:xfrm rot="-240000">
            <a:off x="8321040" y="5504688"/>
            <a:ext cx="2834640" cy="365760"/>
          </a:xfrm>
          <a:prstGeom prst="rect">
            <a:avLst/>
          </a:prstGeom>
          <a:ln w="25400">
            <a:solidFill>
              <a:srgbClr val="7A1F1A"/>
            </a:solidFill>
            <a:prstDash val="solid"/>
          </a:ln>
        </p:spPr>
        <p:txBody>
          <a:bodyPr/>
          <a:lstStyle/>
          <a:p>
            <a:endParaRPr lang="en-IN"/>
          </a:p>
        </p:txBody>
      </p:sp>
      <p:sp>
        <p:nvSpPr>
          <p:cNvPr id="26" name="Text 23"/>
          <p:cNvSpPr txBox="1"/>
          <p:nvPr/>
        </p:nvSpPr>
        <p:spPr>
          <a:xfrm rot="-240000">
            <a:off x="8321040" y="5504688"/>
            <a:ext cx="2834640" cy="365760"/>
          </a:xfrm>
          <a:prstGeom prst="rect">
            <a:avLst/>
          </a:prstGeom>
          <a:noFill/>
          <a:ln/>
        </p:spPr>
        <p:txBody>
          <a:bodyPr wrap="square" lIns="0" tIns="0" rIns="0" bIns="0" rtlCol="0" anchor="ctr"/>
          <a:lstStyle/>
          <a:p>
            <a:pPr marL="0" indent="0" algn="ctr">
              <a:buNone/>
            </a:pPr>
            <a:r>
              <a:rPr lang="en-US" sz="950" b="1" kern="0" spc="100" dirty="0">
                <a:solidFill>
                  <a:srgbClr val="7A1F1A"/>
                </a:solidFill>
                <a:latin typeface="Courier New" pitchFamily="34" charset="0"/>
                <a:ea typeface="Courier New" pitchFamily="34" charset="-122"/>
                <a:cs typeface="Courier New" pitchFamily="34" charset="-120"/>
              </a:rPr>
              <a:t>★ PINNACLE RELIABILITY ★</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AGENDA</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Table of Contents &amp; Curriculum Agenda</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Master outline of 8 technical modules covering Quantitative Reliability Optimization.</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02</a:t>
            </a:r>
            <a:r>
              <a:rPr sz="900">
                <a:solidFill>
                  <a:srgbClr val="8A8477"/>
                </a:solidFill>
                <a:latin typeface="Courier New"/>
              </a:rPr>
              <a:t> / 80</a:t>
            </a:r>
            <a:endParaRPr lang="en-US" sz="900" dirty="0"/>
          </a:p>
        </p:txBody>
      </p:sp>
      <p:sp>
        <p:nvSpPr>
          <p:cNvPr id="13" name="Shape 10"/>
          <p:cNvSpPr/>
          <p:nvPr/>
        </p:nvSpPr>
        <p:spPr>
          <a:xfrm>
            <a:off x="548640" y="1783080"/>
            <a:ext cx="5394960" cy="96012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783080"/>
            <a:ext cx="822960" cy="960120"/>
          </a:xfrm>
          <a:prstGeom prst="rect">
            <a:avLst/>
          </a:prstGeom>
          <a:noFill/>
          <a:ln/>
        </p:spPr>
        <p:txBody>
          <a:bodyPr wrap="square" lIns="0" tIns="0" rIns="0" bIns="0" rtlCol="0" anchor="ctr"/>
          <a:lstStyle/>
          <a:p>
            <a:pPr marL="0" indent="0">
              <a:buNone/>
            </a:pPr>
            <a:r>
              <a:rPr lang="en-US" sz="3000" b="1" dirty="0">
                <a:solidFill>
                  <a:srgbClr val="7A1F1A"/>
                </a:solidFill>
                <a:latin typeface="Cambria" pitchFamily="34" charset="0"/>
                <a:ea typeface="Cambria" pitchFamily="34" charset="-122"/>
                <a:cs typeface="Cambria" pitchFamily="34" charset="-120"/>
              </a:rPr>
              <a:t>01</a:t>
            </a:r>
            <a:endParaRPr lang="en-US" sz="3000" dirty="0"/>
          </a:p>
        </p:txBody>
      </p:sp>
      <p:sp>
        <p:nvSpPr>
          <p:cNvPr id="15" name="Text 12"/>
          <p:cNvSpPr txBox="1"/>
          <p:nvPr/>
        </p:nvSpPr>
        <p:spPr>
          <a:xfrm>
            <a:off x="1600200" y="1965960"/>
            <a:ext cx="3154680" cy="310896"/>
          </a:xfrm>
          <a:prstGeom prst="rect">
            <a:avLst/>
          </a:prstGeom>
          <a:noFill/>
          <a:ln/>
        </p:spPr>
        <p:txBody>
          <a:bodyPr wrap="square" lIns="0" tIns="0" rIns="0" bIns="0" rtlCol="0" anchor="t"/>
          <a:lstStyle/>
          <a:p>
            <a:pPr marL="0" indent="0">
              <a:buNone/>
            </a:pPr>
            <a:r>
              <a:rPr lang="en-US" sz="1450" b="1" dirty="0">
                <a:solidFill>
                  <a:srgbClr val="1C1712"/>
                </a:solidFill>
                <a:latin typeface="Cambria" pitchFamily="34" charset="0"/>
                <a:ea typeface="Cambria" pitchFamily="34" charset="-122"/>
                <a:cs typeface="Cambria" pitchFamily="34" charset="-120"/>
              </a:rPr>
              <a:t>Introduction &amp; QRO Overview</a:t>
            </a:r>
            <a:endParaRPr lang="en-US" sz="1450" dirty="0"/>
          </a:p>
        </p:txBody>
      </p:sp>
      <p:sp>
        <p:nvSpPr>
          <p:cNvPr id="16" name="Text 13"/>
          <p:cNvSpPr txBox="1"/>
          <p:nvPr/>
        </p:nvSpPr>
        <p:spPr>
          <a:xfrm>
            <a:off x="1600200" y="2295144"/>
            <a:ext cx="4206240" cy="27432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Definition, Capabilities, Sensor Telemetry</a:t>
            </a:r>
            <a:endParaRPr lang="en-US" sz="1150" dirty="0"/>
          </a:p>
        </p:txBody>
      </p:sp>
      <p:sp>
        <p:nvSpPr>
          <p:cNvPr id="17" name="Shape 14"/>
          <p:cNvSpPr/>
          <p:nvPr/>
        </p:nvSpPr>
        <p:spPr>
          <a:xfrm>
            <a:off x="4754880" y="1965960"/>
            <a:ext cx="1005840" cy="274320"/>
          </a:xfrm>
          <a:prstGeom prst="rect">
            <a:avLst/>
          </a:prstGeom>
          <a:solidFill>
            <a:srgbClr val="EFE4CD"/>
          </a:solidFill>
          <a:ln w="12700">
            <a:solidFill>
              <a:srgbClr val="5A5347"/>
            </a:solidFill>
            <a:prstDash val="solid"/>
          </a:ln>
        </p:spPr>
        <p:txBody>
          <a:bodyPr/>
          <a:lstStyle/>
          <a:p>
            <a:endParaRPr lang="en-IN"/>
          </a:p>
        </p:txBody>
      </p:sp>
      <p:sp>
        <p:nvSpPr>
          <p:cNvPr id="18" name="Text 15"/>
          <p:cNvSpPr txBox="1"/>
          <p:nvPr/>
        </p:nvSpPr>
        <p:spPr>
          <a:xfrm>
            <a:off x="4754880" y="1965960"/>
            <a:ext cx="1005840" cy="274320"/>
          </a:xfrm>
          <a:prstGeom prst="rect">
            <a:avLst/>
          </a:prstGeom>
          <a:noFill/>
          <a:ln/>
        </p:spPr>
        <p:txBody>
          <a:bodyPr wrap="square" lIns="0" tIns="0" rIns="0" bIns="0" rtlCol="0" anchor="ctr"/>
          <a:lstStyle/>
          <a:p>
            <a:pPr marL="0" indent="0" algn="ctr">
              <a:buNone/>
              <a:defRPr sz="900" b="1">
                <a:solidFill>
                  <a:srgbClr val="5A5347"/>
                </a:solidFill>
                <a:latin typeface="Courier New"/>
              </a:defRPr>
            </a:pPr>
            <a:r>
              <a:rPr sz="900" b="1">
                <a:solidFill>
                  <a:srgbClr val="5A5347"/>
                </a:solidFill>
                <a:latin typeface="Courier New"/>
              </a:rPr>
              <a:t>SLIDES 03–08</a:t>
            </a:r>
            <a:endParaRPr lang="en-US" sz="900" dirty="0"/>
          </a:p>
        </p:txBody>
      </p:sp>
      <p:sp>
        <p:nvSpPr>
          <p:cNvPr id="19" name="Shape 16"/>
          <p:cNvSpPr/>
          <p:nvPr/>
        </p:nvSpPr>
        <p:spPr>
          <a:xfrm>
            <a:off x="6245352" y="1783080"/>
            <a:ext cx="5394960" cy="960120"/>
          </a:xfrm>
          <a:prstGeom prst="rect">
            <a:avLst/>
          </a:prstGeom>
          <a:solidFill>
            <a:srgbClr val="FBF4E4"/>
          </a:solidFill>
          <a:ln w="12700">
            <a:solidFill>
              <a:srgbClr val="C9B48F"/>
            </a:solidFill>
            <a:prstDash val="solid"/>
          </a:ln>
        </p:spPr>
        <p:txBody>
          <a:bodyPr/>
          <a:lstStyle/>
          <a:p>
            <a:endParaRPr lang="en-IN"/>
          </a:p>
        </p:txBody>
      </p:sp>
      <p:sp>
        <p:nvSpPr>
          <p:cNvPr id="20" name="Text 17"/>
          <p:cNvSpPr txBox="1"/>
          <p:nvPr/>
        </p:nvSpPr>
        <p:spPr>
          <a:xfrm>
            <a:off x="6473952" y="1783080"/>
            <a:ext cx="822960" cy="960120"/>
          </a:xfrm>
          <a:prstGeom prst="rect">
            <a:avLst/>
          </a:prstGeom>
          <a:noFill/>
          <a:ln/>
        </p:spPr>
        <p:txBody>
          <a:bodyPr wrap="square" lIns="0" tIns="0" rIns="0" bIns="0" rtlCol="0" anchor="ctr"/>
          <a:lstStyle/>
          <a:p>
            <a:pPr marL="0" indent="0">
              <a:buNone/>
            </a:pPr>
            <a:r>
              <a:rPr lang="en-US" sz="3000" b="1" dirty="0">
                <a:solidFill>
                  <a:srgbClr val="7A1F1A"/>
                </a:solidFill>
                <a:latin typeface="Cambria" pitchFamily="34" charset="0"/>
                <a:ea typeface="Cambria" pitchFamily="34" charset="-122"/>
                <a:cs typeface="Cambria" pitchFamily="34" charset="-120"/>
              </a:rPr>
              <a:t>02</a:t>
            </a:r>
            <a:endParaRPr lang="en-US" sz="3000" dirty="0"/>
          </a:p>
        </p:txBody>
      </p:sp>
      <p:sp>
        <p:nvSpPr>
          <p:cNvPr id="21" name="Text 18"/>
          <p:cNvSpPr txBox="1"/>
          <p:nvPr/>
        </p:nvSpPr>
        <p:spPr>
          <a:xfrm>
            <a:off x="7296912" y="1965960"/>
            <a:ext cx="3154680" cy="310896"/>
          </a:xfrm>
          <a:prstGeom prst="rect">
            <a:avLst/>
          </a:prstGeom>
          <a:noFill/>
          <a:ln/>
        </p:spPr>
        <p:txBody>
          <a:bodyPr wrap="square" lIns="0" tIns="0" rIns="0" bIns="0" rtlCol="0" anchor="t"/>
          <a:lstStyle/>
          <a:p>
            <a:pPr marL="0" indent="0">
              <a:buNone/>
            </a:pPr>
            <a:r>
              <a:rPr lang="en-US" sz="1450" b="1" dirty="0">
                <a:solidFill>
                  <a:srgbClr val="1C1712"/>
                </a:solidFill>
                <a:latin typeface="Cambria" pitchFamily="34" charset="0"/>
                <a:ea typeface="Cambria" pitchFamily="34" charset="-122"/>
                <a:cs typeface="Cambria" pitchFamily="34" charset="-120"/>
              </a:rPr>
              <a:t>Reliability 101 Foundations</a:t>
            </a:r>
            <a:endParaRPr lang="en-US" sz="1450" dirty="0"/>
          </a:p>
        </p:txBody>
      </p:sp>
      <p:sp>
        <p:nvSpPr>
          <p:cNvPr id="22" name="Text 19"/>
          <p:cNvSpPr txBox="1"/>
          <p:nvPr/>
        </p:nvSpPr>
        <p:spPr>
          <a:xfrm>
            <a:off x="7296912" y="2295144"/>
            <a:ext cx="4206240" cy="27432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Availability, MTBF, MTTF, MDT, MTTR</a:t>
            </a:r>
            <a:endParaRPr lang="en-US" sz="1150" dirty="0"/>
          </a:p>
        </p:txBody>
      </p:sp>
      <p:sp>
        <p:nvSpPr>
          <p:cNvPr id="23" name="Shape 20"/>
          <p:cNvSpPr/>
          <p:nvPr/>
        </p:nvSpPr>
        <p:spPr>
          <a:xfrm>
            <a:off x="10451592" y="1965960"/>
            <a:ext cx="1005840" cy="274320"/>
          </a:xfrm>
          <a:prstGeom prst="rect">
            <a:avLst/>
          </a:prstGeom>
          <a:solidFill>
            <a:srgbClr val="EFE4CD"/>
          </a:solidFill>
          <a:ln w="12700">
            <a:solidFill>
              <a:srgbClr val="5A5347"/>
            </a:solidFill>
            <a:prstDash val="solid"/>
          </a:ln>
        </p:spPr>
        <p:txBody>
          <a:bodyPr/>
          <a:lstStyle/>
          <a:p>
            <a:endParaRPr lang="en-IN"/>
          </a:p>
        </p:txBody>
      </p:sp>
      <p:sp>
        <p:nvSpPr>
          <p:cNvPr id="24" name="Text 21"/>
          <p:cNvSpPr txBox="1"/>
          <p:nvPr/>
        </p:nvSpPr>
        <p:spPr>
          <a:xfrm>
            <a:off x="10451592" y="1965960"/>
            <a:ext cx="1005840" cy="274320"/>
          </a:xfrm>
          <a:prstGeom prst="rect">
            <a:avLst/>
          </a:prstGeom>
          <a:noFill/>
          <a:ln/>
        </p:spPr>
        <p:txBody>
          <a:bodyPr wrap="square" lIns="0" tIns="0" rIns="0" bIns="0" rtlCol="0" anchor="ctr"/>
          <a:lstStyle/>
          <a:p>
            <a:pPr marL="0" indent="0" algn="ctr">
              <a:buNone/>
              <a:defRPr sz="900" b="1">
                <a:solidFill>
                  <a:srgbClr val="5A5347"/>
                </a:solidFill>
                <a:latin typeface="Courier New"/>
              </a:defRPr>
            </a:pPr>
            <a:r>
              <a:rPr sz="900" b="1">
                <a:solidFill>
                  <a:srgbClr val="5A5347"/>
                </a:solidFill>
                <a:latin typeface="Courier New"/>
              </a:rPr>
              <a:t>SLIDES 09–20</a:t>
            </a:r>
            <a:endParaRPr lang="en-US" sz="900" dirty="0"/>
          </a:p>
        </p:txBody>
      </p:sp>
      <p:sp>
        <p:nvSpPr>
          <p:cNvPr id="25" name="Shape 22"/>
          <p:cNvSpPr/>
          <p:nvPr/>
        </p:nvSpPr>
        <p:spPr>
          <a:xfrm>
            <a:off x="548640" y="2926080"/>
            <a:ext cx="5394960" cy="960120"/>
          </a:xfrm>
          <a:prstGeom prst="rect">
            <a:avLst/>
          </a:prstGeom>
          <a:solidFill>
            <a:srgbClr val="FBF4E4"/>
          </a:solidFill>
          <a:ln w="12700">
            <a:solidFill>
              <a:srgbClr val="C9B48F"/>
            </a:solidFill>
            <a:prstDash val="solid"/>
          </a:ln>
        </p:spPr>
        <p:txBody>
          <a:bodyPr/>
          <a:lstStyle/>
          <a:p>
            <a:endParaRPr lang="en-IN"/>
          </a:p>
        </p:txBody>
      </p:sp>
      <p:sp>
        <p:nvSpPr>
          <p:cNvPr id="26" name="Text 23"/>
          <p:cNvSpPr txBox="1"/>
          <p:nvPr/>
        </p:nvSpPr>
        <p:spPr>
          <a:xfrm>
            <a:off x="777240" y="2926080"/>
            <a:ext cx="822960" cy="960120"/>
          </a:xfrm>
          <a:prstGeom prst="rect">
            <a:avLst/>
          </a:prstGeom>
          <a:noFill/>
          <a:ln/>
        </p:spPr>
        <p:txBody>
          <a:bodyPr wrap="square" lIns="0" tIns="0" rIns="0" bIns="0" rtlCol="0" anchor="ctr"/>
          <a:lstStyle/>
          <a:p>
            <a:pPr marL="0" indent="0">
              <a:buNone/>
            </a:pPr>
            <a:r>
              <a:rPr lang="en-US" sz="3000" b="1" dirty="0">
                <a:solidFill>
                  <a:srgbClr val="7A1F1A"/>
                </a:solidFill>
                <a:latin typeface="Cambria" pitchFamily="34" charset="0"/>
                <a:ea typeface="Cambria" pitchFamily="34" charset="-122"/>
                <a:cs typeface="Cambria" pitchFamily="34" charset="-120"/>
              </a:rPr>
              <a:t>03</a:t>
            </a:r>
            <a:endParaRPr lang="en-US" sz="3000" dirty="0"/>
          </a:p>
        </p:txBody>
      </p:sp>
      <p:sp>
        <p:nvSpPr>
          <p:cNvPr id="27" name="Text 24"/>
          <p:cNvSpPr txBox="1"/>
          <p:nvPr/>
        </p:nvSpPr>
        <p:spPr>
          <a:xfrm>
            <a:off x="1600200" y="3108960"/>
            <a:ext cx="3154680" cy="310896"/>
          </a:xfrm>
          <a:prstGeom prst="rect">
            <a:avLst/>
          </a:prstGeom>
          <a:noFill/>
          <a:ln/>
        </p:spPr>
        <p:txBody>
          <a:bodyPr wrap="square" lIns="0" tIns="0" rIns="0" bIns="0" rtlCol="0" anchor="t"/>
          <a:lstStyle/>
          <a:p>
            <a:pPr marL="0" indent="0">
              <a:buNone/>
            </a:pPr>
            <a:r>
              <a:rPr lang="en-US" sz="1450" b="1" dirty="0">
                <a:solidFill>
                  <a:srgbClr val="1C1712"/>
                </a:solidFill>
                <a:latin typeface="Cambria" pitchFamily="34" charset="0"/>
                <a:ea typeface="Cambria" pitchFamily="34" charset="-122"/>
                <a:cs typeface="Cambria" pitchFamily="34" charset="-120"/>
              </a:rPr>
              <a:t>Probability &amp; Statistics</a:t>
            </a:r>
            <a:endParaRPr lang="en-US" sz="1450" dirty="0"/>
          </a:p>
        </p:txBody>
      </p:sp>
      <p:sp>
        <p:nvSpPr>
          <p:cNvPr id="28" name="Text 25"/>
          <p:cNvSpPr txBox="1"/>
          <p:nvPr/>
        </p:nvSpPr>
        <p:spPr>
          <a:xfrm>
            <a:off x="1600200" y="3438144"/>
            <a:ext cx="4206240" cy="27432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Weibull (Beta, Eta, Gamma) &amp; Bathtub Curve</a:t>
            </a:r>
            <a:endParaRPr lang="en-US" sz="1150" dirty="0"/>
          </a:p>
        </p:txBody>
      </p:sp>
      <p:sp>
        <p:nvSpPr>
          <p:cNvPr id="29" name="Shape 26"/>
          <p:cNvSpPr/>
          <p:nvPr/>
        </p:nvSpPr>
        <p:spPr>
          <a:xfrm>
            <a:off x="4754880" y="3108960"/>
            <a:ext cx="1005840" cy="274320"/>
          </a:xfrm>
          <a:prstGeom prst="rect">
            <a:avLst/>
          </a:prstGeom>
          <a:solidFill>
            <a:srgbClr val="EFE4CD"/>
          </a:solidFill>
          <a:ln w="12700">
            <a:solidFill>
              <a:srgbClr val="5A5347"/>
            </a:solidFill>
            <a:prstDash val="solid"/>
          </a:ln>
        </p:spPr>
        <p:txBody>
          <a:bodyPr/>
          <a:lstStyle/>
          <a:p>
            <a:endParaRPr lang="en-IN"/>
          </a:p>
        </p:txBody>
      </p:sp>
      <p:sp>
        <p:nvSpPr>
          <p:cNvPr id="30" name="Text 27"/>
          <p:cNvSpPr txBox="1"/>
          <p:nvPr/>
        </p:nvSpPr>
        <p:spPr>
          <a:xfrm>
            <a:off x="4754880" y="3108960"/>
            <a:ext cx="1005840" cy="274320"/>
          </a:xfrm>
          <a:prstGeom prst="rect">
            <a:avLst/>
          </a:prstGeom>
          <a:noFill/>
          <a:ln/>
        </p:spPr>
        <p:txBody>
          <a:bodyPr wrap="square" lIns="0" tIns="0" rIns="0" bIns="0" rtlCol="0" anchor="ctr"/>
          <a:lstStyle/>
          <a:p>
            <a:pPr marL="0" indent="0" algn="ctr">
              <a:buNone/>
              <a:defRPr sz="900" b="1">
                <a:solidFill>
                  <a:srgbClr val="5A5347"/>
                </a:solidFill>
                <a:latin typeface="Courier New"/>
              </a:defRPr>
            </a:pPr>
            <a:r>
              <a:rPr sz="900" b="1">
                <a:solidFill>
                  <a:srgbClr val="5A5347"/>
                </a:solidFill>
                <a:latin typeface="Courier New"/>
              </a:rPr>
              <a:t>SLIDES 21–35</a:t>
            </a:r>
            <a:endParaRPr lang="en-US" sz="900" dirty="0"/>
          </a:p>
        </p:txBody>
      </p:sp>
      <p:sp>
        <p:nvSpPr>
          <p:cNvPr id="31" name="Shape 28"/>
          <p:cNvSpPr/>
          <p:nvPr/>
        </p:nvSpPr>
        <p:spPr>
          <a:xfrm>
            <a:off x="6245352" y="2926080"/>
            <a:ext cx="5394960" cy="960120"/>
          </a:xfrm>
          <a:prstGeom prst="rect">
            <a:avLst/>
          </a:prstGeom>
          <a:solidFill>
            <a:srgbClr val="FBF4E4"/>
          </a:solidFill>
          <a:ln w="12700">
            <a:solidFill>
              <a:srgbClr val="C9B48F"/>
            </a:solidFill>
            <a:prstDash val="solid"/>
          </a:ln>
        </p:spPr>
        <p:txBody>
          <a:bodyPr/>
          <a:lstStyle/>
          <a:p>
            <a:endParaRPr lang="en-IN"/>
          </a:p>
        </p:txBody>
      </p:sp>
      <p:sp>
        <p:nvSpPr>
          <p:cNvPr id="32" name="Text 29"/>
          <p:cNvSpPr txBox="1"/>
          <p:nvPr/>
        </p:nvSpPr>
        <p:spPr>
          <a:xfrm>
            <a:off x="6473952" y="2926080"/>
            <a:ext cx="822960" cy="960120"/>
          </a:xfrm>
          <a:prstGeom prst="rect">
            <a:avLst/>
          </a:prstGeom>
          <a:noFill/>
          <a:ln/>
        </p:spPr>
        <p:txBody>
          <a:bodyPr wrap="square" lIns="0" tIns="0" rIns="0" bIns="0" rtlCol="0" anchor="ctr"/>
          <a:lstStyle/>
          <a:p>
            <a:pPr marL="0" indent="0">
              <a:buNone/>
            </a:pPr>
            <a:r>
              <a:rPr lang="en-US" sz="3000" b="1" dirty="0">
                <a:solidFill>
                  <a:srgbClr val="7A1F1A"/>
                </a:solidFill>
                <a:latin typeface="Cambria" pitchFamily="34" charset="0"/>
                <a:ea typeface="Cambria" pitchFamily="34" charset="-122"/>
                <a:cs typeface="Cambria" pitchFamily="34" charset="-120"/>
              </a:rPr>
              <a:t>04</a:t>
            </a:r>
            <a:endParaRPr lang="en-US" sz="3000" dirty="0"/>
          </a:p>
        </p:txBody>
      </p:sp>
      <p:sp>
        <p:nvSpPr>
          <p:cNvPr id="33" name="Text 30"/>
          <p:cNvSpPr txBox="1"/>
          <p:nvPr/>
        </p:nvSpPr>
        <p:spPr>
          <a:xfrm>
            <a:off x="7296912" y="3108960"/>
            <a:ext cx="3154680" cy="310896"/>
          </a:xfrm>
          <a:prstGeom prst="rect">
            <a:avLst/>
          </a:prstGeom>
          <a:noFill/>
          <a:ln/>
        </p:spPr>
        <p:txBody>
          <a:bodyPr wrap="square" lIns="0" tIns="0" rIns="0" bIns="0" rtlCol="0" anchor="t"/>
          <a:lstStyle/>
          <a:p>
            <a:pPr marL="0" indent="0">
              <a:buNone/>
            </a:pPr>
            <a:r>
              <a:rPr lang="en-US" sz="1450" b="1" dirty="0">
                <a:solidFill>
                  <a:srgbClr val="1C1712"/>
                </a:solidFill>
                <a:latin typeface="Cambria" pitchFamily="34" charset="0"/>
                <a:ea typeface="Cambria" pitchFamily="34" charset="-122"/>
                <a:cs typeface="Cambria" pitchFamily="34" charset="-120"/>
              </a:rPr>
              <a:t>QRO Core Methodology</a:t>
            </a:r>
            <a:endParaRPr lang="en-US" sz="1450" dirty="0"/>
          </a:p>
        </p:txBody>
      </p:sp>
      <p:sp>
        <p:nvSpPr>
          <p:cNvPr id="34" name="Text 31"/>
          <p:cNvSpPr txBox="1"/>
          <p:nvPr/>
        </p:nvSpPr>
        <p:spPr>
          <a:xfrm>
            <a:off x="7296912" y="3438144"/>
            <a:ext cx="4206240" cy="27432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Asset Risk Analysis (ARA) &amp; Lifetime Variability Curves</a:t>
            </a:r>
            <a:endParaRPr lang="en-US" sz="1150" dirty="0"/>
          </a:p>
        </p:txBody>
      </p:sp>
      <p:sp>
        <p:nvSpPr>
          <p:cNvPr id="35" name="Shape 32"/>
          <p:cNvSpPr/>
          <p:nvPr/>
        </p:nvSpPr>
        <p:spPr>
          <a:xfrm>
            <a:off x="10451592" y="3108960"/>
            <a:ext cx="1005840" cy="274320"/>
          </a:xfrm>
          <a:prstGeom prst="rect">
            <a:avLst/>
          </a:prstGeom>
          <a:solidFill>
            <a:srgbClr val="EFE4CD"/>
          </a:solidFill>
          <a:ln w="12700">
            <a:solidFill>
              <a:srgbClr val="5A5347"/>
            </a:solidFill>
            <a:prstDash val="solid"/>
          </a:ln>
        </p:spPr>
        <p:txBody>
          <a:bodyPr/>
          <a:lstStyle/>
          <a:p>
            <a:endParaRPr lang="en-IN"/>
          </a:p>
        </p:txBody>
      </p:sp>
      <p:sp>
        <p:nvSpPr>
          <p:cNvPr id="36" name="Text 33"/>
          <p:cNvSpPr txBox="1"/>
          <p:nvPr/>
        </p:nvSpPr>
        <p:spPr>
          <a:xfrm>
            <a:off x="10451592" y="3108960"/>
            <a:ext cx="1005840" cy="274320"/>
          </a:xfrm>
          <a:prstGeom prst="rect">
            <a:avLst/>
          </a:prstGeom>
          <a:noFill/>
          <a:ln/>
        </p:spPr>
        <p:txBody>
          <a:bodyPr wrap="square" lIns="0" tIns="0" rIns="0" bIns="0" rtlCol="0" anchor="ctr"/>
          <a:lstStyle/>
          <a:p>
            <a:pPr marL="0" indent="0" algn="ctr">
              <a:buNone/>
              <a:defRPr sz="900" b="1">
                <a:solidFill>
                  <a:srgbClr val="5A5347"/>
                </a:solidFill>
                <a:latin typeface="Courier New"/>
              </a:defRPr>
            </a:pPr>
            <a:r>
              <a:rPr sz="900" b="1">
                <a:solidFill>
                  <a:srgbClr val="5A5347"/>
                </a:solidFill>
                <a:latin typeface="Courier New"/>
              </a:rPr>
              <a:t>SLIDES 36–46</a:t>
            </a:r>
            <a:endParaRPr lang="en-US" sz="900" dirty="0"/>
          </a:p>
        </p:txBody>
      </p:sp>
      <p:sp>
        <p:nvSpPr>
          <p:cNvPr id="37" name="Shape 34"/>
          <p:cNvSpPr/>
          <p:nvPr/>
        </p:nvSpPr>
        <p:spPr>
          <a:xfrm>
            <a:off x="548640" y="4069080"/>
            <a:ext cx="5394960" cy="960120"/>
          </a:xfrm>
          <a:prstGeom prst="rect">
            <a:avLst/>
          </a:prstGeom>
          <a:solidFill>
            <a:srgbClr val="FBF4E4"/>
          </a:solidFill>
          <a:ln w="12700">
            <a:solidFill>
              <a:srgbClr val="C9B48F"/>
            </a:solidFill>
            <a:prstDash val="solid"/>
          </a:ln>
        </p:spPr>
        <p:txBody>
          <a:bodyPr/>
          <a:lstStyle/>
          <a:p>
            <a:endParaRPr lang="en-IN"/>
          </a:p>
        </p:txBody>
      </p:sp>
      <p:sp>
        <p:nvSpPr>
          <p:cNvPr id="38" name="Text 35"/>
          <p:cNvSpPr txBox="1"/>
          <p:nvPr/>
        </p:nvSpPr>
        <p:spPr>
          <a:xfrm>
            <a:off x="777240" y="4069080"/>
            <a:ext cx="822960" cy="960120"/>
          </a:xfrm>
          <a:prstGeom prst="rect">
            <a:avLst/>
          </a:prstGeom>
          <a:noFill/>
          <a:ln/>
        </p:spPr>
        <p:txBody>
          <a:bodyPr wrap="square" lIns="0" tIns="0" rIns="0" bIns="0" rtlCol="0" anchor="ctr"/>
          <a:lstStyle/>
          <a:p>
            <a:pPr marL="0" indent="0">
              <a:buNone/>
            </a:pPr>
            <a:r>
              <a:rPr lang="en-US" sz="3000" b="1" dirty="0">
                <a:solidFill>
                  <a:srgbClr val="7A1F1A"/>
                </a:solidFill>
                <a:latin typeface="Cambria" pitchFamily="34" charset="0"/>
                <a:ea typeface="Cambria" pitchFamily="34" charset="-122"/>
                <a:cs typeface="Cambria" pitchFamily="34" charset="-120"/>
              </a:rPr>
              <a:t>05</a:t>
            </a:r>
            <a:endParaRPr lang="en-US" sz="3000" dirty="0"/>
          </a:p>
        </p:txBody>
      </p:sp>
      <p:sp>
        <p:nvSpPr>
          <p:cNvPr id="39" name="Text 36"/>
          <p:cNvSpPr txBox="1"/>
          <p:nvPr/>
        </p:nvSpPr>
        <p:spPr>
          <a:xfrm>
            <a:off x="1600200" y="4251960"/>
            <a:ext cx="3154680" cy="310896"/>
          </a:xfrm>
          <a:prstGeom prst="rect">
            <a:avLst/>
          </a:prstGeom>
          <a:noFill/>
          <a:ln/>
        </p:spPr>
        <p:txBody>
          <a:bodyPr wrap="square" lIns="0" tIns="0" rIns="0" bIns="0" rtlCol="0" anchor="t"/>
          <a:lstStyle/>
          <a:p>
            <a:pPr marL="0" indent="0">
              <a:buNone/>
            </a:pPr>
            <a:r>
              <a:rPr lang="en-US" sz="1450" b="1" dirty="0">
                <a:solidFill>
                  <a:srgbClr val="1C1712"/>
                </a:solidFill>
                <a:latin typeface="Cambria" pitchFamily="34" charset="0"/>
                <a:ea typeface="Cambria" pitchFamily="34" charset="-122"/>
                <a:cs typeface="Cambria" pitchFamily="34" charset="-120"/>
              </a:rPr>
              <a:t>Availability Forecasting</a:t>
            </a:r>
            <a:endParaRPr lang="en-US" sz="1450" dirty="0"/>
          </a:p>
        </p:txBody>
      </p:sp>
      <p:sp>
        <p:nvSpPr>
          <p:cNvPr id="40" name="Text 37"/>
          <p:cNvSpPr txBox="1"/>
          <p:nvPr/>
        </p:nvSpPr>
        <p:spPr>
          <a:xfrm>
            <a:off x="1600200" y="4581144"/>
            <a:ext cx="4206240" cy="27432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Exchanger/Pump Case Studies &amp; Markov Chains</a:t>
            </a:r>
            <a:endParaRPr lang="en-US" sz="1150" dirty="0"/>
          </a:p>
        </p:txBody>
      </p:sp>
      <p:sp>
        <p:nvSpPr>
          <p:cNvPr id="41" name="Shape 38"/>
          <p:cNvSpPr/>
          <p:nvPr/>
        </p:nvSpPr>
        <p:spPr>
          <a:xfrm>
            <a:off x="4754880" y="4251960"/>
            <a:ext cx="1005840" cy="274320"/>
          </a:xfrm>
          <a:prstGeom prst="rect">
            <a:avLst/>
          </a:prstGeom>
          <a:solidFill>
            <a:srgbClr val="EFE4CD"/>
          </a:solidFill>
          <a:ln w="12700">
            <a:solidFill>
              <a:srgbClr val="5A5347"/>
            </a:solidFill>
            <a:prstDash val="solid"/>
          </a:ln>
        </p:spPr>
        <p:txBody>
          <a:bodyPr/>
          <a:lstStyle/>
          <a:p>
            <a:endParaRPr lang="en-IN"/>
          </a:p>
        </p:txBody>
      </p:sp>
      <p:sp>
        <p:nvSpPr>
          <p:cNvPr id="42" name="Text 39"/>
          <p:cNvSpPr txBox="1"/>
          <p:nvPr/>
        </p:nvSpPr>
        <p:spPr>
          <a:xfrm>
            <a:off x="4754880" y="4251960"/>
            <a:ext cx="1005840" cy="274320"/>
          </a:xfrm>
          <a:prstGeom prst="rect">
            <a:avLst/>
          </a:prstGeom>
          <a:noFill/>
          <a:ln/>
        </p:spPr>
        <p:txBody>
          <a:bodyPr wrap="square" lIns="0" tIns="0" rIns="0" bIns="0" rtlCol="0" anchor="ctr"/>
          <a:lstStyle/>
          <a:p>
            <a:pPr marL="0" indent="0" algn="ctr">
              <a:buNone/>
              <a:defRPr sz="900" b="1">
                <a:solidFill>
                  <a:srgbClr val="5A5347"/>
                </a:solidFill>
                <a:latin typeface="Courier New"/>
              </a:defRPr>
            </a:pPr>
            <a:r>
              <a:rPr sz="900" b="1">
                <a:solidFill>
                  <a:srgbClr val="5A5347"/>
                </a:solidFill>
                <a:latin typeface="Courier New"/>
              </a:rPr>
              <a:t>SLIDES 47–58</a:t>
            </a:r>
            <a:endParaRPr lang="en-US" sz="900" dirty="0"/>
          </a:p>
        </p:txBody>
      </p:sp>
      <p:sp>
        <p:nvSpPr>
          <p:cNvPr id="43" name="Shape 40"/>
          <p:cNvSpPr/>
          <p:nvPr/>
        </p:nvSpPr>
        <p:spPr>
          <a:xfrm>
            <a:off x="6245352" y="4069080"/>
            <a:ext cx="5394960" cy="960120"/>
          </a:xfrm>
          <a:prstGeom prst="rect">
            <a:avLst/>
          </a:prstGeom>
          <a:solidFill>
            <a:srgbClr val="FBF4E4"/>
          </a:solidFill>
          <a:ln w="12700">
            <a:solidFill>
              <a:srgbClr val="C9B48F"/>
            </a:solidFill>
            <a:prstDash val="solid"/>
          </a:ln>
        </p:spPr>
        <p:txBody>
          <a:bodyPr/>
          <a:lstStyle/>
          <a:p>
            <a:endParaRPr lang="en-IN"/>
          </a:p>
        </p:txBody>
      </p:sp>
      <p:sp>
        <p:nvSpPr>
          <p:cNvPr id="44" name="Text 41"/>
          <p:cNvSpPr txBox="1"/>
          <p:nvPr/>
        </p:nvSpPr>
        <p:spPr>
          <a:xfrm>
            <a:off x="6473952" y="4069080"/>
            <a:ext cx="822960" cy="960120"/>
          </a:xfrm>
          <a:prstGeom prst="rect">
            <a:avLst/>
          </a:prstGeom>
          <a:noFill/>
          <a:ln/>
        </p:spPr>
        <p:txBody>
          <a:bodyPr wrap="square" lIns="0" tIns="0" rIns="0" bIns="0" rtlCol="0" anchor="ctr"/>
          <a:lstStyle/>
          <a:p>
            <a:pPr marL="0" indent="0">
              <a:buNone/>
            </a:pPr>
            <a:r>
              <a:rPr lang="en-US" sz="3000" b="1" dirty="0">
                <a:solidFill>
                  <a:srgbClr val="7A1F1A"/>
                </a:solidFill>
                <a:latin typeface="Cambria" pitchFamily="34" charset="0"/>
                <a:ea typeface="Cambria" pitchFamily="34" charset="-122"/>
                <a:cs typeface="Cambria" pitchFamily="34" charset="-120"/>
              </a:rPr>
              <a:t>06</a:t>
            </a:r>
            <a:endParaRPr lang="en-US" sz="3000" dirty="0"/>
          </a:p>
        </p:txBody>
      </p:sp>
      <p:sp>
        <p:nvSpPr>
          <p:cNvPr id="45" name="Text 42"/>
          <p:cNvSpPr txBox="1"/>
          <p:nvPr/>
        </p:nvSpPr>
        <p:spPr>
          <a:xfrm>
            <a:off x="7296912" y="4251960"/>
            <a:ext cx="3154680" cy="310896"/>
          </a:xfrm>
          <a:prstGeom prst="rect">
            <a:avLst/>
          </a:prstGeom>
          <a:noFill/>
          <a:ln/>
        </p:spPr>
        <p:txBody>
          <a:bodyPr wrap="square" lIns="0" tIns="0" rIns="0" bIns="0" rtlCol="0" anchor="t"/>
          <a:lstStyle/>
          <a:p>
            <a:pPr marL="0" indent="0">
              <a:buNone/>
            </a:pPr>
            <a:r>
              <a:rPr lang="en-US" sz="1450" b="1" dirty="0">
                <a:solidFill>
                  <a:srgbClr val="1C1712"/>
                </a:solidFill>
                <a:latin typeface="Cambria" pitchFamily="34" charset="0"/>
                <a:ea typeface="Cambria" pitchFamily="34" charset="-122"/>
                <a:cs typeface="Cambria" pitchFamily="34" charset="-120"/>
              </a:rPr>
              <a:t>Task Optimization Engine</a:t>
            </a:r>
            <a:endParaRPr lang="en-US" sz="1450" dirty="0"/>
          </a:p>
        </p:txBody>
      </p:sp>
      <p:sp>
        <p:nvSpPr>
          <p:cNvPr id="46" name="Text 43"/>
          <p:cNvSpPr txBox="1"/>
          <p:nvPr/>
        </p:nvSpPr>
        <p:spPr>
          <a:xfrm>
            <a:off x="7296912" y="4581144"/>
            <a:ext cx="4206240" cy="27432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Benefit-Cost Ratio, Task Grouping &amp; QTE</a:t>
            </a:r>
            <a:endParaRPr lang="en-US" sz="1150" dirty="0"/>
          </a:p>
        </p:txBody>
      </p:sp>
      <p:sp>
        <p:nvSpPr>
          <p:cNvPr id="47" name="Shape 44"/>
          <p:cNvSpPr/>
          <p:nvPr/>
        </p:nvSpPr>
        <p:spPr>
          <a:xfrm>
            <a:off x="10451592" y="4251960"/>
            <a:ext cx="1005840" cy="274320"/>
          </a:xfrm>
          <a:prstGeom prst="rect">
            <a:avLst/>
          </a:prstGeom>
          <a:solidFill>
            <a:srgbClr val="EFE4CD"/>
          </a:solidFill>
          <a:ln w="12700">
            <a:solidFill>
              <a:srgbClr val="5A5347"/>
            </a:solidFill>
            <a:prstDash val="solid"/>
          </a:ln>
        </p:spPr>
        <p:txBody>
          <a:bodyPr/>
          <a:lstStyle/>
          <a:p>
            <a:endParaRPr lang="en-IN"/>
          </a:p>
        </p:txBody>
      </p:sp>
      <p:sp>
        <p:nvSpPr>
          <p:cNvPr id="48" name="Text 45"/>
          <p:cNvSpPr txBox="1"/>
          <p:nvPr/>
        </p:nvSpPr>
        <p:spPr>
          <a:xfrm>
            <a:off x="10451592" y="4251960"/>
            <a:ext cx="1005840" cy="274320"/>
          </a:xfrm>
          <a:prstGeom prst="rect">
            <a:avLst/>
          </a:prstGeom>
          <a:noFill/>
          <a:ln/>
        </p:spPr>
        <p:txBody>
          <a:bodyPr wrap="square" lIns="0" tIns="0" rIns="0" bIns="0" rtlCol="0" anchor="ctr"/>
          <a:lstStyle/>
          <a:p>
            <a:pPr marL="0" indent="0" algn="ctr">
              <a:buNone/>
              <a:defRPr sz="900" b="1">
                <a:solidFill>
                  <a:srgbClr val="5A5347"/>
                </a:solidFill>
                <a:latin typeface="Courier New"/>
              </a:defRPr>
            </a:pPr>
            <a:r>
              <a:rPr sz="900" b="1">
                <a:solidFill>
                  <a:srgbClr val="5A5347"/>
                </a:solidFill>
                <a:latin typeface="Courier New"/>
              </a:rPr>
              <a:t>SLIDES 59–69</a:t>
            </a:r>
            <a:endParaRPr lang="en-US" sz="900" dirty="0"/>
          </a:p>
        </p:txBody>
      </p:sp>
      <p:sp>
        <p:nvSpPr>
          <p:cNvPr id="49" name="Shape 46"/>
          <p:cNvSpPr/>
          <p:nvPr/>
        </p:nvSpPr>
        <p:spPr>
          <a:xfrm>
            <a:off x="548640" y="5212080"/>
            <a:ext cx="5394960" cy="960120"/>
          </a:xfrm>
          <a:prstGeom prst="rect">
            <a:avLst/>
          </a:prstGeom>
          <a:solidFill>
            <a:srgbClr val="FBF4E4"/>
          </a:solidFill>
          <a:ln w="12700">
            <a:solidFill>
              <a:srgbClr val="C9B48F"/>
            </a:solidFill>
            <a:prstDash val="solid"/>
          </a:ln>
        </p:spPr>
        <p:txBody>
          <a:bodyPr/>
          <a:lstStyle/>
          <a:p>
            <a:endParaRPr lang="en-IN"/>
          </a:p>
        </p:txBody>
      </p:sp>
      <p:sp>
        <p:nvSpPr>
          <p:cNvPr id="50" name="Text 47"/>
          <p:cNvSpPr txBox="1"/>
          <p:nvPr/>
        </p:nvSpPr>
        <p:spPr>
          <a:xfrm>
            <a:off x="777240" y="5212080"/>
            <a:ext cx="822960" cy="960120"/>
          </a:xfrm>
          <a:prstGeom prst="rect">
            <a:avLst/>
          </a:prstGeom>
          <a:noFill/>
          <a:ln/>
        </p:spPr>
        <p:txBody>
          <a:bodyPr wrap="square" lIns="0" tIns="0" rIns="0" bIns="0" rtlCol="0" anchor="ctr"/>
          <a:lstStyle/>
          <a:p>
            <a:pPr marL="0" indent="0">
              <a:buNone/>
            </a:pPr>
            <a:r>
              <a:rPr lang="en-US" sz="3000" b="1" dirty="0">
                <a:solidFill>
                  <a:srgbClr val="7A1F1A"/>
                </a:solidFill>
                <a:latin typeface="Cambria" pitchFamily="34" charset="0"/>
                <a:ea typeface="Cambria" pitchFamily="34" charset="-122"/>
                <a:cs typeface="Cambria" pitchFamily="34" charset="-120"/>
              </a:rPr>
              <a:t>07</a:t>
            </a:r>
            <a:endParaRPr lang="en-US" sz="3000" dirty="0"/>
          </a:p>
        </p:txBody>
      </p:sp>
      <p:sp>
        <p:nvSpPr>
          <p:cNvPr id="51" name="Text 48"/>
          <p:cNvSpPr txBox="1"/>
          <p:nvPr/>
        </p:nvSpPr>
        <p:spPr>
          <a:xfrm>
            <a:off x="1600200" y="5394960"/>
            <a:ext cx="3154680" cy="310896"/>
          </a:xfrm>
          <a:prstGeom prst="rect">
            <a:avLst/>
          </a:prstGeom>
          <a:noFill/>
          <a:ln/>
        </p:spPr>
        <p:txBody>
          <a:bodyPr wrap="square" lIns="0" tIns="0" rIns="0" bIns="0" rtlCol="0" anchor="t"/>
          <a:lstStyle/>
          <a:p>
            <a:pPr marL="0" indent="0">
              <a:buNone/>
            </a:pPr>
            <a:r>
              <a:rPr lang="en-US" sz="1450" b="1" dirty="0">
                <a:solidFill>
                  <a:srgbClr val="1C1712"/>
                </a:solidFill>
                <a:latin typeface="Cambria" pitchFamily="34" charset="0"/>
                <a:ea typeface="Cambria" pitchFamily="34" charset="-122"/>
                <a:cs typeface="Cambria" pitchFamily="34" charset="-120"/>
              </a:rPr>
              <a:t>CML Optimization</a:t>
            </a:r>
            <a:endParaRPr lang="en-US" sz="1450" dirty="0"/>
          </a:p>
        </p:txBody>
      </p:sp>
      <p:sp>
        <p:nvSpPr>
          <p:cNvPr id="52" name="Text 49"/>
          <p:cNvSpPr txBox="1"/>
          <p:nvPr/>
        </p:nvSpPr>
        <p:spPr>
          <a:xfrm>
            <a:off x="1600200" y="5724144"/>
            <a:ext cx="4206240" cy="27432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Pareto 90/15, Sample Optimization &amp; EVA Tail</a:t>
            </a:r>
            <a:endParaRPr lang="en-US" sz="1150" dirty="0"/>
          </a:p>
        </p:txBody>
      </p:sp>
      <p:sp>
        <p:nvSpPr>
          <p:cNvPr id="53" name="Shape 50"/>
          <p:cNvSpPr/>
          <p:nvPr/>
        </p:nvSpPr>
        <p:spPr>
          <a:xfrm>
            <a:off x="4754880" y="5394960"/>
            <a:ext cx="1005840" cy="274320"/>
          </a:xfrm>
          <a:prstGeom prst="rect">
            <a:avLst/>
          </a:prstGeom>
          <a:solidFill>
            <a:srgbClr val="EFE4CD"/>
          </a:solidFill>
          <a:ln w="12700">
            <a:solidFill>
              <a:srgbClr val="5A5347"/>
            </a:solidFill>
            <a:prstDash val="solid"/>
          </a:ln>
        </p:spPr>
        <p:txBody>
          <a:bodyPr/>
          <a:lstStyle/>
          <a:p>
            <a:endParaRPr lang="en-IN"/>
          </a:p>
        </p:txBody>
      </p:sp>
      <p:sp>
        <p:nvSpPr>
          <p:cNvPr id="54" name="Text 51"/>
          <p:cNvSpPr txBox="1"/>
          <p:nvPr/>
        </p:nvSpPr>
        <p:spPr>
          <a:xfrm>
            <a:off x="4754880" y="5394960"/>
            <a:ext cx="1005840" cy="274320"/>
          </a:xfrm>
          <a:prstGeom prst="rect">
            <a:avLst/>
          </a:prstGeom>
          <a:noFill/>
          <a:ln/>
        </p:spPr>
        <p:txBody>
          <a:bodyPr wrap="square" lIns="0" tIns="0" rIns="0" bIns="0" rtlCol="0" anchor="ctr"/>
          <a:lstStyle/>
          <a:p>
            <a:pPr marL="0" indent="0" algn="ctr">
              <a:buNone/>
              <a:defRPr sz="900" b="1">
                <a:solidFill>
                  <a:srgbClr val="5A5347"/>
                </a:solidFill>
                <a:latin typeface="Courier New"/>
              </a:defRPr>
            </a:pPr>
            <a:r>
              <a:rPr sz="900" b="1">
                <a:solidFill>
                  <a:srgbClr val="5A5347"/>
                </a:solidFill>
                <a:latin typeface="Courier New"/>
              </a:rPr>
              <a:t>SLIDES 70–76</a:t>
            </a:r>
            <a:endParaRPr lang="en-US" sz="900" dirty="0"/>
          </a:p>
        </p:txBody>
      </p:sp>
      <p:sp>
        <p:nvSpPr>
          <p:cNvPr id="55" name="Shape 52"/>
          <p:cNvSpPr/>
          <p:nvPr/>
        </p:nvSpPr>
        <p:spPr>
          <a:xfrm>
            <a:off x="6245352" y="5212080"/>
            <a:ext cx="5394960" cy="960120"/>
          </a:xfrm>
          <a:prstGeom prst="rect">
            <a:avLst/>
          </a:prstGeom>
          <a:solidFill>
            <a:srgbClr val="FBF4E4"/>
          </a:solidFill>
          <a:ln w="12700">
            <a:solidFill>
              <a:srgbClr val="C9B48F"/>
            </a:solidFill>
            <a:prstDash val="solid"/>
          </a:ln>
        </p:spPr>
        <p:txBody>
          <a:bodyPr/>
          <a:lstStyle/>
          <a:p>
            <a:endParaRPr lang="en-IN"/>
          </a:p>
        </p:txBody>
      </p:sp>
      <p:sp>
        <p:nvSpPr>
          <p:cNvPr id="56" name="Text 53"/>
          <p:cNvSpPr txBox="1"/>
          <p:nvPr/>
        </p:nvSpPr>
        <p:spPr>
          <a:xfrm>
            <a:off x="6473952" y="5212080"/>
            <a:ext cx="822960" cy="960120"/>
          </a:xfrm>
          <a:prstGeom prst="rect">
            <a:avLst/>
          </a:prstGeom>
          <a:noFill/>
          <a:ln/>
        </p:spPr>
        <p:txBody>
          <a:bodyPr wrap="square" lIns="0" tIns="0" rIns="0" bIns="0" rtlCol="0" anchor="ctr"/>
          <a:lstStyle/>
          <a:p>
            <a:pPr marL="0" indent="0">
              <a:buNone/>
            </a:pPr>
            <a:r>
              <a:rPr lang="en-US" sz="3000" b="1" dirty="0">
                <a:solidFill>
                  <a:srgbClr val="7A1F1A"/>
                </a:solidFill>
                <a:latin typeface="Cambria" pitchFamily="34" charset="0"/>
                <a:ea typeface="Cambria" pitchFamily="34" charset="-122"/>
                <a:cs typeface="Cambria" pitchFamily="34" charset="-120"/>
              </a:rPr>
              <a:t>08</a:t>
            </a:r>
            <a:endParaRPr lang="en-US" sz="3000" dirty="0"/>
          </a:p>
        </p:txBody>
      </p:sp>
      <p:sp>
        <p:nvSpPr>
          <p:cNvPr id="57" name="Text 54"/>
          <p:cNvSpPr txBox="1"/>
          <p:nvPr/>
        </p:nvSpPr>
        <p:spPr>
          <a:xfrm>
            <a:off x="7296912" y="5394960"/>
            <a:ext cx="3154680" cy="310896"/>
          </a:xfrm>
          <a:prstGeom prst="rect">
            <a:avLst/>
          </a:prstGeom>
          <a:noFill/>
          <a:ln/>
        </p:spPr>
        <p:txBody>
          <a:bodyPr wrap="square" lIns="0" tIns="0" rIns="0" bIns="0" rtlCol="0" anchor="t"/>
          <a:lstStyle/>
          <a:p>
            <a:pPr marL="0" indent="0">
              <a:buNone/>
            </a:pPr>
            <a:r>
              <a:rPr lang="en-US" sz="1450" b="1" dirty="0">
                <a:solidFill>
                  <a:srgbClr val="1C1712"/>
                </a:solidFill>
                <a:latin typeface="Cambria" pitchFamily="34" charset="0"/>
                <a:ea typeface="Cambria" pitchFamily="34" charset="-122"/>
                <a:cs typeface="Cambria" pitchFamily="34" charset="-120"/>
              </a:rPr>
              <a:t>Master Formulary &amp; Summary</a:t>
            </a:r>
            <a:endParaRPr lang="en-US" sz="1450" dirty="0"/>
          </a:p>
        </p:txBody>
      </p:sp>
      <p:sp>
        <p:nvSpPr>
          <p:cNvPr id="58" name="Text 55"/>
          <p:cNvSpPr txBox="1"/>
          <p:nvPr/>
        </p:nvSpPr>
        <p:spPr>
          <a:xfrm>
            <a:off x="7296912" y="5724144"/>
            <a:ext cx="4206240" cy="27432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Complete Mathematical Formulary &amp; Executive Findings</a:t>
            </a:r>
            <a:endParaRPr lang="en-US" sz="1150" dirty="0"/>
          </a:p>
        </p:txBody>
      </p:sp>
      <p:sp>
        <p:nvSpPr>
          <p:cNvPr id="59" name="Shape 56"/>
          <p:cNvSpPr/>
          <p:nvPr/>
        </p:nvSpPr>
        <p:spPr>
          <a:xfrm>
            <a:off x="10451592" y="5394960"/>
            <a:ext cx="1005840" cy="274320"/>
          </a:xfrm>
          <a:prstGeom prst="rect">
            <a:avLst/>
          </a:prstGeom>
          <a:solidFill>
            <a:srgbClr val="EFE4CD"/>
          </a:solidFill>
          <a:ln w="12700">
            <a:solidFill>
              <a:srgbClr val="5A5347"/>
            </a:solidFill>
            <a:prstDash val="solid"/>
          </a:ln>
        </p:spPr>
        <p:txBody>
          <a:bodyPr/>
          <a:lstStyle/>
          <a:p>
            <a:endParaRPr lang="en-IN"/>
          </a:p>
        </p:txBody>
      </p:sp>
      <p:sp>
        <p:nvSpPr>
          <p:cNvPr id="60" name="Text 57"/>
          <p:cNvSpPr txBox="1"/>
          <p:nvPr/>
        </p:nvSpPr>
        <p:spPr>
          <a:xfrm>
            <a:off x="10451592" y="5394960"/>
            <a:ext cx="1005840" cy="274320"/>
          </a:xfrm>
          <a:prstGeom prst="rect">
            <a:avLst/>
          </a:prstGeom>
          <a:noFill/>
          <a:ln/>
        </p:spPr>
        <p:txBody>
          <a:bodyPr wrap="square" lIns="0" tIns="0" rIns="0" bIns="0" rtlCol="0" anchor="ctr"/>
          <a:lstStyle/>
          <a:p>
            <a:pPr marL="0" indent="0" algn="ctr">
              <a:buNone/>
              <a:defRPr sz="900" b="1">
                <a:solidFill>
                  <a:srgbClr val="5A5347"/>
                </a:solidFill>
                <a:latin typeface="Courier New"/>
              </a:defRPr>
            </a:pPr>
            <a:r>
              <a:rPr sz="900" b="1">
                <a:solidFill>
                  <a:srgbClr val="5A5347"/>
                </a:solidFill>
                <a:latin typeface="Courier New"/>
              </a:rPr>
              <a:t>SLIDES 77–80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01 — INTRODUCTION &amp; QRO OVERVIEW</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What is QRO? Formal Engineering Definition</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Intelligently modeling every facet of plant reliability to evergreen facility performance.</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03</a:t>
            </a:r>
            <a:r>
              <a:rPr sz="900">
                <a:solidFill>
                  <a:srgbClr val="8A8477"/>
                </a:solidFill>
                <a:latin typeface="Courier New"/>
              </a:rPr>
              <a:t> / 80</a:t>
            </a:r>
            <a:endParaRPr lang="en-US" sz="900" dirty="0"/>
          </a:p>
        </p:txBody>
      </p:sp>
      <p:sp>
        <p:nvSpPr>
          <p:cNvPr id="13" name="Shape 10"/>
          <p:cNvSpPr/>
          <p:nvPr/>
        </p:nvSpPr>
        <p:spPr>
          <a:xfrm>
            <a:off x="548640" y="1737360"/>
            <a:ext cx="5532120" cy="448056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920240"/>
            <a:ext cx="50292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CORE ENGINEERING MANDATE &amp; FORMULATION</a:t>
            </a:r>
            <a:endParaRPr lang="en-US" sz="950" dirty="0"/>
          </a:p>
        </p:txBody>
      </p:sp>
      <p:sp>
        <p:nvSpPr>
          <p:cNvPr id="15" name="Text 12"/>
          <p:cNvSpPr txBox="1"/>
          <p:nvPr/>
        </p:nvSpPr>
        <p:spPr>
          <a:xfrm>
            <a:off x="777240" y="2331720"/>
            <a:ext cx="5074920" cy="3108960"/>
          </a:xfrm>
          <a:prstGeom prst="rect">
            <a:avLst/>
          </a:prstGeom>
          <a:noFill/>
          <a:ln/>
        </p:spPr>
        <p:txBody>
          <a:bodyPr wrap="square" lIns="0" tIns="0" rIns="0" bIns="0" rtlCol="0" anchor="t"/>
          <a:lstStyle/>
          <a:p>
            <a:pPr marL="190500" indent="-190500">
              <a:spcAft>
                <a:spcPts val="1800"/>
              </a:spcAft>
              <a:buSzPct val="100000"/>
              <a:buChar char="▪"/>
            </a:pPr>
            <a:r>
              <a:rPr lang="en-US" sz="1500" b="1" dirty="0">
                <a:solidFill>
                  <a:srgbClr val="1C1712"/>
                </a:solidFill>
                <a:latin typeface="Cambria" pitchFamily="34" charset="0"/>
                <a:ea typeface="Cambria" pitchFamily="34" charset="-122"/>
                <a:cs typeface="Cambria" pitchFamily="34" charset="-120"/>
              </a:rPr>
              <a:t>Quantitative Reliability Optimization (QRO):</a:t>
            </a:r>
            <a:r>
              <a:rPr lang="en-US" sz="1500" dirty="0">
                <a:solidFill>
                  <a:srgbClr val="2C261E"/>
                </a:solidFill>
                <a:latin typeface="Cambria" pitchFamily="34" charset="0"/>
                <a:ea typeface="Cambria" pitchFamily="34" charset="-122"/>
                <a:cs typeface="Cambria" pitchFamily="34" charset="-120"/>
              </a:rPr>
              <a:t> The empirical framework by which every facet of plant reliability is dynamically modeled and continuously updated as new inspection and sensor data emerges.</a:t>
            </a:r>
            <a:endParaRPr lang="en-US" sz="1500" dirty="0"/>
          </a:p>
          <a:p>
            <a:pPr marL="190500" indent="-190500">
              <a:spcAft>
                <a:spcPts val="1800"/>
              </a:spcAft>
              <a:buSzPct val="100000"/>
              <a:buChar char="▪"/>
            </a:pPr>
            <a:r>
              <a:rPr lang="en-US" sz="1500" b="1" dirty="0">
                <a:solidFill>
                  <a:srgbClr val="1C1712"/>
                </a:solidFill>
                <a:latin typeface="Cambria" pitchFamily="34" charset="0"/>
                <a:ea typeface="Cambria" pitchFamily="34" charset="-122"/>
                <a:cs typeface="Cambria" pitchFamily="34" charset="-120"/>
              </a:rPr>
              <a:t>Strategic Multi-Objective Frontier:</a:t>
            </a:r>
            <a:r>
              <a:rPr lang="en-US" sz="1500" dirty="0">
                <a:solidFill>
                  <a:srgbClr val="2C261E"/>
                </a:solidFill>
                <a:latin typeface="Cambria" pitchFamily="34" charset="0"/>
                <a:ea typeface="Cambria" pitchFamily="34" charset="-122"/>
                <a:cs typeface="Cambria" pitchFamily="34" charset="-120"/>
              </a:rPr>
              <a:t> Solves the simultaneous optimization balance across </a:t>
            </a:r>
            <a:r>
              <a:rPr lang="en-US" sz="1500" b="1" dirty="0">
                <a:solidFill>
                  <a:srgbClr val="1C1712"/>
                </a:solidFill>
                <a:latin typeface="Cambria" pitchFamily="34" charset="0"/>
                <a:ea typeface="Cambria" pitchFamily="34" charset="-122"/>
                <a:cs typeface="Cambria" pitchFamily="34" charset="-120"/>
              </a:rPr>
              <a:t>Availability</a:t>
            </a:r>
            <a:r>
              <a:rPr lang="en-US" sz="1500" dirty="0">
                <a:solidFill>
                  <a:srgbClr val="2C261E"/>
                </a:solidFill>
                <a:latin typeface="Cambria" pitchFamily="34" charset="0"/>
                <a:ea typeface="Cambria" pitchFamily="34" charset="-122"/>
                <a:cs typeface="Cambria" pitchFamily="34" charset="-120"/>
              </a:rPr>
              <a:t>, </a:t>
            </a:r>
            <a:r>
              <a:rPr lang="en-US" sz="1500" b="1" dirty="0">
                <a:solidFill>
                  <a:srgbClr val="1C1712"/>
                </a:solidFill>
                <a:latin typeface="Cambria" pitchFamily="34" charset="0"/>
                <a:ea typeface="Cambria" pitchFamily="34" charset="-122"/>
                <a:cs typeface="Cambria" pitchFamily="34" charset="-120"/>
              </a:rPr>
              <a:t>OPEX Cost</a:t>
            </a:r>
            <a:r>
              <a:rPr lang="en-US" sz="1500" dirty="0">
                <a:solidFill>
                  <a:srgbClr val="2C261E"/>
                </a:solidFill>
                <a:latin typeface="Cambria" pitchFamily="34" charset="0"/>
                <a:ea typeface="Cambria" pitchFamily="34" charset="-122"/>
                <a:cs typeface="Cambria" pitchFamily="34" charset="-120"/>
              </a:rPr>
              <a:t>, and </a:t>
            </a:r>
            <a:r>
              <a:rPr lang="en-US" sz="1500" b="1" dirty="0">
                <a:solidFill>
                  <a:srgbClr val="1C1712"/>
                </a:solidFill>
                <a:latin typeface="Cambria" pitchFamily="34" charset="0"/>
                <a:ea typeface="Cambria" pitchFamily="34" charset="-122"/>
                <a:cs typeface="Cambria" pitchFamily="34" charset="-120"/>
              </a:rPr>
              <a:t>HSE Risk</a:t>
            </a:r>
            <a:r>
              <a:rPr lang="en-US" sz="1500" dirty="0">
                <a:solidFill>
                  <a:srgbClr val="2C261E"/>
                </a:solidFill>
                <a:latin typeface="Cambria" pitchFamily="34" charset="0"/>
                <a:ea typeface="Cambria" pitchFamily="34" charset="-122"/>
                <a:cs typeface="Cambria" pitchFamily="34" charset="-120"/>
              </a:rPr>
              <a:t>.</a:t>
            </a:r>
            <a:endParaRPr lang="en-US" sz="1500" dirty="0"/>
          </a:p>
          <a:p>
            <a:pPr marL="190500" indent="-190500">
              <a:spcAft>
                <a:spcPts val="1800"/>
              </a:spcAft>
              <a:buSzPct val="100000"/>
              <a:buChar char="▪"/>
            </a:pPr>
            <a:r>
              <a:rPr lang="en-US" sz="1500" b="1" dirty="0">
                <a:solidFill>
                  <a:srgbClr val="1C1712"/>
                </a:solidFill>
                <a:latin typeface="Cambria" pitchFamily="34" charset="0"/>
                <a:ea typeface="Cambria" pitchFamily="34" charset="-122"/>
                <a:cs typeface="Cambria" pitchFamily="34" charset="-120"/>
              </a:rPr>
              <a:t>Data-Driven Evergreening:</a:t>
            </a:r>
            <a:r>
              <a:rPr lang="en-US" sz="1500" dirty="0">
                <a:solidFill>
                  <a:srgbClr val="2C261E"/>
                </a:solidFill>
                <a:latin typeface="Cambria" pitchFamily="34" charset="0"/>
                <a:ea typeface="Cambria" pitchFamily="34" charset="-122"/>
                <a:cs typeface="Cambria" pitchFamily="34" charset="-120"/>
              </a:rPr>
              <a:t> Eliminates static, periodic re-assessments in favor of near-real-time living reliability models.</a:t>
            </a:r>
            <a:endParaRPr lang="en-US" sz="1500" dirty="0"/>
          </a:p>
        </p:txBody>
      </p:sp>
      <p:sp>
        <p:nvSpPr>
          <p:cNvPr id="16" name="Shape 13"/>
          <p:cNvSpPr/>
          <p:nvPr/>
        </p:nvSpPr>
        <p:spPr>
          <a:xfrm>
            <a:off x="777240" y="5669280"/>
            <a:ext cx="1554480" cy="274320"/>
          </a:xfrm>
          <a:prstGeom prst="rect">
            <a:avLst/>
          </a:prstGeom>
          <a:solidFill>
            <a:srgbClr val="DDE7D6"/>
          </a:solidFill>
          <a:ln w="12700">
            <a:solidFill>
              <a:srgbClr val="2F6B3A"/>
            </a:solidFill>
            <a:prstDash val="solid"/>
          </a:ln>
        </p:spPr>
        <p:txBody>
          <a:bodyPr/>
          <a:lstStyle/>
          <a:p>
            <a:endParaRPr lang="en-IN"/>
          </a:p>
        </p:txBody>
      </p:sp>
      <p:sp>
        <p:nvSpPr>
          <p:cNvPr id="17" name="Text 14"/>
          <p:cNvSpPr txBox="1"/>
          <p:nvPr/>
        </p:nvSpPr>
        <p:spPr>
          <a:xfrm>
            <a:off x="777240" y="5669280"/>
            <a:ext cx="1554480" cy="274320"/>
          </a:xfrm>
          <a:prstGeom prst="rect">
            <a:avLst/>
          </a:prstGeom>
          <a:noFill/>
          <a:ln/>
        </p:spPr>
        <p:txBody>
          <a:bodyPr wrap="square" lIns="0" tIns="0" rIns="0" bIns="0" rtlCol="0" anchor="ctr"/>
          <a:lstStyle/>
          <a:p>
            <a:pPr marL="0" indent="0" algn="ctr">
              <a:buNone/>
            </a:pPr>
            <a:r>
              <a:rPr lang="en-US" sz="900" b="1" dirty="0">
                <a:solidFill>
                  <a:srgbClr val="2F6B3A"/>
                </a:solidFill>
                <a:latin typeface="Courier New" pitchFamily="34" charset="0"/>
                <a:ea typeface="Courier New" pitchFamily="34" charset="-122"/>
                <a:cs typeface="Courier New" pitchFamily="34" charset="-120"/>
              </a:rPr>
              <a:t>AVAILABILITY</a:t>
            </a:r>
            <a:endParaRPr lang="en-US" sz="900" dirty="0"/>
          </a:p>
        </p:txBody>
      </p:sp>
      <p:sp>
        <p:nvSpPr>
          <p:cNvPr id="18" name="Shape 15"/>
          <p:cNvSpPr/>
          <p:nvPr/>
        </p:nvSpPr>
        <p:spPr>
          <a:xfrm>
            <a:off x="2468880" y="5669280"/>
            <a:ext cx="1417320" cy="274320"/>
          </a:xfrm>
          <a:prstGeom prst="rect">
            <a:avLst/>
          </a:prstGeom>
          <a:solidFill>
            <a:srgbClr val="EDE2C4"/>
          </a:solidFill>
          <a:ln w="12700">
            <a:solidFill>
              <a:srgbClr val="9A6A12"/>
            </a:solidFill>
            <a:prstDash val="solid"/>
          </a:ln>
        </p:spPr>
        <p:txBody>
          <a:bodyPr/>
          <a:lstStyle/>
          <a:p>
            <a:endParaRPr lang="en-IN"/>
          </a:p>
        </p:txBody>
      </p:sp>
      <p:sp>
        <p:nvSpPr>
          <p:cNvPr id="19" name="Text 16"/>
          <p:cNvSpPr txBox="1"/>
          <p:nvPr/>
        </p:nvSpPr>
        <p:spPr>
          <a:xfrm>
            <a:off x="2468880" y="5669280"/>
            <a:ext cx="1417320" cy="274320"/>
          </a:xfrm>
          <a:prstGeom prst="rect">
            <a:avLst/>
          </a:prstGeom>
          <a:noFill/>
          <a:ln/>
        </p:spPr>
        <p:txBody>
          <a:bodyPr wrap="square" lIns="0" tIns="0" rIns="0" bIns="0" rtlCol="0" anchor="ctr"/>
          <a:lstStyle/>
          <a:p>
            <a:pPr marL="0" indent="0" algn="ctr">
              <a:buNone/>
            </a:pPr>
            <a:r>
              <a:rPr lang="en-US" sz="900" b="1" dirty="0">
                <a:solidFill>
                  <a:srgbClr val="9A6A12"/>
                </a:solidFill>
                <a:latin typeface="Courier New" pitchFamily="34" charset="0"/>
                <a:ea typeface="Courier New" pitchFamily="34" charset="-122"/>
                <a:cs typeface="Courier New" pitchFamily="34" charset="-120"/>
              </a:rPr>
              <a:t>OPEX COST</a:t>
            </a:r>
            <a:endParaRPr lang="en-US" sz="900" dirty="0"/>
          </a:p>
        </p:txBody>
      </p:sp>
      <p:sp>
        <p:nvSpPr>
          <p:cNvPr id="20" name="Shape 17"/>
          <p:cNvSpPr/>
          <p:nvPr/>
        </p:nvSpPr>
        <p:spPr>
          <a:xfrm>
            <a:off x="4023360" y="5669280"/>
            <a:ext cx="1280160" cy="274320"/>
          </a:xfrm>
          <a:prstGeom prst="rect">
            <a:avLst/>
          </a:prstGeom>
          <a:solidFill>
            <a:srgbClr val="EFDCCF"/>
          </a:solidFill>
          <a:ln w="12700">
            <a:solidFill>
              <a:srgbClr val="7A1F1A"/>
            </a:solidFill>
            <a:prstDash val="solid"/>
          </a:ln>
        </p:spPr>
        <p:txBody>
          <a:bodyPr/>
          <a:lstStyle/>
          <a:p>
            <a:endParaRPr lang="en-IN"/>
          </a:p>
        </p:txBody>
      </p:sp>
      <p:sp>
        <p:nvSpPr>
          <p:cNvPr id="21" name="Text 18"/>
          <p:cNvSpPr txBox="1"/>
          <p:nvPr/>
        </p:nvSpPr>
        <p:spPr>
          <a:xfrm>
            <a:off x="4023360" y="5669280"/>
            <a:ext cx="128016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HSE RISK</a:t>
            </a:r>
            <a:endParaRPr lang="en-US" sz="900" dirty="0"/>
          </a:p>
        </p:txBody>
      </p:sp>
      <p:sp>
        <p:nvSpPr>
          <p:cNvPr id="22" name="Shape 19"/>
          <p:cNvSpPr/>
          <p:nvPr/>
        </p:nvSpPr>
        <p:spPr>
          <a:xfrm>
            <a:off x="6355080" y="1737360"/>
            <a:ext cx="5285232" cy="1371600"/>
          </a:xfrm>
          <a:prstGeom prst="rect">
            <a:avLst/>
          </a:prstGeom>
          <a:solidFill>
            <a:srgbClr val="FBF4E4"/>
          </a:solidFill>
          <a:ln w="12700">
            <a:solidFill>
              <a:srgbClr val="C9B48F"/>
            </a:solidFill>
            <a:prstDash val="solid"/>
          </a:ln>
        </p:spPr>
        <p:txBody>
          <a:bodyPr/>
          <a:lstStyle/>
          <a:p>
            <a:endParaRPr lang="en-IN"/>
          </a:p>
        </p:txBody>
      </p:sp>
      <p:sp>
        <p:nvSpPr>
          <p:cNvPr id="23" name="Shape 20"/>
          <p:cNvSpPr/>
          <p:nvPr/>
        </p:nvSpPr>
        <p:spPr>
          <a:xfrm>
            <a:off x="6583680" y="1965960"/>
            <a:ext cx="512064" cy="512064"/>
          </a:xfrm>
          <a:prstGeom prst="ellipse">
            <a:avLst/>
          </a:prstGeom>
          <a:solidFill>
            <a:srgbClr val="EFDCCF"/>
          </a:solidFill>
          <a:ln w="15875">
            <a:solidFill>
              <a:srgbClr val="7A1F1A"/>
            </a:solidFill>
            <a:prstDash val="solid"/>
          </a:ln>
        </p:spPr>
        <p:txBody>
          <a:bodyPr/>
          <a:lstStyle/>
          <a:p>
            <a:endParaRPr lang="en-IN"/>
          </a:p>
        </p:txBody>
      </p:sp>
      <p:pic>
        <p:nvPicPr>
          <p:cNvPr id="24" name="Image 1" descr="preencoded.png"/>
          <p:cNvPicPr>
            <a:picLocks noChangeAspect="1"/>
          </p:cNvPicPr>
          <p:nvPr/>
        </p:nvPicPr>
        <p:blipFill>
          <a:blip r:embed="rId4"/>
          <a:stretch>
            <a:fillRect/>
          </a:stretch>
        </p:blipFill>
        <p:spPr>
          <a:xfrm>
            <a:off x="6711696" y="2093976"/>
            <a:ext cx="256032" cy="256032"/>
          </a:xfrm>
          <a:prstGeom prst="rect">
            <a:avLst/>
          </a:prstGeom>
        </p:spPr>
      </p:pic>
      <p:sp>
        <p:nvSpPr>
          <p:cNvPr id="25" name="Text 21"/>
          <p:cNvSpPr txBox="1"/>
          <p:nvPr/>
        </p:nvSpPr>
        <p:spPr>
          <a:xfrm>
            <a:off x="7269480" y="1938528"/>
            <a:ext cx="420624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1. Better &amp; Faster Decisions</a:t>
            </a:r>
            <a:endParaRPr lang="en-US" sz="1500" dirty="0"/>
          </a:p>
        </p:txBody>
      </p:sp>
      <p:sp>
        <p:nvSpPr>
          <p:cNvPr id="26" name="Text 22"/>
          <p:cNvSpPr txBox="1"/>
          <p:nvPr/>
        </p:nvSpPr>
        <p:spPr>
          <a:xfrm>
            <a:off x="7269480" y="2286000"/>
            <a:ext cx="4206240" cy="777240"/>
          </a:xfrm>
          <a:prstGeom prst="rect">
            <a:avLst/>
          </a:prstGeom>
          <a:noFill/>
          <a:ln/>
        </p:spPr>
        <p:txBody>
          <a:bodyPr wrap="square" lIns="0" tIns="0" rIns="0" bIns="0" rtlCol="0" anchor="t"/>
          <a:lstStyle/>
          <a:p>
            <a:pPr marL="190500" indent="-190500">
              <a:spcAft>
                <a:spcPts val="300"/>
              </a:spcAft>
              <a:buSzPct val="100000"/>
              <a:buChar char="•"/>
            </a:pPr>
            <a:r>
              <a:rPr lang="en-US" sz="1200" dirty="0">
                <a:solidFill>
                  <a:srgbClr val="2C261E"/>
                </a:solidFill>
                <a:latin typeface="Cambria" pitchFamily="34" charset="0"/>
                <a:ea typeface="Cambria" pitchFamily="34" charset="-122"/>
                <a:cs typeface="Cambria" pitchFamily="34" charset="-120"/>
              </a:rPr>
              <a:t>Replaces subjective consensus meetings with Bayesian algorithms.</a:t>
            </a:r>
            <a:endParaRPr lang="en-US" sz="1200" dirty="0"/>
          </a:p>
          <a:p>
            <a:pPr marL="190500" indent="-190500">
              <a:spcAft>
                <a:spcPts val="300"/>
              </a:spcAft>
              <a:buSzPct val="100000"/>
              <a:buChar char="•"/>
            </a:pPr>
            <a:r>
              <a:rPr lang="en-US" sz="1200" dirty="0">
                <a:solidFill>
                  <a:srgbClr val="2C261E"/>
                </a:solidFill>
                <a:latin typeface="Cambria" pitchFamily="34" charset="0"/>
                <a:ea typeface="Cambria" pitchFamily="34" charset="-122"/>
                <a:cs typeface="Cambria" pitchFamily="34" charset="-120"/>
              </a:rPr>
              <a:t>Ranks every maintenance dollar by quantified Benefit-Cost Ratio.</a:t>
            </a:r>
            <a:endParaRPr lang="en-US" sz="1200" dirty="0"/>
          </a:p>
        </p:txBody>
      </p:sp>
      <p:sp>
        <p:nvSpPr>
          <p:cNvPr id="27" name="Shape 23"/>
          <p:cNvSpPr/>
          <p:nvPr/>
        </p:nvSpPr>
        <p:spPr>
          <a:xfrm>
            <a:off x="6355080" y="3291840"/>
            <a:ext cx="5285232" cy="1371600"/>
          </a:xfrm>
          <a:prstGeom prst="rect">
            <a:avLst/>
          </a:prstGeom>
          <a:solidFill>
            <a:srgbClr val="FBF4E4"/>
          </a:solidFill>
          <a:ln w="12700">
            <a:solidFill>
              <a:srgbClr val="C9B48F"/>
            </a:solidFill>
            <a:prstDash val="solid"/>
          </a:ln>
        </p:spPr>
        <p:txBody>
          <a:bodyPr/>
          <a:lstStyle/>
          <a:p>
            <a:endParaRPr lang="en-IN"/>
          </a:p>
        </p:txBody>
      </p:sp>
      <p:sp>
        <p:nvSpPr>
          <p:cNvPr id="28" name="Shape 24"/>
          <p:cNvSpPr/>
          <p:nvPr/>
        </p:nvSpPr>
        <p:spPr>
          <a:xfrm>
            <a:off x="6583680" y="3520440"/>
            <a:ext cx="512064" cy="512064"/>
          </a:xfrm>
          <a:prstGeom prst="ellipse">
            <a:avLst/>
          </a:prstGeom>
          <a:solidFill>
            <a:srgbClr val="EFDCCF"/>
          </a:solidFill>
          <a:ln w="15875">
            <a:solidFill>
              <a:srgbClr val="7A1F1A"/>
            </a:solidFill>
            <a:prstDash val="solid"/>
          </a:ln>
        </p:spPr>
        <p:txBody>
          <a:bodyPr/>
          <a:lstStyle/>
          <a:p>
            <a:endParaRPr lang="en-IN"/>
          </a:p>
        </p:txBody>
      </p:sp>
      <p:pic>
        <p:nvPicPr>
          <p:cNvPr id="29" name="Image 2" descr="preencoded.png"/>
          <p:cNvPicPr>
            <a:picLocks noChangeAspect="1"/>
          </p:cNvPicPr>
          <p:nvPr/>
        </p:nvPicPr>
        <p:blipFill>
          <a:blip r:embed="rId5"/>
          <a:stretch>
            <a:fillRect/>
          </a:stretch>
        </p:blipFill>
        <p:spPr>
          <a:xfrm>
            <a:off x="6711696" y="3648456"/>
            <a:ext cx="256032" cy="256032"/>
          </a:xfrm>
          <a:prstGeom prst="rect">
            <a:avLst/>
          </a:prstGeom>
        </p:spPr>
      </p:pic>
      <p:sp>
        <p:nvSpPr>
          <p:cNvPr id="30" name="Text 25"/>
          <p:cNvSpPr txBox="1"/>
          <p:nvPr/>
        </p:nvSpPr>
        <p:spPr>
          <a:xfrm>
            <a:off x="7269480" y="3493008"/>
            <a:ext cx="420624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2. Strategic Cost Reduction</a:t>
            </a:r>
            <a:endParaRPr lang="en-US" sz="1500" dirty="0"/>
          </a:p>
        </p:txBody>
      </p:sp>
      <p:sp>
        <p:nvSpPr>
          <p:cNvPr id="31" name="Text 26"/>
          <p:cNvSpPr txBox="1"/>
          <p:nvPr/>
        </p:nvSpPr>
        <p:spPr>
          <a:xfrm>
            <a:off x="7269480" y="3840480"/>
            <a:ext cx="4206240" cy="777240"/>
          </a:xfrm>
          <a:prstGeom prst="rect">
            <a:avLst/>
          </a:prstGeom>
          <a:noFill/>
          <a:ln/>
        </p:spPr>
        <p:txBody>
          <a:bodyPr wrap="square" lIns="0" tIns="0" rIns="0" bIns="0" rtlCol="0" anchor="t"/>
          <a:lstStyle/>
          <a:p>
            <a:pPr marL="190500" indent="-190500">
              <a:spcAft>
                <a:spcPts val="300"/>
              </a:spcAft>
              <a:buSzPct val="100000"/>
              <a:buChar char="•"/>
            </a:pPr>
            <a:r>
              <a:rPr lang="en-US" sz="1200" dirty="0">
                <a:solidFill>
                  <a:srgbClr val="2C261E"/>
                </a:solidFill>
                <a:latin typeface="Cambria" pitchFamily="34" charset="0"/>
                <a:ea typeface="Cambria" pitchFamily="34" charset="-122"/>
                <a:cs typeface="Cambria" pitchFamily="34" charset="-120"/>
              </a:rPr>
              <a:t>Eliminates non-value-added PMs on low-consequence systems.</a:t>
            </a:r>
            <a:endParaRPr lang="en-US" sz="1200" dirty="0"/>
          </a:p>
          <a:p>
            <a:pPr marL="190500" indent="-190500">
              <a:spcAft>
                <a:spcPts val="300"/>
              </a:spcAft>
              <a:buSzPct val="100000"/>
              <a:buChar char="•"/>
            </a:pPr>
            <a:r>
              <a:rPr lang="en-US" sz="1200" dirty="0">
                <a:solidFill>
                  <a:srgbClr val="2C261E"/>
                </a:solidFill>
                <a:latin typeface="Cambria" pitchFamily="34" charset="0"/>
                <a:ea typeface="Cambria" pitchFamily="34" charset="-122"/>
                <a:cs typeface="Cambria" pitchFamily="34" charset="-120"/>
              </a:rPr>
              <a:t>Reduces recurring turnaround inspection scopes by up to 30%.</a:t>
            </a:r>
            <a:endParaRPr lang="en-US" sz="1200" dirty="0"/>
          </a:p>
        </p:txBody>
      </p:sp>
      <p:sp>
        <p:nvSpPr>
          <p:cNvPr id="32" name="Shape 27"/>
          <p:cNvSpPr/>
          <p:nvPr/>
        </p:nvSpPr>
        <p:spPr>
          <a:xfrm>
            <a:off x="6355080" y="4846320"/>
            <a:ext cx="5285232" cy="1371600"/>
          </a:xfrm>
          <a:prstGeom prst="rect">
            <a:avLst/>
          </a:prstGeom>
          <a:solidFill>
            <a:srgbClr val="FBF4E4"/>
          </a:solidFill>
          <a:ln w="12700">
            <a:solidFill>
              <a:srgbClr val="C9B48F"/>
            </a:solidFill>
            <a:prstDash val="solid"/>
          </a:ln>
        </p:spPr>
        <p:txBody>
          <a:bodyPr/>
          <a:lstStyle/>
          <a:p>
            <a:endParaRPr lang="en-IN"/>
          </a:p>
        </p:txBody>
      </p:sp>
      <p:sp>
        <p:nvSpPr>
          <p:cNvPr id="33" name="Shape 28"/>
          <p:cNvSpPr/>
          <p:nvPr/>
        </p:nvSpPr>
        <p:spPr>
          <a:xfrm>
            <a:off x="6583680" y="5074920"/>
            <a:ext cx="512064" cy="512064"/>
          </a:xfrm>
          <a:prstGeom prst="ellipse">
            <a:avLst/>
          </a:prstGeom>
          <a:solidFill>
            <a:srgbClr val="EFDCCF"/>
          </a:solidFill>
          <a:ln w="15875">
            <a:solidFill>
              <a:srgbClr val="7A1F1A"/>
            </a:solidFill>
            <a:prstDash val="solid"/>
          </a:ln>
        </p:spPr>
        <p:txBody>
          <a:bodyPr/>
          <a:lstStyle/>
          <a:p>
            <a:endParaRPr lang="en-IN"/>
          </a:p>
        </p:txBody>
      </p:sp>
      <p:pic>
        <p:nvPicPr>
          <p:cNvPr id="34" name="Image 3" descr="preencoded.png"/>
          <p:cNvPicPr>
            <a:picLocks noChangeAspect="1"/>
          </p:cNvPicPr>
          <p:nvPr/>
        </p:nvPicPr>
        <p:blipFill>
          <a:blip r:embed="rId6"/>
          <a:stretch>
            <a:fillRect/>
          </a:stretch>
        </p:blipFill>
        <p:spPr>
          <a:xfrm>
            <a:off x="6711696" y="5202936"/>
            <a:ext cx="256032" cy="256032"/>
          </a:xfrm>
          <a:prstGeom prst="rect">
            <a:avLst/>
          </a:prstGeom>
        </p:spPr>
      </p:pic>
      <p:sp>
        <p:nvSpPr>
          <p:cNvPr id="35" name="Text 29"/>
          <p:cNvSpPr txBox="1"/>
          <p:nvPr/>
        </p:nvSpPr>
        <p:spPr>
          <a:xfrm>
            <a:off x="7269480" y="5047488"/>
            <a:ext cx="420624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3. High-Confidence Safety</a:t>
            </a:r>
            <a:endParaRPr lang="en-US" sz="1500" dirty="0"/>
          </a:p>
        </p:txBody>
      </p:sp>
      <p:sp>
        <p:nvSpPr>
          <p:cNvPr id="36" name="Text 30"/>
          <p:cNvSpPr txBox="1"/>
          <p:nvPr/>
        </p:nvSpPr>
        <p:spPr>
          <a:xfrm>
            <a:off x="7269480" y="5394960"/>
            <a:ext cx="4206240" cy="777240"/>
          </a:xfrm>
          <a:prstGeom prst="rect">
            <a:avLst/>
          </a:prstGeom>
          <a:noFill/>
          <a:ln/>
        </p:spPr>
        <p:txBody>
          <a:bodyPr wrap="square" lIns="0" tIns="0" rIns="0" bIns="0" rtlCol="0" anchor="t"/>
          <a:lstStyle/>
          <a:p>
            <a:pPr marL="190500" indent="-190500">
              <a:spcAft>
                <a:spcPts val="300"/>
              </a:spcAft>
              <a:buSzPct val="100000"/>
              <a:buChar char="•"/>
            </a:pPr>
            <a:r>
              <a:rPr lang="en-US" sz="1200" dirty="0">
                <a:solidFill>
                  <a:srgbClr val="2C261E"/>
                </a:solidFill>
                <a:latin typeface="Cambria" pitchFamily="34" charset="0"/>
                <a:ea typeface="Cambria" pitchFamily="34" charset="-122"/>
                <a:cs typeface="Cambria" pitchFamily="34" charset="-120"/>
              </a:rPr>
              <a:t>Enforces hard HSE risk ceilings to guarantee zero containment loss.</a:t>
            </a:r>
            <a:endParaRPr lang="en-US" sz="1200" dirty="0"/>
          </a:p>
          <a:p>
            <a:pPr marL="190500" indent="-190500">
              <a:spcAft>
                <a:spcPts val="300"/>
              </a:spcAft>
              <a:buSzPct val="100000"/>
              <a:buChar char="•"/>
            </a:pPr>
            <a:r>
              <a:rPr lang="en-US" sz="1200" dirty="0">
                <a:solidFill>
                  <a:srgbClr val="2C261E"/>
                </a:solidFill>
                <a:latin typeface="Cambria" pitchFamily="34" charset="0"/>
                <a:ea typeface="Cambria" pitchFamily="34" charset="-122"/>
                <a:cs typeface="Cambria" pitchFamily="34" charset="-120"/>
              </a:rPr>
              <a:t>Validates asset integrity with formal statistical confidence bounds.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01 — INTRODUCTION &amp; QRO OVERVIEW</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QRO Architecture &amp; Decision Triad</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Ingesting multi-source engineering data to balance HSE risk, OPEX cost, and production uptime.</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04</a:t>
            </a:r>
            <a:r>
              <a:rPr sz="900">
                <a:solidFill>
                  <a:srgbClr val="8A8477"/>
                </a:solidFill>
                <a:latin typeface="Courier New"/>
              </a:rPr>
              <a:t> / 80</a:t>
            </a:r>
            <a:endParaRPr lang="en-US" sz="900" dirty="0"/>
          </a:p>
        </p:txBody>
      </p:sp>
      <p:sp>
        <p:nvSpPr>
          <p:cNvPr id="13" name="Shape 10"/>
          <p:cNvSpPr/>
          <p:nvPr/>
        </p:nvSpPr>
        <p:spPr>
          <a:xfrm>
            <a:off x="548640" y="1737360"/>
            <a:ext cx="11091672" cy="342900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856232"/>
            <a:ext cx="10725912"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QRO ARCHITECTURE: RISK-BASED INPUTS, ENGINE &amp; DECISION TRIAD</a:t>
            </a:r>
            <a:endParaRPr lang="en-US" sz="850" dirty="0"/>
          </a:p>
        </p:txBody>
      </p:sp>
      <p:sp>
        <p:nvSpPr>
          <p:cNvPr id="15" name="Shape 12"/>
          <p:cNvSpPr/>
          <p:nvPr/>
        </p:nvSpPr>
        <p:spPr>
          <a:xfrm>
            <a:off x="731520" y="2103120"/>
            <a:ext cx="10725912" cy="0"/>
          </a:xfrm>
          <a:prstGeom prst="line">
            <a:avLst/>
          </a:prstGeom>
          <a:noFill/>
          <a:ln w="9525">
            <a:solidFill>
              <a:srgbClr val="C9B48F"/>
            </a:solidFill>
            <a:prstDash val="solid"/>
          </a:ln>
        </p:spPr>
        <p:txBody>
          <a:bodyPr/>
          <a:lstStyle/>
          <a:p>
            <a:endParaRPr lang="en-IN"/>
          </a:p>
        </p:txBody>
      </p:sp>
      <p:sp>
        <p:nvSpPr>
          <p:cNvPr id="17" name="Shape 13"/>
          <p:cNvSpPr/>
          <p:nvPr/>
        </p:nvSpPr>
        <p:spPr>
          <a:xfrm>
            <a:off x="548640" y="5349240"/>
            <a:ext cx="6492240" cy="868680"/>
          </a:xfrm>
          <a:prstGeom prst="rect">
            <a:avLst/>
          </a:prstGeom>
          <a:solidFill>
            <a:srgbClr val="EFDCCF"/>
          </a:solidFill>
          <a:ln w="12700">
            <a:solidFill>
              <a:srgbClr val="C9B48F"/>
            </a:solidFill>
            <a:prstDash val="solid"/>
          </a:ln>
        </p:spPr>
        <p:txBody>
          <a:bodyPr/>
          <a:lstStyle/>
          <a:p>
            <a:endParaRPr lang="en-IN"/>
          </a:p>
        </p:txBody>
      </p:sp>
      <p:sp>
        <p:nvSpPr>
          <p:cNvPr id="18" name="Text 14"/>
          <p:cNvSpPr txBox="1"/>
          <p:nvPr/>
        </p:nvSpPr>
        <p:spPr>
          <a:xfrm>
            <a:off x="777240" y="5349240"/>
            <a:ext cx="6126480" cy="868680"/>
          </a:xfrm>
          <a:prstGeom prst="rect">
            <a:avLst/>
          </a:prstGeom>
          <a:noFill/>
          <a:ln/>
        </p:spPr>
        <p:txBody>
          <a:bodyPr wrap="square" lIns="0" tIns="0" rIns="0" bIns="0" rtlCol="0" anchor="ctr"/>
          <a:lstStyle/>
          <a:p>
            <a:pPr marL="0" indent="0">
              <a:buNone/>
            </a:pPr>
            <a:r>
              <a:rPr lang="en-US" sz="1300" b="1" dirty="0">
                <a:solidFill>
                  <a:srgbClr val="7A1F1A"/>
                </a:solidFill>
                <a:latin typeface="Cambria" pitchFamily="34" charset="0"/>
                <a:ea typeface="Cambria" pitchFamily="34" charset="-122"/>
                <a:cs typeface="Cambria" pitchFamily="34" charset="-120"/>
              </a:rPr>
              <a:t>Ingestion Layer:</a:t>
            </a:r>
            <a:r>
              <a:rPr lang="en-US" sz="1300" dirty="0">
                <a:solidFill>
                  <a:srgbClr val="2C261E"/>
                </a:solidFill>
                <a:latin typeface="Cambria" pitchFamily="34" charset="0"/>
                <a:ea typeface="Cambria" pitchFamily="34" charset="-122"/>
                <a:cs typeface="Cambria" pitchFamily="34" charset="-120"/>
              </a:rPr>
              <a:t> Consolidates RBI, RCM, RAM, and sensor telemetry into a single mathematical formulation.</a:t>
            </a:r>
            <a:endParaRPr lang="en-US" sz="1300" dirty="0"/>
          </a:p>
        </p:txBody>
      </p:sp>
      <p:sp>
        <p:nvSpPr>
          <p:cNvPr id="19" name="Shape 15"/>
          <p:cNvSpPr/>
          <p:nvPr/>
        </p:nvSpPr>
        <p:spPr>
          <a:xfrm>
            <a:off x="7269480" y="5349240"/>
            <a:ext cx="4370832" cy="868680"/>
          </a:xfrm>
          <a:prstGeom prst="rect">
            <a:avLst/>
          </a:prstGeom>
          <a:solidFill>
            <a:srgbClr val="EFE4CD"/>
          </a:solidFill>
          <a:ln w="12700">
            <a:solidFill>
              <a:srgbClr val="C9B48F"/>
            </a:solidFill>
            <a:prstDash val="solid"/>
          </a:ln>
        </p:spPr>
        <p:txBody>
          <a:bodyPr/>
          <a:lstStyle/>
          <a:p>
            <a:endParaRPr lang="en-IN"/>
          </a:p>
        </p:txBody>
      </p:sp>
      <p:sp>
        <p:nvSpPr>
          <p:cNvPr id="20" name="Text 16"/>
          <p:cNvSpPr txBox="1"/>
          <p:nvPr/>
        </p:nvSpPr>
        <p:spPr>
          <a:xfrm>
            <a:off x="7498080" y="5349240"/>
            <a:ext cx="4023360" cy="868680"/>
          </a:xfrm>
          <a:prstGeom prst="rect">
            <a:avLst/>
          </a:prstGeom>
          <a:noFill/>
          <a:ln/>
        </p:spPr>
        <p:txBody>
          <a:bodyPr wrap="square" lIns="0" tIns="0" rIns="0" bIns="0" rtlCol="0" anchor="ctr"/>
          <a:lstStyle/>
          <a:p>
            <a:pPr marL="0" indent="0">
              <a:buNone/>
            </a:pPr>
            <a:r>
              <a:rPr lang="en-US" sz="900" b="1" dirty="0">
                <a:solidFill>
                  <a:srgbClr val="5A5347"/>
                </a:solidFill>
                <a:latin typeface="Courier New" pitchFamily="34" charset="0"/>
                <a:ea typeface="Courier New" pitchFamily="34" charset="-122"/>
                <a:cs typeface="Courier New" pitchFamily="34" charset="-120"/>
              </a:rPr>
              <a:t>OPTIMIZATION MANDATE</a:t>
            </a:r>
            <a:endParaRPr lang="en-US" sz="1250" dirty="0"/>
          </a:p>
          <a:p>
            <a:pPr marL="0" indent="0">
              <a:buNone/>
            </a:pPr>
            <a:r>
              <a:rPr lang="en-US" sz="1350" b="1" dirty="0">
                <a:solidFill>
                  <a:srgbClr val="1C1712"/>
                </a:solidFill>
                <a:latin typeface="Cambria" pitchFamily="34" charset="0"/>
                <a:ea typeface="Cambria" pitchFamily="34" charset="-122"/>
                <a:cs typeface="Cambria" pitchFamily="34" charset="-120"/>
              </a:rPr>
              <a:t>Balance HSE Risk, OPEX Cost &amp; Availability</a:t>
            </a:r>
            <a:endParaRPr lang="en-US" sz="1250" dirty="0"/>
          </a:p>
        </p:txBody>
      </p:sp>
      <p:sp>
        <p:nvSpPr>
          <p:cNvPr id="21" name="Rectangle 20"/>
          <p:cNvSpPr/>
          <p:nvPr/>
        </p:nvSpPr>
        <p:spPr>
          <a:xfrm>
            <a:off x="800000" y="2220000"/>
            <a:ext cx="2150000" cy="380000"/>
          </a:xfrm>
          <a:prstGeom prst="rect">
            <a:avLst/>
          </a:prstGeom>
          <a:solidFill>
            <a:srgbClr val="3E9B8D"/>
          </a:solidFill>
          <a:ln>
            <a:solidFill>
              <a:srgbClr val="3E9B8D"/>
            </a:solidFill>
          </a:ln>
        </p:spPr>
        <p:style>
          <a:lnRef idx="1">
            <a:schemeClr val="accent1"/>
          </a:lnRef>
          <a:fillRef idx="3">
            <a:schemeClr val="accent1"/>
          </a:fillRef>
          <a:effectRef idx="2">
            <a:schemeClr val="accent1"/>
          </a:effectRef>
          <a:fontRef idx="minor">
            <a:schemeClr val="lt1"/>
          </a:fontRef>
        </p:style>
        <p:txBody>
          <a:bodyPr lIns="73152" rtlCol="0" anchor="ctr"/>
          <a:lstStyle/>
          <a:p>
            <a:pPr algn="l">
              <a:defRPr sz="1100" b="1">
                <a:solidFill>
                  <a:srgbClr val="FFFFFF"/>
                </a:solidFill>
                <a:latin typeface="Cambria"/>
              </a:defRPr>
            </a:pPr>
            <a:r>
              <a:t>Risk-Based Inspection</a:t>
            </a:r>
          </a:p>
        </p:txBody>
      </p:sp>
      <p:sp>
        <p:nvSpPr>
          <p:cNvPr id="22" name="Chevron 21"/>
          <p:cNvSpPr/>
          <p:nvPr/>
        </p:nvSpPr>
        <p:spPr>
          <a:xfrm>
            <a:off x="2950000" y="2260000"/>
            <a:ext cx="420000" cy="300000"/>
          </a:xfrm>
          <a:prstGeom prst="chevron">
            <a:avLst/>
          </a:prstGeom>
          <a:solidFill>
            <a:srgbClr val="2B6B61"/>
          </a:solidFill>
          <a:ln>
            <a:solidFill>
              <a:srgbClr val="2B6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0000" y="2740000"/>
            <a:ext cx="2150000" cy="380000"/>
          </a:xfrm>
          <a:prstGeom prst="rect">
            <a:avLst/>
          </a:prstGeom>
          <a:solidFill>
            <a:srgbClr val="3E9B8D"/>
          </a:solidFill>
          <a:ln>
            <a:solidFill>
              <a:srgbClr val="3E9B8D"/>
            </a:solidFill>
          </a:ln>
        </p:spPr>
        <p:style>
          <a:lnRef idx="1">
            <a:schemeClr val="accent1"/>
          </a:lnRef>
          <a:fillRef idx="3">
            <a:schemeClr val="accent1"/>
          </a:fillRef>
          <a:effectRef idx="2">
            <a:schemeClr val="accent1"/>
          </a:effectRef>
          <a:fontRef idx="minor">
            <a:schemeClr val="lt1"/>
          </a:fontRef>
        </p:style>
        <p:txBody>
          <a:bodyPr lIns="73152" rtlCol="0" anchor="ctr"/>
          <a:lstStyle/>
          <a:p>
            <a:pPr algn="l">
              <a:defRPr sz="1100" b="1">
                <a:solidFill>
                  <a:srgbClr val="FFFFFF"/>
                </a:solidFill>
                <a:latin typeface="Cambria"/>
              </a:defRPr>
            </a:pPr>
            <a:r>
              <a:t>Reliability Centered Maintenance</a:t>
            </a:r>
          </a:p>
        </p:txBody>
      </p:sp>
      <p:sp>
        <p:nvSpPr>
          <p:cNvPr id="24" name="Chevron 23"/>
          <p:cNvSpPr/>
          <p:nvPr/>
        </p:nvSpPr>
        <p:spPr>
          <a:xfrm>
            <a:off x="2950000" y="2780000"/>
            <a:ext cx="420000" cy="300000"/>
          </a:xfrm>
          <a:prstGeom prst="chevron">
            <a:avLst/>
          </a:prstGeom>
          <a:solidFill>
            <a:srgbClr val="2B6B61"/>
          </a:solidFill>
          <a:ln>
            <a:solidFill>
              <a:srgbClr val="2B6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0000" y="3260000"/>
            <a:ext cx="2150000" cy="380000"/>
          </a:xfrm>
          <a:prstGeom prst="rect">
            <a:avLst/>
          </a:prstGeom>
          <a:solidFill>
            <a:srgbClr val="3E9B8D"/>
          </a:solidFill>
          <a:ln>
            <a:solidFill>
              <a:srgbClr val="3E9B8D"/>
            </a:solidFill>
          </a:ln>
        </p:spPr>
        <p:style>
          <a:lnRef idx="1">
            <a:schemeClr val="accent1"/>
          </a:lnRef>
          <a:fillRef idx="3">
            <a:schemeClr val="accent1"/>
          </a:fillRef>
          <a:effectRef idx="2">
            <a:schemeClr val="accent1"/>
          </a:effectRef>
          <a:fontRef idx="minor">
            <a:schemeClr val="lt1"/>
          </a:fontRef>
        </p:style>
        <p:txBody>
          <a:bodyPr lIns="73152" rtlCol="0" anchor="ctr"/>
          <a:lstStyle/>
          <a:p>
            <a:pPr algn="l">
              <a:defRPr sz="1100" b="1">
                <a:solidFill>
                  <a:srgbClr val="FFFFFF"/>
                </a:solidFill>
                <a:latin typeface="Cambria"/>
              </a:defRPr>
            </a:pPr>
            <a:r>
              <a:t>Reliability Availability Maintainability</a:t>
            </a:r>
          </a:p>
        </p:txBody>
      </p:sp>
      <p:sp>
        <p:nvSpPr>
          <p:cNvPr id="26" name="Chevron 25"/>
          <p:cNvSpPr/>
          <p:nvPr/>
        </p:nvSpPr>
        <p:spPr>
          <a:xfrm>
            <a:off x="2950000" y="3300000"/>
            <a:ext cx="420000" cy="300000"/>
          </a:xfrm>
          <a:prstGeom prst="chevron">
            <a:avLst/>
          </a:prstGeom>
          <a:solidFill>
            <a:srgbClr val="2B6B61"/>
          </a:solidFill>
          <a:ln>
            <a:solidFill>
              <a:srgbClr val="2B6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00000" y="3780000"/>
            <a:ext cx="2150000" cy="380000"/>
          </a:xfrm>
          <a:prstGeom prst="rect">
            <a:avLst/>
          </a:prstGeom>
          <a:solidFill>
            <a:srgbClr val="3E9B8D"/>
          </a:solidFill>
          <a:ln>
            <a:solidFill>
              <a:srgbClr val="3E9B8D"/>
            </a:solidFill>
          </a:ln>
        </p:spPr>
        <p:style>
          <a:lnRef idx="1">
            <a:schemeClr val="accent1"/>
          </a:lnRef>
          <a:fillRef idx="3">
            <a:schemeClr val="accent1"/>
          </a:fillRef>
          <a:effectRef idx="2">
            <a:schemeClr val="accent1"/>
          </a:effectRef>
          <a:fontRef idx="minor">
            <a:schemeClr val="lt1"/>
          </a:fontRef>
        </p:style>
        <p:txBody>
          <a:bodyPr lIns="73152" rtlCol="0" anchor="ctr"/>
          <a:lstStyle/>
          <a:p>
            <a:pPr algn="l">
              <a:defRPr sz="1100" b="1">
                <a:solidFill>
                  <a:srgbClr val="FFFFFF"/>
                </a:solidFill>
                <a:latin typeface="Cambria"/>
              </a:defRPr>
            </a:pPr>
            <a:r>
              <a:t>Multi-Variate Machine Learning</a:t>
            </a:r>
          </a:p>
        </p:txBody>
      </p:sp>
      <p:sp>
        <p:nvSpPr>
          <p:cNvPr id="28" name="Chevron 27"/>
          <p:cNvSpPr/>
          <p:nvPr/>
        </p:nvSpPr>
        <p:spPr>
          <a:xfrm>
            <a:off x="2950000" y="3820000"/>
            <a:ext cx="420000" cy="300000"/>
          </a:xfrm>
          <a:prstGeom prst="chevron">
            <a:avLst/>
          </a:prstGeom>
          <a:solidFill>
            <a:srgbClr val="2B6B61"/>
          </a:solidFill>
          <a:ln>
            <a:solidFill>
              <a:srgbClr val="2B6B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Pentagon 28"/>
          <p:cNvSpPr/>
          <p:nvPr/>
        </p:nvSpPr>
        <p:spPr>
          <a:xfrm>
            <a:off x="3350000" y="2200000"/>
            <a:ext cx="1750000" cy="1980000"/>
          </a:xfrm>
          <a:prstGeom prst="homePlate">
            <a:avLst/>
          </a:prstGeom>
          <a:solidFill>
            <a:srgbClr val="5FB8A6"/>
          </a:solidFill>
          <a:ln>
            <a:solidFill>
              <a:srgbClr val="5F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hevron 29"/>
          <p:cNvSpPr/>
          <p:nvPr/>
        </p:nvSpPr>
        <p:spPr>
          <a:xfrm>
            <a:off x="4650000" y="2200000"/>
            <a:ext cx="3750000" cy="1980000"/>
          </a:xfrm>
          <a:prstGeom prst="chevron">
            <a:avLst/>
          </a:prstGeom>
          <a:solidFill>
            <a:srgbClr val="152834"/>
          </a:solidFill>
          <a:ln>
            <a:solidFill>
              <a:srgbClr val="152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Isosceles Triangle 30"/>
          <p:cNvSpPr/>
          <p:nvPr/>
        </p:nvSpPr>
        <p:spPr>
          <a:xfrm>
            <a:off x="8600000" y="2100000"/>
            <a:ext cx="2600000" cy="2080000"/>
          </a:xfrm>
          <a:prstGeom prst="triangle">
            <a:avLst/>
          </a:prstGeom>
          <a:solidFill>
            <a:srgbClr val="66C2B4"/>
          </a:solidFill>
          <a:ln>
            <a:solidFill>
              <a:srgbClr val="3E9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175000" y="3098400"/>
            <a:ext cx="1450000" cy="750000"/>
          </a:xfrm>
          <a:prstGeom prst="roundRect">
            <a:avLst/>
          </a:prstGeom>
          <a:solidFill>
            <a:srgbClr val="FFFFFF"/>
          </a:solidFill>
          <a:ln w="19050">
            <a:solidFill>
              <a:srgbClr val="3B72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C1712"/>
                </a:solidFill>
                <a:latin typeface="Cambria"/>
              </a:defRPr>
            </a:pPr>
            <a:r>
              <a:t>Optimized</a:t>
            </a:r>
          </a:p>
          <a:p>
            <a:pPr algn="ctr">
              <a:defRPr sz="1250" b="1">
                <a:solidFill>
                  <a:srgbClr val="1C1712"/>
                </a:solidFill>
                <a:latin typeface="Cambria"/>
              </a:defRPr>
            </a:pPr>
            <a:r>
              <a:t>Reliability</a:t>
            </a:r>
          </a:p>
        </p:txBody>
      </p:sp>
      <p:sp>
        <p:nvSpPr>
          <p:cNvPr id="33" name="TextBox 32"/>
          <p:cNvSpPr txBox="1"/>
          <p:nvPr/>
        </p:nvSpPr>
        <p:spPr>
          <a:xfrm>
            <a:off x="3420000" y="2754400"/>
            <a:ext cx="1260000" cy="871200"/>
          </a:xfrm>
          <a:prstGeom prst="rect">
            <a:avLst/>
          </a:prstGeom>
          <a:noFill/>
        </p:spPr>
        <p:txBody>
          <a:bodyPr wrap="square" lIns="0" tIns="0" rIns="0" bIns="0">
            <a:spAutoFit/>
          </a:bodyPr>
          <a:lstStyle/>
          <a:p>
            <a:pPr algn="ctr">
              <a:defRPr sz="1200" b="1">
                <a:solidFill>
                  <a:srgbClr val="FFFFFF"/>
                </a:solidFill>
                <a:latin typeface="Cambria"/>
              </a:defRPr>
            </a:pPr>
            <a:r>
              <a:t>Quantitative</a:t>
            </a:r>
          </a:p>
          <a:p>
            <a:pPr algn="ctr">
              <a:defRPr sz="1200" b="1">
                <a:solidFill>
                  <a:srgbClr val="FFFFFF"/>
                </a:solidFill>
                <a:latin typeface="Cambria"/>
              </a:defRPr>
            </a:pPr>
            <a:r>
              <a:t>Reliability</a:t>
            </a:r>
          </a:p>
          <a:p>
            <a:pPr algn="ctr">
              <a:defRPr sz="1200" b="1">
                <a:solidFill>
                  <a:srgbClr val="FFFFFF"/>
                </a:solidFill>
                <a:latin typeface="Cambria"/>
              </a:defRPr>
            </a:pPr>
            <a:r>
              <a:t>Optimization</a:t>
            </a:r>
          </a:p>
        </p:txBody>
      </p:sp>
      <p:sp>
        <p:nvSpPr>
          <p:cNvPr id="34" name="TextBox 33"/>
          <p:cNvSpPr txBox="1"/>
          <p:nvPr/>
        </p:nvSpPr>
        <p:spPr>
          <a:xfrm>
            <a:off x="5570000" y="2635600"/>
            <a:ext cx="2350000" cy="1108800"/>
          </a:xfrm>
          <a:prstGeom prst="rect">
            <a:avLst/>
          </a:prstGeom>
          <a:noFill/>
        </p:spPr>
        <p:txBody>
          <a:bodyPr wrap="square" lIns="0" tIns="0" rIns="0" bIns="0">
            <a:spAutoFit/>
          </a:bodyPr>
          <a:lstStyle/>
          <a:p>
            <a:pPr algn="ctr">
              <a:defRPr sz="1150" b="1">
                <a:solidFill>
                  <a:srgbClr val="FFFFFF"/>
                </a:solidFill>
                <a:latin typeface="Cambria"/>
              </a:defRPr>
            </a:pPr>
            <a:r>
              <a:t>Better and Faster Decisions</a:t>
            </a:r>
          </a:p>
          <a:p>
            <a:pPr algn="ctr">
              <a:spcBef>
                <a:spcPts val="800"/>
              </a:spcBef>
              <a:defRPr sz="1100">
                <a:solidFill>
                  <a:srgbClr val="FFFFFF"/>
                </a:solidFill>
                <a:latin typeface="Cambria"/>
              </a:defRPr>
            </a:pPr>
            <a:r>
              <a:t>Improved Reliability and Safety</a:t>
            </a:r>
          </a:p>
          <a:p>
            <a:pPr algn="ctr">
              <a:spcBef>
                <a:spcPts val="800"/>
              </a:spcBef>
              <a:defRPr sz="1100">
                <a:solidFill>
                  <a:srgbClr val="FFFFFF"/>
                </a:solidFill>
                <a:latin typeface="Cambria"/>
              </a:defRPr>
            </a:pPr>
            <a:r>
              <a:t>Reduced Reliability Spend</a:t>
            </a:r>
          </a:p>
        </p:txBody>
      </p:sp>
      <p:sp>
        <p:nvSpPr>
          <p:cNvPr id="35" name="TextBox 34"/>
          <p:cNvSpPr txBox="1"/>
          <p:nvPr/>
        </p:nvSpPr>
        <p:spPr>
          <a:xfrm>
            <a:off x="9300000" y="2220000"/>
            <a:ext cx="1200000" cy="450000"/>
          </a:xfrm>
          <a:prstGeom prst="rect">
            <a:avLst/>
          </a:prstGeom>
          <a:noFill/>
        </p:spPr>
        <p:txBody>
          <a:bodyPr wrap="none">
            <a:spAutoFit/>
          </a:bodyPr>
          <a:lstStyle/>
          <a:p>
            <a:pPr algn="ctr">
              <a:defRPr sz="1200" b="1">
                <a:solidFill>
                  <a:srgbClr val="1C1712"/>
                </a:solidFill>
                <a:latin typeface="Cambria"/>
              </a:defRPr>
            </a:pPr>
            <a:r>
              <a:t>HSE Risk</a:t>
            </a:r>
          </a:p>
        </p:txBody>
      </p:sp>
      <p:sp>
        <p:nvSpPr>
          <p:cNvPr id="36" name="TextBox 35"/>
          <p:cNvSpPr txBox="1"/>
          <p:nvPr/>
        </p:nvSpPr>
        <p:spPr>
          <a:xfrm>
            <a:off x="8480000" y="3800000"/>
            <a:ext cx="750000" cy="350000"/>
          </a:xfrm>
          <a:prstGeom prst="rect">
            <a:avLst/>
          </a:prstGeom>
          <a:noFill/>
        </p:spPr>
        <p:txBody>
          <a:bodyPr wrap="none">
            <a:spAutoFit/>
          </a:bodyPr>
          <a:lstStyle/>
          <a:p>
            <a:pPr algn="ctr">
              <a:defRPr sz="1200" b="1">
                <a:solidFill>
                  <a:srgbClr val="1C1712"/>
                </a:solidFill>
                <a:latin typeface="Cambria"/>
              </a:defRPr>
            </a:pPr>
            <a:r>
              <a:t>Cost</a:t>
            </a:r>
          </a:p>
        </p:txBody>
      </p:sp>
      <p:sp>
        <p:nvSpPr>
          <p:cNvPr id="37" name="TextBox 36"/>
          <p:cNvSpPr txBox="1"/>
          <p:nvPr/>
        </p:nvSpPr>
        <p:spPr>
          <a:xfrm>
            <a:off x="10450000" y="3800000"/>
            <a:ext cx="950000" cy="350000"/>
          </a:xfrm>
          <a:prstGeom prst="rect">
            <a:avLst/>
          </a:prstGeom>
          <a:noFill/>
        </p:spPr>
        <p:txBody>
          <a:bodyPr wrap="none">
            <a:spAutoFit/>
          </a:bodyPr>
          <a:lstStyle/>
          <a:p>
            <a:pPr algn="ctr">
              <a:defRPr sz="1200" b="1">
                <a:solidFill>
                  <a:srgbClr val="1C1712"/>
                </a:solidFill>
                <a:latin typeface="Cambria"/>
              </a:defRPr>
            </a:pPr>
            <a:r>
              <a:t>Availability</a:t>
            </a:r>
          </a:p>
        </p:txBody>
      </p:sp>
      <p:sp>
        <p:nvSpPr>
          <p:cNvPr id="38" name="TextBox 37"/>
          <p:cNvSpPr txBox="1"/>
          <p:nvPr/>
        </p:nvSpPr>
        <p:spPr>
          <a:xfrm>
            <a:off x="800000" y="4210000"/>
            <a:ext cx="10300000" cy="520000"/>
          </a:xfrm>
          <a:prstGeom prst="rect">
            <a:avLst/>
          </a:prstGeom>
          <a:noFill/>
        </p:spPr>
        <p:txBody>
          <a:bodyPr wrap="square" lIns="0" tIns="0">
            <a:spAutoFit/>
          </a:bodyPr>
          <a:lstStyle/>
          <a:p>
            <a:r>
              <a:rPr sz="1050" b="1" i="1">
                <a:solidFill>
                  <a:srgbClr val="1C1712"/>
                </a:solidFill>
                <a:latin typeface="Cambria"/>
              </a:rPr>
              <a:t>Quantitative Reliability Optimization (QRO) </a:t>
            </a:r>
            <a:r>
              <a:rPr sz="1050" i="1">
                <a:solidFill>
                  <a:srgbClr val="443E35"/>
                </a:solidFill>
                <a:latin typeface="Cambria"/>
              </a:rPr>
              <a:t>is the method by which every facet of system reliability is intelligently modeled and dynamically updated as new data is available, allowing operators to understand how every data point and activity impacts facility performance, resulting in a continually evergreened reliability plan focused on maximizing return on reliability investment through achieving a strategic balance of availability, cost, and risk.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01 — INTRODUCTION &amp; QRO OVERVIEW</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Reliability Model Comparison Matrix</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Rigorous benchmarking against FMEA, RCM, RBI, ML, PHA, and RAM methodologies.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05</a:t>
            </a:r>
            <a:r>
              <a:rPr sz="900">
                <a:solidFill>
                  <a:srgbClr val="8A8477"/>
                </a:solidFill>
                <a:latin typeface="Courier New"/>
              </a:rPr>
              <a:t> / 80</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543800" cy="4389120"/>
        </p:xfrm>
        <a:graphic>
          <a:graphicData uri="http://schemas.openxmlformats.org/drawingml/2006/table">
            <a:tbl>
              <a:tblPr/>
              <a:tblGrid>
                <a:gridCol w="3319272">
                  <a:extLst>
                    <a:ext uri="{9D8B030D-6E8A-4147-A177-3AD203B41FA5}">
                      <a16:colId xmlns:a16="http://schemas.microsoft.com/office/drawing/2014/main" val="20000"/>
                    </a:ext>
                  </a:extLst>
                </a:gridCol>
                <a:gridCol w="603504">
                  <a:extLst>
                    <a:ext uri="{9D8B030D-6E8A-4147-A177-3AD203B41FA5}">
                      <a16:colId xmlns:a16="http://schemas.microsoft.com/office/drawing/2014/main" val="20001"/>
                    </a:ext>
                  </a:extLst>
                </a:gridCol>
                <a:gridCol w="603504">
                  <a:extLst>
                    <a:ext uri="{9D8B030D-6E8A-4147-A177-3AD203B41FA5}">
                      <a16:colId xmlns:a16="http://schemas.microsoft.com/office/drawing/2014/main" val="20002"/>
                    </a:ext>
                  </a:extLst>
                </a:gridCol>
                <a:gridCol w="603504">
                  <a:extLst>
                    <a:ext uri="{9D8B030D-6E8A-4147-A177-3AD203B41FA5}">
                      <a16:colId xmlns:a16="http://schemas.microsoft.com/office/drawing/2014/main" val="20003"/>
                    </a:ext>
                  </a:extLst>
                </a:gridCol>
                <a:gridCol w="603504">
                  <a:extLst>
                    <a:ext uri="{9D8B030D-6E8A-4147-A177-3AD203B41FA5}">
                      <a16:colId xmlns:a16="http://schemas.microsoft.com/office/drawing/2014/main" val="20004"/>
                    </a:ext>
                  </a:extLst>
                </a:gridCol>
                <a:gridCol w="603504">
                  <a:extLst>
                    <a:ext uri="{9D8B030D-6E8A-4147-A177-3AD203B41FA5}">
                      <a16:colId xmlns:a16="http://schemas.microsoft.com/office/drawing/2014/main" val="20005"/>
                    </a:ext>
                  </a:extLst>
                </a:gridCol>
                <a:gridCol w="603504">
                  <a:extLst>
                    <a:ext uri="{9D8B030D-6E8A-4147-A177-3AD203B41FA5}">
                      <a16:colId xmlns:a16="http://schemas.microsoft.com/office/drawing/2014/main" val="20006"/>
                    </a:ext>
                  </a:extLst>
                </a:gridCol>
                <a:gridCol w="603504">
                  <a:extLst>
                    <a:ext uri="{9D8B030D-6E8A-4147-A177-3AD203B41FA5}">
                      <a16:colId xmlns:a16="http://schemas.microsoft.com/office/drawing/2014/main" val="20007"/>
                    </a:ext>
                  </a:extLst>
                </a:gridCol>
              </a:tblGrid>
              <a:tr h="548640">
                <a:tc>
                  <a:txBody>
                    <a:bodyPr/>
                    <a:lstStyle/>
                    <a:p>
                      <a:pPr marL="0" indent="0">
                        <a:buNone/>
                      </a:pPr>
                      <a:r>
                        <a:rPr lang="en-US" sz="1000" b="1" dirty="0">
                          <a:solidFill>
                            <a:srgbClr val="5A5347"/>
                          </a:solidFill>
                          <a:latin typeface="Courier New" pitchFamily="34" charset="0"/>
                          <a:ea typeface="Courier New" pitchFamily="34" charset="-122"/>
                          <a:cs typeface="Courier New" pitchFamily="34" charset="-120"/>
                        </a:rPr>
                        <a:t>CAPABILITIES</a:t>
                      </a:r>
                      <a:endParaRPr lang="en-US" sz="100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lgn="ctr">
                        <a:buNone/>
                      </a:pPr>
                      <a:r>
                        <a:rPr lang="en-US" sz="1000" b="1" dirty="0">
                          <a:solidFill>
                            <a:srgbClr val="5A5347"/>
                          </a:solidFill>
                          <a:latin typeface="Courier New" pitchFamily="34" charset="0"/>
                          <a:ea typeface="Courier New" pitchFamily="34" charset="-122"/>
                          <a:cs typeface="Courier New" pitchFamily="34" charset="-120"/>
                        </a:rPr>
                        <a:t>FMEA</a:t>
                      </a:r>
                      <a:endParaRPr lang="en-US" sz="100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lgn="ctr">
                        <a:buNone/>
                      </a:pPr>
                      <a:r>
                        <a:rPr lang="en-US" sz="1000" b="1" dirty="0">
                          <a:solidFill>
                            <a:srgbClr val="5A5347"/>
                          </a:solidFill>
                          <a:latin typeface="Courier New" pitchFamily="34" charset="0"/>
                          <a:ea typeface="Courier New" pitchFamily="34" charset="-122"/>
                          <a:cs typeface="Courier New" pitchFamily="34" charset="-120"/>
                        </a:rPr>
                        <a:t>RCM</a:t>
                      </a:r>
                      <a:endParaRPr lang="en-US" sz="100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lgn="ctr">
                        <a:buNone/>
                      </a:pPr>
                      <a:r>
                        <a:rPr lang="en-US" sz="1000" b="1" dirty="0">
                          <a:solidFill>
                            <a:srgbClr val="5A5347"/>
                          </a:solidFill>
                          <a:latin typeface="Courier New" pitchFamily="34" charset="0"/>
                          <a:ea typeface="Courier New" pitchFamily="34" charset="-122"/>
                          <a:cs typeface="Courier New" pitchFamily="34" charset="-120"/>
                        </a:rPr>
                        <a:t>RBI</a:t>
                      </a:r>
                      <a:endParaRPr lang="en-US" sz="100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lgn="ctr">
                        <a:buNone/>
                      </a:pPr>
                      <a:r>
                        <a:rPr lang="en-US" sz="1000" b="1" dirty="0">
                          <a:solidFill>
                            <a:srgbClr val="5A5347"/>
                          </a:solidFill>
                          <a:latin typeface="Courier New" pitchFamily="34" charset="0"/>
                          <a:ea typeface="Courier New" pitchFamily="34" charset="-122"/>
                          <a:cs typeface="Courier New" pitchFamily="34" charset="-120"/>
                        </a:rPr>
                        <a:t>ML</a:t>
                      </a:r>
                      <a:endParaRPr lang="en-US" sz="100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lgn="ctr">
                        <a:buNone/>
                      </a:pPr>
                      <a:r>
                        <a:rPr lang="en-US" sz="1000" b="1" dirty="0">
                          <a:solidFill>
                            <a:srgbClr val="5A5347"/>
                          </a:solidFill>
                          <a:latin typeface="Courier New" pitchFamily="34" charset="0"/>
                          <a:ea typeface="Courier New" pitchFamily="34" charset="-122"/>
                          <a:cs typeface="Courier New" pitchFamily="34" charset="-120"/>
                        </a:rPr>
                        <a:t>PHA</a:t>
                      </a:r>
                      <a:endParaRPr lang="en-US" sz="100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lgn="ctr">
                        <a:buNone/>
                      </a:pPr>
                      <a:r>
                        <a:rPr lang="en-US" sz="1000" b="1" dirty="0">
                          <a:solidFill>
                            <a:srgbClr val="5A5347"/>
                          </a:solidFill>
                          <a:latin typeface="Courier New" pitchFamily="34" charset="0"/>
                          <a:ea typeface="Courier New" pitchFamily="34" charset="-122"/>
                          <a:cs typeface="Courier New" pitchFamily="34" charset="-120"/>
                        </a:rPr>
                        <a:t>RAM</a:t>
                      </a:r>
                      <a:endParaRPr lang="en-US" sz="100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lgn="ctr">
                        <a:buNone/>
                      </a:pPr>
                      <a:r>
                        <a:rPr lang="en-US" sz="1000" b="1" dirty="0">
                          <a:solidFill>
                            <a:srgbClr val="F4EBD7"/>
                          </a:solidFill>
                          <a:latin typeface="Courier New" pitchFamily="34" charset="0"/>
                          <a:ea typeface="Courier New" pitchFamily="34" charset="-122"/>
                          <a:cs typeface="Courier New" pitchFamily="34" charset="-120"/>
                        </a:rPr>
                        <a:t>QRO</a:t>
                      </a:r>
                      <a:endParaRPr lang="en-US" sz="100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7A1F1A"/>
                    </a:solidFill>
                  </a:tcPr>
                </a:tc>
                <a:extLst>
                  <a:ext uri="{0D108BD9-81ED-4DB2-BD59-A6C34878D82A}">
                    <a16:rowId xmlns:a16="http://schemas.microsoft.com/office/drawing/2014/main" val="10000"/>
                  </a:ext>
                </a:extLst>
              </a:tr>
              <a:tr h="548640">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Loss of Containment Mitigation</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500" b="1" dirty="0">
                          <a:solidFill>
                            <a:srgbClr val="7A1F1A"/>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1"/>
                  </a:ext>
                </a:extLst>
              </a:tr>
              <a:tr h="548640">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Functional Failure Relative Risk Mitigation</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500" b="1" dirty="0">
                          <a:solidFill>
                            <a:srgbClr val="7A1F1A"/>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2"/>
                  </a:ext>
                </a:extLst>
              </a:tr>
              <a:tr h="548640">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Critical Equipment Early Failure Detection</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500" b="1" dirty="0">
                          <a:solidFill>
                            <a:srgbClr val="7A1F1A"/>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3"/>
                  </a:ext>
                </a:extLst>
              </a:tr>
              <a:tr h="548640">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Purely Quantitative Formulation</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500" b="1" dirty="0">
                          <a:solidFill>
                            <a:srgbClr val="7A1F1A"/>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4"/>
                  </a:ext>
                </a:extLst>
              </a:tr>
              <a:tr h="548640">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Reliability-Based Design Optimization</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500" b="1" dirty="0">
                          <a:solidFill>
                            <a:srgbClr val="7A1F1A"/>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5"/>
                  </a:ext>
                </a:extLst>
              </a:tr>
              <a:tr h="548640">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Facility-Wide Optimization of Spend vs Impact</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500" b="1" dirty="0">
                          <a:solidFill>
                            <a:srgbClr val="7A1F1A"/>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6"/>
                  </a:ext>
                </a:extLst>
              </a:tr>
              <a:tr h="548640">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Complex Simulations Driven Directly by Live Data</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8A8477"/>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300" b="1" dirty="0">
                          <a:solidFill>
                            <a:srgbClr val="2F6B3A"/>
                          </a:solidFill>
                          <a:latin typeface="Cambria" pitchFamily="34" charset="0"/>
                          <a:ea typeface="Cambria" pitchFamily="34" charset="-122"/>
                          <a:cs typeface="Cambria" pitchFamily="34" charset="-120"/>
                        </a:rPr>
                        <a:t>✓*</a:t>
                      </a:r>
                      <a:endParaRPr lang="en-US" sz="13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lgn="ctr">
                        <a:buNone/>
                      </a:pPr>
                      <a:r>
                        <a:rPr lang="en-US" sz="1500" b="1" dirty="0">
                          <a:solidFill>
                            <a:srgbClr val="7A1F1A"/>
                          </a:solidFill>
                          <a:latin typeface="Cambria" pitchFamily="34" charset="0"/>
                          <a:ea typeface="Cambria" pitchFamily="34" charset="-122"/>
                          <a:cs typeface="Cambria" pitchFamily="34" charset="-120"/>
                        </a:rPr>
                        <a:t>✓</a:t>
                      </a:r>
                      <a:endParaRPr lang="en-US" sz="150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7"/>
                  </a:ext>
                </a:extLst>
              </a:tr>
            </a:tbl>
          </a:graphicData>
        </a:graphic>
      </p:graphicFrame>
      <p:sp>
        <p:nvSpPr>
          <p:cNvPr id="14" name="Shape 10"/>
          <p:cNvSpPr/>
          <p:nvPr/>
        </p:nvSpPr>
        <p:spPr>
          <a:xfrm>
            <a:off x="8321040" y="1737360"/>
            <a:ext cx="3319272" cy="4389120"/>
          </a:xfrm>
          <a:prstGeom prst="rect">
            <a:avLst/>
          </a:prstGeom>
          <a:solidFill>
            <a:srgbClr val="EFE4CD"/>
          </a:solidFill>
          <a:ln w="12700">
            <a:solidFill>
              <a:srgbClr val="C9B48F"/>
            </a:solidFill>
            <a:prstDash val="solid"/>
          </a:ln>
        </p:spPr>
        <p:txBody>
          <a:bodyPr/>
          <a:lstStyle/>
          <a:p>
            <a:endParaRPr lang="en-IN"/>
          </a:p>
        </p:txBody>
      </p:sp>
      <p:sp>
        <p:nvSpPr>
          <p:cNvPr id="15" name="Text 11"/>
          <p:cNvSpPr txBox="1"/>
          <p:nvPr/>
        </p:nvSpPr>
        <p:spPr>
          <a:xfrm>
            <a:off x="8522208" y="1901952"/>
            <a:ext cx="301752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EXECUTIVE COMPARISON INSIGHTS</a:t>
            </a:r>
            <a:endParaRPr lang="en-US" sz="950" dirty="0"/>
          </a:p>
        </p:txBody>
      </p:sp>
      <p:sp>
        <p:nvSpPr>
          <p:cNvPr id="16" name="Text 12"/>
          <p:cNvSpPr txBox="1"/>
          <p:nvPr/>
        </p:nvSpPr>
        <p:spPr>
          <a:xfrm>
            <a:off x="8522208" y="2286000"/>
            <a:ext cx="2926080" cy="3749040"/>
          </a:xfrm>
          <a:prstGeom prst="rect">
            <a:avLst/>
          </a:prstGeom>
          <a:noFill/>
          <a:ln/>
        </p:spPr>
        <p:txBody>
          <a:bodyPr wrap="square" lIns="0" tIns="0" rIns="0" bIns="0" rtlCol="0" anchor="t"/>
          <a:lstStyle/>
          <a:p>
            <a:pPr marL="190500" indent="-190500">
              <a:spcAft>
                <a:spcPts val="1400"/>
              </a:spcAft>
              <a:buSzPct val="100000"/>
              <a:buChar char="★"/>
            </a:pPr>
            <a:r>
              <a:rPr lang="en-US" sz="1250" b="1" dirty="0">
                <a:solidFill>
                  <a:srgbClr val="7A1F1A"/>
                </a:solidFill>
                <a:latin typeface="Cambria" pitchFamily="34" charset="0"/>
                <a:ea typeface="Cambria" pitchFamily="34" charset="-122"/>
                <a:cs typeface="Cambria" pitchFamily="34" charset="-120"/>
              </a:rPr>
              <a:t>Only QRO</a:t>
            </a:r>
            <a:r>
              <a:rPr lang="en-US" sz="1250" dirty="0">
                <a:solidFill>
                  <a:srgbClr val="2C261E"/>
                </a:solidFill>
                <a:latin typeface="Cambria" pitchFamily="34" charset="0"/>
                <a:ea typeface="Cambria" pitchFamily="34" charset="-122"/>
                <a:cs typeface="Cambria" pitchFamily="34" charset="-120"/>
              </a:rPr>
              <a:t> covers both loss-of-containment mitigation (RBI) and functional failure downtime (RCM/RAM).</a:t>
            </a:r>
            <a:endParaRPr lang="en-US" sz="1250" dirty="0"/>
          </a:p>
          <a:p>
            <a:pPr marL="190500" indent="-190500">
              <a:spcAft>
                <a:spcPts val="1400"/>
              </a:spcAft>
              <a:buSzPct val="100000"/>
              <a:buChar char="★"/>
            </a:pPr>
            <a:r>
              <a:rPr lang="en-US" sz="1250" b="1" dirty="0">
                <a:solidFill>
                  <a:srgbClr val="7A1F1A"/>
                </a:solidFill>
                <a:latin typeface="Cambria" pitchFamily="34" charset="0"/>
                <a:ea typeface="Cambria" pitchFamily="34" charset="-122"/>
                <a:cs typeface="Cambria" pitchFamily="34" charset="-120"/>
              </a:rPr>
              <a:t>Purely Quantitative:</a:t>
            </a:r>
            <a:r>
              <a:rPr lang="en-US" sz="1250" dirty="0">
                <a:solidFill>
                  <a:srgbClr val="2C261E"/>
                </a:solidFill>
                <a:latin typeface="Cambria" pitchFamily="34" charset="0"/>
                <a:ea typeface="Cambria" pitchFamily="34" charset="-122"/>
                <a:cs typeface="Cambria" pitchFamily="34" charset="-120"/>
              </a:rPr>
              <a:t> Eliminates subjective qualitative risk matrices in favor of exact statistical distributions.</a:t>
            </a:r>
            <a:endParaRPr lang="en-US" sz="1250" dirty="0"/>
          </a:p>
          <a:p>
            <a:pPr marL="190500" indent="-190500">
              <a:spcAft>
                <a:spcPts val="1400"/>
              </a:spcAft>
              <a:buSzPct val="100000"/>
              <a:buChar char="★"/>
            </a:pPr>
            <a:r>
              <a:rPr lang="en-US" sz="1250" b="1" dirty="0">
                <a:solidFill>
                  <a:srgbClr val="7A1F1A"/>
                </a:solidFill>
                <a:latin typeface="Cambria" pitchFamily="34" charset="0"/>
                <a:ea typeface="Cambria" pitchFamily="34" charset="-122"/>
                <a:cs typeface="Cambria" pitchFamily="34" charset="-120"/>
              </a:rPr>
              <a:t>Dynamic Simulations:</a:t>
            </a:r>
            <a:r>
              <a:rPr lang="en-US" sz="1250" dirty="0">
                <a:solidFill>
                  <a:srgbClr val="2C261E"/>
                </a:solidFill>
                <a:latin typeface="Cambria" pitchFamily="34" charset="0"/>
                <a:ea typeface="Cambria" pitchFamily="34" charset="-122"/>
                <a:cs typeface="Cambria" pitchFamily="34" charset="-120"/>
              </a:rPr>
              <a:t> Driven directly by live DCS historians and CML telemetry rather than static tables.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01 — INTRODUCTION &amp; QRO OVERVIEW</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The Strategic Value Triad of QRO</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Synthesizing quantitative modeling, reliability forecasting, and budgetary optimization.</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06</a:t>
            </a:r>
            <a:r>
              <a:rPr sz="900">
                <a:solidFill>
                  <a:srgbClr val="8A8477"/>
                </a:solidFill>
                <a:latin typeface="Courier New"/>
              </a:rPr>
              <a:t> / 80</a:t>
            </a:r>
            <a:endParaRPr lang="en-US" sz="900" dirty="0"/>
          </a:p>
        </p:txBody>
      </p:sp>
      <p:sp>
        <p:nvSpPr>
          <p:cNvPr id="13" name="Shape 10"/>
          <p:cNvSpPr/>
          <p:nvPr/>
        </p:nvSpPr>
        <p:spPr>
          <a:xfrm>
            <a:off x="548640" y="1737360"/>
            <a:ext cx="3547872" cy="4480560"/>
          </a:xfrm>
          <a:prstGeom prst="rect">
            <a:avLst/>
          </a:prstGeom>
          <a:solidFill>
            <a:srgbClr val="FBF4E4"/>
          </a:solidFill>
          <a:ln w="12700">
            <a:solidFill>
              <a:srgbClr val="C9B48F"/>
            </a:solidFill>
            <a:prstDash val="solid"/>
          </a:ln>
        </p:spPr>
        <p:txBody>
          <a:bodyPr/>
          <a:lstStyle/>
          <a:p>
            <a:endParaRPr lang="en-IN"/>
          </a:p>
        </p:txBody>
      </p:sp>
      <p:sp>
        <p:nvSpPr>
          <p:cNvPr id="14" name="Shape 11"/>
          <p:cNvSpPr/>
          <p:nvPr/>
        </p:nvSpPr>
        <p:spPr>
          <a:xfrm>
            <a:off x="822960" y="2029968"/>
            <a:ext cx="640080" cy="640080"/>
          </a:xfrm>
          <a:prstGeom prst="ellipse">
            <a:avLst/>
          </a:prstGeom>
          <a:solidFill>
            <a:srgbClr val="EFDCCF"/>
          </a:solidFill>
          <a:ln w="15875">
            <a:solidFill>
              <a:srgbClr val="7A1F1A"/>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982980" y="2189988"/>
            <a:ext cx="320040" cy="320040"/>
          </a:xfrm>
          <a:prstGeom prst="rect">
            <a:avLst/>
          </a:prstGeom>
        </p:spPr>
      </p:pic>
      <p:sp>
        <p:nvSpPr>
          <p:cNvPr id="16" name="Text 12"/>
          <p:cNvSpPr txBox="1"/>
          <p:nvPr/>
        </p:nvSpPr>
        <p:spPr>
          <a:xfrm>
            <a:off x="822960" y="2852928"/>
            <a:ext cx="2999232"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I. QUANTITATIVE</a:t>
            </a:r>
            <a:endParaRPr lang="en-US" sz="950" dirty="0"/>
          </a:p>
        </p:txBody>
      </p:sp>
      <p:sp>
        <p:nvSpPr>
          <p:cNvPr id="17" name="Text 13"/>
          <p:cNvSpPr txBox="1"/>
          <p:nvPr/>
        </p:nvSpPr>
        <p:spPr>
          <a:xfrm>
            <a:off x="822960" y="3108960"/>
            <a:ext cx="2999232" cy="411480"/>
          </a:xfrm>
          <a:prstGeom prst="rect">
            <a:avLst/>
          </a:prstGeom>
          <a:noFill/>
          <a:ln/>
        </p:spPr>
        <p:txBody>
          <a:bodyPr wrap="square" lIns="0" tIns="0" rIns="0" bIns="0" rtlCol="0" anchor="t"/>
          <a:lstStyle/>
          <a:p>
            <a:pPr marL="0" indent="0">
              <a:buNone/>
            </a:pPr>
            <a:r>
              <a:rPr lang="en-US" sz="1800" b="1" dirty="0">
                <a:solidFill>
                  <a:srgbClr val="1C1712"/>
                </a:solidFill>
                <a:latin typeface="Cambria" pitchFamily="34" charset="0"/>
                <a:ea typeface="Cambria" pitchFamily="34" charset="-122"/>
                <a:cs typeface="Cambria" pitchFamily="34" charset="-120"/>
              </a:rPr>
              <a:t>Understand Uncertainty</a:t>
            </a:r>
            <a:endParaRPr lang="en-US" sz="1800" dirty="0"/>
          </a:p>
        </p:txBody>
      </p:sp>
      <p:sp>
        <p:nvSpPr>
          <p:cNvPr id="18" name="Text 14"/>
          <p:cNvSpPr txBox="1"/>
          <p:nvPr/>
        </p:nvSpPr>
        <p:spPr>
          <a:xfrm>
            <a:off x="822960" y="3611880"/>
            <a:ext cx="2999232" cy="137160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Integrate data from all inspection, process, and vibration streams into a unified analytics engine to drive consolidated failure prediction across units and facilities.</a:t>
            </a:r>
            <a:endParaRPr lang="en-US" sz="1300" dirty="0"/>
          </a:p>
        </p:txBody>
      </p:sp>
      <p:sp>
        <p:nvSpPr>
          <p:cNvPr id="19" name="Shape 15"/>
          <p:cNvSpPr/>
          <p:nvPr/>
        </p:nvSpPr>
        <p:spPr>
          <a:xfrm>
            <a:off x="4320540" y="1737360"/>
            <a:ext cx="3547872" cy="4480560"/>
          </a:xfrm>
          <a:prstGeom prst="rect">
            <a:avLst/>
          </a:prstGeom>
          <a:solidFill>
            <a:srgbClr val="FBF4E4"/>
          </a:solidFill>
          <a:ln w="12700">
            <a:solidFill>
              <a:srgbClr val="C9B48F"/>
            </a:solidFill>
            <a:prstDash val="solid"/>
          </a:ln>
        </p:spPr>
        <p:txBody>
          <a:bodyPr/>
          <a:lstStyle/>
          <a:p>
            <a:endParaRPr lang="en-IN"/>
          </a:p>
        </p:txBody>
      </p:sp>
      <p:sp>
        <p:nvSpPr>
          <p:cNvPr id="20" name="Shape 16"/>
          <p:cNvSpPr/>
          <p:nvPr/>
        </p:nvSpPr>
        <p:spPr>
          <a:xfrm>
            <a:off x="4594860" y="2029968"/>
            <a:ext cx="640080" cy="640080"/>
          </a:xfrm>
          <a:prstGeom prst="ellipse">
            <a:avLst/>
          </a:prstGeom>
          <a:solidFill>
            <a:srgbClr val="EFDCCF"/>
          </a:solidFill>
          <a:ln w="15875">
            <a:solidFill>
              <a:srgbClr val="7A1F1A"/>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4754880" y="2189988"/>
            <a:ext cx="320040" cy="320040"/>
          </a:xfrm>
          <a:prstGeom prst="rect">
            <a:avLst/>
          </a:prstGeom>
        </p:spPr>
      </p:pic>
      <p:sp>
        <p:nvSpPr>
          <p:cNvPr id="22" name="Text 17"/>
          <p:cNvSpPr txBox="1"/>
          <p:nvPr/>
        </p:nvSpPr>
        <p:spPr>
          <a:xfrm>
            <a:off x="4594860" y="2852928"/>
            <a:ext cx="2999232"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II. RELIABILITY</a:t>
            </a:r>
            <a:endParaRPr lang="en-US" sz="950" dirty="0"/>
          </a:p>
        </p:txBody>
      </p:sp>
      <p:sp>
        <p:nvSpPr>
          <p:cNvPr id="23" name="Text 18"/>
          <p:cNvSpPr txBox="1"/>
          <p:nvPr/>
        </p:nvSpPr>
        <p:spPr>
          <a:xfrm>
            <a:off x="4594860" y="3108960"/>
            <a:ext cx="2999232" cy="411480"/>
          </a:xfrm>
          <a:prstGeom prst="rect">
            <a:avLst/>
          </a:prstGeom>
          <a:noFill/>
          <a:ln/>
        </p:spPr>
        <p:txBody>
          <a:bodyPr wrap="square" lIns="0" tIns="0" rIns="0" bIns="0" rtlCol="0" anchor="t"/>
          <a:lstStyle/>
          <a:p>
            <a:pPr marL="0" indent="0">
              <a:buNone/>
            </a:pPr>
            <a:r>
              <a:rPr lang="en-US" sz="1800" b="1" dirty="0">
                <a:solidFill>
                  <a:srgbClr val="1C1712"/>
                </a:solidFill>
                <a:latin typeface="Cambria" pitchFamily="34" charset="0"/>
                <a:ea typeface="Cambria" pitchFamily="34" charset="-122"/>
                <a:cs typeface="Cambria" pitchFamily="34" charset="-120"/>
              </a:rPr>
              <a:t>Improve Plant Performance</a:t>
            </a:r>
            <a:endParaRPr lang="en-US" sz="1800" dirty="0"/>
          </a:p>
        </p:txBody>
      </p:sp>
      <p:sp>
        <p:nvSpPr>
          <p:cNvPr id="24" name="Text 19"/>
          <p:cNvSpPr txBox="1"/>
          <p:nvPr/>
        </p:nvSpPr>
        <p:spPr>
          <a:xfrm>
            <a:off x="4594860" y="3611880"/>
            <a:ext cx="2999232" cy="137160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Simulate hypothetical maintenance strategies and operational changes to forecast their quantitative impact on asset health and goal-seek target system availability.</a:t>
            </a:r>
            <a:endParaRPr lang="en-US" sz="1300" dirty="0"/>
          </a:p>
        </p:txBody>
      </p:sp>
      <p:sp>
        <p:nvSpPr>
          <p:cNvPr id="25" name="Shape 20"/>
          <p:cNvSpPr/>
          <p:nvPr/>
        </p:nvSpPr>
        <p:spPr>
          <a:xfrm>
            <a:off x="4594860" y="5102352"/>
            <a:ext cx="2999232" cy="0"/>
          </a:xfrm>
          <a:prstGeom prst="line">
            <a:avLst/>
          </a:prstGeom>
          <a:noFill/>
          <a:ln w="9525">
            <a:solidFill>
              <a:srgbClr val="C9B48F"/>
            </a:solidFill>
            <a:prstDash val="solid"/>
          </a:ln>
        </p:spPr>
        <p:txBody>
          <a:bodyPr/>
          <a:lstStyle/>
          <a:p>
            <a:endParaRPr lang="en-IN"/>
          </a:p>
        </p:txBody>
      </p:sp>
      <p:sp>
        <p:nvSpPr>
          <p:cNvPr id="26" name="Text 21"/>
          <p:cNvSpPr txBox="1"/>
          <p:nvPr/>
        </p:nvSpPr>
        <p:spPr>
          <a:xfrm>
            <a:off x="4594860" y="5230368"/>
            <a:ext cx="2999232" cy="822960"/>
          </a:xfrm>
          <a:prstGeom prst="rect">
            <a:avLst/>
          </a:prstGeom>
          <a:noFill/>
          <a:ln/>
        </p:spPr>
        <p:txBody>
          <a:bodyPr wrap="square" lIns="0" tIns="0" rIns="0" bIns="0" rtlCol="0" anchor="t"/>
          <a:lstStyle/>
          <a:p>
            <a:pPr marL="190500" indent="-190500">
              <a:spcAft>
                <a:spcPts val="400"/>
              </a:spcAft>
              <a:buSzPct val="100000"/>
              <a:buChar char="▪"/>
            </a:pPr>
            <a:r>
              <a:rPr lang="en-US" sz="1250" b="1" dirty="0">
                <a:solidFill>
                  <a:srgbClr val="7A1F1A"/>
                </a:solidFill>
                <a:latin typeface="Cambria" pitchFamily="34" charset="0"/>
                <a:ea typeface="Cambria" pitchFamily="34" charset="-122"/>
                <a:cs typeface="Cambria" pitchFamily="34" charset="-120"/>
              </a:rPr>
              <a:t>Digital Twin:</a:t>
            </a:r>
            <a:r>
              <a:rPr lang="en-US" sz="1250" dirty="0">
                <a:solidFill>
                  <a:srgbClr val="2C261E"/>
                </a:solidFill>
                <a:latin typeface="Cambria" pitchFamily="34" charset="0"/>
                <a:ea typeface="Cambria" pitchFamily="34" charset="-122"/>
                <a:cs typeface="Cambria" pitchFamily="34" charset="-120"/>
              </a:rPr>
              <a:t> Real-time asset modeling</a:t>
            </a:r>
            <a:endParaRPr lang="en-US" sz="1250" dirty="0"/>
          </a:p>
          <a:p>
            <a:pPr marL="190500" indent="-190500">
              <a:spcAft>
                <a:spcPts val="400"/>
              </a:spcAft>
              <a:buSzPct val="100000"/>
              <a:buChar char="▪"/>
            </a:pPr>
            <a:r>
              <a:rPr lang="en-US" sz="1250" b="1" dirty="0">
                <a:solidFill>
                  <a:srgbClr val="7A1F1A"/>
                </a:solidFill>
                <a:latin typeface="Cambria" pitchFamily="34" charset="0"/>
                <a:ea typeface="Cambria" pitchFamily="34" charset="-122"/>
                <a:cs typeface="Cambria" pitchFamily="34" charset="-120"/>
              </a:rPr>
              <a:t>Predictive:</a:t>
            </a:r>
            <a:r>
              <a:rPr lang="en-US" sz="1250" dirty="0">
                <a:solidFill>
                  <a:srgbClr val="2C261E"/>
                </a:solidFill>
                <a:latin typeface="Cambria" pitchFamily="34" charset="0"/>
                <a:ea typeface="Cambria" pitchFamily="34" charset="-122"/>
                <a:cs typeface="Cambria" pitchFamily="34" charset="-120"/>
              </a:rPr>
              <a:t> Accurate P-F curve positioning</a:t>
            </a:r>
            <a:endParaRPr lang="en-US" sz="1250" dirty="0"/>
          </a:p>
        </p:txBody>
      </p:sp>
      <p:sp>
        <p:nvSpPr>
          <p:cNvPr id="27" name="Shape 22"/>
          <p:cNvSpPr/>
          <p:nvPr/>
        </p:nvSpPr>
        <p:spPr>
          <a:xfrm>
            <a:off x="8092440" y="1737360"/>
            <a:ext cx="3547872" cy="4480560"/>
          </a:xfrm>
          <a:prstGeom prst="rect">
            <a:avLst/>
          </a:prstGeom>
          <a:solidFill>
            <a:srgbClr val="FBF4E4"/>
          </a:solidFill>
          <a:ln w="12700">
            <a:solidFill>
              <a:srgbClr val="C9B48F"/>
            </a:solidFill>
            <a:prstDash val="solid"/>
          </a:ln>
        </p:spPr>
        <p:txBody>
          <a:bodyPr/>
          <a:lstStyle/>
          <a:p>
            <a:endParaRPr lang="en-IN"/>
          </a:p>
        </p:txBody>
      </p:sp>
      <p:sp>
        <p:nvSpPr>
          <p:cNvPr id="28" name="Shape 23"/>
          <p:cNvSpPr/>
          <p:nvPr/>
        </p:nvSpPr>
        <p:spPr>
          <a:xfrm>
            <a:off x="8366760" y="2029968"/>
            <a:ext cx="640080" cy="640080"/>
          </a:xfrm>
          <a:prstGeom prst="ellipse">
            <a:avLst/>
          </a:prstGeom>
          <a:solidFill>
            <a:srgbClr val="EFDCCF"/>
          </a:solidFill>
          <a:ln w="15875">
            <a:solidFill>
              <a:srgbClr val="7A1F1A"/>
            </a:solidFill>
            <a:prstDash val="solid"/>
          </a:ln>
        </p:spPr>
        <p:txBody>
          <a:bodyPr/>
          <a:lstStyle/>
          <a:p>
            <a:endParaRPr lang="en-IN"/>
          </a:p>
        </p:txBody>
      </p:sp>
      <p:pic>
        <p:nvPicPr>
          <p:cNvPr id="29" name="Image 3" descr="preencoded.png"/>
          <p:cNvPicPr>
            <a:picLocks noChangeAspect="1"/>
          </p:cNvPicPr>
          <p:nvPr/>
        </p:nvPicPr>
        <p:blipFill>
          <a:blip r:embed="rId6"/>
          <a:stretch>
            <a:fillRect/>
          </a:stretch>
        </p:blipFill>
        <p:spPr>
          <a:xfrm>
            <a:off x="8526780" y="2189988"/>
            <a:ext cx="320040" cy="320040"/>
          </a:xfrm>
          <a:prstGeom prst="rect">
            <a:avLst/>
          </a:prstGeom>
        </p:spPr>
      </p:pic>
      <p:sp>
        <p:nvSpPr>
          <p:cNvPr id="30" name="Text 24"/>
          <p:cNvSpPr txBox="1"/>
          <p:nvPr/>
        </p:nvSpPr>
        <p:spPr>
          <a:xfrm>
            <a:off x="8366760" y="2852928"/>
            <a:ext cx="2999232"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III. OPTIMIZATION</a:t>
            </a:r>
            <a:endParaRPr lang="en-US" sz="950" dirty="0"/>
          </a:p>
        </p:txBody>
      </p:sp>
      <p:sp>
        <p:nvSpPr>
          <p:cNvPr id="31" name="Text 25"/>
          <p:cNvSpPr txBox="1"/>
          <p:nvPr/>
        </p:nvSpPr>
        <p:spPr>
          <a:xfrm>
            <a:off x="8366760" y="3108960"/>
            <a:ext cx="2999232" cy="411480"/>
          </a:xfrm>
          <a:prstGeom prst="rect">
            <a:avLst/>
          </a:prstGeom>
          <a:noFill/>
          <a:ln/>
        </p:spPr>
        <p:txBody>
          <a:bodyPr wrap="square" lIns="0" tIns="0" rIns="0" bIns="0" rtlCol="0" anchor="t"/>
          <a:lstStyle/>
          <a:p>
            <a:pPr marL="0" indent="0">
              <a:buNone/>
            </a:pPr>
            <a:r>
              <a:rPr lang="en-US" sz="1800" b="1" dirty="0">
                <a:solidFill>
                  <a:srgbClr val="1C1712"/>
                </a:solidFill>
                <a:latin typeface="Cambria" pitchFamily="34" charset="0"/>
                <a:ea typeface="Cambria" pitchFamily="34" charset="-122"/>
                <a:cs typeface="Cambria" pitchFamily="34" charset="-120"/>
              </a:rPr>
              <a:t>Best Use of Budgets</a:t>
            </a:r>
            <a:endParaRPr lang="en-US" sz="1800" dirty="0"/>
          </a:p>
        </p:txBody>
      </p:sp>
      <p:sp>
        <p:nvSpPr>
          <p:cNvPr id="32" name="Text 26"/>
          <p:cNvSpPr txBox="1"/>
          <p:nvPr/>
        </p:nvSpPr>
        <p:spPr>
          <a:xfrm>
            <a:off x="8366760" y="3611880"/>
            <a:ext cx="2999232" cy="137160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Use your data to establish optimized task intervals and turnaround scopes across all asset types based on a single benefit-to-cost decision (BCR).</a:t>
            </a:r>
            <a:endParaRPr lang="en-US" sz="1300" dirty="0"/>
          </a:p>
        </p:txBody>
      </p:sp>
      <p:sp>
        <p:nvSpPr>
          <p:cNvPr id="33" name="Shape 27"/>
          <p:cNvSpPr/>
          <p:nvPr/>
        </p:nvSpPr>
        <p:spPr>
          <a:xfrm>
            <a:off x="8366760" y="5102352"/>
            <a:ext cx="2999232" cy="0"/>
          </a:xfrm>
          <a:prstGeom prst="line">
            <a:avLst/>
          </a:prstGeom>
          <a:noFill/>
          <a:ln w="9525">
            <a:solidFill>
              <a:srgbClr val="C9B48F"/>
            </a:solidFill>
            <a:prstDash val="solid"/>
          </a:ln>
        </p:spPr>
        <p:txBody>
          <a:bodyPr/>
          <a:lstStyle/>
          <a:p>
            <a:endParaRPr lang="en-IN"/>
          </a:p>
        </p:txBody>
      </p:sp>
      <p:sp>
        <p:nvSpPr>
          <p:cNvPr id="34" name="Text 28"/>
          <p:cNvSpPr txBox="1"/>
          <p:nvPr/>
        </p:nvSpPr>
        <p:spPr>
          <a:xfrm>
            <a:off x="8366760" y="5230368"/>
            <a:ext cx="2999232" cy="822960"/>
          </a:xfrm>
          <a:prstGeom prst="rect">
            <a:avLst/>
          </a:prstGeom>
          <a:noFill/>
          <a:ln/>
        </p:spPr>
        <p:txBody>
          <a:bodyPr wrap="square" lIns="0" tIns="0" rIns="0" bIns="0" rtlCol="0" anchor="t"/>
          <a:lstStyle/>
          <a:p>
            <a:pPr marL="190500" indent="-190500">
              <a:spcAft>
                <a:spcPts val="400"/>
              </a:spcAft>
              <a:buSzPct val="100000"/>
              <a:buChar char="▪"/>
            </a:pPr>
            <a:r>
              <a:rPr lang="en-US" sz="1250" b="1" dirty="0">
                <a:solidFill>
                  <a:srgbClr val="7A1F1A"/>
                </a:solidFill>
                <a:latin typeface="Cambria" pitchFamily="34" charset="0"/>
                <a:ea typeface="Cambria" pitchFamily="34" charset="-122"/>
                <a:cs typeface="Cambria" pitchFamily="34" charset="-120"/>
              </a:rPr>
              <a:t>Value-Driven:</a:t>
            </a:r>
            <a:r>
              <a:rPr lang="en-US" sz="1250" dirty="0">
                <a:solidFill>
                  <a:srgbClr val="2C261E"/>
                </a:solidFill>
                <a:latin typeface="Cambria" pitchFamily="34" charset="0"/>
                <a:ea typeface="Cambria" pitchFamily="34" charset="-122"/>
                <a:cs typeface="Cambria" pitchFamily="34" charset="-120"/>
              </a:rPr>
              <a:t> Spend targeted directly to risk</a:t>
            </a:r>
            <a:endParaRPr lang="en-US" sz="1250" dirty="0"/>
          </a:p>
          <a:p>
            <a:pPr marL="190500" indent="-190500">
              <a:spcAft>
                <a:spcPts val="400"/>
              </a:spcAft>
              <a:buSzPct val="100000"/>
              <a:buChar char="▪"/>
            </a:pPr>
            <a:r>
              <a:rPr lang="en-US" sz="1250" b="1" dirty="0">
                <a:solidFill>
                  <a:srgbClr val="7A1F1A"/>
                </a:solidFill>
                <a:latin typeface="Cambria" pitchFamily="34" charset="0"/>
                <a:ea typeface="Cambria" pitchFamily="34" charset="-122"/>
                <a:cs typeface="Cambria" pitchFamily="34" charset="-120"/>
              </a:rPr>
              <a:t>Resource Leveling:</a:t>
            </a:r>
            <a:r>
              <a:rPr lang="en-US" sz="1250" dirty="0">
                <a:solidFill>
                  <a:srgbClr val="2C261E"/>
                </a:solidFill>
                <a:latin typeface="Cambria" pitchFamily="34" charset="0"/>
                <a:ea typeface="Cambria" pitchFamily="34" charset="-122"/>
                <a:cs typeface="Cambria" pitchFamily="34" charset="-120"/>
              </a:rPr>
              <a:t> Turnaround grouping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35761" y="-301752"/>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01 — INTRODUCTION &amp; QRO OVERVIEW</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Uncertainty-Driven Degradation Modeling</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How QRO moves beyond straight-line deterministic corrosion rates.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07</a:t>
            </a:r>
            <a:r>
              <a:rPr sz="900">
                <a:solidFill>
                  <a:srgbClr val="8A8477"/>
                </a:solidFill>
                <a:latin typeface="Courier New"/>
              </a:rPr>
              <a:t> / 80</a:t>
            </a:r>
            <a:endParaRPr lang="en-US" sz="900" dirty="0"/>
          </a:p>
        </p:txBody>
      </p:sp>
      <p:sp>
        <p:nvSpPr>
          <p:cNvPr id="13" name="Shape 10"/>
          <p:cNvSpPr/>
          <p:nvPr/>
        </p:nvSpPr>
        <p:spPr>
          <a:xfrm>
            <a:off x="548640" y="1737360"/>
            <a:ext cx="4846320" cy="448056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920240"/>
            <a:ext cx="438912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Single CML Wall Thickness &amp; POF Evolution</a:t>
            </a:r>
            <a:endParaRPr lang="en-US" sz="1500" dirty="0"/>
          </a:p>
        </p:txBody>
      </p:sp>
      <p:sp>
        <p:nvSpPr>
          <p:cNvPr id="15" name="Text 12"/>
          <p:cNvSpPr txBox="1"/>
          <p:nvPr/>
        </p:nvSpPr>
        <p:spPr>
          <a:xfrm>
            <a:off x="777240" y="2286000"/>
            <a:ext cx="4389120" cy="914400"/>
          </a:xfrm>
          <a:prstGeom prst="rect">
            <a:avLst/>
          </a:prstGeom>
          <a:noFill/>
          <a:ln/>
        </p:spPr>
        <p:txBody>
          <a:bodyPr wrap="square" lIns="0" tIns="0" rIns="0" bIns="0" rtlCol="0" anchor="t"/>
          <a:lstStyle/>
          <a:p>
            <a:pPr marL="0" indent="0">
              <a:buNone/>
            </a:pPr>
            <a:r>
              <a:rPr lang="en-US" sz="1250" dirty="0">
                <a:solidFill>
                  <a:srgbClr val="5A5347"/>
                </a:solidFill>
                <a:latin typeface="Cambria" pitchFamily="34" charset="0"/>
                <a:ea typeface="Cambria" pitchFamily="34" charset="-122"/>
                <a:cs typeface="Cambria" pitchFamily="34" charset="-120"/>
              </a:rPr>
              <a:t>Traditional methods draw a static straight line through wall thickness readings. QRO recognizes that every inspection reading carries measurement error and process fluctuation:</a:t>
            </a:r>
            <a:endParaRPr lang="en-US" sz="1250" dirty="0"/>
          </a:p>
        </p:txBody>
      </p:sp>
      <p:sp>
        <p:nvSpPr>
          <p:cNvPr id="16" name="Shape 13"/>
          <p:cNvSpPr/>
          <p:nvPr/>
        </p:nvSpPr>
        <p:spPr>
          <a:xfrm>
            <a:off x="777240" y="3291840"/>
            <a:ext cx="365760" cy="365760"/>
          </a:xfrm>
          <a:prstGeom prst="ellipse">
            <a:avLst/>
          </a:prstGeom>
          <a:solidFill>
            <a:srgbClr val="EFDCCF"/>
          </a:solidFill>
          <a:ln w="15875">
            <a:solidFill>
              <a:srgbClr val="7A1F1A"/>
            </a:solidFill>
            <a:prstDash val="solid"/>
          </a:ln>
        </p:spPr>
        <p:txBody>
          <a:bodyPr/>
          <a:lstStyle/>
          <a:p>
            <a:endParaRPr lang="en-IN"/>
          </a:p>
        </p:txBody>
      </p:sp>
      <p:sp>
        <p:nvSpPr>
          <p:cNvPr id="17" name="Text 14"/>
          <p:cNvSpPr txBox="1"/>
          <p:nvPr/>
        </p:nvSpPr>
        <p:spPr>
          <a:xfrm>
            <a:off x="777240" y="3291840"/>
            <a:ext cx="365760" cy="365760"/>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18" name="Text 15"/>
          <p:cNvSpPr txBox="1"/>
          <p:nvPr/>
        </p:nvSpPr>
        <p:spPr>
          <a:xfrm>
            <a:off x="1280160" y="3273552"/>
            <a:ext cx="3931920" cy="86868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Dynamic Bayesian Updating:</a:t>
            </a:r>
            <a:r>
              <a:rPr lang="en-US" sz="1250" dirty="0">
                <a:solidFill>
                  <a:srgbClr val="2C261E"/>
                </a:solidFill>
                <a:latin typeface="Cambria" pitchFamily="34" charset="0"/>
                <a:ea typeface="Cambria" pitchFamily="34" charset="-122"/>
                <a:cs typeface="Cambria" pitchFamily="34" charset="-120"/>
              </a:rPr>
              <a:t> With each new UT measurement, the confidence envelope contracts, shifting the mean MTTF.</a:t>
            </a:r>
            <a:endParaRPr lang="en-US" sz="1250" dirty="0"/>
          </a:p>
        </p:txBody>
      </p:sp>
      <p:sp>
        <p:nvSpPr>
          <p:cNvPr id="19" name="Shape 16"/>
          <p:cNvSpPr/>
          <p:nvPr/>
        </p:nvSpPr>
        <p:spPr>
          <a:xfrm>
            <a:off x="777240" y="4224528"/>
            <a:ext cx="365760" cy="365760"/>
          </a:xfrm>
          <a:prstGeom prst="ellipse">
            <a:avLst/>
          </a:prstGeom>
          <a:solidFill>
            <a:srgbClr val="EFDCCF"/>
          </a:solidFill>
          <a:ln w="15875">
            <a:solidFill>
              <a:srgbClr val="7A1F1A"/>
            </a:solidFill>
            <a:prstDash val="solid"/>
          </a:ln>
        </p:spPr>
        <p:txBody>
          <a:bodyPr/>
          <a:lstStyle/>
          <a:p>
            <a:endParaRPr lang="en-IN"/>
          </a:p>
        </p:txBody>
      </p:sp>
      <p:sp>
        <p:nvSpPr>
          <p:cNvPr id="20" name="Text 17"/>
          <p:cNvSpPr txBox="1"/>
          <p:nvPr/>
        </p:nvSpPr>
        <p:spPr>
          <a:xfrm>
            <a:off x="777240" y="4224528"/>
            <a:ext cx="365760" cy="365760"/>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1" name="Text 18"/>
          <p:cNvSpPr txBox="1"/>
          <p:nvPr/>
        </p:nvSpPr>
        <p:spPr>
          <a:xfrm>
            <a:off x="1280160" y="4206240"/>
            <a:ext cx="3931920" cy="86868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Critical Limit Threshold:</a:t>
            </a:r>
            <a:r>
              <a:rPr lang="en-US" sz="1250" dirty="0">
                <a:solidFill>
                  <a:srgbClr val="2C261E"/>
                </a:solidFill>
                <a:latin typeface="Cambria" pitchFamily="34" charset="0"/>
                <a:ea typeface="Cambria" pitchFamily="34" charset="-122"/>
                <a:cs typeface="Cambria" pitchFamily="34" charset="-120"/>
              </a:rPr>
              <a:t> Identifies when the lower 95% confidence boundary crosses the structural retirement thickness (t_crit).</a:t>
            </a:r>
            <a:endParaRPr lang="en-US" sz="1250" dirty="0"/>
          </a:p>
        </p:txBody>
      </p:sp>
      <p:sp>
        <p:nvSpPr>
          <p:cNvPr id="22" name="Shape 19"/>
          <p:cNvSpPr/>
          <p:nvPr/>
        </p:nvSpPr>
        <p:spPr>
          <a:xfrm>
            <a:off x="777240" y="5157216"/>
            <a:ext cx="365760" cy="365760"/>
          </a:xfrm>
          <a:prstGeom prst="ellipse">
            <a:avLst/>
          </a:prstGeom>
          <a:solidFill>
            <a:srgbClr val="EFDCCF"/>
          </a:solidFill>
          <a:ln w="15875">
            <a:solidFill>
              <a:srgbClr val="7A1F1A"/>
            </a:solidFill>
            <a:prstDash val="solid"/>
          </a:ln>
        </p:spPr>
        <p:txBody>
          <a:bodyPr/>
          <a:lstStyle/>
          <a:p>
            <a:endParaRPr lang="en-IN"/>
          </a:p>
        </p:txBody>
      </p:sp>
      <p:sp>
        <p:nvSpPr>
          <p:cNvPr id="23" name="Text 20"/>
          <p:cNvSpPr txBox="1"/>
          <p:nvPr/>
        </p:nvSpPr>
        <p:spPr>
          <a:xfrm>
            <a:off x="777240" y="5157216"/>
            <a:ext cx="365760" cy="365760"/>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24" name="Text 21"/>
          <p:cNvSpPr txBox="1"/>
          <p:nvPr/>
        </p:nvSpPr>
        <p:spPr>
          <a:xfrm>
            <a:off x="1280160" y="5138928"/>
            <a:ext cx="3931920" cy="86868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POF S-Curve:</a:t>
            </a:r>
            <a:r>
              <a:rPr lang="en-US" sz="1250" dirty="0">
                <a:solidFill>
                  <a:srgbClr val="2C261E"/>
                </a:solidFill>
                <a:latin typeface="Cambria" pitchFamily="34" charset="0"/>
                <a:ea typeface="Cambria" pitchFamily="34" charset="-122"/>
                <a:cs typeface="Cambria" pitchFamily="34" charset="-120"/>
              </a:rPr>
              <a:t> Directly derives the cumulative failure probability curve from the uncertainty distribution.</a:t>
            </a:r>
            <a:endParaRPr lang="en-US" sz="1250" dirty="0"/>
          </a:p>
        </p:txBody>
      </p:sp>
      <p:sp>
        <p:nvSpPr>
          <p:cNvPr id="25" name="Shape 22"/>
          <p:cNvSpPr/>
          <p:nvPr/>
        </p:nvSpPr>
        <p:spPr>
          <a:xfrm>
            <a:off x="5623560" y="1737360"/>
            <a:ext cx="6016752" cy="4480560"/>
          </a:xfrm>
          <a:prstGeom prst="rect">
            <a:avLst/>
          </a:prstGeom>
          <a:solidFill>
            <a:srgbClr val="FFFFFF"/>
          </a:solidFill>
          <a:ln w="12700">
            <a:solidFill>
              <a:srgbClr val="A68C5E"/>
            </a:solidFill>
            <a:prstDash val="solid"/>
          </a:ln>
        </p:spPr>
        <p:txBody>
          <a:bodyPr/>
          <a:lstStyle/>
          <a:p>
            <a:endParaRPr lang="en-IN"/>
          </a:p>
        </p:txBody>
      </p:sp>
      <p:sp>
        <p:nvSpPr>
          <p:cNvPr id="26" name="Text 23"/>
          <p:cNvSpPr txBox="1"/>
          <p:nvPr/>
        </p:nvSpPr>
        <p:spPr>
          <a:xfrm>
            <a:off x="5806440" y="1856232"/>
            <a:ext cx="5650992"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SINGLE CML WALL THICKNESS: UNCERTAINTY ENVELOPES</a:t>
            </a:r>
            <a:endParaRPr lang="en-US" sz="850" dirty="0"/>
          </a:p>
        </p:txBody>
      </p:sp>
      <p:sp>
        <p:nvSpPr>
          <p:cNvPr id="27" name="Shape 24"/>
          <p:cNvSpPr/>
          <p:nvPr/>
        </p:nvSpPr>
        <p:spPr>
          <a:xfrm>
            <a:off x="5806440" y="2103120"/>
            <a:ext cx="5650992" cy="0"/>
          </a:xfrm>
          <a:prstGeom prst="line">
            <a:avLst/>
          </a:prstGeom>
          <a:noFill/>
          <a:ln w="9525">
            <a:solidFill>
              <a:srgbClr val="C9B48F"/>
            </a:solidFill>
            <a:prstDash val="solid"/>
          </a:ln>
        </p:spPr>
        <p:txBody>
          <a:bodyPr/>
          <a:lstStyle/>
          <a:p>
            <a:endParaRPr lang="en-IN"/>
          </a:p>
        </p:txBody>
      </p:sp>
      <p:pic>
        <p:nvPicPr>
          <p:cNvPr id="30" name="Picture 29">
            <a:extLst>
              <a:ext uri="{FF2B5EF4-FFF2-40B4-BE49-F238E27FC236}">
                <a16:creationId xmlns:a16="http://schemas.microsoft.com/office/drawing/2014/main" id="{750D8A96-132D-A041-8C69-9EF5F3CE7CE0}"/>
              </a:ext>
            </a:extLst>
          </p:cNvPr>
          <p:cNvPicPr>
            <a:picLocks noChangeAspect="1"/>
          </p:cNvPicPr>
          <p:nvPr/>
        </p:nvPicPr>
        <p:blipFill>
          <a:blip r:embed="rId4"/>
          <a:stretch>
            <a:fillRect/>
          </a:stretch>
        </p:blipFill>
        <p:spPr>
          <a:xfrm>
            <a:off x="5806440" y="2414576"/>
            <a:ext cx="5650993" cy="32358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01 — INTRODUCTION &amp; QRO OVERVIEW</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Connected Systems &amp; Multi-Stream Sensor Telemetry</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Breaking down industrial silos by consolidating disparate sensor feeds into a live dynamic model.</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08</a:t>
            </a:r>
            <a:r>
              <a:rPr sz="900">
                <a:solidFill>
                  <a:srgbClr val="8A8477"/>
                </a:solidFill>
                <a:latin typeface="Courier New"/>
              </a:rPr>
              <a:t> / 80</a:t>
            </a:r>
            <a:endParaRPr lang="en-US" sz="900" dirty="0"/>
          </a:p>
        </p:txBody>
      </p:sp>
      <p:sp>
        <p:nvSpPr>
          <p:cNvPr id="13" name="Shape 10"/>
          <p:cNvSpPr/>
          <p:nvPr/>
        </p:nvSpPr>
        <p:spPr>
          <a:xfrm>
            <a:off x="548640" y="1737360"/>
            <a:ext cx="11091672" cy="297180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856232"/>
            <a:ext cx="10725912"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CONNECTED SYSTEMS: VIBRATION, THICKNESS, PRESSURE &amp; FLOW TELEMETRY</a:t>
            </a:r>
            <a:endParaRPr lang="en-US" sz="850" dirty="0"/>
          </a:p>
        </p:txBody>
      </p:sp>
      <p:sp>
        <p:nvSpPr>
          <p:cNvPr id="15" name="Shape 12"/>
          <p:cNvSpPr/>
          <p:nvPr/>
        </p:nvSpPr>
        <p:spPr>
          <a:xfrm>
            <a:off x="731520" y="2103120"/>
            <a:ext cx="10725912" cy="0"/>
          </a:xfrm>
          <a:prstGeom prst="line">
            <a:avLst/>
          </a:prstGeom>
          <a:noFill/>
          <a:ln w="9525">
            <a:solidFill>
              <a:srgbClr val="C9B48F"/>
            </a:solidFill>
            <a:prstDash val="solid"/>
          </a:ln>
        </p:spPr>
        <p:txBody>
          <a:bodyPr/>
          <a:lstStyle/>
          <a:p>
            <a:endParaRPr lang="en-IN"/>
          </a:p>
        </p:txBody>
      </p:sp>
      <p:sp>
        <p:nvSpPr>
          <p:cNvPr id="17" name="Text 13"/>
          <p:cNvSpPr txBox="1"/>
          <p:nvPr/>
        </p:nvSpPr>
        <p:spPr>
          <a:xfrm>
            <a:off x="548640" y="4864608"/>
            <a:ext cx="54864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TELEMETRY SYNCHRONIZATION ENGINE</a:t>
            </a:r>
            <a:endParaRPr lang="en-US" sz="950" dirty="0"/>
          </a:p>
        </p:txBody>
      </p:sp>
      <p:sp>
        <p:nvSpPr>
          <p:cNvPr id="18" name="Shape 14"/>
          <p:cNvSpPr/>
          <p:nvPr/>
        </p:nvSpPr>
        <p:spPr>
          <a:xfrm>
            <a:off x="548640" y="5166360"/>
            <a:ext cx="3547872" cy="1051560"/>
          </a:xfrm>
          <a:prstGeom prst="rect">
            <a:avLst/>
          </a:prstGeom>
          <a:solidFill>
            <a:srgbClr val="FBF4E4"/>
          </a:solidFill>
          <a:ln w="12700">
            <a:solidFill>
              <a:srgbClr val="C9B48F"/>
            </a:solidFill>
            <a:prstDash val="solid"/>
          </a:ln>
        </p:spPr>
        <p:txBody>
          <a:bodyPr/>
          <a:lstStyle/>
          <a:p>
            <a:endParaRPr lang="en-IN"/>
          </a:p>
        </p:txBody>
      </p:sp>
      <p:sp>
        <p:nvSpPr>
          <p:cNvPr id="19" name="Shape 15"/>
          <p:cNvSpPr/>
          <p:nvPr/>
        </p:nvSpPr>
        <p:spPr>
          <a:xfrm>
            <a:off x="731520" y="5349240"/>
            <a:ext cx="365760" cy="365760"/>
          </a:xfrm>
          <a:prstGeom prst="ellipse">
            <a:avLst/>
          </a:prstGeom>
          <a:solidFill>
            <a:srgbClr val="EFDCCF"/>
          </a:solidFill>
          <a:ln w="15875">
            <a:solidFill>
              <a:srgbClr val="7A1F1A"/>
            </a:solidFill>
            <a:prstDash val="solid"/>
          </a:ln>
        </p:spPr>
        <p:txBody>
          <a:bodyPr/>
          <a:lstStyle/>
          <a:p>
            <a:endParaRPr lang="en-IN"/>
          </a:p>
        </p:txBody>
      </p:sp>
      <p:sp>
        <p:nvSpPr>
          <p:cNvPr id="20" name="Text 16"/>
          <p:cNvSpPr txBox="1"/>
          <p:nvPr/>
        </p:nvSpPr>
        <p:spPr>
          <a:xfrm>
            <a:off x="731520" y="5349240"/>
            <a:ext cx="365760" cy="365760"/>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21" name="Text 17"/>
          <p:cNvSpPr txBox="1"/>
          <p:nvPr/>
        </p:nvSpPr>
        <p:spPr>
          <a:xfrm>
            <a:off x="1234440" y="5303520"/>
            <a:ext cx="2724912" cy="310896"/>
          </a:xfrm>
          <a:prstGeom prst="rect">
            <a:avLst/>
          </a:prstGeom>
          <a:noFill/>
          <a:ln/>
        </p:spPr>
        <p:txBody>
          <a:bodyPr wrap="square" lIns="0" tIns="0" rIns="0" bIns="0" rtlCol="0" anchor="t"/>
          <a:lstStyle/>
          <a:p>
            <a:pPr marL="0" indent="0">
              <a:buNone/>
            </a:pPr>
            <a:r>
              <a:rPr lang="en-US" sz="1300" b="1" dirty="0">
                <a:solidFill>
                  <a:srgbClr val="1C1712"/>
                </a:solidFill>
                <a:latin typeface="Cambria" pitchFamily="34" charset="0"/>
                <a:ea typeface="Cambria" pitchFamily="34" charset="-122"/>
                <a:cs typeface="Cambria" pitchFamily="34" charset="-120"/>
              </a:rPr>
              <a:t>Vibration &amp; Rotating</a:t>
            </a:r>
            <a:endParaRPr lang="en-US" sz="1300" dirty="0"/>
          </a:p>
        </p:txBody>
      </p:sp>
      <p:sp>
        <p:nvSpPr>
          <p:cNvPr id="22" name="Text 18"/>
          <p:cNvSpPr txBox="1"/>
          <p:nvPr/>
        </p:nvSpPr>
        <p:spPr>
          <a:xfrm>
            <a:off x="1234440" y="5596128"/>
            <a:ext cx="2679192" cy="566928"/>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High-frequency telemetry fed directly into P-F interval degradation models.</a:t>
            </a:r>
            <a:endParaRPr lang="en-US" sz="1150" dirty="0"/>
          </a:p>
        </p:txBody>
      </p:sp>
      <p:sp>
        <p:nvSpPr>
          <p:cNvPr id="23" name="Shape 19"/>
          <p:cNvSpPr/>
          <p:nvPr/>
        </p:nvSpPr>
        <p:spPr>
          <a:xfrm>
            <a:off x="4320540" y="5166360"/>
            <a:ext cx="3547872" cy="1051560"/>
          </a:xfrm>
          <a:prstGeom prst="rect">
            <a:avLst/>
          </a:prstGeom>
          <a:solidFill>
            <a:srgbClr val="FBF4E4"/>
          </a:solidFill>
          <a:ln w="12700">
            <a:solidFill>
              <a:srgbClr val="C9B48F"/>
            </a:solidFill>
            <a:prstDash val="solid"/>
          </a:ln>
        </p:spPr>
        <p:txBody>
          <a:bodyPr/>
          <a:lstStyle/>
          <a:p>
            <a:endParaRPr lang="en-IN"/>
          </a:p>
        </p:txBody>
      </p:sp>
      <p:sp>
        <p:nvSpPr>
          <p:cNvPr id="24" name="Shape 20"/>
          <p:cNvSpPr/>
          <p:nvPr/>
        </p:nvSpPr>
        <p:spPr>
          <a:xfrm>
            <a:off x="4503420" y="5349240"/>
            <a:ext cx="365760" cy="365760"/>
          </a:xfrm>
          <a:prstGeom prst="ellipse">
            <a:avLst/>
          </a:prstGeom>
          <a:solidFill>
            <a:srgbClr val="EFDCCF"/>
          </a:solidFill>
          <a:ln w="15875">
            <a:solidFill>
              <a:srgbClr val="7A1F1A"/>
            </a:solidFill>
            <a:prstDash val="solid"/>
          </a:ln>
        </p:spPr>
        <p:txBody>
          <a:bodyPr/>
          <a:lstStyle/>
          <a:p>
            <a:endParaRPr lang="en-IN"/>
          </a:p>
        </p:txBody>
      </p:sp>
      <p:sp>
        <p:nvSpPr>
          <p:cNvPr id="25" name="Text 21"/>
          <p:cNvSpPr txBox="1"/>
          <p:nvPr/>
        </p:nvSpPr>
        <p:spPr>
          <a:xfrm>
            <a:off x="4503420" y="5349240"/>
            <a:ext cx="365760" cy="365760"/>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6" name="Text 22"/>
          <p:cNvSpPr txBox="1"/>
          <p:nvPr/>
        </p:nvSpPr>
        <p:spPr>
          <a:xfrm>
            <a:off x="5006340" y="5303520"/>
            <a:ext cx="2724912" cy="310896"/>
          </a:xfrm>
          <a:prstGeom prst="rect">
            <a:avLst/>
          </a:prstGeom>
          <a:noFill/>
          <a:ln/>
        </p:spPr>
        <p:txBody>
          <a:bodyPr wrap="square" lIns="0" tIns="0" rIns="0" bIns="0" rtlCol="0" anchor="t"/>
          <a:lstStyle/>
          <a:p>
            <a:pPr marL="0" indent="0">
              <a:buNone/>
            </a:pPr>
            <a:r>
              <a:rPr lang="en-US" sz="1300" b="1" dirty="0">
                <a:solidFill>
                  <a:srgbClr val="1C1712"/>
                </a:solidFill>
                <a:latin typeface="Cambria" pitchFamily="34" charset="0"/>
                <a:ea typeface="Cambria" pitchFamily="34" charset="-122"/>
                <a:cs typeface="Cambria" pitchFamily="34" charset="-120"/>
              </a:rPr>
              <a:t>Ultrasonic Thickness</a:t>
            </a:r>
            <a:endParaRPr lang="en-US" sz="1300" dirty="0"/>
          </a:p>
        </p:txBody>
      </p:sp>
      <p:sp>
        <p:nvSpPr>
          <p:cNvPr id="27" name="Text 23"/>
          <p:cNvSpPr txBox="1"/>
          <p:nvPr/>
        </p:nvSpPr>
        <p:spPr>
          <a:xfrm>
            <a:off x="5006340" y="5596128"/>
            <a:ext cx="2679192" cy="566928"/>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Direct wall readings continually contracting Bayesian LVC confidence bands.</a:t>
            </a:r>
            <a:endParaRPr lang="en-US" sz="1150" dirty="0"/>
          </a:p>
        </p:txBody>
      </p:sp>
      <p:sp>
        <p:nvSpPr>
          <p:cNvPr id="28" name="Shape 24"/>
          <p:cNvSpPr/>
          <p:nvPr/>
        </p:nvSpPr>
        <p:spPr>
          <a:xfrm>
            <a:off x="8092440" y="5166360"/>
            <a:ext cx="3547872" cy="1051560"/>
          </a:xfrm>
          <a:prstGeom prst="rect">
            <a:avLst/>
          </a:prstGeom>
          <a:solidFill>
            <a:srgbClr val="FBF4E4"/>
          </a:solidFill>
          <a:ln w="12700">
            <a:solidFill>
              <a:srgbClr val="C9B48F"/>
            </a:solidFill>
            <a:prstDash val="solid"/>
          </a:ln>
        </p:spPr>
        <p:txBody>
          <a:bodyPr/>
          <a:lstStyle/>
          <a:p>
            <a:endParaRPr lang="en-IN"/>
          </a:p>
        </p:txBody>
      </p:sp>
      <p:sp>
        <p:nvSpPr>
          <p:cNvPr id="29" name="Shape 25"/>
          <p:cNvSpPr/>
          <p:nvPr/>
        </p:nvSpPr>
        <p:spPr>
          <a:xfrm>
            <a:off x="8275320" y="5349240"/>
            <a:ext cx="365760" cy="365760"/>
          </a:xfrm>
          <a:prstGeom prst="ellipse">
            <a:avLst/>
          </a:prstGeom>
          <a:solidFill>
            <a:srgbClr val="EFDCCF"/>
          </a:solidFill>
          <a:ln w="15875">
            <a:solidFill>
              <a:srgbClr val="7A1F1A"/>
            </a:solidFill>
            <a:prstDash val="solid"/>
          </a:ln>
        </p:spPr>
        <p:txBody>
          <a:bodyPr/>
          <a:lstStyle/>
          <a:p>
            <a:endParaRPr lang="en-IN"/>
          </a:p>
        </p:txBody>
      </p:sp>
      <p:sp>
        <p:nvSpPr>
          <p:cNvPr id="30" name="Text 26"/>
          <p:cNvSpPr txBox="1"/>
          <p:nvPr/>
        </p:nvSpPr>
        <p:spPr>
          <a:xfrm>
            <a:off x="8275320" y="5349240"/>
            <a:ext cx="365760" cy="365760"/>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31" name="Text 27"/>
          <p:cNvSpPr txBox="1"/>
          <p:nvPr/>
        </p:nvSpPr>
        <p:spPr>
          <a:xfrm>
            <a:off x="8778240" y="5303520"/>
            <a:ext cx="2724912" cy="310896"/>
          </a:xfrm>
          <a:prstGeom prst="rect">
            <a:avLst/>
          </a:prstGeom>
          <a:noFill/>
          <a:ln/>
        </p:spPr>
        <p:txBody>
          <a:bodyPr wrap="square" lIns="0" tIns="0" rIns="0" bIns="0" rtlCol="0" anchor="t"/>
          <a:lstStyle/>
          <a:p>
            <a:pPr marL="0" indent="0">
              <a:buNone/>
            </a:pPr>
            <a:r>
              <a:rPr lang="en-US" sz="1300" b="1" dirty="0">
                <a:solidFill>
                  <a:srgbClr val="1C1712"/>
                </a:solidFill>
                <a:latin typeface="Cambria" pitchFamily="34" charset="0"/>
                <a:ea typeface="Cambria" pitchFamily="34" charset="-122"/>
                <a:cs typeface="Cambria" pitchFamily="34" charset="-120"/>
              </a:rPr>
              <a:t>Process P, T &amp; Flow</a:t>
            </a:r>
            <a:endParaRPr lang="en-US" sz="1300" dirty="0"/>
          </a:p>
        </p:txBody>
      </p:sp>
      <p:sp>
        <p:nvSpPr>
          <p:cNvPr id="32" name="Text 28"/>
          <p:cNvSpPr txBox="1"/>
          <p:nvPr/>
        </p:nvSpPr>
        <p:spPr>
          <a:xfrm>
            <a:off x="8778240" y="5596128"/>
            <a:ext cx="2679192" cy="566928"/>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Real-time operational data tracking thermal stress and accelerated creep.</a:t>
            </a:r>
            <a:endParaRPr lang="en-US" sz="1150" dirty="0"/>
          </a:p>
        </p:txBody>
      </p:sp>
      <p:pic>
        <p:nvPicPr>
          <p:cNvPr id="34" name="Picture 33">
            <a:extLst>
              <a:ext uri="{FF2B5EF4-FFF2-40B4-BE49-F238E27FC236}">
                <a16:creationId xmlns:a16="http://schemas.microsoft.com/office/drawing/2014/main" id="{63946023-CD12-8096-D190-73BE4298254E}"/>
              </a:ext>
            </a:extLst>
          </p:cNvPr>
          <p:cNvPicPr>
            <a:picLocks noChangeAspect="1"/>
          </p:cNvPicPr>
          <p:nvPr/>
        </p:nvPicPr>
        <p:blipFill>
          <a:blip r:embed="rId4"/>
          <a:stretch>
            <a:fillRect/>
          </a:stretch>
        </p:blipFill>
        <p:spPr>
          <a:xfrm>
            <a:off x="2760472" y="2167126"/>
            <a:ext cx="5672328" cy="24505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BD7"/>
        </a:solidFill>
        <a:effectLst/>
      </p:bgPr>
    </p:bg>
    <p:spTree>
      <p:nvGrpSpPr>
        <p:cNvPr id="1" name=""/>
        <p:cNvGrpSpPr/>
        <p:nvPr/>
      </p:nvGrpSpPr>
      <p:grpSpPr>
        <a:xfrm>
          <a:off x="0" y="0"/>
          <a:ext cx="0" cy="0"/>
          <a:chOff x="0" y="0"/>
          <a:chExt cx="0" cy="0"/>
        </a:xfrm>
      </p:grpSpPr>
      <p:pic>
        <p:nvPicPr>
          <p:cNvPr id="2" name="Image 0" descr="assets/bg_section.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22960" y="1051560"/>
            <a:ext cx="10543032" cy="41148"/>
          </a:xfrm>
          <a:prstGeom prst="rect">
            <a:avLst/>
          </a:prstGeom>
          <a:solidFill>
            <a:srgbClr val="1C1712"/>
          </a:solidFill>
          <a:ln w="12700">
            <a:solidFill>
              <a:srgbClr val="333333"/>
            </a:solidFill>
            <a:prstDash val="solid"/>
          </a:ln>
        </p:spPr>
        <p:txBody>
          <a:bodyPr/>
          <a:lstStyle/>
          <a:p>
            <a:endParaRPr lang="en-IN"/>
          </a:p>
        </p:txBody>
      </p:sp>
      <p:sp>
        <p:nvSpPr>
          <p:cNvPr id="4" name="Shape 1"/>
          <p:cNvSpPr/>
          <p:nvPr/>
        </p:nvSpPr>
        <p:spPr>
          <a:xfrm>
            <a:off x="822960" y="1133856"/>
            <a:ext cx="10543032" cy="0"/>
          </a:xfrm>
          <a:prstGeom prst="line">
            <a:avLst/>
          </a:prstGeom>
          <a:noFill/>
          <a:ln w="12700">
            <a:solidFill>
              <a:srgbClr val="1C1712"/>
            </a:solidFill>
            <a:prstDash val="solid"/>
          </a:ln>
        </p:spPr>
        <p:txBody>
          <a:bodyPr/>
          <a:lstStyle/>
          <a:p>
            <a:endParaRPr lang="en-IN"/>
          </a:p>
        </p:txBody>
      </p:sp>
      <p:sp>
        <p:nvSpPr>
          <p:cNvPr id="5" name="Text 2"/>
          <p:cNvSpPr txBox="1"/>
          <p:nvPr/>
        </p:nvSpPr>
        <p:spPr>
          <a:xfrm>
            <a:off x="822960" y="1234440"/>
            <a:ext cx="10543032" cy="274320"/>
          </a:xfrm>
          <a:prstGeom prst="rect">
            <a:avLst/>
          </a:prstGeom>
          <a:noFill/>
          <a:ln/>
        </p:spPr>
        <p:txBody>
          <a:bodyPr wrap="square" lIns="0" tIns="0" rIns="0" bIns="0" rtlCol="0" anchor="t"/>
          <a:lstStyle/>
          <a:p>
            <a:pPr marL="0" indent="0" algn="ctr">
              <a:buNone/>
            </a:pPr>
            <a:r>
              <a:rPr lang="en-US" sz="1200" b="1" kern="0" spc="300" dirty="0">
                <a:solidFill>
                  <a:srgbClr val="7A1F1A"/>
                </a:solidFill>
                <a:latin typeface="Courier New" pitchFamily="34" charset="0"/>
                <a:ea typeface="Courier New" pitchFamily="34" charset="-122"/>
                <a:cs typeface="Courier New" pitchFamily="34" charset="-120"/>
              </a:rPr>
              <a:t>SECTION II</a:t>
            </a:r>
            <a:endParaRPr lang="en-US" sz="1200" dirty="0"/>
          </a:p>
        </p:txBody>
      </p:sp>
      <p:sp>
        <p:nvSpPr>
          <p:cNvPr id="6" name="Text 3"/>
          <p:cNvSpPr txBox="1"/>
          <p:nvPr/>
        </p:nvSpPr>
        <p:spPr>
          <a:xfrm>
            <a:off x="822960" y="1874520"/>
            <a:ext cx="10543032" cy="548640"/>
          </a:xfrm>
          <a:prstGeom prst="rect">
            <a:avLst/>
          </a:prstGeom>
          <a:noFill/>
          <a:ln/>
        </p:spPr>
        <p:txBody>
          <a:bodyPr wrap="square" lIns="0" tIns="0" rIns="0" bIns="0" rtlCol="0" anchor="t"/>
          <a:lstStyle/>
          <a:p>
            <a:pPr marL="0" indent="0" algn="ctr">
              <a:buNone/>
            </a:pPr>
            <a:r>
              <a:rPr lang="en-US" sz="1500" kern="0" spc="200" dirty="0">
                <a:solidFill>
                  <a:srgbClr val="8A8477"/>
                </a:solidFill>
                <a:latin typeface="Courier New" pitchFamily="34" charset="0"/>
                <a:ea typeface="Courier New" pitchFamily="34" charset="-122"/>
                <a:cs typeface="Courier New" pitchFamily="34" charset="-120"/>
              </a:rPr>
              <a:t>No. 02</a:t>
            </a:r>
            <a:endParaRPr lang="en-US" sz="1500" dirty="0"/>
          </a:p>
        </p:txBody>
      </p:sp>
      <p:sp>
        <p:nvSpPr>
          <p:cNvPr id="7" name="Text 4"/>
          <p:cNvSpPr txBox="1"/>
          <p:nvPr/>
        </p:nvSpPr>
        <p:spPr>
          <a:xfrm>
            <a:off x="822960" y="2286000"/>
            <a:ext cx="10543032" cy="1325880"/>
          </a:xfrm>
          <a:prstGeom prst="rect">
            <a:avLst/>
          </a:prstGeom>
          <a:noFill/>
          <a:ln/>
        </p:spPr>
        <p:txBody>
          <a:bodyPr wrap="square" lIns="0" tIns="0" rIns="0" bIns="0" rtlCol="0" anchor="ctr">
            <a:normAutofit/>
          </a:bodyPr>
          <a:lstStyle/>
          <a:p>
            <a:pPr marL="0" indent="0" algn="ctr">
              <a:buNone/>
            </a:pPr>
            <a:r>
              <a:rPr lang="en-US" sz="5000" b="1" dirty="0">
                <a:solidFill>
                  <a:srgbClr val="1C1712"/>
                </a:solidFill>
                <a:latin typeface="Cambria" pitchFamily="34" charset="0"/>
                <a:ea typeface="Cambria" pitchFamily="34" charset="-122"/>
                <a:cs typeface="Cambria" pitchFamily="34" charset="-120"/>
              </a:rPr>
              <a:t>Reliability 101</a:t>
            </a:r>
            <a:endParaRPr lang="en-US" sz="5000" dirty="0"/>
          </a:p>
        </p:txBody>
      </p:sp>
      <p:sp>
        <p:nvSpPr>
          <p:cNvPr id="8" name="Shape 5"/>
          <p:cNvSpPr/>
          <p:nvPr/>
        </p:nvSpPr>
        <p:spPr>
          <a:xfrm>
            <a:off x="3108960" y="3703320"/>
            <a:ext cx="5971032" cy="0"/>
          </a:xfrm>
          <a:prstGeom prst="line">
            <a:avLst/>
          </a:prstGeom>
          <a:noFill/>
          <a:ln w="19050">
            <a:solidFill>
              <a:srgbClr val="7A1F1A"/>
            </a:solidFill>
            <a:prstDash val="solid"/>
          </a:ln>
        </p:spPr>
        <p:txBody>
          <a:bodyPr/>
          <a:lstStyle/>
          <a:p>
            <a:endParaRPr lang="en-IN"/>
          </a:p>
        </p:txBody>
      </p:sp>
      <p:sp>
        <p:nvSpPr>
          <p:cNvPr id="9" name="Text 6"/>
          <p:cNvSpPr txBox="1"/>
          <p:nvPr/>
        </p:nvSpPr>
        <p:spPr>
          <a:xfrm>
            <a:off x="1280160" y="3886200"/>
            <a:ext cx="9628632" cy="640080"/>
          </a:xfrm>
          <a:prstGeom prst="rect">
            <a:avLst/>
          </a:prstGeom>
          <a:noFill/>
          <a:ln/>
        </p:spPr>
        <p:txBody>
          <a:bodyPr wrap="square" lIns="0" tIns="0" rIns="0" bIns="0" rtlCol="0" anchor="t"/>
          <a:lstStyle/>
          <a:p>
            <a:pPr marL="0" indent="0" algn="ctr">
              <a:buNone/>
            </a:pPr>
            <a:r>
              <a:rPr lang="en-US" sz="1600" i="1" dirty="0">
                <a:solidFill>
                  <a:srgbClr val="5A5347"/>
                </a:solidFill>
                <a:latin typeface="Cambria" pitchFamily="34" charset="0"/>
                <a:ea typeface="Cambria" pitchFamily="34" charset="-122"/>
                <a:cs typeface="Cambria" pitchFamily="34" charset="-120"/>
              </a:rPr>
              <a:t>Core Mathematical Formulations, Availability Engineering &amp; Failure Rate Metrics</a:t>
            </a:r>
            <a:endParaRPr lang="en-US" sz="1600" dirty="0"/>
          </a:p>
        </p:txBody>
      </p:sp>
      <p:sp>
        <p:nvSpPr>
          <p:cNvPr id="10" name="Shape 7"/>
          <p:cNvSpPr/>
          <p:nvPr/>
        </p:nvSpPr>
        <p:spPr>
          <a:xfrm>
            <a:off x="3538271" y="4709160"/>
            <a:ext cx="1174090" cy="274320"/>
          </a:xfrm>
          <a:prstGeom prst="rect">
            <a:avLst/>
          </a:prstGeom>
          <a:solidFill>
            <a:srgbClr val="EFDCCF"/>
          </a:solidFill>
          <a:ln w="12700">
            <a:solidFill>
              <a:srgbClr val="7A1F1A"/>
            </a:solidFill>
            <a:prstDash val="solid"/>
          </a:ln>
        </p:spPr>
        <p:txBody>
          <a:bodyPr/>
          <a:lstStyle/>
          <a:p>
            <a:endParaRPr lang="en-IN"/>
          </a:p>
        </p:txBody>
      </p:sp>
      <p:sp>
        <p:nvSpPr>
          <p:cNvPr id="11" name="Text 8"/>
          <p:cNvSpPr txBox="1"/>
          <p:nvPr/>
        </p:nvSpPr>
        <p:spPr>
          <a:xfrm>
            <a:off x="3538271" y="4709160"/>
            <a:ext cx="117409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AVAILABILITY</a:t>
            </a:r>
            <a:endParaRPr lang="en-US" sz="900" dirty="0"/>
          </a:p>
        </p:txBody>
      </p:sp>
      <p:sp>
        <p:nvSpPr>
          <p:cNvPr id="12" name="Shape 9"/>
          <p:cNvSpPr/>
          <p:nvPr/>
        </p:nvSpPr>
        <p:spPr>
          <a:xfrm>
            <a:off x="4876952" y="4709160"/>
            <a:ext cx="1324051" cy="274320"/>
          </a:xfrm>
          <a:prstGeom prst="rect">
            <a:avLst/>
          </a:prstGeom>
          <a:solidFill>
            <a:srgbClr val="EFDCCF"/>
          </a:solidFill>
          <a:ln w="12700">
            <a:solidFill>
              <a:srgbClr val="7A1F1A"/>
            </a:solidFill>
            <a:prstDash val="solid"/>
          </a:ln>
        </p:spPr>
        <p:txBody>
          <a:bodyPr/>
          <a:lstStyle/>
          <a:p>
            <a:endParaRPr lang="en-IN"/>
          </a:p>
        </p:txBody>
      </p:sp>
      <p:sp>
        <p:nvSpPr>
          <p:cNvPr id="13" name="Text 10"/>
          <p:cNvSpPr txBox="1"/>
          <p:nvPr/>
        </p:nvSpPr>
        <p:spPr>
          <a:xfrm>
            <a:off x="4876952" y="4709160"/>
            <a:ext cx="1324051"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FAILURE RATE Λ</a:t>
            </a:r>
            <a:endParaRPr lang="en-US" sz="900" dirty="0"/>
          </a:p>
        </p:txBody>
      </p:sp>
      <p:sp>
        <p:nvSpPr>
          <p:cNvPr id="14" name="Shape 11"/>
          <p:cNvSpPr/>
          <p:nvPr/>
        </p:nvSpPr>
        <p:spPr>
          <a:xfrm>
            <a:off x="6365596" y="4709160"/>
            <a:ext cx="574243" cy="274320"/>
          </a:xfrm>
          <a:prstGeom prst="rect">
            <a:avLst/>
          </a:prstGeom>
          <a:solidFill>
            <a:srgbClr val="EFDCCF"/>
          </a:solidFill>
          <a:ln w="12700">
            <a:solidFill>
              <a:srgbClr val="7A1F1A"/>
            </a:solidFill>
            <a:prstDash val="solid"/>
          </a:ln>
        </p:spPr>
        <p:txBody>
          <a:bodyPr/>
          <a:lstStyle/>
          <a:p>
            <a:endParaRPr lang="en-IN"/>
          </a:p>
        </p:txBody>
      </p:sp>
      <p:sp>
        <p:nvSpPr>
          <p:cNvPr id="15" name="Text 12"/>
          <p:cNvSpPr txBox="1"/>
          <p:nvPr/>
        </p:nvSpPr>
        <p:spPr>
          <a:xfrm>
            <a:off x="6365596" y="4709160"/>
            <a:ext cx="574243"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MTBF</a:t>
            </a:r>
            <a:endParaRPr lang="en-US" sz="900" dirty="0"/>
          </a:p>
        </p:txBody>
      </p:sp>
      <p:sp>
        <p:nvSpPr>
          <p:cNvPr id="16" name="Shape 13"/>
          <p:cNvSpPr/>
          <p:nvPr/>
        </p:nvSpPr>
        <p:spPr>
          <a:xfrm>
            <a:off x="7104431" y="4709160"/>
            <a:ext cx="1548994" cy="274320"/>
          </a:xfrm>
          <a:prstGeom prst="rect">
            <a:avLst/>
          </a:prstGeom>
          <a:solidFill>
            <a:srgbClr val="EFDCCF"/>
          </a:solidFill>
          <a:ln w="12700">
            <a:solidFill>
              <a:srgbClr val="7A1F1A"/>
            </a:solidFill>
            <a:prstDash val="solid"/>
          </a:ln>
        </p:spPr>
        <p:txBody>
          <a:bodyPr/>
          <a:lstStyle/>
          <a:p>
            <a:endParaRPr lang="en-IN"/>
          </a:p>
        </p:txBody>
      </p:sp>
      <p:sp>
        <p:nvSpPr>
          <p:cNvPr id="17" name="Text 14"/>
          <p:cNvSpPr txBox="1"/>
          <p:nvPr/>
        </p:nvSpPr>
        <p:spPr>
          <a:xfrm>
            <a:off x="7104431" y="4709160"/>
            <a:ext cx="1548994"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MTTF · MDT · MTTR</a:t>
            </a:r>
            <a:endParaRPr lang="en-US" sz="900" dirty="0"/>
          </a:p>
        </p:txBody>
      </p:sp>
      <p:sp>
        <p:nvSpPr>
          <p:cNvPr id="18" name="Shape 15"/>
          <p:cNvSpPr/>
          <p:nvPr/>
        </p:nvSpPr>
        <p:spPr>
          <a:xfrm>
            <a:off x="822960" y="5440680"/>
            <a:ext cx="10543032" cy="41148"/>
          </a:xfrm>
          <a:prstGeom prst="rect">
            <a:avLst/>
          </a:prstGeom>
          <a:solidFill>
            <a:srgbClr val="1C1712"/>
          </a:solidFill>
          <a:ln w="12700">
            <a:solidFill>
              <a:srgbClr val="333333"/>
            </a:solidFill>
            <a:prstDash val="solid"/>
          </a:ln>
        </p:spPr>
        <p:txBody>
          <a:bodyPr/>
          <a:lstStyle/>
          <a:p>
            <a:endParaRPr lang="en-IN"/>
          </a:p>
        </p:txBody>
      </p:sp>
      <p:sp>
        <p:nvSpPr>
          <p:cNvPr id="19" name="Shape 16"/>
          <p:cNvSpPr/>
          <p:nvPr/>
        </p:nvSpPr>
        <p:spPr>
          <a:xfrm>
            <a:off x="822960" y="5522976"/>
            <a:ext cx="10543032" cy="0"/>
          </a:xfrm>
          <a:prstGeom prst="line">
            <a:avLst/>
          </a:prstGeom>
          <a:noFill/>
          <a:ln w="12700">
            <a:solidFill>
              <a:srgbClr val="1C1712"/>
            </a:solidFill>
            <a:prstDash val="solid"/>
          </a:ln>
        </p:spPr>
        <p:txBody>
          <a:bodyPr/>
          <a:lstStyle/>
          <a:p>
            <a:endParaRPr lang="en-IN"/>
          </a:p>
        </p:txBody>
      </p:sp>
      <p:sp>
        <p:nvSpPr>
          <p:cNvPr id="20" name="Shape 1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21" name="Text 1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22" name="Text 1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09</a:t>
            </a:r>
            <a:r>
              <a:rPr sz="900">
                <a:solidFill>
                  <a:srgbClr val="8A8477"/>
                </a:solidFill>
                <a:latin typeface="Courier New"/>
              </a:rPr>
              <a:t> / 80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What is Availability? Technical Formulation</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percentage of time an asset is functional when demanded.</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10</a:t>
            </a:r>
            <a:r>
              <a:rPr sz="900">
                <a:solidFill>
                  <a:srgbClr val="8A8477"/>
                </a:solidFill>
                <a:latin typeface="Courier New"/>
              </a:rPr>
              <a:t> / 80</a:t>
            </a:r>
            <a:endParaRPr lang="en-US" sz="900" dirty="0"/>
          </a:p>
        </p:txBody>
      </p:sp>
      <p:sp>
        <p:nvSpPr>
          <p:cNvPr id="13" name="Shape 10"/>
          <p:cNvSpPr/>
          <p:nvPr/>
        </p:nvSpPr>
        <p:spPr>
          <a:xfrm>
            <a:off x="548640" y="1737360"/>
            <a:ext cx="5852160" cy="960120"/>
          </a:xfrm>
          <a:prstGeom prst="rect">
            <a:avLst/>
          </a:prstGeom>
          <a:solidFill>
            <a:srgbClr val="EFE4CD"/>
          </a:solidFill>
          <a:ln w="12700">
            <a:solidFill>
              <a:srgbClr val="C9B48F"/>
            </a:solidFill>
            <a:prstDash val="solid"/>
          </a:ln>
        </p:spPr>
        <p:txBody>
          <a:bodyPr/>
          <a:lstStyle/>
          <a:p>
            <a:endParaRPr lang="en-IN"/>
          </a:p>
        </p:txBody>
      </p:sp>
      <p:sp>
        <p:nvSpPr>
          <p:cNvPr id="14" name="Text 11"/>
          <p:cNvSpPr txBox="1"/>
          <p:nvPr/>
        </p:nvSpPr>
        <p:spPr>
          <a:xfrm>
            <a:off x="749808" y="1737360"/>
            <a:ext cx="5486400" cy="960120"/>
          </a:xfrm>
          <a:prstGeom prst="rect">
            <a:avLst/>
          </a:prstGeom>
          <a:noFill/>
          <a:ln/>
        </p:spPr>
        <p:txBody>
          <a:bodyPr wrap="square" lIns="0" tIns="0" rIns="0" bIns="0" rtlCol="0" anchor="ctr"/>
          <a:lstStyle/>
          <a:p>
            <a:pPr marL="0" indent="0">
              <a:buNone/>
            </a:pPr>
            <a:r>
              <a:rPr lang="en-US" sz="1250" b="1" dirty="0">
                <a:solidFill>
                  <a:srgbClr val="1C1712"/>
                </a:solidFill>
                <a:latin typeface="Cambria" pitchFamily="34" charset="0"/>
                <a:ea typeface="Cambria" pitchFamily="34" charset="-122"/>
                <a:cs typeface="Cambria" pitchFamily="34" charset="-120"/>
              </a:rPr>
              <a:t>Formal Engineering Definition:</a:t>
            </a:r>
            <a:r>
              <a:rPr lang="en-US" sz="1250" dirty="0">
                <a:solidFill>
                  <a:srgbClr val="2C261E"/>
                </a:solidFill>
                <a:latin typeface="Cambria" pitchFamily="34" charset="0"/>
                <a:ea typeface="Cambria" pitchFamily="34" charset="-122"/>
                <a:cs typeface="Cambria" pitchFamily="34" charset="-120"/>
              </a:rPr>
              <a:t> The proportion of operating time an asset successfully performs its intended functions when demanded within a defined evaluation horizon, regardless of the run rate or yield.</a:t>
            </a:r>
            <a:endParaRPr lang="en-US" sz="1250" dirty="0"/>
          </a:p>
        </p:txBody>
      </p:sp>
      <p:sp>
        <p:nvSpPr>
          <p:cNvPr id="15" name="Shape 12"/>
          <p:cNvSpPr/>
          <p:nvPr/>
        </p:nvSpPr>
        <p:spPr>
          <a:xfrm>
            <a:off x="548640" y="2834640"/>
            <a:ext cx="5852160" cy="1783080"/>
          </a:xfrm>
          <a:prstGeom prst="rect">
            <a:avLst/>
          </a:prstGeom>
          <a:solidFill>
            <a:srgbClr val="EFDCCF"/>
          </a:solidFill>
          <a:ln w="12700">
            <a:solidFill>
              <a:srgbClr val="C9B48F"/>
            </a:solidFill>
            <a:prstDash val="solid"/>
          </a:ln>
        </p:spPr>
        <p:txBody>
          <a:bodyPr/>
          <a:lstStyle/>
          <a:p>
            <a:endParaRPr lang="en-IN"/>
          </a:p>
        </p:txBody>
      </p:sp>
      <p:sp>
        <p:nvSpPr>
          <p:cNvPr id="16" name="Text 13"/>
          <p:cNvSpPr txBox="1"/>
          <p:nvPr/>
        </p:nvSpPr>
        <p:spPr>
          <a:xfrm>
            <a:off x="749808" y="2971800"/>
            <a:ext cx="27432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GOVERNING RATIO</a:t>
            </a:r>
            <a:endParaRPr lang="en-US" sz="950" dirty="0"/>
          </a:p>
        </p:txBody>
      </p:sp>
      <p:pic>
        <p:nvPicPr>
          <p:cNvPr id="17" name="Image 1" descr="Formula"/>
          <p:cNvPicPr>
            <a:picLocks noChangeAspect="1"/>
          </p:cNvPicPr>
          <p:nvPr/>
        </p:nvPicPr>
        <p:blipFill>
          <a:blip r:embed="rId4"/>
          <a:stretch>
            <a:fillRect/>
          </a:stretch>
        </p:blipFill>
        <p:spPr>
          <a:xfrm>
            <a:off x="864072" y="3313818"/>
            <a:ext cx="5221295" cy="1053325"/>
          </a:xfrm>
          <a:prstGeom prst="rect">
            <a:avLst/>
          </a:prstGeom>
        </p:spPr>
      </p:pic>
      <p:sp>
        <p:nvSpPr>
          <p:cNvPr id="18" name="Shape 14"/>
          <p:cNvSpPr/>
          <p:nvPr/>
        </p:nvSpPr>
        <p:spPr>
          <a:xfrm>
            <a:off x="6629400" y="1737360"/>
            <a:ext cx="5010912" cy="868680"/>
          </a:xfrm>
          <a:prstGeom prst="rect">
            <a:avLst/>
          </a:prstGeom>
          <a:solidFill>
            <a:srgbClr val="FBF4E4"/>
          </a:solidFill>
          <a:ln w="12700">
            <a:solidFill>
              <a:srgbClr val="C9B48F"/>
            </a:solidFill>
            <a:prstDash val="solid"/>
          </a:ln>
        </p:spPr>
        <p:txBody>
          <a:bodyPr/>
          <a:lstStyle/>
          <a:p>
            <a:endParaRPr lang="en-IN"/>
          </a:p>
        </p:txBody>
      </p:sp>
      <p:sp>
        <p:nvSpPr>
          <p:cNvPr id="19" name="Text 15"/>
          <p:cNvSpPr txBox="1"/>
          <p:nvPr/>
        </p:nvSpPr>
        <p:spPr>
          <a:xfrm>
            <a:off x="6812280" y="1828800"/>
            <a:ext cx="3566160" cy="256032"/>
          </a:xfrm>
          <a:prstGeom prst="rect">
            <a:avLst/>
          </a:prstGeom>
          <a:noFill/>
          <a:ln/>
        </p:spPr>
        <p:txBody>
          <a:bodyPr wrap="square" lIns="0" tIns="0" rIns="0" bIns="0" rtlCol="0" anchor="t"/>
          <a:lstStyle/>
          <a:p>
            <a:pPr marL="0" indent="0">
              <a:buNone/>
            </a:pPr>
            <a:r>
              <a:rPr lang="en-US" sz="1300" b="1" dirty="0">
                <a:solidFill>
                  <a:srgbClr val="7A1F1A"/>
                </a:solidFill>
                <a:latin typeface="Cambria" pitchFamily="34" charset="0"/>
                <a:ea typeface="Cambria" pitchFamily="34" charset="-122"/>
                <a:cs typeface="Cambria" pitchFamily="34" charset="-120"/>
              </a:rPr>
              <a:t>Uptime</a:t>
            </a:r>
            <a:r>
              <a:rPr lang="en-US" sz="1150" dirty="0">
                <a:solidFill>
                  <a:srgbClr val="5A5347"/>
                </a:solidFill>
                <a:latin typeface="Cambria" pitchFamily="34" charset="0"/>
                <a:ea typeface="Cambria" pitchFamily="34" charset="-122"/>
                <a:cs typeface="Cambria" pitchFamily="34" charset="-120"/>
              </a:rPr>
              <a:t>  (Functional Time)</a:t>
            </a:r>
            <a:endParaRPr lang="en-US" sz="1250" dirty="0"/>
          </a:p>
        </p:txBody>
      </p:sp>
      <p:sp>
        <p:nvSpPr>
          <p:cNvPr id="20" name="Text 16"/>
          <p:cNvSpPr txBox="1"/>
          <p:nvPr/>
        </p:nvSpPr>
        <p:spPr>
          <a:xfrm>
            <a:off x="9966960" y="1828800"/>
            <a:ext cx="1508760" cy="237744"/>
          </a:xfrm>
          <a:prstGeom prst="rect">
            <a:avLst/>
          </a:prstGeom>
          <a:noFill/>
          <a:ln/>
        </p:spPr>
        <p:txBody>
          <a:bodyPr wrap="square" lIns="0" tIns="0" rIns="0" bIns="0" rtlCol="0" anchor="t"/>
          <a:lstStyle/>
          <a:p>
            <a:pPr marL="0" indent="0" algn="r">
              <a:buNone/>
            </a:pPr>
            <a:r>
              <a:rPr lang="en-US" sz="850" dirty="0">
                <a:solidFill>
                  <a:srgbClr val="8A8477"/>
                </a:solidFill>
                <a:latin typeface="Courier New" pitchFamily="34" charset="0"/>
                <a:ea typeface="Courier New" pitchFamily="34" charset="-122"/>
                <a:cs typeface="Courier New" pitchFamily="34" charset="-120"/>
              </a:rPr>
              <a:t>[ HOURS / DAYS ]</a:t>
            </a:r>
            <a:endParaRPr lang="en-US" sz="850" dirty="0"/>
          </a:p>
        </p:txBody>
      </p:sp>
      <p:sp>
        <p:nvSpPr>
          <p:cNvPr id="21" name="Text 17"/>
          <p:cNvSpPr txBox="1"/>
          <p:nvPr/>
        </p:nvSpPr>
        <p:spPr>
          <a:xfrm>
            <a:off x="6812280" y="2103120"/>
            <a:ext cx="4663440" cy="475488"/>
          </a:xfrm>
          <a:prstGeom prst="rect">
            <a:avLst/>
          </a:prstGeom>
          <a:noFill/>
          <a:ln/>
        </p:spPr>
        <p:txBody>
          <a:bodyPr wrap="square" lIns="0" tIns="0" rIns="0" bIns="0" rtlCol="0" anchor="t"/>
          <a:lstStyle/>
          <a:p>
            <a:pPr marL="0" indent="0">
              <a:buNone/>
            </a:pPr>
            <a:r>
              <a:rPr lang="en-US" sz="1150" dirty="0">
                <a:solidFill>
                  <a:srgbClr val="2C261E"/>
                </a:solidFill>
                <a:latin typeface="Cambria" pitchFamily="34" charset="0"/>
                <a:ea typeface="Cambria" pitchFamily="34" charset="-122"/>
                <a:cs typeface="Cambria" pitchFamily="34" charset="-120"/>
              </a:rPr>
              <a:t>Total operating duration the asset is energized and successfully executing its design function.</a:t>
            </a:r>
            <a:endParaRPr lang="en-US" sz="1150" dirty="0"/>
          </a:p>
        </p:txBody>
      </p:sp>
      <p:sp>
        <p:nvSpPr>
          <p:cNvPr id="22" name="Shape 18"/>
          <p:cNvSpPr/>
          <p:nvPr/>
        </p:nvSpPr>
        <p:spPr>
          <a:xfrm>
            <a:off x="6629400" y="2715768"/>
            <a:ext cx="5010912" cy="868680"/>
          </a:xfrm>
          <a:prstGeom prst="rect">
            <a:avLst/>
          </a:prstGeom>
          <a:solidFill>
            <a:srgbClr val="FBF4E4"/>
          </a:solidFill>
          <a:ln w="12700">
            <a:solidFill>
              <a:srgbClr val="C9B48F"/>
            </a:solidFill>
            <a:prstDash val="solid"/>
          </a:ln>
        </p:spPr>
        <p:txBody>
          <a:bodyPr/>
          <a:lstStyle/>
          <a:p>
            <a:endParaRPr lang="en-IN"/>
          </a:p>
        </p:txBody>
      </p:sp>
      <p:sp>
        <p:nvSpPr>
          <p:cNvPr id="23" name="Text 19"/>
          <p:cNvSpPr txBox="1"/>
          <p:nvPr/>
        </p:nvSpPr>
        <p:spPr>
          <a:xfrm>
            <a:off x="6812280" y="2807208"/>
            <a:ext cx="3566160" cy="256032"/>
          </a:xfrm>
          <a:prstGeom prst="rect">
            <a:avLst/>
          </a:prstGeom>
          <a:noFill/>
          <a:ln/>
        </p:spPr>
        <p:txBody>
          <a:bodyPr wrap="square" lIns="0" tIns="0" rIns="0" bIns="0" rtlCol="0" anchor="t"/>
          <a:lstStyle/>
          <a:p>
            <a:pPr marL="0" indent="0">
              <a:buNone/>
            </a:pPr>
            <a:r>
              <a:rPr lang="en-US" sz="1300" b="1" dirty="0">
                <a:solidFill>
                  <a:srgbClr val="7A1F1A"/>
                </a:solidFill>
                <a:latin typeface="Cambria" pitchFamily="34" charset="0"/>
                <a:ea typeface="Cambria" pitchFamily="34" charset="-122"/>
                <a:cs typeface="Cambria" pitchFamily="34" charset="-120"/>
              </a:rPr>
              <a:t>Downtime</a:t>
            </a:r>
            <a:r>
              <a:rPr lang="en-US" sz="1150" dirty="0">
                <a:solidFill>
                  <a:srgbClr val="5A5347"/>
                </a:solidFill>
                <a:latin typeface="Cambria" pitchFamily="34" charset="0"/>
                <a:ea typeface="Cambria" pitchFamily="34" charset="-122"/>
                <a:cs typeface="Cambria" pitchFamily="34" charset="-120"/>
              </a:rPr>
              <a:t>  (Outage Time)</a:t>
            </a:r>
            <a:endParaRPr lang="en-US" sz="1250" dirty="0"/>
          </a:p>
        </p:txBody>
      </p:sp>
      <p:sp>
        <p:nvSpPr>
          <p:cNvPr id="24" name="Text 20"/>
          <p:cNvSpPr txBox="1"/>
          <p:nvPr/>
        </p:nvSpPr>
        <p:spPr>
          <a:xfrm>
            <a:off x="9966960" y="2807208"/>
            <a:ext cx="1508760" cy="237744"/>
          </a:xfrm>
          <a:prstGeom prst="rect">
            <a:avLst/>
          </a:prstGeom>
          <a:noFill/>
          <a:ln/>
        </p:spPr>
        <p:txBody>
          <a:bodyPr wrap="square" lIns="0" tIns="0" rIns="0" bIns="0" rtlCol="0" anchor="t"/>
          <a:lstStyle/>
          <a:p>
            <a:pPr marL="0" indent="0" algn="r">
              <a:buNone/>
            </a:pPr>
            <a:r>
              <a:rPr lang="en-US" sz="850" dirty="0">
                <a:solidFill>
                  <a:srgbClr val="8A8477"/>
                </a:solidFill>
                <a:latin typeface="Courier New" pitchFamily="34" charset="0"/>
                <a:ea typeface="Courier New" pitchFamily="34" charset="-122"/>
                <a:cs typeface="Courier New" pitchFamily="34" charset="-120"/>
              </a:rPr>
              <a:t>[ HOURS / DAYS ]</a:t>
            </a:r>
            <a:endParaRPr lang="en-US" sz="850" dirty="0"/>
          </a:p>
        </p:txBody>
      </p:sp>
      <p:sp>
        <p:nvSpPr>
          <p:cNvPr id="25" name="Text 21"/>
          <p:cNvSpPr txBox="1"/>
          <p:nvPr/>
        </p:nvSpPr>
        <p:spPr>
          <a:xfrm>
            <a:off x="6812280" y="3081528"/>
            <a:ext cx="4663440" cy="475488"/>
          </a:xfrm>
          <a:prstGeom prst="rect">
            <a:avLst/>
          </a:prstGeom>
          <a:noFill/>
          <a:ln/>
        </p:spPr>
        <p:txBody>
          <a:bodyPr wrap="square" lIns="0" tIns="0" rIns="0" bIns="0" rtlCol="0" anchor="t"/>
          <a:lstStyle/>
          <a:p>
            <a:pPr marL="0" indent="0">
              <a:buNone/>
            </a:pPr>
            <a:r>
              <a:rPr lang="en-US" sz="1150" dirty="0">
                <a:solidFill>
                  <a:srgbClr val="2C261E"/>
                </a:solidFill>
                <a:latin typeface="Cambria" pitchFamily="34" charset="0"/>
                <a:ea typeface="Cambria" pitchFamily="34" charset="-122"/>
                <a:cs typeface="Cambria" pitchFamily="34" charset="-120"/>
              </a:rPr>
              <a:t>Total duration the asset is non-operational due to planned PMs, turnarounds, or emergency corrective repairs.</a:t>
            </a:r>
            <a:endParaRPr lang="en-US" sz="1150" dirty="0"/>
          </a:p>
        </p:txBody>
      </p:sp>
      <p:sp>
        <p:nvSpPr>
          <p:cNvPr id="26" name="Shape 22"/>
          <p:cNvSpPr/>
          <p:nvPr/>
        </p:nvSpPr>
        <p:spPr>
          <a:xfrm>
            <a:off x="6629400" y="3694176"/>
            <a:ext cx="5010912" cy="868680"/>
          </a:xfrm>
          <a:prstGeom prst="rect">
            <a:avLst/>
          </a:prstGeom>
          <a:solidFill>
            <a:srgbClr val="FBF4E4"/>
          </a:solidFill>
          <a:ln w="12700">
            <a:solidFill>
              <a:srgbClr val="C9B48F"/>
            </a:solidFill>
            <a:prstDash val="solid"/>
          </a:ln>
        </p:spPr>
        <p:txBody>
          <a:bodyPr/>
          <a:lstStyle/>
          <a:p>
            <a:endParaRPr lang="en-IN"/>
          </a:p>
        </p:txBody>
      </p:sp>
      <p:sp>
        <p:nvSpPr>
          <p:cNvPr id="27" name="Text 23"/>
          <p:cNvSpPr txBox="1"/>
          <p:nvPr/>
        </p:nvSpPr>
        <p:spPr>
          <a:xfrm>
            <a:off x="6812280" y="3785616"/>
            <a:ext cx="3566160" cy="256032"/>
          </a:xfrm>
          <a:prstGeom prst="rect">
            <a:avLst/>
          </a:prstGeom>
          <a:noFill/>
          <a:ln/>
        </p:spPr>
        <p:txBody>
          <a:bodyPr wrap="square" lIns="0" tIns="0" rIns="0" bIns="0" rtlCol="0" anchor="t"/>
          <a:lstStyle/>
          <a:p>
            <a:pPr marL="0" indent="0">
              <a:buNone/>
            </a:pPr>
            <a:r>
              <a:rPr lang="en-US" sz="1300" b="1" dirty="0">
                <a:solidFill>
                  <a:srgbClr val="7A1F1A"/>
                </a:solidFill>
                <a:latin typeface="Cambria" pitchFamily="34" charset="0"/>
                <a:ea typeface="Cambria" pitchFamily="34" charset="-122"/>
                <a:cs typeface="Cambria" pitchFamily="34" charset="-120"/>
              </a:rPr>
              <a:t>Mission Time</a:t>
            </a:r>
            <a:r>
              <a:rPr lang="en-US" sz="1150" dirty="0">
                <a:solidFill>
                  <a:srgbClr val="5A5347"/>
                </a:solidFill>
                <a:latin typeface="Cambria" pitchFamily="34" charset="0"/>
                <a:ea typeface="Cambria" pitchFamily="34" charset="-122"/>
                <a:cs typeface="Cambria" pitchFamily="34" charset="-120"/>
              </a:rPr>
              <a:t>  (Uptime + Downtime)</a:t>
            </a:r>
            <a:endParaRPr lang="en-US" sz="1250" dirty="0"/>
          </a:p>
        </p:txBody>
      </p:sp>
      <p:sp>
        <p:nvSpPr>
          <p:cNvPr id="28" name="Text 24"/>
          <p:cNvSpPr txBox="1"/>
          <p:nvPr/>
        </p:nvSpPr>
        <p:spPr>
          <a:xfrm>
            <a:off x="9966960" y="3785616"/>
            <a:ext cx="1508760" cy="237744"/>
          </a:xfrm>
          <a:prstGeom prst="rect">
            <a:avLst/>
          </a:prstGeom>
          <a:noFill/>
          <a:ln/>
        </p:spPr>
        <p:txBody>
          <a:bodyPr wrap="square" lIns="0" tIns="0" rIns="0" bIns="0" rtlCol="0" anchor="t"/>
          <a:lstStyle/>
          <a:p>
            <a:pPr marL="0" indent="0" algn="r">
              <a:buNone/>
            </a:pPr>
            <a:r>
              <a:rPr lang="en-US" sz="850" dirty="0">
                <a:solidFill>
                  <a:srgbClr val="8A8477"/>
                </a:solidFill>
                <a:latin typeface="Courier New" pitchFamily="34" charset="0"/>
                <a:ea typeface="Courier New" pitchFamily="34" charset="-122"/>
                <a:cs typeface="Courier New" pitchFamily="34" charset="-120"/>
              </a:rPr>
              <a:t>[ HOURS ]</a:t>
            </a:r>
            <a:endParaRPr lang="en-US" sz="850" dirty="0"/>
          </a:p>
        </p:txBody>
      </p:sp>
      <p:sp>
        <p:nvSpPr>
          <p:cNvPr id="29" name="Text 25"/>
          <p:cNvSpPr txBox="1"/>
          <p:nvPr/>
        </p:nvSpPr>
        <p:spPr>
          <a:xfrm>
            <a:off x="6812280" y="4059936"/>
            <a:ext cx="4663440" cy="475488"/>
          </a:xfrm>
          <a:prstGeom prst="rect">
            <a:avLst/>
          </a:prstGeom>
          <a:noFill/>
          <a:ln/>
        </p:spPr>
        <p:txBody>
          <a:bodyPr wrap="square" lIns="0" tIns="0" rIns="0" bIns="0" rtlCol="0" anchor="t"/>
          <a:lstStyle/>
          <a:p>
            <a:pPr marL="0" indent="0">
              <a:buNone/>
            </a:pPr>
            <a:r>
              <a:rPr lang="en-US" sz="1150" dirty="0">
                <a:solidFill>
                  <a:srgbClr val="2C261E"/>
                </a:solidFill>
                <a:latin typeface="Cambria" pitchFamily="34" charset="0"/>
                <a:ea typeface="Cambria" pitchFamily="34" charset="-122"/>
                <a:cs typeface="Cambria" pitchFamily="34" charset="-120"/>
              </a:rPr>
              <a:t>Total calendar evaluation horizon over which asset performance is measured (e.g., 5-year operating cycle = 43,800 hrs).</a:t>
            </a:r>
            <a:endParaRPr lang="en-US" sz="1150" dirty="0"/>
          </a:p>
        </p:txBody>
      </p:sp>
      <p:sp>
        <p:nvSpPr>
          <p:cNvPr id="30" name="Shape 26"/>
          <p:cNvSpPr/>
          <p:nvPr/>
        </p:nvSpPr>
        <p:spPr>
          <a:xfrm>
            <a:off x="548640" y="4846320"/>
            <a:ext cx="5431536" cy="1371600"/>
          </a:xfrm>
          <a:prstGeom prst="rect">
            <a:avLst/>
          </a:prstGeom>
          <a:solidFill>
            <a:srgbClr val="DCE6EC"/>
          </a:solidFill>
          <a:ln w="12700">
            <a:solidFill>
              <a:srgbClr val="1A4A6E"/>
            </a:solidFill>
            <a:prstDash val="solid"/>
          </a:ln>
        </p:spPr>
        <p:txBody>
          <a:bodyPr/>
          <a:lstStyle/>
          <a:p>
            <a:endParaRPr lang="en-IN"/>
          </a:p>
        </p:txBody>
      </p:sp>
      <p:sp>
        <p:nvSpPr>
          <p:cNvPr id="31" name="Text 27"/>
          <p:cNvSpPr txBox="1"/>
          <p:nvPr/>
        </p:nvSpPr>
        <p:spPr>
          <a:xfrm>
            <a:off x="777240" y="5010912"/>
            <a:ext cx="4937760" cy="310896"/>
          </a:xfrm>
          <a:prstGeom prst="rect">
            <a:avLst/>
          </a:prstGeom>
          <a:noFill/>
          <a:ln/>
        </p:spPr>
        <p:txBody>
          <a:bodyPr wrap="square" lIns="0" tIns="0" rIns="0" bIns="0" rtlCol="0" anchor="t"/>
          <a:lstStyle/>
          <a:p>
            <a:pPr marL="0" indent="0">
              <a:buNone/>
            </a:pPr>
            <a:r>
              <a:rPr lang="en-US" sz="1500" b="1" dirty="0">
                <a:solidFill>
                  <a:srgbClr val="1A4A6E"/>
                </a:solidFill>
                <a:latin typeface="Cambria" pitchFamily="34" charset="0"/>
                <a:ea typeface="Cambria" pitchFamily="34" charset="-122"/>
                <a:cs typeface="Cambria" pitchFamily="34" charset="-120"/>
              </a:rPr>
              <a:t>Reliability Dimension</a:t>
            </a:r>
            <a:endParaRPr lang="en-US" sz="1500" dirty="0"/>
          </a:p>
        </p:txBody>
      </p:sp>
      <p:sp>
        <p:nvSpPr>
          <p:cNvPr id="32" name="Text 28"/>
          <p:cNvSpPr txBox="1"/>
          <p:nvPr/>
        </p:nvSpPr>
        <p:spPr>
          <a:xfrm>
            <a:off x="777240" y="5376672"/>
            <a:ext cx="4983480" cy="7772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Governed by </a:t>
            </a:r>
            <a:r>
              <a:rPr lang="en-US" sz="1250" b="1" dirty="0">
                <a:solidFill>
                  <a:srgbClr val="1C1712"/>
                </a:solidFill>
                <a:latin typeface="Cambria" pitchFamily="34" charset="0"/>
                <a:ea typeface="Cambria" pitchFamily="34" charset="-122"/>
                <a:cs typeface="Cambria" pitchFamily="34" charset="-120"/>
              </a:rPr>
              <a:t>how frequently</a:t>
            </a:r>
            <a:r>
              <a:rPr lang="en-US" sz="1250" dirty="0">
                <a:solidFill>
                  <a:srgbClr val="2C261E"/>
                </a:solidFill>
                <a:latin typeface="Cambria" pitchFamily="34" charset="0"/>
                <a:ea typeface="Cambria" pitchFamily="34" charset="-122"/>
                <a:cs typeface="Cambria" pitchFamily="34" charset="-120"/>
              </a:rPr>
              <a:t> an asset fails (Failure Rate λ). Maximized by eliminating root cause defects.</a:t>
            </a:r>
            <a:endParaRPr lang="en-US" sz="1250" dirty="0"/>
          </a:p>
        </p:txBody>
      </p:sp>
      <p:sp>
        <p:nvSpPr>
          <p:cNvPr id="33" name="Shape 29"/>
          <p:cNvSpPr/>
          <p:nvPr/>
        </p:nvSpPr>
        <p:spPr>
          <a:xfrm>
            <a:off x="6208776" y="4846320"/>
            <a:ext cx="5431536" cy="1371600"/>
          </a:xfrm>
          <a:prstGeom prst="rect">
            <a:avLst/>
          </a:prstGeom>
          <a:solidFill>
            <a:srgbClr val="EDE2C4"/>
          </a:solidFill>
          <a:ln w="12700">
            <a:solidFill>
              <a:srgbClr val="9A6A12"/>
            </a:solidFill>
            <a:prstDash val="solid"/>
          </a:ln>
        </p:spPr>
        <p:txBody>
          <a:bodyPr/>
          <a:lstStyle/>
          <a:p>
            <a:endParaRPr lang="en-IN"/>
          </a:p>
        </p:txBody>
      </p:sp>
      <p:sp>
        <p:nvSpPr>
          <p:cNvPr id="34" name="Text 30"/>
          <p:cNvSpPr txBox="1"/>
          <p:nvPr/>
        </p:nvSpPr>
        <p:spPr>
          <a:xfrm>
            <a:off x="6437376" y="5010912"/>
            <a:ext cx="4937760" cy="310896"/>
          </a:xfrm>
          <a:prstGeom prst="rect">
            <a:avLst/>
          </a:prstGeom>
          <a:noFill/>
          <a:ln/>
        </p:spPr>
        <p:txBody>
          <a:bodyPr wrap="square" lIns="0" tIns="0" rIns="0" bIns="0" rtlCol="0" anchor="t"/>
          <a:lstStyle/>
          <a:p>
            <a:pPr marL="0" indent="0">
              <a:buNone/>
            </a:pPr>
            <a:r>
              <a:rPr lang="en-US" sz="1500" b="1" dirty="0">
                <a:solidFill>
                  <a:srgbClr val="9A6A12"/>
                </a:solidFill>
                <a:latin typeface="Cambria" pitchFamily="34" charset="0"/>
                <a:ea typeface="Cambria" pitchFamily="34" charset="-122"/>
                <a:cs typeface="Cambria" pitchFamily="34" charset="-120"/>
              </a:rPr>
              <a:t>Maintainability Dimension</a:t>
            </a:r>
            <a:endParaRPr lang="en-US" sz="1500" dirty="0"/>
          </a:p>
        </p:txBody>
      </p:sp>
      <p:sp>
        <p:nvSpPr>
          <p:cNvPr id="35" name="Text 31"/>
          <p:cNvSpPr txBox="1"/>
          <p:nvPr/>
        </p:nvSpPr>
        <p:spPr>
          <a:xfrm>
            <a:off x="6437376" y="5376672"/>
            <a:ext cx="4983480" cy="7772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Governed by </a:t>
            </a:r>
            <a:r>
              <a:rPr lang="en-US" sz="1250" b="1" dirty="0">
                <a:solidFill>
                  <a:srgbClr val="1C1712"/>
                </a:solidFill>
                <a:latin typeface="Cambria" pitchFamily="34" charset="0"/>
                <a:ea typeface="Cambria" pitchFamily="34" charset="-122"/>
                <a:cs typeface="Cambria" pitchFamily="34" charset="-120"/>
              </a:rPr>
              <a:t>how quickly</a:t>
            </a:r>
            <a:r>
              <a:rPr lang="en-US" sz="1250" dirty="0">
                <a:solidFill>
                  <a:srgbClr val="2C261E"/>
                </a:solidFill>
                <a:latin typeface="Cambria" pitchFamily="34" charset="0"/>
                <a:ea typeface="Cambria" pitchFamily="34" charset="-122"/>
                <a:cs typeface="Cambria" pitchFamily="34" charset="-120"/>
              </a:rPr>
              <a:t> function is restored after a shutdown (Mean Downtime MDT). Maximized by logistics &amp; spare parts.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Reliability ≠ Availability: The Core Distinction</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Probability of survival across time versus proportion of demand time in operable state.</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11</a:t>
            </a:r>
            <a:r>
              <a:rPr sz="900">
                <a:solidFill>
                  <a:srgbClr val="8A8477"/>
                </a:solidFill>
                <a:latin typeface="Courier New"/>
              </a:rPr>
              <a:t> / 80</a:t>
            </a:r>
            <a:endParaRPr lang="en-US" sz="900" dirty="0"/>
          </a:p>
        </p:txBody>
      </p:sp>
      <p:sp>
        <p:nvSpPr>
          <p:cNvPr id="13" name="Shape 10"/>
          <p:cNvSpPr/>
          <p:nvPr/>
        </p:nvSpPr>
        <p:spPr>
          <a:xfrm>
            <a:off x="548640" y="1737360"/>
            <a:ext cx="5431536" cy="3429000"/>
          </a:xfrm>
          <a:prstGeom prst="rect">
            <a:avLst/>
          </a:prstGeom>
          <a:solidFill>
            <a:srgbClr val="DCE6EC"/>
          </a:solidFill>
          <a:ln w="12700">
            <a:solidFill>
              <a:srgbClr val="1A4A6E"/>
            </a:solidFill>
            <a:prstDash val="solid"/>
          </a:ln>
        </p:spPr>
        <p:txBody>
          <a:bodyPr/>
          <a:lstStyle/>
          <a:p>
            <a:endParaRPr lang="en-IN"/>
          </a:p>
        </p:txBody>
      </p:sp>
      <p:sp>
        <p:nvSpPr>
          <p:cNvPr id="14" name="Text 11"/>
          <p:cNvSpPr txBox="1"/>
          <p:nvPr/>
        </p:nvSpPr>
        <p:spPr>
          <a:xfrm>
            <a:off x="777240" y="1901952"/>
            <a:ext cx="2743200" cy="219456"/>
          </a:xfrm>
          <a:prstGeom prst="rect">
            <a:avLst/>
          </a:prstGeom>
          <a:noFill/>
          <a:ln/>
        </p:spPr>
        <p:txBody>
          <a:bodyPr wrap="square" lIns="0" tIns="0" rIns="0" bIns="0" rtlCol="0" anchor="t"/>
          <a:lstStyle/>
          <a:p>
            <a:pPr marL="0" indent="0">
              <a:buNone/>
            </a:pPr>
            <a:r>
              <a:rPr lang="en-US" sz="950" b="1" kern="0" spc="150" dirty="0">
                <a:solidFill>
                  <a:srgbClr val="1A4A6E"/>
                </a:solidFill>
                <a:latin typeface="Courier New" pitchFamily="34" charset="0"/>
                <a:ea typeface="Courier New" pitchFamily="34" charset="-122"/>
                <a:cs typeface="Courier New" pitchFamily="34" charset="-120"/>
              </a:rPr>
              <a:t>RELIABILITY</a:t>
            </a:r>
            <a:endParaRPr lang="en-US" sz="950" dirty="0"/>
          </a:p>
        </p:txBody>
      </p:sp>
      <p:sp>
        <p:nvSpPr>
          <p:cNvPr id="15" name="Text 12"/>
          <p:cNvSpPr txBox="1"/>
          <p:nvPr/>
        </p:nvSpPr>
        <p:spPr>
          <a:xfrm>
            <a:off x="777240" y="2139696"/>
            <a:ext cx="4937760" cy="310896"/>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A Time-Decaying Probability</a:t>
            </a:r>
            <a:endParaRPr lang="en-US" sz="1600" dirty="0"/>
          </a:p>
        </p:txBody>
      </p:sp>
      <p:sp>
        <p:nvSpPr>
          <p:cNvPr id="16" name="Text 13"/>
          <p:cNvSpPr txBox="1"/>
          <p:nvPr/>
        </p:nvSpPr>
        <p:spPr>
          <a:xfrm>
            <a:off x="777240" y="2542032"/>
            <a:ext cx="4983480" cy="86868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Reliability R(t)</a:t>
            </a:r>
            <a:r>
              <a:rPr lang="en-US" sz="1250" dirty="0">
                <a:solidFill>
                  <a:srgbClr val="2C261E"/>
                </a:solidFill>
                <a:latin typeface="Cambria" pitchFamily="34" charset="0"/>
                <a:ea typeface="Cambria" pitchFamily="34" charset="-122"/>
                <a:cs typeface="Cambria" pitchFamily="34" charset="-120"/>
              </a:rPr>
              <a:t> is the mathematical probability (bounded between 0% and 100%) that an asset will operate </a:t>
            </a:r>
            <a:r>
              <a:rPr lang="en-US" sz="1250" b="1" dirty="0">
                <a:solidFill>
                  <a:srgbClr val="1C1712"/>
                </a:solidFill>
                <a:latin typeface="Cambria" pitchFamily="34" charset="0"/>
                <a:ea typeface="Cambria" pitchFamily="34" charset="-122"/>
                <a:cs typeface="Cambria" pitchFamily="34" charset="-120"/>
              </a:rPr>
              <a:t>without experiencing failure</a:t>
            </a:r>
            <a:r>
              <a:rPr lang="en-US" sz="1250" dirty="0">
                <a:solidFill>
                  <a:srgbClr val="2C261E"/>
                </a:solidFill>
                <a:latin typeface="Cambria" pitchFamily="34" charset="0"/>
                <a:ea typeface="Cambria" pitchFamily="34" charset="-122"/>
                <a:cs typeface="Cambria" pitchFamily="34" charset="-120"/>
              </a:rPr>
              <a:t> across a specified mission duration t.</a:t>
            </a:r>
            <a:endParaRPr lang="en-US" sz="1250" dirty="0"/>
          </a:p>
        </p:txBody>
      </p:sp>
      <p:sp>
        <p:nvSpPr>
          <p:cNvPr id="17" name="Shape 14"/>
          <p:cNvSpPr/>
          <p:nvPr/>
        </p:nvSpPr>
        <p:spPr>
          <a:xfrm>
            <a:off x="777240" y="3474720"/>
            <a:ext cx="4983480" cy="731520"/>
          </a:xfrm>
          <a:prstGeom prst="rect">
            <a:avLst/>
          </a:prstGeom>
          <a:solidFill>
            <a:srgbClr val="EADDC0"/>
          </a:solidFill>
          <a:ln w="12700">
            <a:solidFill>
              <a:srgbClr val="C9B48F"/>
            </a:solidFill>
            <a:prstDash val="solid"/>
          </a:ln>
        </p:spPr>
        <p:txBody>
          <a:bodyPr/>
          <a:lstStyle/>
          <a:p>
            <a:endParaRPr lang="en-IN"/>
          </a:p>
        </p:txBody>
      </p:sp>
      <p:pic>
        <p:nvPicPr>
          <p:cNvPr id="18" name="Image 1" descr="Formula"/>
          <p:cNvPicPr>
            <a:picLocks noChangeAspect="1"/>
          </p:cNvPicPr>
          <p:nvPr/>
        </p:nvPicPr>
        <p:blipFill>
          <a:blip r:embed="rId4"/>
          <a:stretch>
            <a:fillRect/>
          </a:stretch>
        </p:blipFill>
        <p:spPr>
          <a:xfrm>
            <a:off x="868680" y="3631018"/>
            <a:ext cx="4800600" cy="418925"/>
          </a:xfrm>
          <a:prstGeom prst="rect">
            <a:avLst/>
          </a:prstGeom>
        </p:spPr>
      </p:pic>
      <p:sp>
        <p:nvSpPr>
          <p:cNvPr id="19" name="Text 15"/>
          <p:cNvSpPr txBox="1"/>
          <p:nvPr/>
        </p:nvSpPr>
        <p:spPr>
          <a:xfrm>
            <a:off x="777240" y="4343400"/>
            <a:ext cx="4983480" cy="731520"/>
          </a:xfrm>
          <a:prstGeom prst="rect">
            <a:avLst/>
          </a:prstGeom>
          <a:noFill/>
          <a:ln/>
        </p:spPr>
        <p:txBody>
          <a:bodyPr wrap="square" lIns="0" tIns="0" rIns="0" bIns="0" rtlCol="0" anchor="t"/>
          <a:lstStyle/>
          <a:p>
            <a:pPr marL="0" indent="0">
              <a:buNone/>
            </a:pPr>
            <a:r>
              <a:rPr lang="en-US" sz="1200" i="1" dirty="0">
                <a:solidFill>
                  <a:srgbClr val="5A5347"/>
                </a:solidFill>
                <a:latin typeface="Cambria" pitchFamily="34" charset="0"/>
                <a:ea typeface="Cambria" pitchFamily="34" charset="-122"/>
                <a:cs typeface="Cambria" pitchFamily="34" charset="-120"/>
              </a:rPr>
              <a:t>Reliability continuously decays over time as operating hours accumulate and components suffer irreversible physical damage.</a:t>
            </a:r>
            <a:endParaRPr lang="en-US" sz="1200" dirty="0"/>
          </a:p>
        </p:txBody>
      </p:sp>
      <p:sp>
        <p:nvSpPr>
          <p:cNvPr id="20" name="Shape 16"/>
          <p:cNvSpPr/>
          <p:nvPr/>
        </p:nvSpPr>
        <p:spPr>
          <a:xfrm>
            <a:off x="6208776" y="1737360"/>
            <a:ext cx="5431536" cy="3429000"/>
          </a:xfrm>
          <a:prstGeom prst="rect">
            <a:avLst/>
          </a:prstGeom>
          <a:solidFill>
            <a:srgbClr val="DDE7D6"/>
          </a:solidFill>
          <a:ln w="12700">
            <a:solidFill>
              <a:srgbClr val="2F6B3A"/>
            </a:solidFill>
            <a:prstDash val="solid"/>
          </a:ln>
        </p:spPr>
        <p:txBody>
          <a:bodyPr/>
          <a:lstStyle/>
          <a:p>
            <a:endParaRPr lang="en-IN"/>
          </a:p>
        </p:txBody>
      </p:sp>
      <p:sp>
        <p:nvSpPr>
          <p:cNvPr id="21" name="Text 17"/>
          <p:cNvSpPr txBox="1"/>
          <p:nvPr/>
        </p:nvSpPr>
        <p:spPr>
          <a:xfrm>
            <a:off x="6437376" y="1901952"/>
            <a:ext cx="2743200" cy="219456"/>
          </a:xfrm>
          <a:prstGeom prst="rect">
            <a:avLst/>
          </a:prstGeom>
          <a:noFill/>
          <a:ln/>
        </p:spPr>
        <p:txBody>
          <a:bodyPr wrap="square" lIns="0" tIns="0" rIns="0" bIns="0" rtlCol="0" anchor="t"/>
          <a:lstStyle/>
          <a:p>
            <a:pPr marL="0" indent="0">
              <a:buNone/>
            </a:pPr>
            <a:r>
              <a:rPr lang="en-US" sz="950" b="1" kern="0" spc="150" dirty="0">
                <a:solidFill>
                  <a:srgbClr val="2F6B3A"/>
                </a:solidFill>
                <a:latin typeface="Courier New" pitchFamily="34" charset="0"/>
                <a:ea typeface="Courier New" pitchFamily="34" charset="-122"/>
                <a:cs typeface="Courier New" pitchFamily="34" charset="-120"/>
              </a:rPr>
              <a:t>AVAILABILITY</a:t>
            </a:r>
            <a:endParaRPr lang="en-US" sz="950" dirty="0"/>
          </a:p>
        </p:txBody>
      </p:sp>
      <p:sp>
        <p:nvSpPr>
          <p:cNvPr id="22" name="Text 18"/>
          <p:cNvSpPr txBox="1"/>
          <p:nvPr/>
        </p:nvSpPr>
        <p:spPr>
          <a:xfrm>
            <a:off x="6437376" y="2139696"/>
            <a:ext cx="4937760" cy="310896"/>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An Operational Time Ratio</a:t>
            </a:r>
            <a:endParaRPr lang="en-US" sz="1600" dirty="0"/>
          </a:p>
        </p:txBody>
      </p:sp>
      <p:sp>
        <p:nvSpPr>
          <p:cNvPr id="23" name="Text 19"/>
          <p:cNvSpPr txBox="1"/>
          <p:nvPr/>
        </p:nvSpPr>
        <p:spPr>
          <a:xfrm>
            <a:off x="6437376" y="2542032"/>
            <a:ext cx="4983480" cy="59436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Availability A</a:t>
            </a:r>
            <a:r>
              <a:rPr lang="en-US" sz="1250" dirty="0">
                <a:solidFill>
                  <a:srgbClr val="2C261E"/>
                </a:solidFill>
                <a:latin typeface="Cambria" pitchFamily="34" charset="0"/>
                <a:ea typeface="Cambria" pitchFamily="34" charset="-122"/>
                <a:cs typeface="Cambria" pitchFamily="34" charset="-120"/>
              </a:rPr>
              <a:t> is the percentage of demand time the equipment is in an operable state, accounting for outage recovery.</a:t>
            </a:r>
            <a:endParaRPr lang="en-US" sz="1250" dirty="0"/>
          </a:p>
        </p:txBody>
      </p:sp>
      <p:sp>
        <p:nvSpPr>
          <p:cNvPr id="24" name="Text 20"/>
          <p:cNvSpPr txBox="1"/>
          <p:nvPr/>
        </p:nvSpPr>
        <p:spPr>
          <a:xfrm>
            <a:off x="6437376" y="3200400"/>
            <a:ext cx="4983480" cy="1920240"/>
          </a:xfrm>
          <a:prstGeom prst="rect">
            <a:avLst/>
          </a:prstGeom>
          <a:noFill/>
          <a:ln/>
        </p:spPr>
        <p:txBody>
          <a:bodyPr wrap="square" lIns="0" tIns="0" rIns="0" bIns="0" rtlCol="0" anchor="t"/>
          <a:lstStyle/>
          <a:p>
            <a:pPr marL="190500" indent="-190500">
              <a:spcAft>
                <a:spcPts val="800"/>
              </a:spcAft>
              <a:buSzPct val="100000"/>
              <a:buChar char="▪"/>
            </a:pPr>
            <a:r>
              <a:rPr lang="en-US" sz="1250" dirty="0">
                <a:solidFill>
                  <a:srgbClr val="2C261E"/>
                </a:solidFill>
                <a:latin typeface="Cambria" pitchFamily="34" charset="0"/>
                <a:ea typeface="Cambria" pitchFamily="34" charset="-122"/>
                <a:cs typeface="Cambria" pitchFamily="34" charset="-120"/>
              </a:rPr>
              <a:t>An asset can exhibit </a:t>
            </a:r>
            <a:r>
              <a:rPr lang="en-US" sz="1250" b="1" dirty="0">
                <a:solidFill>
                  <a:srgbClr val="1C1712"/>
                </a:solidFill>
                <a:latin typeface="Cambria" pitchFamily="34" charset="0"/>
                <a:ea typeface="Cambria" pitchFamily="34" charset="-122"/>
                <a:cs typeface="Cambria" pitchFamily="34" charset="-120"/>
              </a:rPr>
              <a:t>low reliability</a:t>
            </a:r>
            <a:r>
              <a:rPr lang="en-US" sz="1250" dirty="0">
                <a:solidFill>
                  <a:srgbClr val="2C261E"/>
                </a:solidFill>
                <a:latin typeface="Cambria" pitchFamily="34" charset="0"/>
                <a:ea typeface="Cambria" pitchFamily="34" charset="-122"/>
                <a:cs typeface="Cambria" pitchFamily="34" charset="-120"/>
              </a:rPr>
              <a:t> (e.g. trips every two weeks) yet achieve </a:t>
            </a:r>
            <a:r>
              <a:rPr lang="en-US" sz="1250" b="1" dirty="0">
                <a:solidFill>
                  <a:srgbClr val="1C1712"/>
                </a:solidFill>
                <a:latin typeface="Cambria" pitchFamily="34" charset="0"/>
                <a:ea typeface="Cambria" pitchFamily="34" charset="-122"/>
                <a:cs typeface="Cambria" pitchFamily="34" charset="-120"/>
              </a:rPr>
              <a:t>high availability</a:t>
            </a:r>
            <a:r>
              <a:rPr lang="en-US" sz="1250" dirty="0">
                <a:solidFill>
                  <a:srgbClr val="2C261E"/>
                </a:solidFill>
                <a:latin typeface="Cambria" pitchFamily="34" charset="0"/>
                <a:ea typeface="Cambria" pitchFamily="34" charset="-122"/>
                <a:cs typeface="Cambria" pitchFamily="34" charset="-120"/>
              </a:rPr>
              <a:t> if the crew restores it within 5 minutes.</a:t>
            </a:r>
            <a:endParaRPr lang="en-US" sz="1250" dirty="0"/>
          </a:p>
          <a:p>
            <a:pPr marL="190500" indent="-190500">
              <a:spcAft>
                <a:spcPts val="800"/>
              </a:spcAft>
              <a:buSzPct val="100000"/>
              <a:buChar char="▪"/>
            </a:pPr>
            <a:r>
              <a:rPr lang="en-US" sz="1250" dirty="0">
                <a:solidFill>
                  <a:srgbClr val="2C261E"/>
                </a:solidFill>
                <a:latin typeface="Cambria" pitchFamily="34" charset="0"/>
                <a:ea typeface="Cambria" pitchFamily="34" charset="-122"/>
                <a:cs typeface="Cambria" pitchFamily="34" charset="-120"/>
              </a:rPr>
              <a:t>Conversely, an asset can exhibit </a:t>
            </a:r>
            <a:r>
              <a:rPr lang="en-US" sz="1250" b="1" dirty="0">
                <a:solidFill>
                  <a:srgbClr val="1C1712"/>
                </a:solidFill>
                <a:latin typeface="Cambria" pitchFamily="34" charset="0"/>
                <a:ea typeface="Cambria" pitchFamily="34" charset="-122"/>
                <a:cs typeface="Cambria" pitchFamily="34" charset="-120"/>
              </a:rPr>
              <a:t>high reliability</a:t>
            </a:r>
            <a:r>
              <a:rPr lang="en-US" sz="1250" dirty="0">
                <a:solidFill>
                  <a:srgbClr val="2C261E"/>
                </a:solidFill>
                <a:latin typeface="Cambria" pitchFamily="34" charset="0"/>
                <a:ea typeface="Cambria" pitchFamily="34" charset="-122"/>
                <a:cs typeface="Cambria" pitchFamily="34" charset="-120"/>
              </a:rPr>
              <a:t> (runs continuously for 5 years without a single trip) yet suffer </a:t>
            </a:r>
            <a:r>
              <a:rPr lang="en-US" sz="1250" b="1" dirty="0">
                <a:solidFill>
                  <a:srgbClr val="1C1712"/>
                </a:solidFill>
                <a:latin typeface="Cambria" pitchFamily="34" charset="0"/>
                <a:ea typeface="Cambria" pitchFamily="34" charset="-122"/>
                <a:cs typeface="Cambria" pitchFamily="34" charset="-120"/>
              </a:rPr>
              <a:t>poor availability</a:t>
            </a:r>
            <a:r>
              <a:rPr lang="en-US" sz="1250" dirty="0">
                <a:solidFill>
                  <a:srgbClr val="2C261E"/>
                </a:solidFill>
                <a:latin typeface="Cambria" pitchFamily="34" charset="0"/>
                <a:ea typeface="Cambria" pitchFamily="34" charset="-122"/>
                <a:cs typeface="Cambria" pitchFamily="34" charset="-120"/>
              </a:rPr>
              <a:t> if repairing a subsequent failure takes 6 months of downtime.</a:t>
            </a:r>
            <a:endParaRPr lang="en-US" sz="1250" dirty="0"/>
          </a:p>
        </p:txBody>
      </p:sp>
      <p:sp>
        <p:nvSpPr>
          <p:cNvPr id="25" name="Shape 21"/>
          <p:cNvSpPr/>
          <p:nvPr/>
        </p:nvSpPr>
        <p:spPr>
          <a:xfrm>
            <a:off x="548640" y="5349240"/>
            <a:ext cx="11091672" cy="868680"/>
          </a:xfrm>
          <a:prstGeom prst="rect">
            <a:avLst/>
          </a:prstGeom>
          <a:solidFill>
            <a:srgbClr val="EFDCCF"/>
          </a:solidFill>
          <a:ln w="12700">
            <a:solidFill>
              <a:srgbClr val="C9B48F"/>
            </a:solidFill>
            <a:prstDash val="solid"/>
          </a:ln>
        </p:spPr>
        <p:txBody>
          <a:bodyPr/>
          <a:lstStyle/>
          <a:p>
            <a:endParaRPr lang="en-IN"/>
          </a:p>
        </p:txBody>
      </p:sp>
      <p:sp>
        <p:nvSpPr>
          <p:cNvPr id="26" name="Shape 22"/>
          <p:cNvSpPr/>
          <p:nvPr/>
        </p:nvSpPr>
        <p:spPr>
          <a:xfrm>
            <a:off x="749808" y="5522976"/>
            <a:ext cx="512064" cy="512064"/>
          </a:xfrm>
          <a:prstGeom prst="ellipse">
            <a:avLst/>
          </a:prstGeom>
          <a:solidFill>
            <a:srgbClr val="EFDCCF"/>
          </a:solidFill>
          <a:ln w="15875">
            <a:solidFill>
              <a:srgbClr val="7A1F1A"/>
            </a:solidFill>
            <a:prstDash val="solid"/>
          </a:ln>
        </p:spPr>
        <p:txBody>
          <a:bodyPr/>
          <a:lstStyle/>
          <a:p>
            <a:endParaRPr lang="en-IN"/>
          </a:p>
        </p:txBody>
      </p:sp>
      <p:pic>
        <p:nvPicPr>
          <p:cNvPr id="27" name="Image 2" descr="preencoded.png"/>
          <p:cNvPicPr>
            <a:picLocks noChangeAspect="1"/>
          </p:cNvPicPr>
          <p:nvPr/>
        </p:nvPicPr>
        <p:blipFill>
          <a:blip r:embed="rId5"/>
          <a:stretch>
            <a:fillRect/>
          </a:stretch>
        </p:blipFill>
        <p:spPr>
          <a:xfrm>
            <a:off x="877824" y="5650992"/>
            <a:ext cx="256032" cy="256032"/>
          </a:xfrm>
          <a:prstGeom prst="rect">
            <a:avLst/>
          </a:prstGeom>
        </p:spPr>
      </p:pic>
      <p:sp>
        <p:nvSpPr>
          <p:cNvPr id="28" name="Text 23"/>
          <p:cNvSpPr txBox="1"/>
          <p:nvPr/>
        </p:nvSpPr>
        <p:spPr>
          <a:xfrm>
            <a:off x="1463040" y="5349240"/>
            <a:ext cx="9966960" cy="868680"/>
          </a:xfrm>
          <a:prstGeom prst="rect">
            <a:avLst/>
          </a:prstGeom>
          <a:noFill/>
          <a:ln/>
        </p:spPr>
        <p:txBody>
          <a:bodyPr wrap="square" lIns="0" tIns="0" rIns="0" bIns="0" rtlCol="0" anchor="ctr"/>
          <a:lstStyle/>
          <a:p>
            <a:pPr marL="0" indent="0">
              <a:buNone/>
            </a:pPr>
            <a:r>
              <a:rPr lang="en-US" sz="1400" b="1" dirty="0">
                <a:solidFill>
                  <a:srgbClr val="7A1F1A"/>
                </a:solidFill>
                <a:latin typeface="Cambria" pitchFamily="34" charset="0"/>
                <a:ea typeface="Cambria" pitchFamily="34" charset="-122"/>
                <a:cs typeface="Cambria" pitchFamily="34" charset="-120"/>
              </a:rPr>
              <a:t>QRO Engineering Principle:</a:t>
            </a:r>
            <a:r>
              <a:rPr lang="en-US" sz="1400" dirty="0">
                <a:solidFill>
                  <a:srgbClr val="2C261E"/>
                </a:solidFill>
                <a:latin typeface="Cambria" pitchFamily="34" charset="0"/>
                <a:ea typeface="Cambria" pitchFamily="34" charset="-122"/>
                <a:cs typeface="Cambria" pitchFamily="34" charset="-120"/>
              </a:rPr>
              <a:t> Maximizing facility profit requires balancing both dimensions simultaneously rather than optimizing one blindly.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Maintainability: Anatomy of Downtime Events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Classifying downtime categories and analyzing governing operational factors.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12</a:t>
            </a:r>
            <a:r>
              <a:rPr sz="900">
                <a:solidFill>
                  <a:srgbClr val="8A8477"/>
                </a:solidFill>
                <a:latin typeface="Courier New"/>
              </a:rPr>
              <a:t> / 80</a:t>
            </a:r>
            <a:endParaRPr lang="en-US" sz="900" dirty="0"/>
          </a:p>
        </p:txBody>
      </p:sp>
      <p:sp>
        <p:nvSpPr>
          <p:cNvPr id="13" name="Shape 10"/>
          <p:cNvSpPr/>
          <p:nvPr/>
        </p:nvSpPr>
        <p:spPr>
          <a:xfrm>
            <a:off x="548640" y="1737360"/>
            <a:ext cx="11091672" cy="822960"/>
          </a:xfrm>
          <a:prstGeom prst="rect">
            <a:avLst/>
          </a:prstGeom>
          <a:solidFill>
            <a:srgbClr val="EFDCCF"/>
          </a:solidFill>
          <a:ln w="12700">
            <a:solidFill>
              <a:srgbClr val="C9B48F"/>
            </a:solidFill>
            <a:prstDash val="solid"/>
          </a:ln>
        </p:spPr>
        <p:txBody>
          <a:bodyPr/>
          <a:lstStyle/>
          <a:p>
            <a:endParaRPr lang="en-IN"/>
          </a:p>
        </p:txBody>
      </p:sp>
      <p:sp>
        <p:nvSpPr>
          <p:cNvPr id="14" name="Text 11"/>
          <p:cNvSpPr txBox="1"/>
          <p:nvPr/>
        </p:nvSpPr>
        <p:spPr>
          <a:xfrm>
            <a:off x="777240" y="1737360"/>
            <a:ext cx="10698480" cy="822960"/>
          </a:xfrm>
          <a:prstGeom prst="rect">
            <a:avLst/>
          </a:prstGeom>
          <a:noFill/>
          <a:ln/>
        </p:spPr>
        <p:txBody>
          <a:bodyPr wrap="square" lIns="0" tIns="0" rIns="0" bIns="0" rtlCol="0" anchor="ctr"/>
          <a:lstStyle/>
          <a:p>
            <a:pPr marL="0" indent="0">
              <a:buNone/>
            </a:pPr>
            <a:r>
              <a:rPr lang="en-US" sz="1300" b="1" dirty="0">
                <a:solidFill>
                  <a:srgbClr val="7A1F1A"/>
                </a:solidFill>
                <a:latin typeface="Cambria" pitchFamily="34" charset="0"/>
                <a:ea typeface="Cambria" pitchFamily="34" charset="-122"/>
                <a:cs typeface="Cambria" pitchFamily="34" charset="-120"/>
              </a:rPr>
              <a:t>Maintainability:</a:t>
            </a:r>
            <a:r>
              <a:rPr lang="en-US" sz="1300" dirty="0">
                <a:solidFill>
                  <a:srgbClr val="2C261E"/>
                </a:solidFill>
                <a:latin typeface="Cambria" pitchFamily="34" charset="0"/>
                <a:ea typeface="Cambria" pitchFamily="34" charset="-122"/>
                <a:cs typeface="Cambria" pitchFamily="34" charset="-120"/>
              </a:rPr>
              <a:t> The time required to restore the condition of the asset so it can perform its intended functions. It represents the cumulative downtime attributed to an event or series of events.</a:t>
            </a:r>
            <a:endParaRPr lang="en-US" sz="1300" dirty="0"/>
          </a:p>
        </p:txBody>
      </p:sp>
      <p:sp>
        <p:nvSpPr>
          <p:cNvPr id="15" name="Shape 12"/>
          <p:cNvSpPr/>
          <p:nvPr/>
        </p:nvSpPr>
        <p:spPr>
          <a:xfrm>
            <a:off x="548640" y="2743200"/>
            <a:ext cx="5431536" cy="3474720"/>
          </a:xfrm>
          <a:prstGeom prst="rect">
            <a:avLst/>
          </a:prstGeom>
          <a:solidFill>
            <a:srgbClr val="FBF4E4"/>
          </a:solidFill>
          <a:ln w="12700">
            <a:solidFill>
              <a:srgbClr val="C9B48F"/>
            </a:solidFill>
            <a:prstDash val="solid"/>
          </a:ln>
        </p:spPr>
        <p:txBody>
          <a:bodyPr/>
          <a:lstStyle/>
          <a:p>
            <a:endParaRPr lang="en-IN"/>
          </a:p>
        </p:txBody>
      </p:sp>
      <p:sp>
        <p:nvSpPr>
          <p:cNvPr id="16" name="Text 13"/>
          <p:cNvSpPr txBox="1"/>
          <p:nvPr/>
        </p:nvSpPr>
        <p:spPr>
          <a:xfrm>
            <a:off x="777240" y="290779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DOWNTIME EVENT CLASSIFICATIONS</a:t>
            </a:r>
            <a:endParaRPr lang="en-US" sz="950" dirty="0"/>
          </a:p>
        </p:txBody>
      </p:sp>
      <p:sp>
        <p:nvSpPr>
          <p:cNvPr id="17" name="Shape 14"/>
          <p:cNvSpPr/>
          <p:nvPr/>
        </p:nvSpPr>
        <p:spPr>
          <a:xfrm>
            <a:off x="777240" y="3273552"/>
            <a:ext cx="347472" cy="347472"/>
          </a:xfrm>
          <a:prstGeom prst="ellipse">
            <a:avLst/>
          </a:prstGeom>
          <a:solidFill>
            <a:srgbClr val="EFDCCF"/>
          </a:solidFill>
          <a:ln w="15875">
            <a:solidFill>
              <a:srgbClr val="7A1F1A"/>
            </a:solidFill>
            <a:prstDash val="solid"/>
          </a:ln>
        </p:spPr>
        <p:txBody>
          <a:bodyPr/>
          <a:lstStyle/>
          <a:p>
            <a:endParaRPr lang="en-IN"/>
          </a:p>
        </p:txBody>
      </p:sp>
      <p:sp>
        <p:nvSpPr>
          <p:cNvPr id="18" name="Text 15"/>
          <p:cNvSpPr txBox="1"/>
          <p:nvPr/>
        </p:nvSpPr>
        <p:spPr>
          <a:xfrm>
            <a:off x="777240" y="3273552"/>
            <a:ext cx="347472" cy="347472"/>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19" name="Text 16"/>
          <p:cNvSpPr txBox="1"/>
          <p:nvPr/>
        </p:nvSpPr>
        <p:spPr>
          <a:xfrm>
            <a:off x="1261872" y="3246120"/>
            <a:ext cx="4526280" cy="68580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Planned Corrective Maintenance:</a:t>
            </a:r>
            <a:r>
              <a:rPr lang="en-US" sz="1250" dirty="0">
                <a:solidFill>
                  <a:srgbClr val="2C261E"/>
                </a:solidFill>
                <a:latin typeface="Cambria" pitchFamily="34" charset="0"/>
                <a:ea typeface="Cambria" pitchFamily="34" charset="-122"/>
                <a:cs typeface="Cambria" pitchFamily="34" charset="-120"/>
              </a:rPr>
              <a:t> Addressed during a scheduled window before failure occurs.</a:t>
            </a:r>
            <a:endParaRPr lang="en-US" sz="1250" dirty="0"/>
          </a:p>
        </p:txBody>
      </p:sp>
      <p:sp>
        <p:nvSpPr>
          <p:cNvPr id="20" name="Shape 17"/>
          <p:cNvSpPr/>
          <p:nvPr/>
        </p:nvSpPr>
        <p:spPr>
          <a:xfrm>
            <a:off x="777240" y="4005072"/>
            <a:ext cx="347472" cy="347472"/>
          </a:xfrm>
          <a:prstGeom prst="ellipse">
            <a:avLst/>
          </a:prstGeom>
          <a:solidFill>
            <a:srgbClr val="EFDCCF"/>
          </a:solidFill>
          <a:ln w="15875">
            <a:solidFill>
              <a:srgbClr val="7A1F1A"/>
            </a:solidFill>
            <a:prstDash val="solid"/>
          </a:ln>
        </p:spPr>
        <p:txBody>
          <a:bodyPr/>
          <a:lstStyle/>
          <a:p>
            <a:endParaRPr lang="en-IN"/>
          </a:p>
        </p:txBody>
      </p:sp>
      <p:sp>
        <p:nvSpPr>
          <p:cNvPr id="21" name="Text 18"/>
          <p:cNvSpPr txBox="1"/>
          <p:nvPr/>
        </p:nvSpPr>
        <p:spPr>
          <a:xfrm>
            <a:off x="777240" y="4005072"/>
            <a:ext cx="347472" cy="347472"/>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2" name="Text 19"/>
          <p:cNvSpPr txBox="1"/>
          <p:nvPr/>
        </p:nvSpPr>
        <p:spPr>
          <a:xfrm>
            <a:off x="1261872" y="3977640"/>
            <a:ext cx="4526280" cy="68580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Unplanned Corrective Maintenance:</a:t>
            </a:r>
            <a:r>
              <a:rPr lang="en-US" sz="1250" dirty="0">
                <a:solidFill>
                  <a:srgbClr val="2C261E"/>
                </a:solidFill>
                <a:latin typeface="Cambria" pitchFamily="34" charset="0"/>
                <a:ea typeface="Cambria" pitchFamily="34" charset="-122"/>
                <a:cs typeface="Cambria" pitchFamily="34" charset="-120"/>
              </a:rPr>
              <a:t> Emergency trip or loss-of-containment requiring immediate shutdown.</a:t>
            </a:r>
            <a:endParaRPr lang="en-US" sz="1250" dirty="0"/>
          </a:p>
        </p:txBody>
      </p:sp>
      <p:sp>
        <p:nvSpPr>
          <p:cNvPr id="23" name="Shape 20"/>
          <p:cNvSpPr/>
          <p:nvPr/>
        </p:nvSpPr>
        <p:spPr>
          <a:xfrm>
            <a:off x="777240" y="4736592"/>
            <a:ext cx="347472" cy="347472"/>
          </a:xfrm>
          <a:prstGeom prst="ellipse">
            <a:avLst/>
          </a:prstGeom>
          <a:solidFill>
            <a:srgbClr val="EFDCCF"/>
          </a:solidFill>
          <a:ln w="15875">
            <a:solidFill>
              <a:srgbClr val="7A1F1A"/>
            </a:solidFill>
            <a:prstDash val="solid"/>
          </a:ln>
        </p:spPr>
        <p:txBody>
          <a:bodyPr/>
          <a:lstStyle/>
          <a:p>
            <a:endParaRPr lang="en-IN"/>
          </a:p>
        </p:txBody>
      </p:sp>
      <p:sp>
        <p:nvSpPr>
          <p:cNvPr id="24" name="Text 21"/>
          <p:cNvSpPr txBox="1"/>
          <p:nvPr/>
        </p:nvSpPr>
        <p:spPr>
          <a:xfrm>
            <a:off x="777240" y="4736592"/>
            <a:ext cx="347472" cy="347472"/>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25" name="Text 22"/>
          <p:cNvSpPr txBox="1"/>
          <p:nvPr/>
        </p:nvSpPr>
        <p:spPr>
          <a:xfrm>
            <a:off x="1261872" y="4709160"/>
            <a:ext cx="4526280" cy="68580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Preventive Maintenance (PM):</a:t>
            </a:r>
            <a:r>
              <a:rPr lang="en-US" sz="1250" dirty="0">
                <a:solidFill>
                  <a:srgbClr val="2C261E"/>
                </a:solidFill>
                <a:latin typeface="Cambria" pitchFamily="34" charset="0"/>
                <a:ea typeface="Cambria" pitchFamily="34" charset="-122"/>
                <a:cs typeface="Cambria" pitchFamily="34" charset="-120"/>
              </a:rPr>
              <a:t> Routine servicing, filter changes, and lubrication.</a:t>
            </a:r>
            <a:endParaRPr lang="en-US" sz="1250" dirty="0"/>
          </a:p>
        </p:txBody>
      </p:sp>
      <p:sp>
        <p:nvSpPr>
          <p:cNvPr id="26" name="Shape 23"/>
          <p:cNvSpPr/>
          <p:nvPr/>
        </p:nvSpPr>
        <p:spPr>
          <a:xfrm>
            <a:off x="777240" y="5468112"/>
            <a:ext cx="347472" cy="347472"/>
          </a:xfrm>
          <a:prstGeom prst="ellipse">
            <a:avLst/>
          </a:prstGeom>
          <a:solidFill>
            <a:srgbClr val="EFDCCF"/>
          </a:solidFill>
          <a:ln w="15875">
            <a:solidFill>
              <a:srgbClr val="7A1F1A"/>
            </a:solidFill>
            <a:prstDash val="solid"/>
          </a:ln>
        </p:spPr>
        <p:txBody>
          <a:bodyPr/>
          <a:lstStyle/>
          <a:p>
            <a:endParaRPr lang="en-IN"/>
          </a:p>
        </p:txBody>
      </p:sp>
      <p:sp>
        <p:nvSpPr>
          <p:cNvPr id="27" name="Text 24"/>
          <p:cNvSpPr txBox="1"/>
          <p:nvPr/>
        </p:nvSpPr>
        <p:spPr>
          <a:xfrm>
            <a:off x="777240" y="5468112"/>
            <a:ext cx="347472" cy="347472"/>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4</a:t>
            </a:r>
            <a:endParaRPr lang="en-US" sz="1200" dirty="0"/>
          </a:p>
        </p:txBody>
      </p:sp>
      <p:sp>
        <p:nvSpPr>
          <p:cNvPr id="28" name="Text 25"/>
          <p:cNvSpPr txBox="1"/>
          <p:nvPr/>
        </p:nvSpPr>
        <p:spPr>
          <a:xfrm>
            <a:off x="1261872" y="5440680"/>
            <a:ext cx="4526280" cy="68580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Intrusive Inspection:</a:t>
            </a:r>
            <a:r>
              <a:rPr lang="en-US" sz="1250" dirty="0">
                <a:solidFill>
                  <a:srgbClr val="2C261E"/>
                </a:solidFill>
                <a:latin typeface="Cambria" pitchFamily="34" charset="0"/>
                <a:ea typeface="Cambria" pitchFamily="34" charset="-122"/>
                <a:cs typeface="Cambria" pitchFamily="34" charset="-120"/>
              </a:rPr>
              <a:t> Teardowns, vessel internal entry, and hydrostatic testing.</a:t>
            </a:r>
            <a:endParaRPr lang="en-US" sz="1250" dirty="0"/>
          </a:p>
        </p:txBody>
      </p:sp>
      <p:sp>
        <p:nvSpPr>
          <p:cNvPr id="29" name="Shape 26"/>
          <p:cNvSpPr/>
          <p:nvPr/>
        </p:nvSpPr>
        <p:spPr>
          <a:xfrm>
            <a:off x="6208776" y="2743200"/>
            <a:ext cx="5431536" cy="3474720"/>
          </a:xfrm>
          <a:prstGeom prst="rect">
            <a:avLst/>
          </a:prstGeom>
          <a:solidFill>
            <a:srgbClr val="FBF4E4"/>
          </a:solidFill>
          <a:ln w="12700">
            <a:solidFill>
              <a:srgbClr val="C9B48F"/>
            </a:solidFill>
            <a:prstDash val="solid"/>
          </a:ln>
        </p:spPr>
        <p:txBody>
          <a:bodyPr/>
          <a:lstStyle/>
          <a:p>
            <a:endParaRPr lang="en-IN"/>
          </a:p>
        </p:txBody>
      </p:sp>
      <p:sp>
        <p:nvSpPr>
          <p:cNvPr id="30" name="Text 27"/>
          <p:cNvSpPr txBox="1"/>
          <p:nvPr/>
        </p:nvSpPr>
        <p:spPr>
          <a:xfrm>
            <a:off x="6437376" y="290779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GOVERNING DOWNTIME FACTORS</a:t>
            </a:r>
            <a:endParaRPr lang="en-US" sz="950" dirty="0"/>
          </a:p>
        </p:txBody>
      </p:sp>
      <p:sp>
        <p:nvSpPr>
          <p:cNvPr id="31" name="Shape 28"/>
          <p:cNvSpPr/>
          <p:nvPr/>
        </p:nvSpPr>
        <p:spPr>
          <a:xfrm>
            <a:off x="6437376" y="3246120"/>
            <a:ext cx="420624" cy="420624"/>
          </a:xfrm>
          <a:prstGeom prst="ellipse">
            <a:avLst/>
          </a:prstGeom>
          <a:solidFill>
            <a:srgbClr val="EDE2C4"/>
          </a:solidFill>
          <a:ln w="15875">
            <a:solidFill>
              <a:srgbClr val="9A6A12"/>
            </a:solidFill>
            <a:prstDash val="solid"/>
          </a:ln>
        </p:spPr>
        <p:txBody>
          <a:bodyPr/>
          <a:lstStyle/>
          <a:p>
            <a:endParaRPr lang="en-IN"/>
          </a:p>
        </p:txBody>
      </p:sp>
      <p:pic>
        <p:nvPicPr>
          <p:cNvPr id="32" name="Image 1" descr="preencoded.png"/>
          <p:cNvPicPr>
            <a:picLocks noChangeAspect="1"/>
          </p:cNvPicPr>
          <p:nvPr/>
        </p:nvPicPr>
        <p:blipFill>
          <a:blip r:embed="rId4"/>
          <a:stretch>
            <a:fillRect/>
          </a:stretch>
        </p:blipFill>
        <p:spPr>
          <a:xfrm>
            <a:off x="6542532" y="3351276"/>
            <a:ext cx="210312" cy="210312"/>
          </a:xfrm>
          <a:prstGeom prst="rect">
            <a:avLst/>
          </a:prstGeom>
        </p:spPr>
      </p:pic>
      <p:sp>
        <p:nvSpPr>
          <p:cNvPr id="33" name="Text 29"/>
          <p:cNvSpPr txBox="1"/>
          <p:nvPr/>
        </p:nvSpPr>
        <p:spPr>
          <a:xfrm>
            <a:off x="7004304" y="3236976"/>
            <a:ext cx="4480560" cy="68580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Asset Characteristics:</a:t>
            </a:r>
            <a:r>
              <a:rPr lang="en-US" sz="1250" dirty="0">
                <a:solidFill>
                  <a:srgbClr val="2C261E"/>
                </a:solidFill>
                <a:latin typeface="Cambria" pitchFamily="34" charset="0"/>
                <a:ea typeface="Cambria" pitchFamily="34" charset="-122"/>
                <a:cs typeface="Cambria" pitchFamily="34" charset="-120"/>
              </a:rPr>
              <a:t> Isolation valves, drainage, purging, and weight.</a:t>
            </a:r>
            <a:endParaRPr lang="en-US" sz="1250" dirty="0"/>
          </a:p>
        </p:txBody>
      </p:sp>
      <p:sp>
        <p:nvSpPr>
          <p:cNvPr id="34" name="Shape 30"/>
          <p:cNvSpPr/>
          <p:nvPr/>
        </p:nvSpPr>
        <p:spPr>
          <a:xfrm>
            <a:off x="6437376" y="3977640"/>
            <a:ext cx="420624" cy="420624"/>
          </a:xfrm>
          <a:prstGeom prst="ellipse">
            <a:avLst/>
          </a:prstGeom>
          <a:solidFill>
            <a:srgbClr val="EDE2C4"/>
          </a:solidFill>
          <a:ln w="15875">
            <a:solidFill>
              <a:srgbClr val="9A6A12"/>
            </a:solidFill>
            <a:prstDash val="solid"/>
          </a:ln>
        </p:spPr>
        <p:txBody>
          <a:bodyPr/>
          <a:lstStyle/>
          <a:p>
            <a:endParaRPr lang="en-IN"/>
          </a:p>
        </p:txBody>
      </p:sp>
      <p:pic>
        <p:nvPicPr>
          <p:cNvPr id="35" name="Image 2" descr="preencoded.png"/>
          <p:cNvPicPr>
            <a:picLocks noChangeAspect="1"/>
          </p:cNvPicPr>
          <p:nvPr/>
        </p:nvPicPr>
        <p:blipFill>
          <a:blip r:embed="rId5"/>
          <a:stretch>
            <a:fillRect/>
          </a:stretch>
        </p:blipFill>
        <p:spPr>
          <a:xfrm>
            <a:off x="6542532" y="4082796"/>
            <a:ext cx="210312" cy="210312"/>
          </a:xfrm>
          <a:prstGeom prst="rect">
            <a:avLst/>
          </a:prstGeom>
        </p:spPr>
      </p:pic>
      <p:sp>
        <p:nvSpPr>
          <p:cNvPr id="36" name="Text 31"/>
          <p:cNvSpPr txBox="1"/>
          <p:nvPr/>
        </p:nvSpPr>
        <p:spPr>
          <a:xfrm>
            <a:off x="7004304" y="3968496"/>
            <a:ext cx="4480560" cy="68580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Spare Parts Availability:</a:t>
            </a:r>
            <a:r>
              <a:rPr lang="en-US" sz="1250" dirty="0">
                <a:solidFill>
                  <a:srgbClr val="2C261E"/>
                </a:solidFill>
                <a:latin typeface="Cambria" pitchFamily="34" charset="0"/>
                <a:ea typeface="Cambria" pitchFamily="34" charset="-122"/>
                <a:cs typeface="Cambria" pitchFamily="34" charset="-120"/>
              </a:rPr>
              <a:t> Stock on hand vs. long-lead international delivery.</a:t>
            </a:r>
            <a:endParaRPr lang="en-US" sz="1250" dirty="0"/>
          </a:p>
        </p:txBody>
      </p:sp>
      <p:sp>
        <p:nvSpPr>
          <p:cNvPr id="37" name="Shape 32"/>
          <p:cNvSpPr/>
          <p:nvPr/>
        </p:nvSpPr>
        <p:spPr>
          <a:xfrm>
            <a:off x="6437376" y="4709160"/>
            <a:ext cx="420624" cy="420624"/>
          </a:xfrm>
          <a:prstGeom prst="ellipse">
            <a:avLst/>
          </a:prstGeom>
          <a:solidFill>
            <a:srgbClr val="EDE2C4"/>
          </a:solidFill>
          <a:ln w="15875">
            <a:solidFill>
              <a:srgbClr val="9A6A12"/>
            </a:solidFill>
            <a:prstDash val="solid"/>
          </a:ln>
        </p:spPr>
        <p:txBody>
          <a:bodyPr/>
          <a:lstStyle/>
          <a:p>
            <a:endParaRPr lang="en-IN"/>
          </a:p>
        </p:txBody>
      </p:sp>
      <p:pic>
        <p:nvPicPr>
          <p:cNvPr id="38" name="Image 3" descr="preencoded.png"/>
          <p:cNvPicPr>
            <a:picLocks noChangeAspect="1"/>
          </p:cNvPicPr>
          <p:nvPr/>
        </p:nvPicPr>
        <p:blipFill>
          <a:blip r:embed="rId6"/>
          <a:stretch>
            <a:fillRect/>
          </a:stretch>
        </p:blipFill>
        <p:spPr>
          <a:xfrm>
            <a:off x="6542532" y="4814316"/>
            <a:ext cx="210312" cy="210312"/>
          </a:xfrm>
          <a:prstGeom prst="rect">
            <a:avLst/>
          </a:prstGeom>
        </p:spPr>
      </p:pic>
      <p:sp>
        <p:nvSpPr>
          <p:cNvPr id="39" name="Text 33"/>
          <p:cNvSpPr txBox="1"/>
          <p:nvPr/>
        </p:nvSpPr>
        <p:spPr>
          <a:xfrm>
            <a:off x="7004304" y="4700016"/>
            <a:ext cx="4480560" cy="68580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Logistics &amp; Rigging:</a:t>
            </a:r>
            <a:r>
              <a:rPr lang="en-US" sz="1250" dirty="0">
                <a:solidFill>
                  <a:srgbClr val="2C261E"/>
                </a:solidFill>
                <a:latin typeface="Cambria" pitchFamily="34" charset="0"/>
                <a:ea typeface="Cambria" pitchFamily="34" charset="-122"/>
                <a:cs typeface="Cambria" pitchFamily="34" charset="-120"/>
              </a:rPr>
              <a:t> Heavy cranes, scaffolding, specialized rigging, decontamination.</a:t>
            </a:r>
            <a:endParaRPr lang="en-US" sz="1250" dirty="0"/>
          </a:p>
        </p:txBody>
      </p:sp>
      <p:sp>
        <p:nvSpPr>
          <p:cNvPr id="40" name="Shape 34"/>
          <p:cNvSpPr/>
          <p:nvPr/>
        </p:nvSpPr>
        <p:spPr>
          <a:xfrm>
            <a:off x="6437376" y="5440680"/>
            <a:ext cx="420624" cy="420624"/>
          </a:xfrm>
          <a:prstGeom prst="ellipse">
            <a:avLst/>
          </a:prstGeom>
          <a:solidFill>
            <a:srgbClr val="EDE2C4"/>
          </a:solidFill>
          <a:ln w="15875">
            <a:solidFill>
              <a:srgbClr val="9A6A12"/>
            </a:solidFill>
            <a:prstDash val="solid"/>
          </a:ln>
        </p:spPr>
        <p:txBody>
          <a:bodyPr/>
          <a:lstStyle/>
          <a:p>
            <a:endParaRPr lang="en-IN"/>
          </a:p>
        </p:txBody>
      </p:sp>
      <p:pic>
        <p:nvPicPr>
          <p:cNvPr id="41" name="Image 4" descr="preencoded.png"/>
          <p:cNvPicPr>
            <a:picLocks noChangeAspect="1"/>
          </p:cNvPicPr>
          <p:nvPr/>
        </p:nvPicPr>
        <p:blipFill>
          <a:blip r:embed="rId7"/>
          <a:stretch>
            <a:fillRect/>
          </a:stretch>
        </p:blipFill>
        <p:spPr>
          <a:xfrm>
            <a:off x="6542532" y="5545836"/>
            <a:ext cx="210312" cy="210312"/>
          </a:xfrm>
          <a:prstGeom prst="rect">
            <a:avLst/>
          </a:prstGeom>
        </p:spPr>
      </p:pic>
      <p:sp>
        <p:nvSpPr>
          <p:cNvPr id="42" name="Text 35"/>
          <p:cNvSpPr txBox="1"/>
          <p:nvPr/>
        </p:nvSpPr>
        <p:spPr>
          <a:xfrm>
            <a:off x="7004304" y="5431536"/>
            <a:ext cx="4480560" cy="68580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Crew Availability:</a:t>
            </a:r>
            <a:r>
              <a:rPr lang="en-US" sz="1250" dirty="0">
                <a:solidFill>
                  <a:srgbClr val="2C261E"/>
                </a:solidFill>
                <a:latin typeface="Cambria" pitchFamily="34" charset="0"/>
                <a:ea typeface="Cambria" pitchFamily="34" charset="-122"/>
                <a:cs typeface="Cambria" pitchFamily="34" charset="-120"/>
              </a:rPr>
              <a:t> Shift staffing, specialty millwrights, certified welders.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Simulator: Live Asset Availability Calculator</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Real-time calculation of operational availability and downtime penalties.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13</a:t>
            </a:r>
            <a:r>
              <a:rPr sz="900">
                <a:solidFill>
                  <a:srgbClr val="8A8477"/>
                </a:solidFill>
                <a:latin typeface="Courier New"/>
              </a:rPr>
              <a:t> / 80</a:t>
            </a:r>
            <a:endParaRPr lang="en-US" sz="900" dirty="0"/>
          </a:p>
        </p:txBody>
      </p:sp>
      <p:sp>
        <p:nvSpPr>
          <p:cNvPr id="13" name="Shape 10"/>
          <p:cNvSpPr/>
          <p:nvPr/>
        </p:nvSpPr>
        <p:spPr>
          <a:xfrm>
            <a:off x="548640" y="1737360"/>
            <a:ext cx="5029200" cy="269748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874520"/>
            <a:ext cx="36576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OPERATING PARAMETER ADJUSTER</a:t>
            </a:r>
            <a:endParaRPr lang="en-US" sz="950" dirty="0"/>
          </a:p>
        </p:txBody>
      </p:sp>
      <p:sp>
        <p:nvSpPr>
          <p:cNvPr id="15" name="Shape 12"/>
          <p:cNvSpPr/>
          <p:nvPr/>
        </p:nvSpPr>
        <p:spPr>
          <a:xfrm>
            <a:off x="4709160" y="1847088"/>
            <a:ext cx="685800" cy="274320"/>
          </a:xfrm>
          <a:prstGeom prst="rect">
            <a:avLst/>
          </a:prstGeom>
          <a:solidFill>
            <a:srgbClr val="DDE7D6"/>
          </a:solidFill>
          <a:ln w="12700">
            <a:solidFill>
              <a:srgbClr val="2F6B3A"/>
            </a:solidFill>
            <a:prstDash val="solid"/>
          </a:ln>
        </p:spPr>
        <p:txBody>
          <a:bodyPr/>
          <a:lstStyle/>
          <a:p>
            <a:endParaRPr lang="en-IN"/>
          </a:p>
        </p:txBody>
      </p:sp>
      <p:sp>
        <p:nvSpPr>
          <p:cNvPr id="16" name="Text 13"/>
          <p:cNvSpPr txBox="1"/>
          <p:nvPr/>
        </p:nvSpPr>
        <p:spPr>
          <a:xfrm>
            <a:off x="4709160" y="1847088"/>
            <a:ext cx="685800" cy="274320"/>
          </a:xfrm>
          <a:prstGeom prst="rect">
            <a:avLst/>
          </a:prstGeom>
          <a:noFill/>
          <a:ln/>
        </p:spPr>
        <p:txBody>
          <a:bodyPr wrap="square" lIns="0" tIns="0" rIns="0" bIns="0" rtlCol="0" anchor="ctr"/>
          <a:lstStyle/>
          <a:p>
            <a:pPr marL="0" indent="0" algn="ctr">
              <a:buNone/>
            </a:pPr>
            <a:r>
              <a:rPr lang="en-US" sz="900" b="1" dirty="0">
                <a:solidFill>
                  <a:srgbClr val="2F6B3A"/>
                </a:solidFill>
                <a:latin typeface="Courier New" pitchFamily="34" charset="0"/>
                <a:ea typeface="Courier New" pitchFamily="34" charset="-122"/>
                <a:cs typeface="Courier New" pitchFamily="34" charset="-120"/>
              </a:rPr>
              <a:t>LIVE</a:t>
            </a:r>
            <a:endParaRPr lang="en-US" sz="900" dirty="0"/>
          </a:p>
        </p:txBody>
      </p:sp>
      <p:sp>
        <p:nvSpPr>
          <p:cNvPr id="17" name="Text 14"/>
          <p:cNvSpPr txBox="1"/>
          <p:nvPr/>
        </p:nvSpPr>
        <p:spPr>
          <a:xfrm>
            <a:off x="777240" y="2212848"/>
            <a:ext cx="3108960" cy="237744"/>
          </a:xfrm>
          <a:prstGeom prst="rect">
            <a:avLst/>
          </a:prstGeom>
          <a:noFill/>
          <a:ln/>
        </p:spPr>
        <p:txBody>
          <a:bodyPr wrap="square" lIns="0" tIns="0" rIns="0" bIns="0" rtlCol="0" anchor="t"/>
          <a:lstStyle/>
          <a:p>
            <a:pPr marL="0" indent="0">
              <a:buNone/>
            </a:pPr>
            <a:r>
              <a:rPr lang="en-US" sz="1200" dirty="0">
                <a:solidFill>
                  <a:srgbClr val="2C261E"/>
                </a:solidFill>
                <a:latin typeface="Cambria" pitchFamily="34" charset="0"/>
                <a:ea typeface="Cambria" pitchFamily="34" charset="-122"/>
                <a:cs typeface="Cambria" pitchFamily="34" charset="-120"/>
              </a:rPr>
              <a:t>Annual Operating Uptime</a:t>
            </a:r>
            <a:endParaRPr lang="en-US" sz="1200" dirty="0"/>
          </a:p>
        </p:txBody>
      </p:sp>
      <p:sp>
        <p:nvSpPr>
          <p:cNvPr id="18" name="Text 15"/>
          <p:cNvSpPr txBox="1"/>
          <p:nvPr/>
        </p:nvSpPr>
        <p:spPr>
          <a:xfrm>
            <a:off x="3886200" y="2212848"/>
            <a:ext cx="1463040" cy="237744"/>
          </a:xfrm>
          <a:prstGeom prst="rect">
            <a:avLst/>
          </a:prstGeom>
          <a:noFill/>
          <a:ln/>
        </p:spPr>
        <p:txBody>
          <a:bodyPr wrap="square" lIns="0" tIns="0" rIns="0" bIns="0" rtlCol="0" anchor="t"/>
          <a:lstStyle/>
          <a:p>
            <a:pPr marL="0" indent="0" algn="r">
              <a:buNone/>
            </a:pPr>
            <a:r>
              <a:rPr lang="en-US" sz="1200" b="1" dirty="0">
                <a:solidFill>
                  <a:srgbClr val="7A1F1A"/>
                </a:solidFill>
                <a:latin typeface="Courier New" pitchFamily="34" charset="0"/>
                <a:ea typeface="Courier New" pitchFamily="34" charset="-122"/>
                <a:cs typeface="Courier New" pitchFamily="34" charset="-120"/>
              </a:rPr>
              <a:t>8,500 hrs</a:t>
            </a:r>
            <a:endParaRPr lang="en-US" sz="1200" dirty="0"/>
          </a:p>
        </p:txBody>
      </p:sp>
      <p:sp>
        <p:nvSpPr>
          <p:cNvPr id="19" name="Shape 16"/>
          <p:cNvSpPr/>
          <p:nvPr/>
        </p:nvSpPr>
        <p:spPr>
          <a:xfrm>
            <a:off x="777240" y="2523744"/>
            <a:ext cx="4572000" cy="73152"/>
          </a:xfrm>
          <a:prstGeom prst="rect">
            <a:avLst/>
          </a:prstGeom>
          <a:solidFill>
            <a:srgbClr val="EADDC0"/>
          </a:solidFill>
          <a:ln w="6350">
            <a:solidFill>
              <a:srgbClr val="C9B48F"/>
            </a:solidFill>
            <a:prstDash val="solid"/>
          </a:ln>
        </p:spPr>
        <p:txBody>
          <a:bodyPr/>
          <a:lstStyle/>
          <a:p>
            <a:endParaRPr lang="en-IN"/>
          </a:p>
        </p:txBody>
      </p:sp>
      <p:sp>
        <p:nvSpPr>
          <p:cNvPr id="20" name="Shape 17"/>
          <p:cNvSpPr/>
          <p:nvPr/>
        </p:nvSpPr>
        <p:spPr>
          <a:xfrm>
            <a:off x="777240" y="2523744"/>
            <a:ext cx="4255851" cy="73152"/>
          </a:xfrm>
          <a:prstGeom prst="rect">
            <a:avLst/>
          </a:prstGeom>
          <a:solidFill>
            <a:srgbClr val="7A1F1A"/>
          </a:solidFill>
          <a:ln w="12700">
            <a:solidFill>
              <a:srgbClr val="333333"/>
            </a:solidFill>
            <a:prstDash val="solid"/>
          </a:ln>
        </p:spPr>
        <p:txBody>
          <a:bodyPr/>
          <a:lstStyle/>
          <a:p>
            <a:endParaRPr lang="en-IN"/>
          </a:p>
        </p:txBody>
      </p:sp>
      <p:sp>
        <p:nvSpPr>
          <p:cNvPr id="21" name="Shape 18"/>
          <p:cNvSpPr/>
          <p:nvPr/>
        </p:nvSpPr>
        <p:spPr>
          <a:xfrm>
            <a:off x="4941651" y="2468880"/>
            <a:ext cx="182880" cy="182880"/>
          </a:xfrm>
          <a:prstGeom prst="ellipse">
            <a:avLst/>
          </a:prstGeom>
          <a:solidFill>
            <a:srgbClr val="F4EBD7"/>
          </a:solidFill>
          <a:ln w="25400">
            <a:solidFill>
              <a:srgbClr val="7A1F1A"/>
            </a:solidFill>
            <a:prstDash val="solid"/>
          </a:ln>
        </p:spPr>
        <p:txBody>
          <a:bodyPr/>
          <a:lstStyle/>
          <a:p>
            <a:endParaRPr lang="en-IN"/>
          </a:p>
        </p:txBody>
      </p:sp>
      <p:sp>
        <p:nvSpPr>
          <p:cNvPr id="22" name="Text 19"/>
          <p:cNvSpPr txBox="1"/>
          <p:nvPr/>
        </p:nvSpPr>
        <p:spPr>
          <a:xfrm>
            <a:off x="777240" y="2651760"/>
            <a:ext cx="1371600" cy="164592"/>
          </a:xfrm>
          <a:prstGeom prst="rect">
            <a:avLst/>
          </a:prstGeom>
          <a:noFill/>
          <a:ln/>
        </p:spPr>
        <p:txBody>
          <a:bodyPr wrap="square" lIns="0" tIns="0" rIns="0" bIns="0" rtlCol="0" anchor="t"/>
          <a:lstStyle/>
          <a:p>
            <a:pPr marL="0" indent="0">
              <a:buNone/>
            </a:pPr>
            <a:r>
              <a:rPr lang="en-US" sz="800" dirty="0">
                <a:solidFill>
                  <a:srgbClr val="8A8477"/>
                </a:solidFill>
                <a:latin typeface="Courier New" pitchFamily="34" charset="0"/>
                <a:ea typeface="Courier New" pitchFamily="34" charset="-122"/>
                <a:cs typeface="Courier New" pitchFamily="34" charset="-120"/>
              </a:rPr>
              <a:t>5,000</a:t>
            </a:r>
            <a:endParaRPr lang="en-US" sz="800" dirty="0"/>
          </a:p>
        </p:txBody>
      </p:sp>
      <p:sp>
        <p:nvSpPr>
          <p:cNvPr id="23" name="Text 20"/>
          <p:cNvSpPr txBox="1"/>
          <p:nvPr/>
        </p:nvSpPr>
        <p:spPr>
          <a:xfrm>
            <a:off x="3977640" y="2651760"/>
            <a:ext cx="1371600" cy="164592"/>
          </a:xfrm>
          <a:prstGeom prst="rect">
            <a:avLst/>
          </a:prstGeom>
          <a:noFill/>
          <a:ln/>
        </p:spPr>
        <p:txBody>
          <a:bodyPr wrap="square" lIns="0" tIns="0" rIns="0" bIns="0" rtlCol="0" anchor="t"/>
          <a:lstStyle/>
          <a:p>
            <a:pPr marL="0" indent="0" algn="r">
              <a:buNone/>
            </a:pPr>
            <a:r>
              <a:rPr lang="en-US" sz="800" dirty="0">
                <a:solidFill>
                  <a:srgbClr val="8A8477"/>
                </a:solidFill>
                <a:latin typeface="Courier New" pitchFamily="34" charset="0"/>
                <a:ea typeface="Courier New" pitchFamily="34" charset="-122"/>
                <a:cs typeface="Courier New" pitchFamily="34" charset="-120"/>
              </a:rPr>
              <a:t>8,760</a:t>
            </a:r>
            <a:endParaRPr lang="en-US" sz="800" dirty="0"/>
          </a:p>
        </p:txBody>
      </p:sp>
      <p:sp>
        <p:nvSpPr>
          <p:cNvPr id="24" name="Text 21"/>
          <p:cNvSpPr txBox="1"/>
          <p:nvPr/>
        </p:nvSpPr>
        <p:spPr>
          <a:xfrm>
            <a:off x="777240" y="2944368"/>
            <a:ext cx="3108960" cy="237744"/>
          </a:xfrm>
          <a:prstGeom prst="rect">
            <a:avLst/>
          </a:prstGeom>
          <a:noFill/>
          <a:ln/>
        </p:spPr>
        <p:txBody>
          <a:bodyPr wrap="square" lIns="0" tIns="0" rIns="0" bIns="0" rtlCol="0" anchor="t"/>
          <a:lstStyle/>
          <a:p>
            <a:pPr marL="0" indent="0">
              <a:buNone/>
            </a:pPr>
            <a:r>
              <a:rPr lang="en-US" sz="1200" dirty="0">
                <a:solidFill>
                  <a:srgbClr val="2C261E"/>
                </a:solidFill>
                <a:latin typeface="Cambria" pitchFamily="34" charset="0"/>
                <a:ea typeface="Cambria" pitchFamily="34" charset="-122"/>
                <a:cs typeface="Cambria" pitchFamily="34" charset="-120"/>
              </a:rPr>
              <a:t>Planned Downtime (PM / Servicing)</a:t>
            </a:r>
            <a:endParaRPr lang="en-US" sz="1200" dirty="0"/>
          </a:p>
        </p:txBody>
      </p:sp>
      <p:sp>
        <p:nvSpPr>
          <p:cNvPr id="25" name="Text 22"/>
          <p:cNvSpPr txBox="1"/>
          <p:nvPr/>
        </p:nvSpPr>
        <p:spPr>
          <a:xfrm>
            <a:off x="3886200" y="2944368"/>
            <a:ext cx="1463040" cy="237744"/>
          </a:xfrm>
          <a:prstGeom prst="rect">
            <a:avLst/>
          </a:prstGeom>
          <a:noFill/>
          <a:ln/>
        </p:spPr>
        <p:txBody>
          <a:bodyPr wrap="square" lIns="0" tIns="0" rIns="0" bIns="0" rtlCol="0" anchor="t"/>
          <a:lstStyle/>
          <a:p>
            <a:pPr marL="0" indent="0" algn="r">
              <a:buNone/>
            </a:pPr>
            <a:r>
              <a:rPr lang="en-US" sz="1200" b="1" dirty="0">
                <a:solidFill>
                  <a:srgbClr val="9A6A12"/>
                </a:solidFill>
                <a:latin typeface="Courier New" pitchFamily="34" charset="0"/>
                <a:ea typeface="Courier New" pitchFamily="34" charset="-122"/>
                <a:cs typeface="Courier New" pitchFamily="34" charset="-120"/>
              </a:rPr>
              <a:t>40 hrs</a:t>
            </a:r>
            <a:endParaRPr lang="en-US" sz="1200" dirty="0"/>
          </a:p>
        </p:txBody>
      </p:sp>
      <p:sp>
        <p:nvSpPr>
          <p:cNvPr id="26" name="Shape 23"/>
          <p:cNvSpPr/>
          <p:nvPr/>
        </p:nvSpPr>
        <p:spPr>
          <a:xfrm>
            <a:off x="777240" y="3255264"/>
            <a:ext cx="4572000" cy="73152"/>
          </a:xfrm>
          <a:prstGeom prst="rect">
            <a:avLst/>
          </a:prstGeom>
          <a:solidFill>
            <a:srgbClr val="EADDC0"/>
          </a:solidFill>
          <a:ln w="6350">
            <a:solidFill>
              <a:srgbClr val="C9B48F"/>
            </a:solidFill>
            <a:prstDash val="solid"/>
          </a:ln>
        </p:spPr>
        <p:txBody>
          <a:bodyPr/>
          <a:lstStyle/>
          <a:p>
            <a:endParaRPr lang="en-IN"/>
          </a:p>
        </p:txBody>
      </p:sp>
      <p:sp>
        <p:nvSpPr>
          <p:cNvPr id="27" name="Shape 24"/>
          <p:cNvSpPr/>
          <p:nvPr/>
        </p:nvSpPr>
        <p:spPr>
          <a:xfrm>
            <a:off x="777240" y="3255264"/>
            <a:ext cx="609600" cy="73152"/>
          </a:xfrm>
          <a:prstGeom prst="rect">
            <a:avLst/>
          </a:prstGeom>
          <a:solidFill>
            <a:srgbClr val="9A6A12"/>
          </a:solidFill>
          <a:ln w="12700">
            <a:solidFill>
              <a:srgbClr val="333333"/>
            </a:solidFill>
            <a:prstDash val="solid"/>
          </a:ln>
        </p:spPr>
        <p:txBody>
          <a:bodyPr/>
          <a:lstStyle/>
          <a:p>
            <a:endParaRPr lang="en-IN"/>
          </a:p>
        </p:txBody>
      </p:sp>
      <p:sp>
        <p:nvSpPr>
          <p:cNvPr id="28" name="Shape 25"/>
          <p:cNvSpPr/>
          <p:nvPr/>
        </p:nvSpPr>
        <p:spPr>
          <a:xfrm>
            <a:off x="1295400" y="3200400"/>
            <a:ext cx="182880" cy="182880"/>
          </a:xfrm>
          <a:prstGeom prst="ellipse">
            <a:avLst/>
          </a:prstGeom>
          <a:solidFill>
            <a:srgbClr val="F4EBD7"/>
          </a:solidFill>
          <a:ln w="25400">
            <a:solidFill>
              <a:srgbClr val="9A6A12"/>
            </a:solidFill>
            <a:prstDash val="solid"/>
          </a:ln>
        </p:spPr>
        <p:txBody>
          <a:bodyPr/>
          <a:lstStyle/>
          <a:p>
            <a:endParaRPr lang="en-IN"/>
          </a:p>
        </p:txBody>
      </p:sp>
      <p:sp>
        <p:nvSpPr>
          <p:cNvPr id="29" name="Text 26"/>
          <p:cNvSpPr txBox="1"/>
          <p:nvPr/>
        </p:nvSpPr>
        <p:spPr>
          <a:xfrm>
            <a:off x="777240" y="3383280"/>
            <a:ext cx="1371600" cy="164592"/>
          </a:xfrm>
          <a:prstGeom prst="rect">
            <a:avLst/>
          </a:prstGeom>
          <a:noFill/>
          <a:ln/>
        </p:spPr>
        <p:txBody>
          <a:bodyPr wrap="square" lIns="0" tIns="0" rIns="0" bIns="0" rtlCol="0" anchor="t"/>
          <a:lstStyle/>
          <a:p>
            <a:pPr marL="0" indent="0">
              <a:buNone/>
            </a:pPr>
            <a:r>
              <a:rPr lang="en-US" sz="800" dirty="0">
                <a:solidFill>
                  <a:srgbClr val="8A8477"/>
                </a:solidFill>
                <a:latin typeface="Courier New" pitchFamily="34" charset="0"/>
                <a:ea typeface="Courier New" pitchFamily="34" charset="-122"/>
                <a:cs typeface="Courier New" pitchFamily="34" charset="-120"/>
              </a:rPr>
              <a:t>0</a:t>
            </a:r>
            <a:endParaRPr lang="en-US" sz="800" dirty="0"/>
          </a:p>
        </p:txBody>
      </p:sp>
      <p:sp>
        <p:nvSpPr>
          <p:cNvPr id="30" name="Text 27"/>
          <p:cNvSpPr txBox="1"/>
          <p:nvPr/>
        </p:nvSpPr>
        <p:spPr>
          <a:xfrm>
            <a:off x="3977640" y="3383280"/>
            <a:ext cx="1371600" cy="164592"/>
          </a:xfrm>
          <a:prstGeom prst="rect">
            <a:avLst/>
          </a:prstGeom>
          <a:noFill/>
          <a:ln/>
        </p:spPr>
        <p:txBody>
          <a:bodyPr wrap="square" lIns="0" tIns="0" rIns="0" bIns="0" rtlCol="0" anchor="t"/>
          <a:lstStyle/>
          <a:p>
            <a:pPr marL="0" indent="0" algn="r">
              <a:buNone/>
            </a:pPr>
            <a:r>
              <a:rPr lang="en-US" sz="800" dirty="0">
                <a:solidFill>
                  <a:srgbClr val="8A8477"/>
                </a:solidFill>
                <a:latin typeface="Courier New" pitchFamily="34" charset="0"/>
                <a:ea typeface="Courier New" pitchFamily="34" charset="-122"/>
                <a:cs typeface="Courier New" pitchFamily="34" charset="-120"/>
              </a:rPr>
              <a:t>300</a:t>
            </a:r>
            <a:endParaRPr lang="en-US" sz="800" dirty="0"/>
          </a:p>
        </p:txBody>
      </p:sp>
      <p:sp>
        <p:nvSpPr>
          <p:cNvPr id="31" name="Text 28"/>
          <p:cNvSpPr txBox="1"/>
          <p:nvPr/>
        </p:nvSpPr>
        <p:spPr>
          <a:xfrm>
            <a:off x="777240" y="3675888"/>
            <a:ext cx="3108960" cy="237744"/>
          </a:xfrm>
          <a:prstGeom prst="rect">
            <a:avLst/>
          </a:prstGeom>
          <a:noFill/>
          <a:ln/>
        </p:spPr>
        <p:txBody>
          <a:bodyPr wrap="square" lIns="0" tIns="0" rIns="0" bIns="0" rtlCol="0" anchor="t"/>
          <a:lstStyle/>
          <a:p>
            <a:pPr marL="0" indent="0">
              <a:buNone/>
            </a:pPr>
            <a:r>
              <a:rPr lang="en-US" sz="1200" dirty="0">
                <a:solidFill>
                  <a:srgbClr val="2C261E"/>
                </a:solidFill>
                <a:latin typeface="Cambria" pitchFamily="34" charset="0"/>
                <a:ea typeface="Cambria" pitchFamily="34" charset="-122"/>
                <a:cs typeface="Cambria" pitchFamily="34" charset="-120"/>
              </a:rPr>
              <a:t>Unplanned Downtime (Emergency Trips)</a:t>
            </a:r>
            <a:endParaRPr lang="en-US" sz="1200" dirty="0"/>
          </a:p>
        </p:txBody>
      </p:sp>
      <p:sp>
        <p:nvSpPr>
          <p:cNvPr id="32" name="Text 29"/>
          <p:cNvSpPr txBox="1"/>
          <p:nvPr/>
        </p:nvSpPr>
        <p:spPr>
          <a:xfrm>
            <a:off x="3886200" y="3675888"/>
            <a:ext cx="1463040" cy="237744"/>
          </a:xfrm>
          <a:prstGeom prst="rect">
            <a:avLst/>
          </a:prstGeom>
          <a:noFill/>
          <a:ln/>
        </p:spPr>
        <p:txBody>
          <a:bodyPr wrap="square" lIns="0" tIns="0" rIns="0" bIns="0" rtlCol="0" anchor="t"/>
          <a:lstStyle/>
          <a:p>
            <a:pPr marL="0" indent="0" algn="r">
              <a:buNone/>
            </a:pPr>
            <a:r>
              <a:rPr lang="en-US" sz="1200" b="1" dirty="0">
                <a:solidFill>
                  <a:srgbClr val="7A1F1A"/>
                </a:solidFill>
                <a:latin typeface="Courier New" pitchFamily="34" charset="0"/>
                <a:ea typeface="Courier New" pitchFamily="34" charset="-122"/>
                <a:cs typeface="Courier New" pitchFamily="34" charset="-120"/>
              </a:rPr>
              <a:t>60 hrs</a:t>
            </a:r>
            <a:endParaRPr lang="en-US" sz="1200" dirty="0"/>
          </a:p>
        </p:txBody>
      </p:sp>
      <p:sp>
        <p:nvSpPr>
          <p:cNvPr id="33" name="Shape 30"/>
          <p:cNvSpPr/>
          <p:nvPr/>
        </p:nvSpPr>
        <p:spPr>
          <a:xfrm>
            <a:off x="777240" y="3986784"/>
            <a:ext cx="4572000" cy="73152"/>
          </a:xfrm>
          <a:prstGeom prst="rect">
            <a:avLst/>
          </a:prstGeom>
          <a:solidFill>
            <a:srgbClr val="EADDC0"/>
          </a:solidFill>
          <a:ln w="6350">
            <a:solidFill>
              <a:srgbClr val="C9B48F"/>
            </a:solidFill>
            <a:prstDash val="solid"/>
          </a:ln>
        </p:spPr>
        <p:txBody>
          <a:bodyPr/>
          <a:lstStyle/>
          <a:p>
            <a:endParaRPr lang="en-IN"/>
          </a:p>
        </p:txBody>
      </p:sp>
      <p:sp>
        <p:nvSpPr>
          <p:cNvPr id="34" name="Shape 31"/>
          <p:cNvSpPr/>
          <p:nvPr/>
        </p:nvSpPr>
        <p:spPr>
          <a:xfrm>
            <a:off x="777240" y="3986784"/>
            <a:ext cx="457200" cy="73152"/>
          </a:xfrm>
          <a:prstGeom prst="rect">
            <a:avLst/>
          </a:prstGeom>
          <a:solidFill>
            <a:srgbClr val="7A1F1A"/>
          </a:solidFill>
          <a:ln w="12700">
            <a:solidFill>
              <a:srgbClr val="333333"/>
            </a:solidFill>
            <a:prstDash val="solid"/>
          </a:ln>
        </p:spPr>
        <p:txBody>
          <a:bodyPr/>
          <a:lstStyle/>
          <a:p>
            <a:endParaRPr lang="en-IN"/>
          </a:p>
        </p:txBody>
      </p:sp>
      <p:sp>
        <p:nvSpPr>
          <p:cNvPr id="35" name="Shape 32"/>
          <p:cNvSpPr/>
          <p:nvPr/>
        </p:nvSpPr>
        <p:spPr>
          <a:xfrm>
            <a:off x="1143000" y="3931920"/>
            <a:ext cx="182880" cy="182880"/>
          </a:xfrm>
          <a:prstGeom prst="ellipse">
            <a:avLst/>
          </a:prstGeom>
          <a:solidFill>
            <a:srgbClr val="F4EBD7"/>
          </a:solidFill>
          <a:ln w="25400">
            <a:solidFill>
              <a:srgbClr val="7A1F1A"/>
            </a:solidFill>
            <a:prstDash val="solid"/>
          </a:ln>
        </p:spPr>
        <p:txBody>
          <a:bodyPr/>
          <a:lstStyle/>
          <a:p>
            <a:endParaRPr lang="en-IN"/>
          </a:p>
        </p:txBody>
      </p:sp>
      <p:sp>
        <p:nvSpPr>
          <p:cNvPr id="36" name="Text 33"/>
          <p:cNvSpPr txBox="1"/>
          <p:nvPr/>
        </p:nvSpPr>
        <p:spPr>
          <a:xfrm>
            <a:off x="777240" y="4114800"/>
            <a:ext cx="1371600" cy="164592"/>
          </a:xfrm>
          <a:prstGeom prst="rect">
            <a:avLst/>
          </a:prstGeom>
          <a:noFill/>
          <a:ln/>
        </p:spPr>
        <p:txBody>
          <a:bodyPr wrap="square" lIns="0" tIns="0" rIns="0" bIns="0" rtlCol="0" anchor="t"/>
          <a:lstStyle/>
          <a:p>
            <a:pPr marL="0" indent="0">
              <a:buNone/>
            </a:pPr>
            <a:r>
              <a:rPr lang="en-US" sz="800" dirty="0">
                <a:solidFill>
                  <a:srgbClr val="8A8477"/>
                </a:solidFill>
                <a:latin typeface="Courier New" pitchFamily="34" charset="0"/>
                <a:ea typeface="Courier New" pitchFamily="34" charset="-122"/>
                <a:cs typeface="Courier New" pitchFamily="34" charset="-120"/>
              </a:rPr>
              <a:t>0</a:t>
            </a:r>
            <a:endParaRPr lang="en-US" sz="800" dirty="0"/>
          </a:p>
        </p:txBody>
      </p:sp>
      <p:sp>
        <p:nvSpPr>
          <p:cNvPr id="37" name="Text 34"/>
          <p:cNvSpPr txBox="1"/>
          <p:nvPr/>
        </p:nvSpPr>
        <p:spPr>
          <a:xfrm>
            <a:off x="3977640" y="4114800"/>
            <a:ext cx="1371600" cy="164592"/>
          </a:xfrm>
          <a:prstGeom prst="rect">
            <a:avLst/>
          </a:prstGeom>
          <a:noFill/>
          <a:ln/>
        </p:spPr>
        <p:txBody>
          <a:bodyPr wrap="square" lIns="0" tIns="0" rIns="0" bIns="0" rtlCol="0" anchor="t"/>
          <a:lstStyle/>
          <a:p>
            <a:pPr marL="0" indent="0" algn="r">
              <a:buNone/>
            </a:pPr>
            <a:r>
              <a:rPr lang="en-US" sz="800" dirty="0">
                <a:solidFill>
                  <a:srgbClr val="8A8477"/>
                </a:solidFill>
                <a:latin typeface="Courier New" pitchFamily="34" charset="0"/>
                <a:ea typeface="Courier New" pitchFamily="34" charset="-122"/>
                <a:cs typeface="Courier New" pitchFamily="34" charset="-120"/>
              </a:rPr>
              <a:t>600</a:t>
            </a:r>
            <a:endParaRPr lang="en-US" sz="800" dirty="0"/>
          </a:p>
        </p:txBody>
      </p:sp>
      <p:sp>
        <p:nvSpPr>
          <p:cNvPr id="38" name="Shape 35"/>
          <p:cNvSpPr/>
          <p:nvPr/>
        </p:nvSpPr>
        <p:spPr>
          <a:xfrm>
            <a:off x="548640" y="4617720"/>
            <a:ext cx="5029200" cy="1600200"/>
          </a:xfrm>
          <a:prstGeom prst="rect">
            <a:avLst/>
          </a:prstGeom>
          <a:solidFill>
            <a:srgbClr val="EFDCCF"/>
          </a:solidFill>
          <a:ln w="12700">
            <a:solidFill>
              <a:srgbClr val="C9B48F"/>
            </a:solidFill>
            <a:prstDash val="solid"/>
          </a:ln>
        </p:spPr>
        <p:txBody>
          <a:bodyPr/>
          <a:lstStyle/>
          <a:p>
            <a:endParaRPr lang="en-IN"/>
          </a:p>
        </p:txBody>
      </p:sp>
      <p:sp>
        <p:nvSpPr>
          <p:cNvPr id="39" name="Text 36"/>
          <p:cNvSpPr txBox="1"/>
          <p:nvPr/>
        </p:nvSpPr>
        <p:spPr>
          <a:xfrm>
            <a:off x="777240" y="4736592"/>
            <a:ext cx="36576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LIVE CALCULATED AVAILABILITY</a:t>
            </a:r>
            <a:endParaRPr lang="en-US" sz="950" dirty="0"/>
          </a:p>
        </p:txBody>
      </p:sp>
      <p:sp>
        <p:nvSpPr>
          <p:cNvPr id="40" name="Text 37"/>
          <p:cNvSpPr txBox="1"/>
          <p:nvPr/>
        </p:nvSpPr>
        <p:spPr>
          <a:xfrm>
            <a:off x="777240" y="4956048"/>
            <a:ext cx="2743200" cy="548640"/>
          </a:xfrm>
          <a:prstGeom prst="rect">
            <a:avLst/>
          </a:prstGeom>
          <a:noFill/>
          <a:ln/>
        </p:spPr>
        <p:txBody>
          <a:bodyPr wrap="square" lIns="0" tIns="0" rIns="0" bIns="0" rtlCol="0" anchor="t"/>
          <a:lstStyle/>
          <a:p>
            <a:pPr marL="0" indent="0">
              <a:buNone/>
            </a:pPr>
            <a:r>
              <a:rPr lang="en-US" sz="3200" b="1" dirty="0">
                <a:solidFill>
                  <a:srgbClr val="7A1F1A"/>
                </a:solidFill>
                <a:latin typeface="Cambria" pitchFamily="34" charset="0"/>
                <a:ea typeface="Cambria" pitchFamily="34" charset="-122"/>
                <a:cs typeface="Cambria" pitchFamily="34" charset="-120"/>
              </a:rPr>
              <a:t>98.8372 %</a:t>
            </a:r>
            <a:endParaRPr lang="en-US" sz="3200" dirty="0"/>
          </a:p>
        </p:txBody>
      </p:sp>
      <p:sp>
        <p:nvSpPr>
          <p:cNvPr id="41" name="Text 38"/>
          <p:cNvSpPr txBox="1"/>
          <p:nvPr/>
        </p:nvSpPr>
        <p:spPr>
          <a:xfrm>
            <a:off x="3246120" y="5029200"/>
            <a:ext cx="2240280" cy="457200"/>
          </a:xfrm>
          <a:prstGeom prst="rect">
            <a:avLst/>
          </a:prstGeom>
          <a:noFill/>
          <a:ln/>
        </p:spPr>
        <p:txBody>
          <a:bodyPr wrap="square" lIns="0" tIns="0" rIns="0" bIns="0" rtlCol="0" anchor="t"/>
          <a:lstStyle/>
          <a:p>
            <a:pPr marL="0" indent="0">
              <a:buNone/>
            </a:pPr>
            <a:r>
              <a:rPr lang="en-US" sz="1150" dirty="0">
                <a:solidFill>
                  <a:srgbClr val="2C261E"/>
                </a:solidFill>
                <a:latin typeface="Cambria" pitchFamily="34" charset="0"/>
                <a:ea typeface="Cambria" pitchFamily="34" charset="-122"/>
                <a:cs typeface="Cambria" pitchFamily="34" charset="-120"/>
              </a:rPr>
              <a:t>Total Outage Downtime: </a:t>
            </a:r>
            <a:r>
              <a:rPr lang="en-US" sz="1150" b="1" dirty="0">
                <a:solidFill>
                  <a:srgbClr val="1C1712"/>
                </a:solidFill>
                <a:latin typeface="Cambria" pitchFamily="34" charset="0"/>
                <a:ea typeface="Cambria" pitchFamily="34" charset="-122"/>
                <a:cs typeface="Cambria" pitchFamily="34" charset="-120"/>
              </a:rPr>
              <a:t>100 Hours (4.2 Days)</a:t>
            </a:r>
            <a:endParaRPr lang="en-US" sz="1150" dirty="0"/>
          </a:p>
        </p:txBody>
      </p:sp>
      <p:sp>
        <p:nvSpPr>
          <p:cNvPr id="42" name="Text 39"/>
          <p:cNvSpPr txBox="1"/>
          <p:nvPr/>
        </p:nvSpPr>
        <p:spPr>
          <a:xfrm>
            <a:off x="777240" y="5577840"/>
            <a:ext cx="4617720" cy="548640"/>
          </a:xfrm>
          <a:prstGeom prst="rect">
            <a:avLst/>
          </a:prstGeom>
          <a:noFill/>
          <a:ln/>
        </p:spPr>
        <p:txBody>
          <a:bodyPr wrap="square" lIns="0" tIns="0" rIns="0" bIns="0" rtlCol="0" anchor="t"/>
          <a:lstStyle/>
          <a:p>
            <a:pPr marL="0" indent="0">
              <a:buNone/>
            </a:pPr>
            <a:r>
              <a:rPr lang="en-US" sz="1100" i="1" dirty="0">
                <a:solidFill>
                  <a:srgbClr val="5A5347"/>
                </a:solidFill>
                <a:latin typeface="Cambria" pitchFamily="34" charset="0"/>
                <a:ea typeface="Cambria" pitchFamily="34" charset="-122"/>
                <a:cs typeface="Cambria" pitchFamily="34" charset="-120"/>
              </a:rPr>
              <a:t>Notice how even a small increase in unplanned corrective hours severely drives availability below the 99% industrial benchmark.</a:t>
            </a:r>
            <a:endParaRPr lang="en-US" sz="1100" dirty="0"/>
          </a:p>
        </p:txBody>
      </p:sp>
      <p:sp>
        <p:nvSpPr>
          <p:cNvPr id="43" name="Shape 40"/>
          <p:cNvSpPr/>
          <p:nvPr/>
        </p:nvSpPr>
        <p:spPr>
          <a:xfrm>
            <a:off x="5806440" y="1737360"/>
            <a:ext cx="5833872" cy="4480560"/>
          </a:xfrm>
          <a:prstGeom prst="rect">
            <a:avLst/>
          </a:prstGeom>
          <a:solidFill>
            <a:srgbClr val="FBF4E4"/>
          </a:solidFill>
          <a:ln w="12700">
            <a:solidFill>
              <a:srgbClr val="C9B48F"/>
            </a:solidFill>
            <a:prstDash val="solid"/>
          </a:ln>
        </p:spPr>
        <p:txBody>
          <a:bodyPr/>
          <a:lstStyle/>
          <a:p>
            <a:endParaRPr lang="en-IN"/>
          </a:p>
        </p:txBody>
      </p:sp>
      <p:graphicFrame>
        <p:nvGraphicFramePr>
          <p:cNvPr id="44" name="Chart 0"/>
          <p:cNvGraphicFramePr/>
          <p:nvPr/>
        </p:nvGraphicFramePr>
        <p:xfrm>
          <a:off x="5943600" y="1828800"/>
          <a:ext cx="5577840" cy="3337560"/>
        </p:xfrm>
        <a:graphic>
          <a:graphicData uri="http://schemas.openxmlformats.org/drawingml/2006/chart">
            <c:chart xmlns:c="http://schemas.openxmlformats.org/drawingml/2006/chart" xmlns:r="http://schemas.openxmlformats.org/officeDocument/2006/relationships" r:id="rId4"/>
          </a:graphicData>
        </a:graphic>
      </p:graphicFrame>
      <p:pic>
        <p:nvPicPr>
          <p:cNvPr id="45" name="Image 1" descr="Formula"/>
          <p:cNvPicPr>
            <a:picLocks noChangeAspect="1"/>
          </p:cNvPicPr>
          <p:nvPr/>
        </p:nvPicPr>
        <p:blipFill>
          <a:blip r:embed="rId5"/>
          <a:stretch>
            <a:fillRect/>
          </a:stretch>
        </p:blipFill>
        <p:spPr>
          <a:xfrm>
            <a:off x="7119730" y="5212080"/>
            <a:ext cx="3225580" cy="502920"/>
          </a:xfrm>
          <a:prstGeom prst="rect">
            <a:avLst/>
          </a:prstGeom>
        </p:spPr>
      </p:pic>
      <p:sp>
        <p:nvSpPr>
          <p:cNvPr id="46" name="Text 41"/>
          <p:cNvSpPr txBox="1"/>
          <p:nvPr/>
        </p:nvSpPr>
        <p:spPr>
          <a:xfrm>
            <a:off x="5989320" y="5760720"/>
            <a:ext cx="5486400" cy="365760"/>
          </a:xfrm>
          <a:prstGeom prst="rect">
            <a:avLst/>
          </a:prstGeom>
          <a:noFill/>
          <a:ln/>
        </p:spPr>
        <p:txBody>
          <a:bodyPr wrap="square" lIns="0" tIns="0" rIns="0" bIns="0" rtlCol="0" anchor="ctr"/>
          <a:lstStyle/>
          <a:p>
            <a:pPr marL="0" indent="0" algn="ctr">
              <a:buNone/>
            </a:pPr>
            <a:r>
              <a:rPr lang="en-US" sz="850" dirty="0">
                <a:solidFill>
                  <a:srgbClr val="5A5347"/>
                </a:solidFill>
                <a:latin typeface="Courier New" pitchFamily="34" charset="0"/>
                <a:ea typeface="Courier New" pitchFamily="34" charset="-122"/>
                <a:cs typeface="Courier New" pitchFamily="34" charset="-120"/>
              </a:rPr>
              <a:t>Mathematical Law: Availability (%) = 1 − [ Σ(Planned DT) + Σ(Unplanned DT) ] / Total Mission Time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Availability Case Study 1: Centrifugal Slurry Pump</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Rigorous calculation for an isolatable rotating process asset.</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14</a:t>
            </a:r>
            <a:r>
              <a:rPr sz="900">
                <a:solidFill>
                  <a:srgbClr val="8A8477"/>
                </a:solidFill>
                <a:latin typeface="Courier New"/>
              </a:rPr>
              <a:t> / 80</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406640" cy="3200400"/>
        </p:xfrm>
        <a:graphic>
          <a:graphicData uri="http://schemas.openxmlformats.org/drawingml/2006/table">
            <a:tbl>
              <a:tblPr/>
              <a:tblGrid>
                <a:gridCol w="20116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65760">
                <a:tc>
                  <a:txBody>
                    <a:bodyPr/>
                    <a:lstStyle/>
                    <a:p>
                      <a:pPr marL="0" indent="0">
                        <a:buNone/>
                      </a:pPr>
                      <a:r>
                        <a:rPr lang="en-US" sz="950" b="1" dirty="0">
                          <a:solidFill>
                            <a:srgbClr val="5A5347"/>
                          </a:solidFill>
                          <a:latin typeface="Courier New" pitchFamily="34" charset="0"/>
                          <a:ea typeface="Courier New" pitchFamily="34" charset="-122"/>
                          <a:cs typeface="Courier New" pitchFamily="34" charset="-120"/>
                        </a:rPr>
                        <a:t>OPERATIONAL PARAMETER</a:t>
                      </a:r>
                      <a:endParaRPr lang="en-US" sz="95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buNone/>
                      </a:pPr>
                      <a:r>
                        <a:rPr lang="en-US" sz="950" b="1" dirty="0">
                          <a:solidFill>
                            <a:srgbClr val="5A5347"/>
                          </a:solidFill>
                          <a:latin typeface="Courier New" pitchFamily="34" charset="0"/>
                          <a:ea typeface="Courier New" pitchFamily="34" charset="-122"/>
                          <a:cs typeface="Courier New" pitchFamily="34" charset="-120"/>
                        </a:rPr>
                        <a:t>OPERATING ASSUMPTIONS &amp; HISTORY</a:t>
                      </a:r>
                      <a:endParaRPr lang="en-US" sz="95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buNone/>
                      </a:pPr>
                      <a:r>
                        <a:rPr lang="en-US" sz="950" b="1" dirty="0">
                          <a:solidFill>
                            <a:srgbClr val="5A5347"/>
                          </a:solidFill>
                          <a:latin typeface="Courier New" pitchFamily="34" charset="0"/>
                          <a:ea typeface="Courier New" pitchFamily="34" charset="-122"/>
                          <a:cs typeface="Courier New" pitchFamily="34" charset="-120"/>
                        </a:rPr>
                        <a:t>CALCULATED OUTAGE IMPACT</a:t>
                      </a:r>
                      <a:endParaRPr lang="en-US" sz="95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Mission Evaluation Cycle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5 Calendar Years = 1,825 Days</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b="1" dirty="0">
                          <a:solidFill>
                            <a:srgbClr val="7A1F1A"/>
                          </a:solidFill>
                          <a:latin typeface="Cambria" pitchFamily="34" charset="0"/>
                          <a:ea typeface="Cambria" pitchFamily="34" charset="-122"/>
                          <a:cs typeface="Cambria" pitchFamily="34" charset="-120"/>
                        </a:rPr>
                        <a:t>43,800 Hours</a:t>
                      </a:r>
                      <a:r>
                        <a:rPr lang="en-US" sz="1150" dirty="0">
                          <a:solidFill>
                            <a:srgbClr val="2C261E"/>
                          </a:solidFill>
                          <a:latin typeface="Cambria" pitchFamily="34" charset="0"/>
                          <a:ea typeface="Cambria" pitchFamily="34" charset="-122"/>
                          <a:cs typeface="Cambria" pitchFamily="34" charset="-120"/>
                        </a:rPr>
                        <a:t> Total Exposure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Asset Isolation Feasibility</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Equipped with suction &amp; discharge block valves</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b="1" dirty="0">
                          <a:solidFill>
                            <a:srgbClr val="2F6B3A"/>
                          </a:solidFill>
                          <a:latin typeface="Cambria" pitchFamily="34" charset="0"/>
                          <a:ea typeface="Cambria" pitchFamily="34" charset="-122"/>
                          <a:cs typeface="Cambria" pitchFamily="34" charset="-120"/>
                        </a:rPr>
                        <a:t>CAN</a:t>
                      </a:r>
                      <a:r>
                        <a:rPr lang="en-US" sz="1150" dirty="0">
                          <a:solidFill>
                            <a:srgbClr val="2C261E"/>
                          </a:solidFill>
                          <a:latin typeface="Cambria" pitchFamily="34" charset="0"/>
                          <a:ea typeface="Cambria" pitchFamily="34" charset="-122"/>
                          <a:cs typeface="Cambria" pitchFamily="34" charset="-120"/>
                        </a:rPr>
                        <a:t> be isolated during normal operation</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Planned Event (PM)</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Routine oil change (5 events in 5 years; 4 hours per event)</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b="1" dirty="0">
                          <a:solidFill>
                            <a:srgbClr val="9A6A12"/>
                          </a:solidFill>
                          <a:latin typeface="Cambria" pitchFamily="34" charset="0"/>
                          <a:ea typeface="Cambria" pitchFamily="34" charset="-122"/>
                          <a:cs typeface="Cambria" pitchFamily="34" charset="-120"/>
                        </a:rPr>
                        <a:t>5 × 4 = 20 Hours</a:t>
                      </a:r>
                      <a:r>
                        <a:rPr lang="en-US" sz="1150" dirty="0">
                          <a:solidFill>
                            <a:srgbClr val="2C261E"/>
                          </a:solidFill>
                          <a:latin typeface="Cambria" pitchFamily="34" charset="0"/>
                          <a:ea typeface="Cambria" pitchFamily="34" charset="-122"/>
                          <a:cs typeface="Cambria" pitchFamily="34" charset="-120"/>
                        </a:rPr>
                        <a:t> Planned Outage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Unplanned Failure (Corrective)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Bearing failure (3 occurrences in 5 years; 4 days per failure)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b="1" dirty="0">
                          <a:solidFill>
                            <a:srgbClr val="7A1F1A"/>
                          </a:solidFill>
                          <a:latin typeface="Cambria" pitchFamily="34" charset="0"/>
                          <a:ea typeface="Cambria" pitchFamily="34" charset="-122"/>
                          <a:cs typeface="Cambria" pitchFamily="34" charset="-120"/>
                        </a:rPr>
                        <a:t>3 × (4 × 24) = 288 Hours</a:t>
                      </a:r>
                      <a:r>
                        <a:rPr lang="en-US" sz="1150" dirty="0">
                          <a:solidFill>
                            <a:srgbClr val="2C261E"/>
                          </a:solidFill>
                          <a:latin typeface="Cambria" pitchFamily="34" charset="0"/>
                          <a:ea typeface="Cambria" pitchFamily="34" charset="-122"/>
                          <a:cs typeface="Cambria" pitchFamily="34" charset="-120"/>
                        </a:rPr>
                        <a:t> Unplanned Outage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Total Cumulative Downtime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20 Hours (Planned) + 288 Hours (Unplanned)</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tc>
                  <a:txBody>
                    <a:bodyPr/>
                    <a:lstStyle/>
                    <a:p>
                      <a:pPr marL="0" indent="0">
                        <a:buNone/>
                      </a:pPr>
                      <a:r>
                        <a:rPr lang="en-US" sz="1150" b="1" dirty="0">
                          <a:solidFill>
                            <a:srgbClr val="7A1F1A"/>
                          </a:solidFill>
                          <a:latin typeface="Cambria" pitchFamily="34" charset="0"/>
                          <a:ea typeface="Cambria" pitchFamily="34" charset="-122"/>
                          <a:cs typeface="Cambria" pitchFamily="34" charset="-120"/>
                        </a:rPr>
                        <a:t>308 Hours</a:t>
                      </a:r>
                      <a:r>
                        <a:rPr lang="en-US" sz="1150" dirty="0">
                          <a:solidFill>
                            <a:srgbClr val="2C261E"/>
                          </a:solidFill>
                          <a:latin typeface="Cambria" pitchFamily="34" charset="0"/>
                          <a:ea typeface="Cambria" pitchFamily="34" charset="-122"/>
                          <a:cs typeface="Cambria" pitchFamily="34" charset="-120"/>
                        </a:rPr>
                        <a:t> Total Outage (12.8 Days)</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5"/>
                  </a:ext>
                </a:extLst>
              </a:tr>
            </a:tbl>
          </a:graphicData>
        </a:graphic>
      </p:graphicFrame>
      <p:sp>
        <p:nvSpPr>
          <p:cNvPr id="14" name="Shape 10"/>
          <p:cNvSpPr/>
          <p:nvPr/>
        </p:nvSpPr>
        <p:spPr>
          <a:xfrm>
            <a:off x="548640" y="5166360"/>
            <a:ext cx="7406640" cy="1051560"/>
          </a:xfrm>
          <a:prstGeom prst="rect">
            <a:avLst/>
          </a:prstGeom>
          <a:solidFill>
            <a:srgbClr val="EFE4CD"/>
          </a:solidFill>
          <a:ln w="12700">
            <a:solidFill>
              <a:srgbClr val="C9B48F"/>
            </a:solidFill>
            <a:prstDash val="solid"/>
          </a:ln>
        </p:spPr>
        <p:txBody>
          <a:bodyPr/>
          <a:lstStyle/>
          <a:p>
            <a:endParaRPr lang="en-IN"/>
          </a:p>
        </p:txBody>
      </p:sp>
      <p:sp>
        <p:nvSpPr>
          <p:cNvPr id="13" name="Text 11"/>
          <p:cNvSpPr txBox="1"/>
          <p:nvPr/>
        </p:nvSpPr>
        <p:spPr>
          <a:xfrm>
            <a:off x="749808" y="5285232"/>
            <a:ext cx="2743200" cy="219456"/>
          </a:xfrm>
          <a:prstGeom prst="rect">
            <a:avLst/>
          </a:prstGeom>
          <a:noFill/>
          <a:ln/>
        </p:spPr>
        <p:txBody>
          <a:bodyPr wrap="square" lIns="0" tIns="0" rIns="0" bIns="0" rtlCol="0" anchor="t"/>
          <a:lstStyle/>
          <a:p>
            <a:pPr marL="0" indent="0">
              <a:buNone/>
            </a:pPr>
            <a:r>
              <a:rPr lang="en-US" sz="950" b="1" kern="0" spc="150" dirty="0">
                <a:solidFill>
                  <a:srgbClr val="5A5347"/>
                </a:solidFill>
                <a:latin typeface="Courier New" pitchFamily="34" charset="0"/>
                <a:ea typeface="Courier New" pitchFamily="34" charset="-122"/>
                <a:cs typeface="Courier New" pitchFamily="34" charset="-120"/>
              </a:rPr>
              <a:t>CALCULATION</a:t>
            </a:r>
            <a:endParaRPr lang="en-US" sz="950" dirty="0"/>
          </a:p>
        </p:txBody>
      </p:sp>
      <p:pic>
        <p:nvPicPr>
          <p:cNvPr id="16" name="Image 1" descr="Formula"/>
          <p:cNvPicPr>
            <a:picLocks noChangeAspect="1"/>
          </p:cNvPicPr>
          <p:nvPr/>
        </p:nvPicPr>
        <p:blipFill>
          <a:blip r:embed="rId4"/>
          <a:stretch>
            <a:fillRect/>
          </a:stretch>
        </p:blipFill>
        <p:spPr>
          <a:xfrm>
            <a:off x="1422989" y="5440680"/>
            <a:ext cx="5657942" cy="731520"/>
          </a:xfrm>
          <a:prstGeom prst="rect">
            <a:avLst/>
          </a:prstGeom>
        </p:spPr>
      </p:pic>
      <p:sp>
        <p:nvSpPr>
          <p:cNvPr id="17" name="Shape 12"/>
          <p:cNvSpPr/>
          <p:nvPr/>
        </p:nvSpPr>
        <p:spPr>
          <a:xfrm>
            <a:off x="8183880" y="1737360"/>
            <a:ext cx="3456432" cy="2743200"/>
          </a:xfrm>
          <a:prstGeom prst="rect">
            <a:avLst/>
          </a:prstGeom>
          <a:solidFill>
            <a:srgbClr val="FBF4E4"/>
          </a:solidFill>
          <a:ln w="12700">
            <a:solidFill>
              <a:srgbClr val="C9B48F"/>
            </a:solidFill>
            <a:prstDash val="solid"/>
          </a:ln>
        </p:spPr>
        <p:txBody>
          <a:bodyPr/>
          <a:lstStyle/>
          <a:p>
            <a:endParaRPr lang="en-IN"/>
          </a:p>
        </p:txBody>
      </p:sp>
      <p:sp>
        <p:nvSpPr>
          <p:cNvPr id="18" name="Text 13"/>
          <p:cNvSpPr txBox="1"/>
          <p:nvPr/>
        </p:nvSpPr>
        <p:spPr>
          <a:xfrm>
            <a:off x="8385048" y="1874520"/>
            <a:ext cx="3054096"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OUTAGE PARTITION: 5-YEAR CYCLE</a:t>
            </a:r>
            <a:endParaRPr lang="en-US" sz="850" dirty="0"/>
          </a:p>
        </p:txBody>
      </p:sp>
      <p:sp>
        <p:nvSpPr>
          <p:cNvPr id="19" name="Shape 14"/>
          <p:cNvSpPr/>
          <p:nvPr/>
        </p:nvSpPr>
        <p:spPr>
          <a:xfrm>
            <a:off x="8385048" y="2121408"/>
            <a:ext cx="3054096" cy="0"/>
          </a:xfrm>
          <a:prstGeom prst="line">
            <a:avLst/>
          </a:prstGeom>
          <a:noFill/>
          <a:ln w="9525">
            <a:solidFill>
              <a:srgbClr val="C9B48F"/>
            </a:solidFill>
            <a:prstDash val="solid"/>
          </a:ln>
        </p:spPr>
        <p:txBody>
          <a:bodyPr/>
          <a:lstStyle/>
          <a:p>
            <a:endParaRPr lang="en-IN"/>
          </a:p>
        </p:txBody>
      </p:sp>
      <p:pic>
        <p:nvPicPr>
          <p:cNvPr id="20" name="Image 2" descr="s14_0"/>
          <p:cNvPicPr>
            <a:picLocks noChangeAspect="1"/>
          </p:cNvPicPr>
          <p:nvPr/>
        </p:nvPicPr>
        <p:blipFill>
          <a:blip r:embed="rId5"/>
          <a:stretch>
            <a:fillRect/>
          </a:stretch>
        </p:blipFill>
        <p:spPr>
          <a:xfrm>
            <a:off x="8385048" y="2358394"/>
            <a:ext cx="3054096" cy="1830317"/>
          </a:xfrm>
          <a:prstGeom prst="rect">
            <a:avLst/>
          </a:prstGeom>
        </p:spPr>
      </p:pic>
      <p:sp>
        <p:nvSpPr>
          <p:cNvPr id="21" name="Shape 15"/>
          <p:cNvSpPr/>
          <p:nvPr/>
        </p:nvSpPr>
        <p:spPr>
          <a:xfrm>
            <a:off x="8183880" y="4663440"/>
            <a:ext cx="3456432" cy="1554480"/>
          </a:xfrm>
          <a:prstGeom prst="rect">
            <a:avLst/>
          </a:prstGeom>
          <a:solidFill>
            <a:srgbClr val="DDE7D6"/>
          </a:solidFill>
          <a:ln w="12700">
            <a:solidFill>
              <a:srgbClr val="2F6B3A"/>
            </a:solidFill>
            <a:prstDash val="solid"/>
          </a:ln>
        </p:spPr>
        <p:txBody>
          <a:bodyPr/>
          <a:lstStyle/>
          <a:p>
            <a:endParaRPr lang="en-IN"/>
          </a:p>
        </p:txBody>
      </p:sp>
      <p:sp>
        <p:nvSpPr>
          <p:cNvPr id="22" name="Text 16"/>
          <p:cNvSpPr txBox="1"/>
          <p:nvPr/>
        </p:nvSpPr>
        <p:spPr>
          <a:xfrm>
            <a:off x="8394192" y="4800600"/>
            <a:ext cx="3108960" cy="219456"/>
          </a:xfrm>
          <a:prstGeom prst="rect">
            <a:avLst/>
          </a:prstGeom>
          <a:noFill/>
          <a:ln/>
        </p:spPr>
        <p:txBody>
          <a:bodyPr wrap="square" lIns="0" tIns="0" rIns="0" bIns="0" rtlCol="0" anchor="t"/>
          <a:lstStyle/>
          <a:p>
            <a:pPr marL="0" indent="0">
              <a:buNone/>
            </a:pPr>
            <a:r>
              <a:rPr lang="en-US" sz="950" b="1" kern="0" spc="150" dirty="0">
                <a:solidFill>
                  <a:srgbClr val="2F6B3A"/>
                </a:solidFill>
                <a:latin typeface="Courier New" pitchFamily="34" charset="0"/>
                <a:ea typeface="Courier New" pitchFamily="34" charset="-122"/>
                <a:cs typeface="Courier New" pitchFamily="34" charset="-120"/>
              </a:rPr>
              <a:t>CALCULATED AVAILABILITY</a:t>
            </a:r>
            <a:endParaRPr lang="en-US" sz="950" dirty="0"/>
          </a:p>
        </p:txBody>
      </p:sp>
      <p:sp>
        <p:nvSpPr>
          <p:cNvPr id="23" name="Text 17"/>
          <p:cNvSpPr txBox="1"/>
          <p:nvPr/>
        </p:nvSpPr>
        <p:spPr>
          <a:xfrm>
            <a:off x="8394192" y="5029200"/>
            <a:ext cx="3108960" cy="640080"/>
          </a:xfrm>
          <a:prstGeom prst="rect">
            <a:avLst/>
          </a:prstGeom>
          <a:noFill/>
          <a:ln/>
        </p:spPr>
        <p:txBody>
          <a:bodyPr wrap="square" lIns="0" tIns="0" rIns="0" bIns="0" rtlCol="0" anchor="t"/>
          <a:lstStyle/>
          <a:p>
            <a:pPr marL="0" indent="0">
              <a:buNone/>
            </a:pPr>
            <a:r>
              <a:rPr lang="en-US" sz="3400" b="1" dirty="0">
                <a:solidFill>
                  <a:srgbClr val="2F6B3A"/>
                </a:solidFill>
                <a:latin typeface="Cambria" pitchFamily="34" charset="0"/>
                <a:ea typeface="Cambria" pitchFamily="34" charset="-122"/>
                <a:cs typeface="Cambria" pitchFamily="34" charset="-120"/>
              </a:rPr>
              <a:t>99.2973 %</a:t>
            </a:r>
            <a:endParaRPr lang="en-US" sz="3400" dirty="0"/>
          </a:p>
        </p:txBody>
      </p:sp>
      <p:sp>
        <p:nvSpPr>
          <p:cNvPr id="24" name="Text 18"/>
          <p:cNvSpPr txBox="1"/>
          <p:nvPr/>
        </p:nvSpPr>
        <p:spPr>
          <a:xfrm>
            <a:off x="8394192" y="5687568"/>
            <a:ext cx="3108960" cy="411480"/>
          </a:xfrm>
          <a:prstGeom prst="rect">
            <a:avLst/>
          </a:prstGeom>
          <a:noFill/>
          <a:ln/>
        </p:spPr>
        <p:txBody>
          <a:bodyPr wrap="square" lIns="0" tIns="0" rIns="0" bIns="0" rtlCol="0" anchor="t"/>
          <a:lstStyle/>
          <a:p>
            <a:pPr marL="0" indent="0">
              <a:buNone/>
            </a:pPr>
            <a:r>
              <a:rPr lang="en-US" sz="1100" dirty="0">
                <a:solidFill>
                  <a:srgbClr val="5A5347"/>
                </a:solidFill>
                <a:latin typeface="Cambria" pitchFamily="34" charset="0"/>
                <a:ea typeface="Cambria" pitchFamily="34" charset="-122"/>
                <a:cs typeface="Cambria" pitchFamily="34" charset="-120"/>
              </a:rPr>
              <a:t>43,492 of 43,800 hours available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Availability Case Study 2: Crude Unit Desalter Vessel</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Evaluation of a non-isolatable critical pressure vessel.</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15</a:t>
            </a:r>
            <a:r>
              <a:rPr sz="900">
                <a:solidFill>
                  <a:srgbClr val="8A8477"/>
                </a:solidFill>
                <a:latin typeface="Courier New"/>
              </a:rPr>
              <a:t> / 80</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406640" cy="3200400"/>
        </p:xfrm>
        <a:graphic>
          <a:graphicData uri="http://schemas.openxmlformats.org/drawingml/2006/table">
            <a:tbl>
              <a:tblPr/>
              <a:tblGrid>
                <a:gridCol w="20116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tblGrid>
              <a:tr h="365760">
                <a:tc>
                  <a:txBody>
                    <a:bodyPr/>
                    <a:lstStyle/>
                    <a:p>
                      <a:pPr marL="0" indent="0">
                        <a:buNone/>
                      </a:pPr>
                      <a:r>
                        <a:rPr lang="en-US" sz="950" b="1" dirty="0">
                          <a:solidFill>
                            <a:srgbClr val="5A5347"/>
                          </a:solidFill>
                          <a:latin typeface="Courier New" pitchFamily="34" charset="0"/>
                          <a:ea typeface="Courier New" pitchFamily="34" charset="-122"/>
                          <a:cs typeface="Courier New" pitchFamily="34" charset="-120"/>
                        </a:rPr>
                        <a:t>OPERATIONAL PARAMETER</a:t>
                      </a:r>
                      <a:endParaRPr lang="en-US" sz="95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buNone/>
                      </a:pPr>
                      <a:r>
                        <a:rPr lang="en-US" sz="950" b="1" dirty="0">
                          <a:solidFill>
                            <a:srgbClr val="5A5347"/>
                          </a:solidFill>
                          <a:latin typeface="Courier New" pitchFamily="34" charset="0"/>
                          <a:ea typeface="Courier New" pitchFamily="34" charset="-122"/>
                          <a:cs typeface="Courier New" pitchFamily="34" charset="-120"/>
                        </a:rPr>
                        <a:t>OPERATING ASSUMPTIONS &amp; HISTORY</a:t>
                      </a:r>
                      <a:endParaRPr lang="en-US" sz="95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tc>
                  <a:txBody>
                    <a:bodyPr/>
                    <a:lstStyle/>
                    <a:p>
                      <a:pPr marL="0" indent="0">
                        <a:buNone/>
                      </a:pPr>
                      <a:r>
                        <a:rPr lang="en-US" sz="950" b="1" dirty="0">
                          <a:solidFill>
                            <a:srgbClr val="5A5347"/>
                          </a:solidFill>
                          <a:latin typeface="Courier New" pitchFamily="34" charset="0"/>
                          <a:ea typeface="Courier New" pitchFamily="34" charset="-122"/>
                          <a:cs typeface="Courier New" pitchFamily="34" charset="-120"/>
                        </a:rPr>
                        <a:t>CALCULATED OUTAGE IMPACT</a:t>
                      </a:r>
                      <a:endParaRPr lang="en-US" sz="950" dirty="0">
                        <a:latin typeface="Courier New" charset="0"/>
                        <a:ea typeface="Courier New" charset="0"/>
                        <a:cs typeface="Courier New"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E4CD"/>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Mission Evaluation Cycle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5 Calendar Years = 1,825 Days</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b="1" dirty="0">
                          <a:solidFill>
                            <a:srgbClr val="7A1F1A"/>
                          </a:solidFill>
                          <a:latin typeface="Cambria" pitchFamily="34" charset="0"/>
                          <a:ea typeface="Cambria" pitchFamily="34" charset="-122"/>
                          <a:cs typeface="Cambria" pitchFamily="34" charset="-120"/>
                        </a:rPr>
                        <a:t>43,800 Hours</a:t>
                      </a:r>
                      <a:r>
                        <a:rPr lang="en-US" sz="1150" dirty="0">
                          <a:solidFill>
                            <a:srgbClr val="2C261E"/>
                          </a:solidFill>
                          <a:latin typeface="Cambria" pitchFamily="34" charset="0"/>
                          <a:ea typeface="Cambria" pitchFamily="34" charset="-122"/>
                          <a:cs typeface="Cambria" pitchFamily="34" charset="-120"/>
                        </a:rPr>
                        <a:t> Total Exposure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Asset Isolation Feasibility</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Vessel has no bypass; trip shuts down distillation column</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b="1" dirty="0">
                          <a:solidFill>
                            <a:srgbClr val="7A1F1A"/>
                          </a:solidFill>
                          <a:latin typeface="Cambria" pitchFamily="34" charset="0"/>
                          <a:ea typeface="Cambria" pitchFamily="34" charset="-122"/>
                          <a:cs typeface="Cambria" pitchFamily="34" charset="-120"/>
                        </a:rPr>
                        <a:t>CANNOT</a:t>
                      </a:r>
                      <a:r>
                        <a:rPr lang="en-US" sz="1150" dirty="0">
                          <a:solidFill>
                            <a:srgbClr val="2C261E"/>
                          </a:solidFill>
                          <a:latin typeface="Cambria" pitchFamily="34" charset="0"/>
                          <a:ea typeface="Cambria" pitchFamily="34" charset="-122"/>
                          <a:cs typeface="Cambria" pitchFamily="34" charset="-120"/>
                        </a:rPr>
                        <a:t> be isolated online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Planned Inspection (NDT)</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Non-intrusive external ultrasonic thickness survey (online)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b="1" dirty="0">
                          <a:solidFill>
                            <a:srgbClr val="2F6B3A"/>
                          </a:solidFill>
                          <a:latin typeface="Cambria" pitchFamily="34" charset="0"/>
                          <a:ea typeface="Cambria" pitchFamily="34" charset="-122"/>
                          <a:cs typeface="Cambria" pitchFamily="34" charset="-120"/>
                        </a:rPr>
                        <a:t>0 Hours</a:t>
                      </a:r>
                      <a:r>
                        <a:rPr lang="en-US" sz="1150" dirty="0">
                          <a:solidFill>
                            <a:srgbClr val="2C261E"/>
                          </a:solidFill>
                          <a:latin typeface="Cambria" pitchFamily="34" charset="0"/>
                          <a:ea typeface="Cambria" pitchFamily="34" charset="-122"/>
                          <a:cs typeface="Cambria" pitchFamily="34" charset="-120"/>
                        </a:rPr>
                        <a:t> (Executed without unit shutdown)</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Unplanned Failure (Emergency)</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Flange loss of containment (1 event in 5 years; 10 days total)</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tc>
                  <a:txBody>
                    <a:bodyPr/>
                    <a:lstStyle/>
                    <a:p>
                      <a:pPr marL="0" indent="0">
                        <a:buNone/>
                      </a:pPr>
                      <a:r>
                        <a:rPr lang="en-US" sz="1150" b="1" dirty="0">
                          <a:solidFill>
                            <a:srgbClr val="7A1F1A"/>
                          </a:solidFill>
                          <a:latin typeface="Cambria" pitchFamily="34" charset="0"/>
                          <a:ea typeface="Cambria" pitchFamily="34" charset="-122"/>
                          <a:cs typeface="Cambria" pitchFamily="34" charset="-120"/>
                        </a:rPr>
                        <a:t>1 × (10 × 24) = 240 Hours</a:t>
                      </a:r>
                      <a:r>
                        <a:rPr lang="en-US" sz="1150" dirty="0">
                          <a:solidFill>
                            <a:srgbClr val="2C261E"/>
                          </a:solidFill>
                          <a:latin typeface="Cambria" pitchFamily="34" charset="0"/>
                          <a:ea typeface="Cambria" pitchFamily="34" charset="-122"/>
                          <a:cs typeface="Cambria" pitchFamily="34" charset="-120"/>
                        </a:rPr>
                        <a:t> Unplanned Outage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FBF4E4"/>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1C1712"/>
                          </a:solidFill>
                          <a:latin typeface="Cambria" pitchFamily="34" charset="0"/>
                          <a:ea typeface="Cambria" pitchFamily="34" charset="-122"/>
                          <a:cs typeface="Cambria" pitchFamily="34" charset="-120"/>
                        </a:rPr>
                        <a:t>Total Cumulative Downtime</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tc>
                  <a:txBody>
                    <a:bodyPr/>
                    <a:lstStyle/>
                    <a:p>
                      <a:pPr marL="0" indent="0">
                        <a:buNone/>
                      </a:pPr>
                      <a:r>
                        <a:rPr lang="en-US" sz="1150" dirty="0">
                          <a:solidFill>
                            <a:srgbClr val="2C261E"/>
                          </a:solidFill>
                          <a:latin typeface="Cambria" pitchFamily="34" charset="0"/>
                          <a:ea typeface="Cambria" pitchFamily="34" charset="-122"/>
                          <a:cs typeface="Cambria" pitchFamily="34" charset="-120"/>
                        </a:rPr>
                        <a:t>0 Hours (Planned) + 240 Hours (Unplanned)</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tc>
                  <a:txBody>
                    <a:bodyPr/>
                    <a:lstStyle/>
                    <a:p>
                      <a:pPr marL="0" indent="0">
                        <a:buNone/>
                      </a:pPr>
                      <a:r>
                        <a:rPr lang="en-US" sz="1150" b="1" dirty="0">
                          <a:solidFill>
                            <a:srgbClr val="7A1F1A"/>
                          </a:solidFill>
                          <a:latin typeface="Cambria" pitchFamily="34" charset="0"/>
                          <a:ea typeface="Cambria" pitchFamily="34" charset="-122"/>
                          <a:cs typeface="Cambria" pitchFamily="34" charset="-120"/>
                        </a:rPr>
                        <a:t>240 Hours</a:t>
                      </a:r>
                      <a:r>
                        <a:rPr lang="en-US" sz="1150" dirty="0">
                          <a:solidFill>
                            <a:srgbClr val="2C261E"/>
                          </a:solidFill>
                          <a:latin typeface="Cambria" pitchFamily="34" charset="0"/>
                          <a:ea typeface="Cambria" pitchFamily="34" charset="-122"/>
                          <a:cs typeface="Cambria" pitchFamily="34" charset="-120"/>
                        </a:rPr>
                        <a:t> Total Outage (10.0 Days)</a:t>
                      </a:r>
                      <a:endParaRPr lang="en-US" sz="1150" dirty="0">
                        <a:latin typeface="Cambria" charset="0"/>
                        <a:ea typeface="Cambria" charset="0"/>
                        <a:cs typeface="Cambria" charset="0"/>
                      </a:endParaRPr>
                    </a:p>
                  </a:txBody>
                  <a:tcPr marT="27432" marB="27432" anchor="ctr">
                    <a:lnL w="9525" cap="flat" cmpd="sng" algn="ctr">
                      <a:solidFill>
                        <a:srgbClr val="C9B48F"/>
                      </a:solidFill>
                      <a:prstDash val="solid"/>
                      <a:round/>
                      <a:headEnd type="none" w="med" len="med"/>
                      <a:tailEnd type="none" w="med" len="med"/>
                    </a:lnL>
                    <a:lnR w="9525" cap="flat" cmpd="sng" algn="ctr">
                      <a:solidFill>
                        <a:srgbClr val="C9B48F"/>
                      </a:solidFill>
                      <a:prstDash val="solid"/>
                      <a:round/>
                      <a:headEnd type="none" w="med" len="med"/>
                      <a:tailEnd type="none" w="med" len="med"/>
                    </a:lnR>
                    <a:lnT w="9525" cap="flat" cmpd="sng" algn="ctr">
                      <a:solidFill>
                        <a:srgbClr val="C9B48F"/>
                      </a:solidFill>
                      <a:prstDash val="solid"/>
                      <a:round/>
                      <a:headEnd type="none" w="med" len="med"/>
                      <a:tailEnd type="none" w="med" len="med"/>
                    </a:lnT>
                    <a:lnB w="9525" cap="flat" cmpd="sng" algn="ctr">
                      <a:solidFill>
                        <a:srgbClr val="C9B48F"/>
                      </a:solidFill>
                      <a:prstDash val="solid"/>
                      <a:round/>
                      <a:headEnd type="none" w="med" len="med"/>
                      <a:tailEnd type="none" w="med" len="med"/>
                    </a:lnB>
                    <a:solidFill>
                      <a:srgbClr val="EFDCCF"/>
                    </a:solidFill>
                  </a:tcPr>
                </a:tc>
                <a:extLst>
                  <a:ext uri="{0D108BD9-81ED-4DB2-BD59-A6C34878D82A}">
                    <a16:rowId xmlns:a16="http://schemas.microsoft.com/office/drawing/2014/main" val="10005"/>
                  </a:ext>
                </a:extLst>
              </a:tr>
            </a:tbl>
          </a:graphicData>
        </a:graphic>
      </p:graphicFrame>
      <p:sp>
        <p:nvSpPr>
          <p:cNvPr id="14" name="Shape 10"/>
          <p:cNvSpPr/>
          <p:nvPr/>
        </p:nvSpPr>
        <p:spPr>
          <a:xfrm>
            <a:off x="548640" y="5166360"/>
            <a:ext cx="7406640" cy="1051560"/>
          </a:xfrm>
          <a:prstGeom prst="rect">
            <a:avLst/>
          </a:prstGeom>
          <a:solidFill>
            <a:srgbClr val="EFE4CD"/>
          </a:solidFill>
          <a:ln w="12700">
            <a:solidFill>
              <a:srgbClr val="C9B48F"/>
            </a:solidFill>
            <a:prstDash val="solid"/>
          </a:ln>
        </p:spPr>
        <p:txBody>
          <a:bodyPr/>
          <a:lstStyle/>
          <a:p>
            <a:endParaRPr lang="en-IN"/>
          </a:p>
        </p:txBody>
      </p:sp>
      <p:sp>
        <p:nvSpPr>
          <p:cNvPr id="15" name="Text 11"/>
          <p:cNvSpPr txBox="1"/>
          <p:nvPr/>
        </p:nvSpPr>
        <p:spPr>
          <a:xfrm>
            <a:off x="749808" y="5285232"/>
            <a:ext cx="2743200" cy="219456"/>
          </a:xfrm>
          <a:prstGeom prst="rect">
            <a:avLst/>
          </a:prstGeom>
          <a:noFill/>
          <a:ln/>
        </p:spPr>
        <p:txBody>
          <a:bodyPr wrap="square" lIns="0" tIns="0" rIns="0" bIns="0" rtlCol="0" anchor="t"/>
          <a:lstStyle/>
          <a:p>
            <a:pPr marL="0" indent="0">
              <a:buNone/>
            </a:pPr>
            <a:r>
              <a:rPr lang="en-US" sz="950" b="1" kern="0" spc="150" dirty="0">
                <a:solidFill>
                  <a:srgbClr val="5A5347"/>
                </a:solidFill>
                <a:latin typeface="Courier New" pitchFamily="34" charset="0"/>
                <a:ea typeface="Courier New" pitchFamily="34" charset="-122"/>
                <a:cs typeface="Courier New" pitchFamily="34" charset="-120"/>
              </a:rPr>
              <a:t>CALCULATION</a:t>
            </a:r>
            <a:endParaRPr lang="en-US" sz="950" dirty="0"/>
          </a:p>
        </p:txBody>
      </p:sp>
      <p:pic>
        <p:nvPicPr>
          <p:cNvPr id="13" name="Image 1" descr="Formula"/>
          <p:cNvPicPr>
            <a:picLocks noChangeAspect="1"/>
          </p:cNvPicPr>
          <p:nvPr/>
        </p:nvPicPr>
        <p:blipFill>
          <a:blip r:embed="rId4"/>
          <a:stretch>
            <a:fillRect/>
          </a:stretch>
        </p:blipFill>
        <p:spPr>
          <a:xfrm>
            <a:off x="1501439" y="5440680"/>
            <a:ext cx="5501041" cy="731520"/>
          </a:xfrm>
          <a:prstGeom prst="rect">
            <a:avLst/>
          </a:prstGeom>
        </p:spPr>
      </p:pic>
      <p:sp>
        <p:nvSpPr>
          <p:cNvPr id="17" name="Shape 12"/>
          <p:cNvSpPr/>
          <p:nvPr/>
        </p:nvSpPr>
        <p:spPr>
          <a:xfrm>
            <a:off x="8183880" y="1737360"/>
            <a:ext cx="3456432" cy="2743200"/>
          </a:xfrm>
          <a:prstGeom prst="rect">
            <a:avLst/>
          </a:prstGeom>
          <a:solidFill>
            <a:srgbClr val="FBF4E4"/>
          </a:solidFill>
          <a:ln w="12700">
            <a:solidFill>
              <a:srgbClr val="C9B48F"/>
            </a:solidFill>
            <a:prstDash val="solid"/>
          </a:ln>
        </p:spPr>
        <p:txBody>
          <a:bodyPr/>
          <a:lstStyle/>
          <a:p>
            <a:endParaRPr lang="en-IN"/>
          </a:p>
        </p:txBody>
      </p:sp>
      <p:sp>
        <p:nvSpPr>
          <p:cNvPr id="18" name="Text 13"/>
          <p:cNvSpPr txBox="1"/>
          <p:nvPr/>
        </p:nvSpPr>
        <p:spPr>
          <a:xfrm>
            <a:off x="8385048" y="1874520"/>
            <a:ext cx="3054096"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OUTAGE PARTITION: 5-YEAR CYCLE</a:t>
            </a:r>
            <a:endParaRPr lang="en-US" sz="850" dirty="0"/>
          </a:p>
        </p:txBody>
      </p:sp>
      <p:sp>
        <p:nvSpPr>
          <p:cNvPr id="19" name="Shape 14"/>
          <p:cNvSpPr/>
          <p:nvPr/>
        </p:nvSpPr>
        <p:spPr>
          <a:xfrm>
            <a:off x="8385048" y="2121408"/>
            <a:ext cx="3054096" cy="0"/>
          </a:xfrm>
          <a:prstGeom prst="line">
            <a:avLst/>
          </a:prstGeom>
          <a:noFill/>
          <a:ln w="9525">
            <a:solidFill>
              <a:srgbClr val="C9B48F"/>
            </a:solidFill>
            <a:prstDash val="solid"/>
          </a:ln>
        </p:spPr>
        <p:txBody>
          <a:bodyPr/>
          <a:lstStyle/>
          <a:p>
            <a:endParaRPr lang="en-IN"/>
          </a:p>
        </p:txBody>
      </p:sp>
      <p:pic>
        <p:nvPicPr>
          <p:cNvPr id="20" name="Image 2" descr="s15_0"/>
          <p:cNvPicPr>
            <a:picLocks noChangeAspect="1"/>
          </p:cNvPicPr>
          <p:nvPr/>
        </p:nvPicPr>
        <p:blipFill>
          <a:blip r:embed="rId5"/>
          <a:stretch>
            <a:fillRect/>
          </a:stretch>
        </p:blipFill>
        <p:spPr>
          <a:xfrm>
            <a:off x="8385048" y="2358394"/>
            <a:ext cx="3054096" cy="1830317"/>
          </a:xfrm>
          <a:prstGeom prst="rect">
            <a:avLst/>
          </a:prstGeom>
        </p:spPr>
      </p:pic>
      <p:sp>
        <p:nvSpPr>
          <p:cNvPr id="21" name="Shape 15"/>
          <p:cNvSpPr/>
          <p:nvPr/>
        </p:nvSpPr>
        <p:spPr>
          <a:xfrm>
            <a:off x="8183880" y="4663440"/>
            <a:ext cx="3456432" cy="1554480"/>
          </a:xfrm>
          <a:prstGeom prst="rect">
            <a:avLst/>
          </a:prstGeom>
          <a:solidFill>
            <a:srgbClr val="DDE7D6"/>
          </a:solidFill>
          <a:ln w="12700">
            <a:solidFill>
              <a:srgbClr val="2F6B3A"/>
            </a:solidFill>
            <a:prstDash val="solid"/>
          </a:ln>
        </p:spPr>
        <p:txBody>
          <a:bodyPr/>
          <a:lstStyle/>
          <a:p>
            <a:endParaRPr lang="en-IN"/>
          </a:p>
        </p:txBody>
      </p:sp>
      <p:sp>
        <p:nvSpPr>
          <p:cNvPr id="22" name="Text 16"/>
          <p:cNvSpPr txBox="1"/>
          <p:nvPr/>
        </p:nvSpPr>
        <p:spPr>
          <a:xfrm>
            <a:off x="8394192" y="4800600"/>
            <a:ext cx="3108960" cy="219456"/>
          </a:xfrm>
          <a:prstGeom prst="rect">
            <a:avLst/>
          </a:prstGeom>
          <a:noFill/>
          <a:ln/>
        </p:spPr>
        <p:txBody>
          <a:bodyPr wrap="square" lIns="0" tIns="0" rIns="0" bIns="0" rtlCol="0" anchor="t"/>
          <a:lstStyle/>
          <a:p>
            <a:pPr marL="0" indent="0">
              <a:buNone/>
            </a:pPr>
            <a:r>
              <a:rPr lang="en-US" sz="950" b="1" kern="0" spc="150" dirty="0">
                <a:solidFill>
                  <a:srgbClr val="2F6B3A"/>
                </a:solidFill>
                <a:latin typeface="Courier New" pitchFamily="34" charset="0"/>
                <a:ea typeface="Courier New" pitchFamily="34" charset="-122"/>
                <a:cs typeface="Courier New" pitchFamily="34" charset="-120"/>
              </a:rPr>
              <a:t>CALCULATED AVAILABILITY</a:t>
            </a:r>
            <a:endParaRPr lang="en-US" sz="950" dirty="0"/>
          </a:p>
        </p:txBody>
      </p:sp>
      <p:sp>
        <p:nvSpPr>
          <p:cNvPr id="23" name="Text 17"/>
          <p:cNvSpPr txBox="1"/>
          <p:nvPr/>
        </p:nvSpPr>
        <p:spPr>
          <a:xfrm>
            <a:off x="8394192" y="5029200"/>
            <a:ext cx="3108960" cy="640080"/>
          </a:xfrm>
          <a:prstGeom prst="rect">
            <a:avLst/>
          </a:prstGeom>
          <a:noFill/>
          <a:ln/>
        </p:spPr>
        <p:txBody>
          <a:bodyPr wrap="square" lIns="0" tIns="0" rIns="0" bIns="0" rtlCol="0" anchor="t"/>
          <a:lstStyle/>
          <a:p>
            <a:pPr marL="0" indent="0">
              <a:buNone/>
            </a:pPr>
            <a:r>
              <a:rPr lang="en-US" sz="3400" b="1" dirty="0">
                <a:solidFill>
                  <a:srgbClr val="2F6B3A"/>
                </a:solidFill>
                <a:latin typeface="Cambria" pitchFamily="34" charset="0"/>
                <a:ea typeface="Cambria" pitchFamily="34" charset="-122"/>
                <a:cs typeface="Cambria" pitchFamily="34" charset="-120"/>
              </a:rPr>
              <a:t>99.4524 %</a:t>
            </a:r>
            <a:endParaRPr lang="en-US" sz="3400" dirty="0"/>
          </a:p>
        </p:txBody>
      </p:sp>
      <p:sp>
        <p:nvSpPr>
          <p:cNvPr id="24" name="Text 18"/>
          <p:cNvSpPr txBox="1"/>
          <p:nvPr/>
        </p:nvSpPr>
        <p:spPr>
          <a:xfrm>
            <a:off x="8394192" y="5687568"/>
            <a:ext cx="3108960" cy="411480"/>
          </a:xfrm>
          <a:prstGeom prst="rect">
            <a:avLst/>
          </a:prstGeom>
          <a:noFill/>
          <a:ln/>
        </p:spPr>
        <p:txBody>
          <a:bodyPr wrap="square" lIns="0" tIns="0" rIns="0" bIns="0" rtlCol="0" anchor="t"/>
          <a:lstStyle/>
          <a:p>
            <a:pPr marL="0" indent="0">
              <a:buNone/>
            </a:pPr>
            <a:r>
              <a:rPr lang="en-US" sz="1100" dirty="0">
                <a:solidFill>
                  <a:srgbClr val="5A5347"/>
                </a:solidFill>
                <a:latin typeface="Cambria" pitchFamily="34" charset="0"/>
                <a:ea typeface="Cambria" pitchFamily="34" charset="-122"/>
                <a:cs typeface="Cambria" pitchFamily="34" charset="-120"/>
              </a:rPr>
              <a:t>43,560 of 43,800 hours available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Failure (Hazard) Rate Fundamentals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Mathematical definition, operational exposure time, and the fundamental hazard formulation.</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16</a:t>
            </a:r>
            <a:r>
              <a:rPr sz="900">
                <a:solidFill>
                  <a:srgbClr val="8A8477"/>
                </a:solidFill>
                <a:latin typeface="Courier New"/>
              </a:rPr>
              <a:t> / 80</a:t>
            </a:r>
            <a:endParaRPr lang="en-US" sz="900" dirty="0"/>
          </a:p>
        </p:txBody>
      </p:sp>
      <p:sp>
        <p:nvSpPr>
          <p:cNvPr id="13" name="Shape 10"/>
          <p:cNvSpPr/>
          <p:nvPr/>
        </p:nvSpPr>
        <p:spPr>
          <a:xfrm>
            <a:off x="548640" y="1737360"/>
            <a:ext cx="11091672" cy="731520"/>
          </a:xfrm>
          <a:prstGeom prst="rect">
            <a:avLst/>
          </a:prstGeom>
          <a:solidFill>
            <a:srgbClr val="EFE4CD"/>
          </a:solidFill>
          <a:ln w="12700">
            <a:solidFill>
              <a:srgbClr val="C9B48F"/>
            </a:solidFill>
            <a:prstDash val="solid"/>
          </a:ln>
        </p:spPr>
        <p:txBody>
          <a:bodyPr/>
          <a:lstStyle/>
          <a:p>
            <a:endParaRPr lang="en-IN"/>
          </a:p>
        </p:txBody>
      </p:sp>
      <p:sp>
        <p:nvSpPr>
          <p:cNvPr id="14" name="Text 11"/>
          <p:cNvSpPr txBox="1"/>
          <p:nvPr/>
        </p:nvSpPr>
        <p:spPr>
          <a:xfrm>
            <a:off x="777240" y="1737360"/>
            <a:ext cx="10698480" cy="731520"/>
          </a:xfrm>
          <a:prstGeom prst="rect">
            <a:avLst/>
          </a:prstGeom>
          <a:noFill/>
          <a:ln/>
        </p:spPr>
        <p:txBody>
          <a:bodyPr wrap="square" lIns="0" tIns="0" rIns="0" bIns="0" rtlCol="0" anchor="ctr"/>
          <a:lstStyle/>
          <a:p>
            <a:pPr marL="0" indent="0">
              <a:buNone/>
            </a:pPr>
            <a:r>
              <a:rPr lang="en-US" sz="1350" b="1" dirty="0">
                <a:solidFill>
                  <a:srgbClr val="1C1712"/>
                </a:solidFill>
                <a:latin typeface="Cambria" pitchFamily="34" charset="0"/>
                <a:ea typeface="Cambria" pitchFamily="34" charset="-122"/>
                <a:cs typeface="Cambria" pitchFamily="34" charset="-120"/>
              </a:rPr>
              <a:t>Failure Rate (λ):</a:t>
            </a:r>
            <a:r>
              <a:rPr lang="en-US" sz="1350" dirty="0">
                <a:solidFill>
                  <a:srgbClr val="2C261E"/>
                </a:solidFill>
                <a:latin typeface="Cambria" pitchFamily="34" charset="0"/>
                <a:ea typeface="Cambria" pitchFamily="34" charset="-122"/>
                <a:cs typeface="Cambria" pitchFamily="34" charset="-120"/>
              </a:rPr>
              <a:t> The frequency with which an engineered component, asset, or system fails per unit of operational exposure time.</a:t>
            </a:r>
            <a:endParaRPr lang="en-US" sz="1350" dirty="0"/>
          </a:p>
        </p:txBody>
      </p:sp>
      <p:sp>
        <p:nvSpPr>
          <p:cNvPr id="15" name="Shape 12"/>
          <p:cNvSpPr/>
          <p:nvPr/>
        </p:nvSpPr>
        <p:spPr>
          <a:xfrm>
            <a:off x="548640" y="2651760"/>
            <a:ext cx="11091672" cy="1508760"/>
          </a:xfrm>
          <a:prstGeom prst="rect">
            <a:avLst/>
          </a:prstGeom>
          <a:solidFill>
            <a:srgbClr val="EFDCCF"/>
          </a:solidFill>
          <a:ln w="12700">
            <a:solidFill>
              <a:srgbClr val="C9B48F"/>
            </a:solidFill>
            <a:prstDash val="solid"/>
          </a:ln>
        </p:spPr>
        <p:txBody>
          <a:bodyPr/>
          <a:lstStyle/>
          <a:p>
            <a:endParaRPr lang="en-IN"/>
          </a:p>
        </p:txBody>
      </p:sp>
      <p:sp>
        <p:nvSpPr>
          <p:cNvPr id="16" name="Text 13"/>
          <p:cNvSpPr txBox="1"/>
          <p:nvPr/>
        </p:nvSpPr>
        <p:spPr>
          <a:xfrm>
            <a:off x="777240" y="2788920"/>
            <a:ext cx="54864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GOVERNING FORMULATION: HAZARD RATE (λ)</a:t>
            </a:r>
            <a:endParaRPr lang="en-US" sz="950" dirty="0"/>
          </a:p>
        </p:txBody>
      </p:sp>
      <p:pic>
        <p:nvPicPr>
          <p:cNvPr id="17" name="Image 1" descr="Formula"/>
          <p:cNvPicPr>
            <a:picLocks noChangeAspect="1"/>
          </p:cNvPicPr>
          <p:nvPr/>
        </p:nvPicPr>
        <p:blipFill>
          <a:blip r:embed="rId4"/>
          <a:stretch>
            <a:fillRect/>
          </a:stretch>
        </p:blipFill>
        <p:spPr>
          <a:xfrm>
            <a:off x="2280426" y="3017520"/>
            <a:ext cx="7600669" cy="1051560"/>
          </a:xfrm>
          <a:prstGeom prst="rect">
            <a:avLst/>
          </a:prstGeom>
        </p:spPr>
      </p:pic>
      <p:sp>
        <p:nvSpPr>
          <p:cNvPr id="18" name="Shape 14"/>
          <p:cNvSpPr/>
          <p:nvPr/>
        </p:nvSpPr>
        <p:spPr>
          <a:xfrm>
            <a:off x="548640" y="4343400"/>
            <a:ext cx="5431536" cy="1874520"/>
          </a:xfrm>
          <a:prstGeom prst="rect">
            <a:avLst/>
          </a:prstGeom>
          <a:solidFill>
            <a:srgbClr val="FBF4E4"/>
          </a:solidFill>
          <a:ln w="12700">
            <a:solidFill>
              <a:srgbClr val="C9B48F"/>
            </a:solidFill>
            <a:prstDash val="solid"/>
          </a:ln>
        </p:spPr>
        <p:txBody>
          <a:bodyPr/>
          <a:lstStyle/>
          <a:p>
            <a:endParaRPr lang="en-IN"/>
          </a:p>
        </p:txBody>
      </p:sp>
      <p:sp>
        <p:nvSpPr>
          <p:cNvPr id="19" name="Text 15"/>
          <p:cNvSpPr txBox="1"/>
          <p:nvPr/>
        </p:nvSpPr>
        <p:spPr>
          <a:xfrm>
            <a:off x="777240" y="4498848"/>
            <a:ext cx="493776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Engineering Interpretation</a:t>
            </a:r>
            <a:endParaRPr lang="en-US" sz="1500" dirty="0"/>
          </a:p>
        </p:txBody>
      </p:sp>
      <p:sp>
        <p:nvSpPr>
          <p:cNvPr id="20" name="Text 16"/>
          <p:cNvSpPr txBox="1"/>
          <p:nvPr/>
        </p:nvSpPr>
        <p:spPr>
          <a:xfrm>
            <a:off x="777240" y="4873752"/>
            <a:ext cx="4983480" cy="1280160"/>
          </a:xfrm>
          <a:prstGeom prst="rect">
            <a:avLst/>
          </a:prstGeom>
          <a:noFill/>
          <a:ln/>
        </p:spPr>
        <p:txBody>
          <a:bodyPr wrap="square" lIns="0" tIns="0" rIns="0" bIns="0" rtlCol="0" anchor="t"/>
          <a:lstStyle/>
          <a:p>
            <a:pPr marL="190500" indent="-190500">
              <a:spcAft>
                <a:spcPts val="800"/>
              </a:spcAft>
              <a:buSzPct val="100000"/>
              <a:buChar char="▪"/>
            </a:pPr>
            <a:r>
              <a:rPr lang="en-US" sz="1250" b="1" dirty="0">
                <a:solidFill>
                  <a:srgbClr val="1C1712"/>
                </a:solidFill>
                <a:latin typeface="Cambria" pitchFamily="34" charset="0"/>
                <a:ea typeface="Cambria" pitchFamily="34" charset="-122"/>
                <a:cs typeface="Cambria" pitchFamily="34" charset="-120"/>
              </a:rPr>
              <a:t>Denominator Sensitivity:</a:t>
            </a:r>
            <a:r>
              <a:rPr lang="en-US" sz="1250" dirty="0">
                <a:solidFill>
                  <a:srgbClr val="2C261E"/>
                </a:solidFill>
                <a:latin typeface="Cambria" pitchFamily="34" charset="0"/>
                <a:ea typeface="Cambria" pitchFamily="34" charset="-122"/>
                <a:cs typeface="Cambria" pitchFamily="34" charset="-120"/>
              </a:rPr>
              <a:t> Must represent true operating hours (exposure time), excluding standby and turnaround.</a:t>
            </a:r>
            <a:endParaRPr lang="en-US" sz="1250" dirty="0"/>
          </a:p>
          <a:p>
            <a:pPr marL="190500" indent="-190500">
              <a:spcAft>
                <a:spcPts val="800"/>
              </a:spcAft>
              <a:buSzPct val="100000"/>
              <a:buChar char="▪"/>
            </a:pPr>
            <a:r>
              <a:rPr lang="en-US" sz="1250" b="1" dirty="0">
                <a:solidFill>
                  <a:srgbClr val="1C1712"/>
                </a:solidFill>
                <a:latin typeface="Cambria" pitchFamily="34" charset="0"/>
                <a:ea typeface="Cambria" pitchFamily="34" charset="-122"/>
                <a:cs typeface="Cambria" pitchFamily="34" charset="-120"/>
              </a:rPr>
              <a:t>Reciprocal Identity:</a:t>
            </a:r>
            <a:r>
              <a:rPr lang="en-US" sz="1250" dirty="0">
                <a:solidFill>
                  <a:srgbClr val="2C261E"/>
                </a:solidFill>
                <a:latin typeface="Cambria" pitchFamily="34" charset="0"/>
                <a:ea typeface="Cambria" pitchFamily="34" charset="-122"/>
                <a:cs typeface="Cambria" pitchFamily="34" charset="-120"/>
              </a:rPr>
              <a:t> For constant failure rates, λ = 1 / MTBF and MTBF = 1 / λ.</a:t>
            </a:r>
            <a:endParaRPr lang="en-US" sz="1250" dirty="0"/>
          </a:p>
        </p:txBody>
      </p:sp>
      <p:sp>
        <p:nvSpPr>
          <p:cNvPr id="21" name="Shape 17"/>
          <p:cNvSpPr/>
          <p:nvPr/>
        </p:nvSpPr>
        <p:spPr>
          <a:xfrm>
            <a:off x="6208776" y="4343400"/>
            <a:ext cx="5431536" cy="1874520"/>
          </a:xfrm>
          <a:prstGeom prst="rect">
            <a:avLst/>
          </a:prstGeom>
          <a:solidFill>
            <a:srgbClr val="FBF4E4"/>
          </a:solidFill>
          <a:ln w="12700">
            <a:solidFill>
              <a:srgbClr val="C9B48F"/>
            </a:solidFill>
            <a:prstDash val="solid"/>
          </a:ln>
        </p:spPr>
        <p:txBody>
          <a:bodyPr/>
          <a:lstStyle/>
          <a:p>
            <a:endParaRPr lang="en-IN"/>
          </a:p>
        </p:txBody>
      </p:sp>
      <p:sp>
        <p:nvSpPr>
          <p:cNvPr id="22" name="Text 18"/>
          <p:cNvSpPr txBox="1"/>
          <p:nvPr/>
        </p:nvSpPr>
        <p:spPr>
          <a:xfrm>
            <a:off x="6437376" y="4498848"/>
            <a:ext cx="493776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Population vs. Asset-Level Rates</a:t>
            </a:r>
            <a:endParaRPr lang="en-US" sz="1500" dirty="0"/>
          </a:p>
        </p:txBody>
      </p:sp>
      <p:sp>
        <p:nvSpPr>
          <p:cNvPr id="23" name="Text 19"/>
          <p:cNvSpPr txBox="1"/>
          <p:nvPr/>
        </p:nvSpPr>
        <p:spPr>
          <a:xfrm>
            <a:off x="6437376" y="4873752"/>
            <a:ext cx="4983480" cy="1280160"/>
          </a:xfrm>
          <a:prstGeom prst="rect">
            <a:avLst/>
          </a:prstGeom>
          <a:noFill/>
          <a:ln/>
        </p:spPr>
        <p:txBody>
          <a:bodyPr wrap="square" lIns="0" tIns="0" rIns="0" bIns="0" rtlCol="0" anchor="t"/>
          <a:lstStyle/>
          <a:p>
            <a:pPr marL="190500" indent="-190500">
              <a:spcAft>
                <a:spcPts val="800"/>
              </a:spcAft>
              <a:buSzPct val="100000"/>
              <a:buChar char="▪"/>
            </a:pPr>
            <a:r>
              <a:rPr lang="en-US" sz="1250" b="1" dirty="0">
                <a:solidFill>
                  <a:srgbClr val="1C1712"/>
                </a:solidFill>
                <a:latin typeface="Cambria" pitchFamily="34" charset="0"/>
                <a:ea typeface="Cambria" pitchFamily="34" charset="-122"/>
                <a:cs typeface="Cambria" pitchFamily="34" charset="-120"/>
              </a:rPr>
              <a:t>Fleet Aggregation:</a:t>
            </a:r>
            <a:r>
              <a:rPr lang="en-US" sz="1250" dirty="0">
                <a:solidFill>
                  <a:srgbClr val="2C261E"/>
                </a:solidFill>
                <a:latin typeface="Cambria" pitchFamily="34" charset="0"/>
                <a:ea typeface="Cambria" pitchFamily="34" charset="-122"/>
                <a:cs typeface="Cambria" pitchFamily="34" charset="-120"/>
              </a:rPr>
              <a:t> Expressed as failures per fleet-year (e.g. 0.20 failures/pump-year across 50 pumps).</a:t>
            </a:r>
            <a:endParaRPr lang="en-US" sz="1250" dirty="0"/>
          </a:p>
          <a:p>
            <a:pPr marL="190500" indent="-190500">
              <a:spcAft>
                <a:spcPts val="800"/>
              </a:spcAft>
              <a:buSzPct val="100000"/>
              <a:buChar char="▪"/>
            </a:pPr>
            <a:r>
              <a:rPr lang="en-US" sz="1250" b="1" dirty="0">
                <a:solidFill>
                  <a:srgbClr val="1C1712"/>
                </a:solidFill>
                <a:latin typeface="Cambria" pitchFamily="34" charset="0"/>
                <a:ea typeface="Cambria" pitchFamily="34" charset="-122"/>
                <a:cs typeface="Cambria" pitchFamily="34" charset="-120"/>
              </a:rPr>
              <a:t>Bayesian Prior:</a:t>
            </a:r>
            <a:r>
              <a:rPr lang="en-US" sz="1250" dirty="0">
                <a:solidFill>
                  <a:srgbClr val="2C261E"/>
                </a:solidFill>
                <a:latin typeface="Cambria" pitchFamily="34" charset="0"/>
                <a:ea typeface="Cambria" pitchFamily="34" charset="-122"/>
                <a:cs typeface="Cambria" pitchFamily="34" charset="-120"/>
              </a:rPr>
              <a:t> Serves as the baseline prior distribution before sensor telemetry updates.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Failure Rate Worked Engineering Case Studies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Step-by-step calculations for single operating assets and multi-unit plant populations.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17</a:t>
            </a:r>
            <a:r>
              <a:rPr sz="900">
                <a:solidFill>
                  <a:srgbClr val="8A8477"/>
                </a:solidFill>
                <a:latin typeface="Courier New"/>
              </a:rPr>
              <a:t> / 80</a:t>
            </a:r>
            <a:endParaRPr lang="en-US" sz="900" dirty="0"/>
          </a:p>
        </p:txBody>
      </p:sp>
      <p:sp>
        <p:nvSpPr>
          <p:cNvPr id="13" name="Shape 10"/>
          <p:cNvSpPr/>
          <p:nvPr/>
        </p:nvSpPr>
        <p:spPr>
          <a:xfrm>
            <a:off x="548640" y="1737360"/>
            <a:ext cx="5431536" cy="35204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892808"/>
            <a:ext cx="36576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WORKED EXAMPLE 1</a:t>
            </a:r>
            <a:endParaRPr lang="en-US" sz="950" dirty="0"/>
          </a:p>
        </p:txBody>
      </p:sp>
      <p:sp>
        <p:nvSpPr>
          <p:cNvPr id="15" name="Text 12"/>
          <p:cNvSpPr txBox="1"/>
          <p:nvPr/>
        </p:nvSpPr>
        <p:spPr>
          <a:xfrm>
            <a:off x="777240" y="2130552"/>
            <a:ext cx="4937760" cy="310896"/>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Single Continuous Asset</a:t>
            </a:r>
            <a:endParaRPr lang="en-US" sz="1600" dirty="0"/>
          </a:p>
        </p:txBody>
      </p:sp>
      <p:sp>
        <p:nvSpPr>
          <p:cNvPr id="16" name="Text 13"/>
          <p:cNvSpPr txBox="1"/>
          <p:nvPr/>
        </p:nvSpPr>
        <p:spPr>
          <a:xfrm>
            <a:off x="777240" y="2542032"/>
            <a:ext cx="4983480" cy="50292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An item operates continuously for </a:t>
            </a:r>
            <a:r>
              <a:rPr lang="en-US" sz="1300" b="1" dirty="0">
                <a:solidFill>
                  <a:srgbClr val="1C1712"/>
                </a:solidFill>
                <a:latin typeface="Cambria" pitchFamily="34" charset="0"/>
                <a:ea typeface="Cambria" pitchFamily="34" charset="-122"/>
                <a:cs typeface="Cambria" pitchFamily="34" charset="-120"/>
              </a:rPr>
              <a:t>10,000 hours</a:t>
            </a:r>
            <a:r>
              <a:rPr lang="en-US" sz="1300" dirty="0">
                <a:solidFill>
                  <a:srgbClr val="2C261E"/>
                </a:solidFill>
                <a:latin typeface="Cambria" pitchFamily="34" charset="0"/>
                <a:ea typeface="Cambria" pitchFamily="34" charset="-122"/>
                <a:cs typeface="Cambria" pitchFamily="34" charset="-120"/>
              </a:rPr>
              <a:t> and experiences </a:t>
            </a:r>
            <a:r>
              <a:rPr lang="en-US" sz="1300" b="1" dirty="0">
                <a:solidFill>
                  <a:srgbClr val="1C1712"/>
                </a:solidFill>
                <a:latin typeface="Cambria" pitchFamily="34" charset="0"/>
                <a:ea typeface="Cambria" pitchFamily="34" charset="-122"/>
                <a:cs typeface="Cambria" pitchFamily="34" charset="-120"/>
              </a:rPr>
              <a:t>1 failure</a:t>
            </a:r>
            <a:r>
              <a:rPr lang="en-US" sz="1300" dirty="0">
                <a:solidFill>
                  <a:srgbClr val="2C261E"/>
                </a:solidFill>
                <a:latin typeface="Cambria" pitchFamily="34" charset="0"/>
                <a:ea typeface="Cambria" pitchFamily="34" charset="-122"/>
                <a:cs typeface="Cambria" pitchFamily="34" charset="-120"/>
              </a:rPr>
              <a:t>.</a:t>
            </a:r>
            <a:endParaRPr lang="en-US" sz="1300" dirty="0"/>
          </a:p>
        </p:txBody>
      </p:sp>
      <p:sp>
        <p:nvSpPr>
          <p:cNvPr id="17" name="Shape 14"/>
          <p:cNvSpPr/>
          <p:nvPr/>
        </p:nvSpPr>
        <p:spPr>
          <a:xfrm>
            <a:off x="777240" y="3108960"/>
            <a:ext cx="4974336" cy="914400"/>
          </a:xfrm>
          <a:prstGeom prst="rect">
            <a:avLst/>
          </a:prstGeom>
          <a:solidFill>
            <a:srgbClr val="EADDC0"/>
          </a:solidFill>
          <a:ln w="12700">
            <a:solidFill>
              <a:srgbClr val="C9B48F"/>
            </a:solidFill>
            <a:prstDash val="solid"/>
          </a:ln>
        </p:spPr>
        <p:txBody>
          <a:bodyPr/>
          <a:lstStyle/>
          <a:p>
            <a:endParaRPr lang="en-IN"/>
          </a:p>
        </p:txBody>
      </p:sp>
      <p:pic>
        <p:nvPicPr>
          <p:cNvPr id="18" name="Image 1" descr="Formula"/>
          <p:cNvPicPr>
            <a:picLocks noChangeAspect="1"/>
          </p:cNvPicPr>
          <p:nvPr/>
        </p:nvPicPr>
        <p:blipFill>
          <a:blip r:embed="rId4"/>
          <a:stretch>
            <a:fillRect/>
          </a:stretch>
        </p:blipFill>
        <p:spPr>
          <a:xfrm>
            <a:off x="868680" y="3249679"/>
            <a:ext cx="4791456" cy="632962"/>
          </a:xfrm>
          <a:prstGeom prst="rect">
            <a:avLst/>
          </a:prstGeom>
        </p:spPr>
      </p:pic>
      <p:sp>
        <p:nvSpPr>
          <p:cNvPr id="19" name="Text 15"/>
          <p:cNvSpPr txBox="1"/>
          <p:nvPr/>
        </p:nvSpPr>
        <p:spPr>
          <a:xfrm>
            <a:off x="777240" y="4160520"/>
            <a:ext cx="3657600" cy="219456"/>
          </a:xfrm>
          <a:prstGeom prst="rect">
            <a:avLst/>
          </a:prstGeom>
          <a:noFill/>
          <a:ln/>
        </p:spPr>
        <p:txBody>
          <a:bodyPr wrap="square" lIns="0" tIns="0" rIns="0" bIns="0" rtlCol="0" anchor="t"/>
          <a:lstStyle/>
          <a:p>
            <a:pPr marL="0" indent="0">
              <a:buNone/>
            </a:pPr>
            <a:r>
              <a:rPr lang="en-US" sz="950" b="1" kern="0" spc="150" dirty="0">
                <a:solidFill>
                  <a:srgbClr val="5A5347"/>
                </a:solidFill>
                <a:latin typeface="Courier New" pitchFamily="34" charset="0"/>
                <a:ea typeface="Courier New" pitchFamily="34" charset="-122"/>
                <a:cs typeface="Courier New" pitchFamily="34" charset="-120"/>
              </a:rPr>
              <a:t>MTBF EQUIVALENCY</a:t>
            </a:r>
            <a:endParaRPr lang="en-US" sz="950" dirty="0"/>
          </a:p>
        </p:txBody>
      </p:sp>
      <p:sp>
        <p:nvSpPr>
          <p:cNvPr id="20" name="Shape 16"/>
          <p:cNvSpPr/>
          <p:nvPr/>
        </p:nvSpPr>
        <p:spPr>
          <a:xfrm>
            <a:off x="777240" y="4407408"/>
            <a:ext cx="4974336" cy="713232"/>
          </a:xfrm>
          <a:prstGeom prst="rect">
            <a:avLst/>
          </a:prstGeom>
          <a:solidFill>
            <a:srgbClr val="EFDCCF"/>
          </a:solidFill>
          <a:ln w="12700">
            <a:solidFill>
              <a:srgbClr val="C9B48F"/>
            </a:solidFill>
            <a:prstDash val="solid"/>
          </a:ln>
        </p:spPr>
        <p:txBody>
          <a:bodyPr/>
          <a:lstStyle/>
          <a:p>
            <a:endParaRPr lang="en-IN"/>
          </a:p>
        </p:txBody>
      </p:sp>
      <p:pic>
        <p:nvPicPr>
          <p:cNvPr id="21" name="Image 2" descr="Formula"/>
          <p:cNvPicPr>
            <a:picLocks noChangeAspect="1"/>
          </p:cNvPicPr>
          <p:nvPr/>
        </p:nvPicPr>
        <p:blipFill>
          <a:blip r:embed="rId5"/>
          <a:stretch>
            <a:fillRect/>
          </a:stretch>
        </p:blipFill>
        <p:spPr>
          <a:xfrm>
            <a:off x="868680" y="4479496"/>
            <a:ext cx="4791456" cy="569056"/>
          </a:xfrm>
          <a:prstGeom prst="rect">
            <a:avLst/>
          </a:prstGeom>
        </p:spPr>
      </p:pic>
      <p:sp>
        <p:nvSpPr>
          <p:cNvPr id="22" name="Shape 17"/>
          <p:cNvSpPr/>
          <p:nvPr/>
        </p:nvSpPr>
        <p:spPr>
          <a:xfrm>
            <a:off x="6208776" y="1737360"/>
            <a:ext cx="5431536" cy="3520440"/>
          </a:xfrm>
          <a:prstGeom prst="rect">
            <a:avLst/>
          </a:prstGeom>
          <a:solidFill>
            <a:srgbClr val="FBF4E4"/>
          </a:solidFill>
          <a:ln w="12700">
            <a:solidFill>
              <a:srgbClr val="C9B48F"/>
            </a:solidFill>
            <a:prstDash val="solid"/>
          </a:ln>
        </p:spPr>
        <p:txBody>
          <a:bodyPr/>
          <a:lstStyle/>
          <a:p>
            <a:endParaRPr lang="en-IN"/>
          </a:p>
        </p:txBody>
      </p:sp>
      <p:sp>
        <p:nvSpPr>
          <p:cNvPr id="23" name="Text 18"/>
          <p:cNvSpPr txBox="1"/>
          <p:nvPr/>
        </p:nvSpPr>
        <p:spPr>
          <a:xfrm>
            <a:off x="6437376" y="1892808"/>
            <a:ext cx="36576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WORKED EXAMPLE 2</a:t>
            </a:r>
            <a:endParaRPr lang="en-US" sz="950" dirty="0"/>
          </a:p>
        </p:txBody>
      </p:sp>
      <p:sp>
        <p:nvSpPr>
          <p:cNvPr id="24" name="Text 19"/>
          <p:cNvSpPr txBox="1"/>
          <p:nvPr/>
        </p:nvSpPr>
        <p:spPr>
          <a:xfrm>
            <a:off x="6437376" y="2130552"/>
            <a:ext cx="4937760" cy="310896"/>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Fleet Population (50 Pumps)</a:t>
            </a:r>
            <a:endParaRPr lang="en-US" sz="1600" dirty="0"/>
          </a:p>
        </p:txBody>
      </p:sp>
      <p:sp>
        <p:nvSpPr>
          <p:cNvPr id="25" name="Text 20"/>
          <p:cNvSpPr txBox="1"/>
          <p:nvPr/>
        </p:nvSpPr>
        <p:spPr>
          <a:xfrm>
            <a:off x="6437376" y="2542032"/>
            <a:ext cx="4983480" cy="50292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A population of </a:t>
            </a:r>
            <a:r>
              <a:rPr lang="en-US" sz="1300" b="1" dirty="0">
                <a:solidFill>
                  <a:srgbClr val="1C1712"/>
                </a:solidFill>
                <a:latin typeface="Cambria" pitchFamily="34" charset="0"/>
                <a:ea typeface="Cambria" pitchFamily="34" charset="-122"/>
                <a:cs typeface="Cambria" pitchFamily="34" charset="-120"/>
              </a:rPr>
              <a:t>50 pumps</a:t>
            </a:r>
            <a:r>
              <a:rPr lang="en-US" sz="1300" dirty="0">
                <a:solidFill>
                  <a:srgbClr val="2C261E"/>
                </a:solidFill>
                <a:latin typeface="Cambria" pitchFamily="34" charset="0"/>
                <a:ea typeface="Cambria" pitchFamily="34" charset="-122"/>
                <a:cs typeface="Cambria" pitchFamily="34" charset="-120"/>
              </a:rPr>
              <a:t> operates for </a:t>
            </a:r>
            <a:r>
              <a:rPr lang="en-US" sz="1300" b="1" dirty="0">
                <a:solidFill>
                  <a:srgbClr val="1C1712"/>
                </a:solidFill>
                <a:latin typeface="Cambria" pitchFamily="34" charset="0"/>
                <a:ea typeface="Cambria" pitchFamily="34" charset="-122"/>
                <a:cs typeface="Cambria" pitchFamily="34" charset="-120"/>
              </a:rPr>
              <a:t>1 year</a:t>
            </a:r>
            <a:r>
              <a:rPr lang="en-US" sz="1300" dirty="0">
                <a:solidFill>
                  <a:srgbClr val="2C261E"/>
                </a:solidFill>
                <a:latin typeface="Cambria" pitchFamily="34" charset="0"/>
                <a:ea typeface="Cambria" pitchFamily="34" charset="-122"/>
                <a:cs typeface="Cambria" pitchFamily="34" charset="-120"/>
              </a:rPr>
              <a:t> and experiences </a:t>
            </a:r>
            <a:r>
              <a:rPr lang="en-US" sz="1300" b="1" dirty="0">
                <a:solidFill>
                  <a:srgbClr val="1C1712"/>
                </a:solidFill>
                <a:latin typeface="Cambria" pitchFamily="34" charset="0"/>
                <a:ea typeface="Cambria" pitchFamily="34" charset="-122"/>
                <a:cs typeface="Cambria" pitchFamily="34" charset="-120"/>
              </a:rPr>
              <a:t>10 failures</a:t>
            </a:r>
            <a:r>
              <a:rPr lang="en-US" sz="1300" dirty="0">
                <a:solidFill>
                  <a:srgbClr val="2C261E"/>
                </a:solidFill>
                <a:latin typeface="Cambria" pitchFamily="34" charset="0"/>
                <a:ea typeface="Cambria" pitchFamily="34" charset="-122"/>
                <a:cs typeface="Cambria" pitchFamily="34" charset="-120"/>
              </a:rPr>
              <a:t> total.</a:t>
            </a:r>
            <a:endParaRPr lang="en-US" sz="1300" dirty="0"/>
          </a:p>
        </p:txBody>
      </p:sp>
      <p:sp>
        <p:nvSpPr>
          <p:cNvPr id="26" name="Shape 21"/>
          <p:cNvSpPr/>
          <p:nvPr/>
        </p:nvSpPr>
        <p:spPr>
          <a:xfrm>
            <a:off x="6437376" y="3108960"/>
            <a:ext cx="4974336" cy="914400"/>
          </a:xfrm>
          <a:prstGeom prst="rect">
            <a:avLst/>
          </a:prstGeom>
          <a:solidFill>
            <a:srgbClr val="EADDC0"/>
          </a:solidFill>
          <a:ln w="12700">
            <a:solidFill>
              <a:srgbClr val="C9B48F"/>
            </a:solidFill>
            <a:prstDash val="solid"/>
          </a:ln>
        </p:spPr>
        <p:txBody>
          <a:bodyPr/>
          <a:lstStyle/>
          <a:p>
            <a:endParaRPr lang="en-IN"/>
          </a:p>
        </p:txBody>
      </p:sp>
      <p:pic>
        <p:nvPicPr>
          <p:cNvPr id="27" name="Image 3" descr="Formula"/>
          <p:cNvPicPr>
            <a:picLocks noChangeAspect="1"/>
          </p:cNvPicPr>
          <p:nvPr/>
        </p:nvPicPr>
        <p:blipFill>
          <a:blip r:embed="rId6"/>
          <a:stretch>
            <a:fillRect/>
          </a:stretch>
        </p:blipFill>
        <p:spPr>
          <a:xfrm>
            <a:off x="6528816" y="3310095"/>
            <a:ext cx="4791456" cy="512130"/>
          </a:xfrm>
          <a:prstGeom prst="rect">
            <a:avLst/>
          </a:prstGeom>
        </p:spPr>
      </p:pic>
      <p:sp>
        <p:nvSpPr>
          <p:cNvPr id="28" name="Text 22"/>
          <p:cNvSpPr txBox="1"/>
          <p:nvPr/>
        </p:nvSpPr>
        <p:spPr>
          <a:xfrm>
            <a:off x="6437376" y="4160520"/>
            <a:ext cx="3657600" cy="219456"/>
          </a:xfrm>
          <a:prstGeom prst="rect">
            <a:avLst/>
          </a:prstGeom>
          <a:noFill/>
          <a:ln/>
        </p:spPr>
        <p:txBody>
          <a:bodyPr wrap="square" lIns="0" tIns="0" rIns="0" bIns="0" rtlCol="0" anchor="t"/>
          <a:lstStyle/>
          <a:p>
            <a:pPr marL="0" indent="0">
              <a:buNone/>
            </a:pPr>
            <a:r>
              <a:rPr lang="en-US" sz="950" b="1" kern="0" spc="150" dirty="0">
                <a:solidFill>
                  <a:srgbClr val="5A5347"/>
                </a:solidFill>
                <a:latin typeface="Courier New" pitchFamily="34" charset="0"/>
                <a:ea typeface="Courier New" pitchFamily="34" charset="-122"/>
                <a:cs typeface="Courier New" pitchFamily="34" charset="-120"/>
              </a:rPr>
              <a:t>FLEET MTBF</a:t>
            </a:r>
            <a:endParaRPr lang="en-US" sz="950" dirty="0"/>
          </a:p>
        </p:txBody>
      </p:sp>
      <p:sp>
        <p:nvSpPr>
          <p:cNvPr id="29" name="Shape 23"/>
          <p:cNvSpPr/>
          <p:nvPr/>
        </p:nvSpPr>
        <p:spPr>
          <a:xfrm>
            <a:off x="6437376" y="4407408"/>
            <a:ext cx="4974336" cy="713232"/>
          </a:xfrm>
          <a:prstGeom prst="rect">
            <a:avLst/>
          </a:prstGeom>
          <a:solidFill>
            <a:srgbClr val="EFDCCF"/>
          </a:solidFill>
          <a:ln w="12700">
            <a:solidFill>
              <a:srgbClr val="C9B48F"/>
            </a:solidFill>
            <a:prstDash val="solid"/>
          </a:ln>
        </p:spPr>
        <p:txBody>
          <a:bodyPr/>
          <a:lstStyle/>
          <a:p>
            <a:endParaRPr lang="en-IN"/>
          </a:p>
        </p:txBody>
      </p:sp>
      <p:pic>
        <p:nvPicPr>
          <p:cNvPr id="30" name="Image 4" descr="Formula"/>
          <p:cNvPicPr>
            <a:picLocks noChangeAspect="1"/>
          </p:cNvPicPr>
          <p:nvPr/>
        </p:nvPicPr>
        <p:blipFill>
          <a:blip r:embed="rId7"/>
          <a:stretch>
            <a:fillRect/>
          </a:stretch>
        </p:blipFill>
        <p:spPr>
          <a:xfrm>
            <a:off x="6528816" y="4547904"/>
            <a:ext cx="4791456" cy="432240"/>
          </a:xfrm>
          <a:prstGeom prst="rect">
            <a:avLst/>
          </a:prstGeom>
        </p:spPr>
      </p:pic>
      <p:sp>
        <p:nvSpPr>
          <p:cNvPr id="31" name="Shape 24"/>
          <p:cNvSpPr/>
          <p:nvPr/>
        </p:nvSpPr>
        <p:spPr>
          <a:xfrm>
            <a:off x="548640" y="5440680"/>
            <a:ext cx="11091672" cy="777240"/>
          </a:xfrm>
          <a:prstGeom prst="rect">
            <a:avLst/>
          </a:prstGeom>
          <a:solidFill>
            <a:srgbClr val="EDE2C4"/>
          </a:solidFill>
          <a:ln w="12700">
            <a:solidFill>
              <a:srgbClr val="9A6A12"/>
            </a:solidFill>
            <a:prstDash val="solid"/>
          </a:ln>
        </p:spPr>
        <p:txBody>
          <a:bodyPr/>
          <a:lstStyle/>
          <a:p>
            <a:endParaRPr lang="en-IN"/>
          </a:p>
        </p:txBody>
      </p:sp>
      <p:sp>
        <p:nvSpPr>
          <p:cNvPr id="32" name="Shape 25"/>
          <p:cNvSpPr/>
          <p:nvPr/>
        </p:nvSpPr>
        <p:spPr>
          <a:xfrm>
            <a:off x="749808" y="5577840"/>
            <a:ext cx="493776" cy="493776"/>
          </a:xfrm>
          <a:prstGeom prst="ellipse">
            <a:avLst/>
          </a:prstGeom>
          <a:solidFill>
            <a:srgbClr val="EDE2C4"/>
          </a:solidFill>
          <a:ln w="15875">
            <a:solidFill>
              <a:srgbClr val="9A6A12"/>
            </a:solidFill>
            <a:prstDash val="solid"/>
          </a:ln>
        </p:spPr>
        <p:txBody>
          <a:bodyPr/>
          <a:lstStyle/>
          <a:p>
            <a:endParaRPr lang="en-IN"/>
          </a:p>
        </p:txBody>
      </p:sp>
      <p:pic>
        <p:nvPicPr>
          <p:cNvPr id="33" name="Image 5" descr="preencoded.png"/>
          <p:cNvPicPr>
            <a:picLocks noChangeAspect="1"/>
          </p:cNvPicPr>
          <p:nvPr/>
        </p:nvPicPr>
        <p:blipFill>
          <a:blip r:embed="rId8"/>
          <a:stretch>
            <a:fillRect/>
          </a:stretch>
        </p:blipFill>
        <p:spPr>
          <a:xfrm>
            <a:off x="873252" y="5701284"/>
            <a:ext cx="246888" cy="246888"/>
          </a:xfrm>
          <a:prstGeom prst="rect">
            <a:avLst/>
          </a:prstGeom>
        </p:spPr>
      </p:pic>
      <p:sp>
        <p:nvSpPr>
          <p:cNvPr id="34" name="Text 26"/>
          <p:cNvSpPr txBox="1"/>
          <p:nvPr/>
        </p:nvSpPr>
        <p:spPr>
          <a:xfrm>
            <a:off x="1417320" y="5440680"/>
            <a:ext cx="10058400" cy="777240"/>
          </a:xfrm>
          <a:prstGeom prst="rect">
            <a:avLst/>
          </a:prstGeom>
          <a:noFill/>
          <a:ln/>
        </p:spPr>
        <p:txBody>
          <a:bodyPr wrap="square" lIns="0" tIns="0" rIns="0" bIns="0" rtlCol="0" anchor="ctr"/>
          <a:lstStyle/>
          <a:p>
            <a:pPr marL="0" indent="0">
              <a:buNone/>
            </a:pPr>
            <a:r>
              <a:rPr lang="en-US" sz="1350" b="1" dirty="0">
                <a:solidFill>
                  <a:srgbClr val="9A6A12"/>
                </a:solidFill>
                <a:latin typeface="Cambria" pitchFamily="34" charset="0"/>
                <a:ea typeface="Cambria" pitchFamily="34" charset="-122"/>
                <a:cs typeface="Cambria" pitchFamily="34" charset="-120"/>
              </a:rPr>
              <a:t>Key Takeaway:</a:t>
            </a:r>
            <a:r>
              <a:rPr lang="en-US" sz="1350" dirty="0">
                <a:solidFill>
                  <a:srgbClr val="2C261E"/>
                </a:solidFill>
                <a:latin typeface="Cambria" pitchFamily="34" charset="0"/>
                <a:ea typeface="Cambria" pitchFamily="34" charset="-122"/>
                <a:cs typeface="Cambria" pitchFamily="34" charset="-120"/>
              </a:rPr>
              <a:t> In homogeneous fleets, pooling operational hours across assets increases statistical sample size and dampens random variance.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Mean Time Between Failure (MTBF)</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Single asset tracking versus population fleet benchmarking.</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18</a:t>
            </a:r>
            <a:r>
              <a:rPr sz="900">
                <a:solidFill>
                  <a:srgbClr val="8A8477"/>
                </a:solidFill>
                <a:latin typeface="Courier New"/>
              </a:rPr>
              <a:t> / 80</a:t>
            </a:r>
            <a:endParaRPr lang="en-US" sz="900" dirty="0"/>
          </a:p>
        </p:txBody>
      </p:sp>
      <p:sp>
        <p:nvSpPr>
          <p:cNvPr id="13" name="Shape 10"/>
          <p:cNvSpPr/>
          <p:nvPr/>
        </p:nvSpPr>
        <p:spPr>
          <a:xfrm>
            <a:off x="548640" y="1737360"/>
            <a:ext cx="5431536" cy="28346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892808"/>
            <a:ext cx="4937760" cy="310896"/>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Single Asset Formulation</a:t>
            </a:r>
            <a:endParaRPr lang="en-US" sz="1600" dirty="0"/>
          </a:p>
        </p:txBody>
      </p:sp>
      <p:sp>
        <p:nvSpPr>
          <p:cNvPr id="15" name="Shape 12"/>
          <p:cNvSpPr/>
          <p:nvPr/>
        </p:nvSpPr>
        <p:spPr>
          <a:xfrm>
            <a:off x="777240" y="2286000"/>
            <a:ext cx="4974336" cy="1051560"/>
          </a:xfrm>
          <a:prstGeom prst="rect">
            <a:avLst/>
          </a:prstGeom>
          <a:solidFill>
            <a:srgbClr val="EADDC0"/>
          </a:solidFill>
          <a:ln w="12700">
            <a:solidFill>
              <a:srgbClr val="C9B48F"/>
            </a:solidFill>
            <a:prstDash val="solid"/>
          </a:ln>
        </p:spPr>
        <p:txBody>
          <a:bodyPr/>
          <a:lstStyle/>
          <a:p>
            <a:endParaRPr lang="en-IN"/>
          </a:p>
        </p:txBody>
      </p:sp>
      <p:pic>
        <p:nvPicPr>
          <p:cNvPr id="16" name="Image 1" descr="Formula"/>
          <p:cNvPicPr>
            <a:picLocks noChangeAspect="1"/>
          </p:cNvPicPr>
          <p:nvPr/>
        </p:nvPicPr>
        <p:blipFill>
          <a:blip r:embed="rId4"/>
          <a:stretch>
            <a:fillRect/>
          </a:stretch>
        </p:blipFill>
        <p:spPr>
          <a:xfrm>
            <a:off x="868680" y="2463937"/>
            <a:ext cx="4791456" cy="695685"/>
          </a:xfrm>
          <a:prstGeom prst="rect">
            <a:avLst/>
          </a:prstGeom>
        </p:spPr>
      </p:pic>
      <p:sp>
        <p:nvSpPr>
          <p:cNvPr id="17" name="Text 13"/>
          <p:cNvSpPr txBox="1"/>
          <p:nvPr/>
        </p:nvSpPr>
        <p:spPr>
          <a:xfrm>
            <a:off x="777240" y="3493008"/>
            <a:ext cx="4983480" cy="10058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Used when tracking individual tag-level history in a CMMS (e.g. Boiler Feed Pump BFP-101 running 24,000 hours with 3 failure trips → </a:t>
            </a:r>
            <a:r>
              <a:rPr lang="en-US" sz="1250" b="1" dirty="0">
                <a:solidFill>
                  <a:srgbClr val="7A1F1A"/>
                </a:solidFill>
                <a:latin typeface="Cambria" pitchFamily="34" charset="0"/>
                <a:ea typeface="Cambria" pitchFamily="34" charset="-122"/>
                <a:cs typeface="Cambria" pitchFamily="34" charset="-120"/>
              </a:rPr>
              <a:t>MTBF = 8,000 hrs</a:t>
            </a:r>
            <a:r>
              <a:rPr lang="en-US" sz="1250" dirty="0">
                <a:solidFill>
                  <a:srgbClr val="2C261E"/>
                </a:solidFill>
                <a:latin typeface="Cambria" pitchFamily="34" charset="0"/>
                <a:ea typeface="Cambria" pitchFamily="34" charset="-122"/>
                <a:cs typeface="Cambria" pitchFamily="34" charset="-120"/>
              </a:rPr>
              <a:t>).</a:t>
            </a:r>
            <a:endParaRPr lang="en-US" sz="1250" dirty="0"/>
          </a:p>
        </p:txBody>
      </p:sp>
      <p:sp>
        <p:nvSpPr>
          <p:cNvPr id="18" name="Shape 14"/>
          <p:cNvSpPr/>
          <p:nvPr/>
        </p:nvSpPr>
        <p:spPr>
          <a:xfrm>
            <a:off x="6208776" y="1737360"/>
            <a:ext cx="5431536" cy="2834640"/>
          </a:xfrm>
          <a:prstGeom prst="rect">
            <a:avLst/>
          </a:prstGeom>
          <a:solidFill>
            <a:srgbClr val="FBF4E4"/>
          </a:solidFill>
          <a:ln w="12700">
            <a:solidFill>
              <a:srgbClr val="C9B48F"/>
            </a:solidFill>
            <a:prstDash val="solid"/>
          </a:ln>
        </p:spPr>
        <p:txBody>
          <a:bodyPr/>
          <a:lstStyle/>
          <a:p>
            <a:endParaRPr lang="en-IN"/>
          </a:p>
        </p:txBody>
      </p:sp>
      <p:sp>
        <p:nvSpPr>
          <p:cNvPr id="19" name="Text 15"/>
          <p:cNvSpPr txBox="1"/>
          <p:nvPr/>
        </p:nvSpPr>
        <p:spPr>
          <a:xfrm>
            <a:off x="6437376" y="1892808"/>
            <a:ext cx="4937760" cy="310896"/>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Fleet Population Formulation</a:t>
            </a:r>
            <a:endParaRPr lang="en-US" sz="1600" dirty="0"/>
          </a:p>
        </p:txBody>
      </p:sp>
      <p:sp>
        <p:nvSpPr>
          <p:cNvPr id="20" name="Shape 16"/>
          <p:cNvSpPr/>
          <p:nvPr/>
        </p:nvSpPr>
        <p:spPr>
          <a:xfrm>
            <a:off x="6437376" y="2286000"/>
            <a:ext cx="4974336" cy="1051560"/>
          </a:xfrm>
          <a:prstGeom prst="rect">
            <a:avLst/>
          </a:prstGeom>
          <a:solidFill>
            <a:srgbClr val="EADDC0"/>
          </a:solidFill>
          <a:ln w="12700">
            <a:solidFill>
              <a:srgbClr val="C9B48F"/>
            </a:solidFill>
            <a:prstDash val="solid"/>
          </a:ln>
        </p:spPr>
        <p:txBody>
          <a:bodyPr/>
          <a:lstStyle/>
          <a:p>
            <a:endParaRPr lang="en-IN"/>
          </a:p>
        </p:txBody>
      </p:sp>
      <p:pic>
        <p:nvPicPr>
          <p:cNvPr id="21" name="Image 2" descr="Formula"/>
          <p:cNvPicPr>
            <a:picLocks noChangeAspect="1"/>
          </p:cNvPicPr>
          <p:nvPr/>
        </p:nvPicPr>
        <p:blipFill>
          <a:blip r:embed="rId5"/>
          <a:stretch>
            <a:fillRect/>
          </a:stretch>
        </p:blipFill>
        <p:spPr>
          <a:xfrm>
            <a:off x="6528816" y="2489307"/>
            <a:ext cx="4791456" cy="644945"/>
          </a:xfrm>
          <a:prstGeom prst="rect">
            <a:avLst/>
          </a:prstGeom>
        </p:spPr>
      </p:pic>
      <p:sp>
        <p:nvSpPr>
          <p:cNvPr id="22" name="Text 17"/>
          <p:cNvSpPr txBox="1"/>
          <p:nvPr/>
        </p:nvSpPr>
        <p:spPr>
          <a:xfrm>
            <a:off x="6437376" y="3493008"/>
            <a:ext cx="4983480" cy="10058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Used for asset class benchmarking (e.g. 100 fin-fan motors running 8,000 hrs each with 16 total failures → </a:t>
            </a:r>
            <a:r>
              <a:rPr lang="en-US" sz="1250" b="1" dirty="0">
                <a:solidFill>
                  <a:srgbClr val="7A1F1A"/>
                </a:solidFill>
                <a:latin typeface="Cambria" pitchFamily="34" charset="0"/>
                <a:ea typeface="Cambria" pitchFamily="34" charset="-122"/>
                <a:cs typeface="Cambria" pitchFamily="34" charset="-120"/>
              </a:rPr>
              <a:t>MTBF = 800,000 / 16 = 50,000 hrs</a:t>
            </a:r>
            <a:r>
              <a:rPr lang="en-US" sz="1250" dirty="0">
                <a:solidFill>
                  <a:srgbClr val="2C261E"/>
                </a:solidFill>
                <a:latin typeface="Cambria" pitchFamily="34" charset="0"/>
                <a:ea typeface="Cambria" pitchFamily="34" charset="-122"/>
                <a:cs typeface="Cambria" pitchFamily="34" charset="-120"/>
              </a:rPr>
              <a:t>).</a:t>
            </a:r>
            <a:endParaRPr lang="en-US" sz="1250" dirty="0"/>
          </a:p>
        </p:txBody>
      </p:sp>
      <p:sp>
        <p:nvSpPr>
          <p:cNvPr id="23" name="Shape 18"/>
          <p:cNvSpPr/>
          <p:nvPr/>
        </p:nvSpPr>
        <p:spPr>
          <a:xfrm>
            <a:off x="548640" y="4754880"/>
            <a:ext cx="11091672" cy="1463040"/>
          </a:xfrm>
          <a:prstGeom prst="rect">
            <a:avLst/>
          </a:prstGeom>
          <a:solidFill>
            <a:srgbClr val="EFDCCF"/>
          </a:solidFill>
          <a:ln w="12700">
            <a:solidFill>
              <a:srgbClr val="C9B48F"/>
            </a:solidFill>
            <a:prstDash val="solid"/>
          </a:ln>
        </p:spPr>
        <p:txBody>
          <a:bodyPr/>
          <a:lstStyle/>
          <a:p>
            <a:endParaRPr lang="en-IN"/>
          </a:p>
        </p:txBody>
      </p:sp>
      <p:sp>
        <p:nvSpPr>
          <p:cNvPr id="24" name="Text 19"/>
          <p:cNvSpPr txBox="1"/>
          <p:nvPr/>
        </p:nvSpPr>
        <p:spPr>
          <a:xfrm>
            <a:off x="777240" y="4892040"/>
            <a:ext cx="73152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THE FUNDAMENTAL INVERSE RELATIONSHIP: MTBF = 1 / λ</a:t>
            </a:r>
            <a:endParaRPr lang="en-US" sz="950" dirty="0"/>
          </a:p>
        </p:txBody>
      </p:sp>
      <p:pic>
        <p:nvPicPr>
          <p:cNvPr id="25" name="Image 3" descr="Formula"/>
          <p:cNvPicPr>
            <a:picLocks noChangeAspect="1"/>
          </p:cNvPicPr>
          <p:nvPr/>
        </p:nvPicPr>
        <p:blipFill>
          <a:blip r:embed="rId6"/>
          <a:stretch>
            <a:fillRect/>
          </a:stretch>
        </p:blipFill>
        <p:spPr>
          <a:xfrm>
            <a:off x="731520" y="5232386"/>
            <a:ext cx="10698480" cy="80063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Mean Time Timeline: MTBF, MTTF, MDT, MTTR</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Dissecting the chronological timeline from startup to full restoration.</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19</a:t>
            </a:r>
            <a:r>
              <a:rPr sz="900">
                <a:solidFill>
                  <a:srgbClr val="8A8477"/>
                </a:solidFill>
                <a:latin typeface="Courier New"/>
              </a:rPr>
              <a:t> / 80</a:t>
            </a:r>
            <a:endParaRPr lang="en-US" sz="900" dirty="0"/>
          </a:p>
        </p:txBody>
      </p:sp>
      <p:sp>
        <p:nvSpPr>
          <p:cNvPr id="13" name="Shape 10"/>
          <p:cNvSpPr/>
          <p:nvPr/>
        </p:nvSpPr>
        <p:spPr>
          <a:xfrm>
            <a:off x="548640" y="1737360"/>
            <a:ext cx="11091672" cy="566928"/>
          </a:xfrm>
          <a:prstGeom prst="rect">
            <a:avLst/>
          </a:prstGeom>
          <a:solidFill>
            <a:srgbClr val="EFDCCF"/>
          </a:solidFill>
          <a:ln w="12700">
            <a:solidFill>
              <a:srgbClr val="C9B48F"/>
            </a:solidFill>
            <a:prstDash val="solid"/>
          </a:ln>
        </p:spPr>
        <p:txBody>
          <a:bodyPr/>
          <a:lstStyle/>
          <a:p>
            <a:endParaRPr lang="en-IN"/>
          </a:p>
        </p:txBody>
      </p:sp>
      <p:pic>
        <p:nvPicPr>
          <p:cNvPr id="14" name="Image 1" descr="Formula"/>
          <p:cNvPicPr>
            <a:picLocks noChangeAspect="1"/>
          </p:cNvPicPr>
          <p:nvPr/>
        </p:nvPicPr>
        <p:blipFill>
          <a:blip r:embed="rId4"/>
          <a:stretch>
            <a:fillRect/>
          </a:stretch>
        </p:blipFill>
        <p:spPr>
          <a:xfrm>
            <a:off x="757584" y="1801279"/>
            <a:ext cx="10646352" cy="439091"/>
          </a:xfrm>
          <a:prstGeom prst="rect">
            <a:avLst/>
          </a:prstGeom>
        </p:spPr>
      </p:pic>
      <p:sp>
        <p:nvSpPr>
          <p:cNvPr id="15" name="Shape 11"/>
          <p:cNvSpPr/>
          <p:nvPr/>
        </p:nvSpPr>
        <p:spPr>
          <a:xfrm>
            <a:off x="548640" y="2450592"/>
            <a:ext cx="11091672" cy="2514600"/>
          </a:xfrm>
          <a:prstGeom prst="rect">
            <a:avLst/>
          </a:prstGeom>
          <a:solidFill>
            <a:srgbClr val="FBF4E4"/>
          </a:solidFill>
          <a:ln w="12700">
            <a:solidFill>
              <a:srgbClr val="C9B48F"/>
            </a:solidFill>
            <a:prstDash val="solid"/>
          </a:ln>
        </p:spPr>
        <p:txBody>
          <a:bodyPr/>
          <a:lstStyle/>
          <a:p>
            <a:endParaRPr lang="en-IN"/>
          </a:p>
        </p:txBody>
      </p:sp>
      <p:sp>
        <p:nvSpPr>
          <p:cNvPr id="16" name="Text 12"/>
          <p:cNvSpPr txBox="1"/>
          <p:nvPr/>
        </p:nvSpPr>
        <p:spPr>
          <a:xfrm>
            <a:off x="749808" y="2587752"/>
            <a:ext cx="10689336"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ARCHITECTURE: MEAN TIME TIMELINE</a:t>
            </a:r>
            <a:endParaRPr lang="en-US" sz="850" dirty="0"/>
          </a:p>
        </p:txBody>
      </p:sp>
      <p:sp>
        <p:nvSpPr>
          <p:cNvPr id="17" name="Shape 13"/>
          <p:cNvSpPr/>
          <p:nvPr/>
        </p:nvSpPr>
        <p:spPr>
          <a:xfrm>
            <a:off x="749808" y="2834640"/>
            <a:ext cx="10689336" cy="0"/>
          </a:xfrm>
          <a:prstGeom prst="line">
            <a:avLst/>
          </a:prstGeom>
          <a:noFill/>
          <a:ln w="9525">
            <a:solidFill>
              <a:srgbClr val="C9B48F"/>
            </a:solidFill>
            <a:prstDash val="solid"/>
          </a:ln>
        </p:spPr>
        <p:txBody>
          <a:bodyPr/>
          <a:lstStyle/>
          <a:p>
            <a:endParaRPr lang="en-IN"/>
          </a:p>
        </p:txBody>
      </p:sp>
      <p:pic>
        <p:nvPicPr>
          <p:cNvPr id="18" name="Image 2" descr="s19_0"/>
          <p:cNvPicPr>
            <a:picLocks noChangeAspect="1"/>
          </p:cNvPicPr>
          <p:nvPr/>
        </p:nvPicPr>
        <p:blipFill>
          <a:blip r:embed="rId5"/>
          <a:stretch>
            <a:fillRect/>
          </a:stretch>
        </p:blipFill>
        <p:spPr>
          <a:xfrm>
            <a:off x="2097164" y="2926080"/>
            <a:ext cx="7994623" cy="1892808"/>
          </a:xfrm>
          <a:prstGeom prst="rect">
            <a:avLst/>
          </a:prstGeom>
        </p:spPr>
      </p:pic>
      <p:sp>
        <p:nvSpPr>
          <p:cNvPr id="19" name="Shape 14"/>
          <p:cNvSpPr/>
          <p:nvPr/>
        </p:nvSpPr>
        <p:spPr>
          <a:xfrm>
            <a:off x="548640" y="5120640"/>
            <a:ext cx="3547872" cy="1097280"/>
          </a:xfrm>
          <a:prstGeom prst="rect">
            <a:avLst/>
          </a:prstGeom>
          <a:solidFill>
            <a:srgbClr val="FBF4E4"/>
          </a:solidFill>
          <a:ln w="12700">
            <a:solidFill>
              <a:srgbClr val="C9B48F"/>
            </a:solidFill>
            <a:prstDash val="solid"/>
          </a:ln>
        </p:spPr>
        <p:txBody>
          <a:bodyPr/>
          <a:lstStyle/>
          <a:p>
            <a:endParaRPr lang="en-IN"/>
          </a:p>
        </p:txBody>
      </p:sp>
      <p:sp>
        <p:nvSpPr>
          <p:cNvPr id="20" name="Shape 15"/>
          <p:cNvSpPr/>
          <p:nvPr/>
        </p:nvSpPr>
        <p:spPr>
          <a:xfrm>
            <a:off x="731520" y="5257800"/>
            <a:ext cx="777240" cy="256032"/>
          </a:xfrm>
          <a:prstGeom prst="rect">
            <a:avLst/>
          </a:prstGeom>
          <a:solidFill>
            <a:srgbClr val="DDE7D6"/>
          </a:solidFill>
          <a:ln w="12700">
            <a:solidFill>
              <a:srgbClr val="2F6B3A"/>
            </a:solidFill>
            <a:prstDash val="solid"/>
          </a:ln>
        </p:spPr>
        <p:txBody>
          <a:bodyPr/>
          <a:lstStyle/>
          <a:p>
            <a:endParaRPr lang="en-IN"/>
          </a:p>
        </p:txBody>
      </p:sp>
      <p:sp>
        <p:nvSpPr>
          <p:cNvPr id="21" name="Text 16"/>
          <p:cNvSpPr txBox="1"/>
          <p:nvPr/>
        </p:nvSpPr>
        <p:spPr>
          <a:xfrm>
            <a:off x="731520" y="5257800"/>
            <a:ext cx="777240" cy="256032"/>
          </a:xfrm>
          <a:prstGeom prst="rect">
            <a:avLst/>
          </a:prstGeom>
          <a:noFill/>
          <a:ln/>
        </p:spPr>
        <p:txBody>
          <a:bodyPr wrap="square" lIns="0" tIns="0" rIns="0" bIns="0" rtlCol="0" anchor="ctr"/>
          <a:lstStyle/>
          <a:p>
            <a:pPr marL="0" indent="0" algn="ctr">
              <a:buNone/>
            </a:pPr>
            <a:r>
              <a:rPr lang="en-US" sz="900" b="1" dirty="0">
                <a:solidFill>
                  <a:srgbClr val="2F6B3A"/>
                </a:solidFill>
                <a:latin typeface="Courier New" pitchFamily="34" charset="0"/>
                <a:ea typeface="Courier New" pitchFamily="34" charset="-122"/>
                <a:cs typeface="Courier New" pitchFamily="34" charset="-120"/>
              </a:rPr>
              <a:t>MTTF</a:t>
            </a:r>
            <a:endParaRPr lang="en-US" sz="900" dirty="0"/>
          </a:p>
        </p:txBody>
      </p:sp>
      <p:sp>
        <p:nvSpPr>
          <p:cNvPr id="22" name="Text 17"/>
          <p:cNvSpPr txBox="1"/>
          <p:nvPr/>
        </p:nvSpPr>
        <p:spPr>
          <a:xfrm>
            <a:off x="1645920" y="5230368"/>
            <a:ext cx="2313432" cy="914400"/>
          </a:xfrm>
          <a:prstGeom prst="rect">
            <a:avLst/>
          </a:prstGeom>
          <a:noFill/>
          <a:ln/>
        </p:spPr>
        <p:txBody>
          <a:bodyPr wrap="square" lIns="0" tIns="0" rIns="0" bIns="0" rtlCol="0" anchor="t"/>
          <a:lstStyle/>
          <a:p>
            <a:pPr marL="190500" indent="-190500">
              <a:spcAft>
                <a:spcPts val="300"/>
              </a:spcAft>
              <a:buSzPct val="100000"/>
              <a:buChar char="•"/>
            </a:pPr>
            <a:r>
              <a:rPr lang="en-US" sz="1100" dirty="0">
                <a:solidFill>
                  <a:srgbClr val="2C261E"/>
                </a:solidFill>
                <a:latin typeface="Cambria" pitchFamily="34" charset="0"/>
                <a:ea typeface="Cambria" pitchFamily="34" charset="-122"/>
                <a:cs typeface="Cambria" pitchFamily="34" charset="-120"/>
              </a:rPr>
              <a:t>Pure operational uptime accumulated prior to failure trip.</a:t>
            </a:r>
            <a:endParaRPr lang="en-US" sz="1100" dirty="0"/>
          </a:p>
          <a:p>
            <a:pPr marL="190500" indent="-190500">
              <a:spcAft>
                <a:spcPts val="300"/>
              </a:spcAft>
              <a:buSzPct val="100000"/>
              <a:buChar char="•"/>
            </a:pPr>
            <a:r>
              <a:rPr lang="en-US" sz="1100" dirty="0">
                <a:solidFill>
                  <a:srgbClr val="2C261E"/>
                </a:solidFill>
                <a:latin typeface="Cambria" pitchFamily="34" charset="0"/>
                <a:ea typeface="Cambria" pitchFamily="34" charset="-122"/>
                <a:cs typeface="Cambria" pitchFamily="34" charset="-120"/>
              </a:rPr>
              <a:t>For non-repairable parts, MTTF represents total lifecycle span.</a:t>
            </a:r>
            <a:endParaRPr lang="en-US" sz="1100" dirty="0"/>
          </a:p>
        </p:txBody>
      </p:sp>
      <p:sp>
        <p:nvSpPr>
          <p:cNvPr id="23" name="Shape 18"/>
          <p:cNvSpPr/>
          <p:nvPr/>
        </p:nvSpPr>
        <p:spPr>
          <a:xfrm>
            <a:off x="4320540" y="5120640"/>
            <a:ext cx="3547872" cy="1097280"/>
          </a:xfrm>
          <a:prstGeom prst="rect">
            <a:avLst/>
          </a:prstGeom>
          <a:solidFill>
            <a:srgbClr val="FBF4E4"/>
          </a:solidFill>
          <a:ln w="12700">
            <a:solidFill>
              <a:srgbClr val="C9B48F"/>
            </a:solidFill>
            <a:prstDash val="solid"/>
          </a:ln>
        </p:spPr>
        <p:txBody>
          <a:bodyPr/>
          <a:lstStyle/>
          <a:p>
            <a:endParaRPr lang="en-IN"/>
          </a:p>
        </p:txBody>
      </p:sp>
      <p:sp>
        <p:nvSpPr>
          <p:cNvPr id="24" name="Shape 19"/>
          <p:cNvSpPr/>
          <p:nvPr/>
        </p:nvSpPr>
        <p:spPr>
          <a:xfrm>
            <a:off x="4503420" y="5257800"/>
            <a:ext cx="777240" cy="256032"/>
          </a:xfrm>
          <a:prstGeom prst="rect">
            <a:avLst/>
          </a:prstGeom>
          <a:solidFill>
            <a:srgbClr val="EDE2C4"/>
          </a:solidFill>
          <a:ln w="12700">
            <a:solidFill>
              <a:srgbClr val="9A6A12"/>
            </a:solidFill>
            <a:prstDash val="solid"/>
          </a:ln>
        </p:spPr>
        <p:txBody>
          <a:bodyPr/>
          <a:lstStyle/>
          <a:p>
            <a:endParaRPr lang="en-IN"/>
          </a:p>
        </p:txBody>
      </p:sp>
      <p:sp>
        <p:nvSpPr>
          <p:cNvPr id="25" name="Text 20"/>
          <p:cNvSpPr txBox="1"/>
          <p:nvPr/>
        </p:nvSpPr>
        <p:spPr>
          <a:xfrm>
            <a:off x="4503420" y="5257800"/>
            <a:ext cx="777240" cy="256032"/>
          </a:xfrm>
          <a:prstGeom prst="rect">
            <a:avLst/>
          </a:prstGeom>
          <a:noFill/>
          <a:ln/>
        </p:spPr>
        <p:txBody>
          <a:bodyPr wrap="square" lIns="0" tIns="0" rIns="0" bIns="0" rtlCol="0" anchor="ctr"/>
          <a:lstStyle/>
          <a:p>
            <a:pPr marL="0" indent="0" algn="ctr">
              <a:buNone/>
            </a:pPr>
            <a:r>
              <a:rPr lang="en-US" sz="900" b="1" dirty="0">
                <a:solidFill>
                  <a:srgbClr val="9A6A12"/>
                </a:solidFill>
                <a:latin typeface="Courier New" pitchFamily="34" charset="0"/>
                <a:ea typeface="Courier New" pitchFamily="34" charset="-122"/>
                <a:cs typeface="Courier New" pitchFamily="34" charset="-120"/>
              </a:rPr>
              <a:t>MDT</a:t>
            </a:r>
            <a:endParaRPr lang="en-US" sz="900" dirty="0"/>
          </a:p>
        </p:txBody>
      </p:sp>
      <p:sp>
        <p:nvSpPr>
          <p:cNvPr id="26" name="Text 21"/>
          <p:cNvSpPr txBox="1"/>
          <p:nvPr/>
        </p:nvSpPr>
        <p:spPr>
          <a:xfrm>
            <a:off x="5417820" y="5230368"/>
            <a:ext cx="2313432" cy="914400"/>
          </a:xfrm>
          <a:prstGeom prst="rect">
            <a:avLst/>
          </a:prstGeom>
          <a:noFill/>
          <a:ln/>
        </p:spPr>
        <p:txBody>
          <a:bodyPr wrap="square" lIns="0" tIns="0" rIns="0" bIns="0" rtlCol="0" anchor="t"/>
          <a:lstStyle/>
          <a:p>
            <a:pPr marL="190500" indent="-190500">
              <a:spcAft>
                <a:spcPts val="300"/>
              </a:spcAft>
              <a:buSzPct val="100000"/>
              <a:buChar char="•"/>
            </a:pPr>
            <a:r>
              <a:rPr lang="en-US" sz="1100" dirty="0">
                <a:solidFill>
                  <a:srgbClr val="2C261E"/>
                </a:solidFill>
                <a:latin typeface="Cambria" pitchFamily="34" charset="0"/>
                <a:ea typeface="Cambria" pitchFamily="34" charset="-122"/>
                <a:cs typeface="Cambria" pitchFamily="34" charset="-120"/>
              </a:rPr>
              <a:t>Total elapsed clock time from trip event to 100% full-rate restart.</a:t>
            </a:r>
            <a:endParaRPr lang="en-US" sz="1100" dirty="0"/>
          </a:p>
          <a:p>
            <a:pPr marL="190500" indent="-190500">
              <a:spcAft>
                <a:spcPts val="300"/>
              </a:spcAft>
              <a:buSzPct val="100000"/>
              <a:buChar char="•"/>
            </a:pPr>
            <a:r>
              <a:rPr lang="en-US" sz="1100" dirty="0">
                <a:solidFill>
                  <a:srgbClr val="2C261E"/>
                </a:solidFill>
                <a:latin typeface="Cambria" pitchFamily="34" charset="0"/>
                <a:ea typeface="Cambria" pitchFamily="34" charset="-122"/>
                <a:cs typeface="Cambria" pitchFamily="34" charset="-120"/>
              </a:rPr>
              <a:t>Includes diagnostic delay, parts logistics, wrench time, and startup.</a:t>
            </a:r>
            <a:endParaRPr lang="en-US" sz="1100" dirty="0"/>
          </a:p>
        </p:txBody>
      </p:sp>
      <p:sp>
        <p:nvSpPr>
          <p:cNvPr id="27" name="Shape 22"/>
          <p:cNvSpPr/>
          <p:nvPr/>
        </p:nvSpPr>
        <p:spPr>
          <a:xfrm>
            <a:off x="8092440" y="5120640"/>
            <a:ext cx="3547872" cy="1097280"/>
          </a:xfrm>
          <a:prstGeom prst="rect">
            <a:avLst/>
          </a:prstGeom>
          <a:solidFill>
            <a:srgbClr val="FBF4E4"/>
          </a:solidFill>
          <a:ln w="12700">
            <a:solidFill>
              <a:srgbClr val="C9B48F"/>
            </a:solidFill>
            <a:prstDash val="solid"/>
          </a:ln>
        </p:spPr>
        <p:txBody>
          <a:bodyPr/>
          <a:lstStyle/>
          <a:p>
            <a:endParaRPr lang="en-IN"/>
          </a:p>
        </p:txBody>
      </p:sp>
      <p:sp>
        <p:nvSpPr>
          <p:cNvPr id="28" name="Shape 23"/>
          <p:cNvSpPr/>
          <p:nvPr/>
        </p:nvSpPr>
        <p:spPr>
          <a:xfrm>
            <a:off x="8275320" y="5257800"/>
            <a:ext cx="777240" cy="256032"/>
          </a:xfrm>
          <a:prstGeom prst="rect">
            <a:avLst/>
          </a:prstGeom>
          <a:solidFill>
            <a:srgbClr val="EFDCCF"/>
          </a:solidFill>
          <a:ln w="12700">
            <a:solidFill>
              <a:srgbClr val="7A1F1A"/>
            </a:solidFill>
            <a:prstDash val="solid"/>
          </a:ln>
        </p:spPr>
        <p:txBody>
          <a:bodyPr/>
          <a:lstStyle/>
          <a:p>
            <a:endParaRPr lang="en-IN"/>
          </a:p>
        </p:txBody>
      </p:sp>
      <p:sp>
        <p:nvSpPr>
          <p:cNvPr id="29" name="Text 24"/>
          <p:cNvSpPr txBox="1"/>
          <p:nvPr/>
        </p:nvSpPr>
        <p:spPr>
          <a:xfrm>
            <a:off x="8275320" y="5257800"/>
            <a:ext cx="777240" cy="256032"/>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MTTR</a:t>
            </a:r>
            <a:endParaRPr lang="en-US" sz="900" dirty="0"/>
          </a:p>
        </p:txBody>
      </p:sp>
      <p:sp>
        <p:nvSpPr>
          <p:cNvPr id="30" name="Text 25"/>
          <p:cNvSpPr txBox="1"/>
          <p:nvPr/>
        </p:nvSpPr>
        <p:spPr>
          <a:xfrm>
            <a:off x="9189720" y="5230368"/>
            <a:ext cx="2313432" cy="914400"/>
          </a:xfrm>
          <a:prstGeom prst="rect">
            <a:avLst/>
          </a:prstGeom>
          <a:noFill/>
          <a:ln/>
        </p:spPr>
        <p:txBody>
          <a:bodyPr wrap="square" lIns="0" tIns="0" rIns="0" bIns="0" rtlCol="0" anchor="t"/>
          <a:lstStyle/>
          <a:p>
            <a:pPr marL="190500" indent="-190500">
              <a:spcAft>
                <a:spcPts val="300"/>
              </a:spcAft>
              <a:buSzPct val="100000"/>
              <a:buChar char="•"/>
            </a:pPr>
            <a:r>
              <a:rPr lang="en-US" sz="1100" dirty="0">
                <a:solidFill>
                  <a:srgbClr val="2C261E"/>
                </a:solidFill>
                <a:latin typeface="Cambria" pitchFamily="34" charset="0"/>
                <a:ea typeface="Cambria" pitchFamily="34" charset="-122"/>
                <a:cs typeface="Cambria" pitchFamily="34" charset="-120"/>
              </a:rPr>
              <a:t>Net mechanical hands-on wrench time required by technicians.</a:t>
            </a:r>
            <a:endParaRPr lang="en-US" sz="1100" dirty="0"/>
          </a:p>
          <a:p>
            <a:pPr marL="190500" indent="-190500">
              <a:spcAft>
                <a:spcPts val="300"/>
              </a:spcAft>
              <a:buSzPct val="100000"/>
              <a:buChar char="•"/>
            </a:pPr>
            <a:r>
              <a:rPr lang="en-US" sz="1100" dirty="0">
                <a:solidFill>
                  <a:srgbClr val="2C261E"/>
                </a:solidFill>
                <a:latin typeface="Cambria" pitchFamily="34" charset="0"/>
                <a:ea typeface="Cambria" pitchFamily="34" charset="-122"/>
                <a:cs typeface="Cambria" pitchFamily="34" charset="-120"/>
              </a:rPr>
              <a:t>Isolates maintenance efficiency independent of supply chain delays.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02 — RELIABILITY 101 FOUNDATIONS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MDT 9-Stage Cycle &amp; Worked Fan Example</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comprehensive 9-stage restoration cycle from trip to restart.</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20</a:t>
            </a:r>
            <a:r>
              <a:rPr sz="900">
                <a:solidFill>
                  <a:srgbClr val="8A8477"/>
                </a:solidFill>
                <a:latin typeface="Courier New"/>
              </a:rPr>
              <a:t> / 80</a:t>
            </a:r>
            <a:endParaRPr lang="en-US" sz="900" dirty="0"/>
          </a:p>
        </p:txBody>
      </p:sp>
      <p:sp>
        <p:nvSpPr>
          <p:cNvPr id="13" name="Shape 10"/>
          <p:cNvSpPr/>
          <p:nvPr/>
        </p:nvSpPr>
        <p:spPr>
          <a:xfrm>
            <a:off x="548640" y="1737360"/>
            <a:ext cx="11091672" cy="16916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49808" y="1874520"/>
            <a:ext cx="10689336"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PIPELINE: 9-STAGE RESTORATION CYCLE</a:t>
            </a:r>
            <a:endParaRPr lang="en-US" sz="850" dirty="0"/>
          </a:p>
        </p:txBody>
      </p:sp>
      <p:sp>
        <p:nvSpPr>
          <p:cNvPr id="15" name="Shape 12"/>
          <p:cNvSpPr/>
          <p:nvPr/>
        </p:nvSpPr>
        <p:spPr>
          <a:xfrm>
            <a:off x="749808" y="2121408"/>
            <a:ext cx="10689336" cy="0"/>
          </a:xfrm>
          <a:prstGeom prst="line">
            <a:avLst/>
          </a:prstGeom>
          <a:noFill/>
          <a:ln w="9525">
            <a:solidFill>
              <a:srgbClr val="C9B48F"/>
            </a:solidFill>
            <a:prstDash val="solid"/>
          </a:ln>
        </p:spPr>
        <p:txBody>
          <a:bodyPr/>
          <a:lstStyle/>
          <a:p>
            <a:endParaRPr lang="en-IN"/>
          </a:p>
        </p:txBody>
      </p:sp>
      <p:pic>
        <p:nvPicPr>
          <p:cNvPr id="16" name="Image 1" descr="s20_0"/>
          <p:cNvPicPr>
            <a:picLocks noChangeAspect="1"/>
          </p:cNvPicPr>
          <p:nvPr/>
        </p:nvPicPr>
        <p:blipFill>
          <a:blip r:embed="rId4"/>
          <a:stretch>
            <a:fillRect/>
          </a:stretch>
        </p:blipFill>
        <p:spPr>
          <a:xfrm>
            <a:off x="1676191" y="2212848"/>
            <a:ext cx="8836569" cy="1069848"/>
          </a:xfrm>
          <a:prstGeom prst="rect">
            <a:avLst/>
          </a:prstGeom>
        </p:spPr>
      </p:pic>
      <p:sp>
        <p:nvSpPr>
          <p:cNvPr id="17" name="Shape 13"/>
          <p:cNvSpPr/>
          <p:nvPr/>
        </p:nvSpPr>
        <p:spPr>
          <a:xfrm>
            <a:off x="548640" y="3611880"/>
            <a:ext cx="5431536" cy="26060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777240" y="3749040"/>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THE 9 CRITICAL RESTORATION STAGES</a:t>
            </a:r>
            <a:endParaRPr lang="en-US" sz="950" dirty="0"/>
          </a:p>
        </p:txBody>
      </p:sp>
      <p:sp>
        <p:nvSpPr>
          <p:cNvPr id="19" name="Text 15"/>
          <p:cNvSpPr txBox="1"/>
          <p:nvPr/>
        </p:nvSpPr>
        <p:spPr>
          <a:xfrm>
            <a:off x="777240" y="4069080"/>
            <a:ext cx="2468880" cy="365760"/>
          </a:xfrm>
          <a:prstGeom prst="rect">
            <a:avLst/>
          </a:prstGeom>
          <a:noFill/>
          <a:ln/>
        </p:spPr>
        <p:txBody>
          <a:bodyPr wrap="square" lIns="0" tIns="0" rIns="0" bIns="0" rtlCol="0" anchor="ctr"/>
          <a:lstStyle/>
          <a:p>
            <a:pPr marL="0" indent="0">
              <a:buNone/>
            </a:pPr>
            <a:r>
              <a:rPr lang="en-US" sz="1150" b="1" dirty="0">
                <a:solidFill>
                  <a:srgbClr val="7A1F1A"/>
                </a:solidFill>
                <a:latin typeface="Courier New" pitchFamily="34" charset="0"/>
                <a:ea typeface="Courier New" pitchFamily="34" charset="-122"/>
                <a:cs typeface="Courier New" pitchFamily="34" charset="-120"/>
              </a:rPr>
              <a:t>01  </a:t>
            </a:r>
            <a:r>
              <a:rPr lang="en-US" sz="1150" dirty="0">
                <a:solidFill>
                  <a:srgbClr val="2C261E"/>
                </a:solidFill>
                <a:latin typeface="Cambria" pitchFamily="34" charset="0"/>
                <a:ea typeface="Cambria" pitchFamily="34" charset="-122"/>
                <a:cs typeface="Cambria" pitchFamily="34" charset="-120"/>
              </a:rPr>
              <a:t>Request Repairs</a:t>
            </a:r>
            <a:endParaRPr lang="en-US" sz="1150" dirty="0"/>
          </a:p>
        </p:txBody>
      </p:sp>
      <p:sp>
        <p:nvSpPr>
          <p:cNvPr id="20" name="Text 16"/>
          <p:cNvSpPr txBox="1"/>
          <p:nvPr/>
        </p:nvSpPr>
        <p:spPr>
          <a:xfrm>
            <a:off x="777240" y="4471416"/>
            <a:ext cx="2468880" cy="365760"/>
          </a:xfrm>
          <a:prstGeom prst="rect">
            <a:avLst/>
          </a:prstGeom>
          <a:noFill/>
          <a:ln/>
        </p:spPr>
        <p:txBody>
          <a:bodyPr wrap="square" lIns="0" tIns="0" rIns="0" bIns="0" rtlCol="0" anchor="ctr"/>
          <a:lstStyle/>
          <a:p>
            <a:pPr marL="0" indent="0">
              <a:buNone/>
            </a:pPr>
            <a:r>
              <a:rPr lang="en-US" sz="1150" b="1" dirty="0">
                <a:solidFill>
                  <a:srgbClr val="7A1F1A"/>
                </a:solidFill>
                <a:latin typeface="Courier New" pitchFamily="34" charset="0"/>
                <a:ea typeface="Courier New" pitchFamily="34" charset="-122"/>
                <a:cs typeface="Courier New" pitchFamily="34" charset="-120"/>
              </a:rPr>
              <a:t>02  </a:t>
            </a:r>
            <a:r>
              <a:rPr lang="en-US" sz="1150" dirty="0">
                <a:solidFill>
                  <a:srgbClr val="2C261E"/>
                </a:solidFill>
                <a:latin typeface="Cambria" pitchFamily="34" charset="0"/>
                <a:ea typeface="Cambria" pitchFamily="34" charset="-122"/>
                <a:cs typeface="Cambria" pitchFamily="34" charset="-120"/>
              </a:rPr>
              <a:t>Dispatch Crew</a:t>
            </a:r>
            <a:endParaRPr lang="en-US" sz="1150" dirty="0"/>
          </a:p>
        </p:txBody>
      </p:sp>
      <p:sp>
        <p:nvSpPr>
          <p:cNvPr id="21" name="Text 17"/>
          <p:cNvSpPr txBox="1"/>
          <p:nvPr/>
        </p:nvSpPr>
        <p:spPr>
          <a:xfrm>
            <a:off x="777240" y="4873752"/>
            <a:ext cx="2468880" cy="365760"/>
          </a:xfrm>
          <a:prstGeom prst="rect">
            <a:avLst/>
          </a:prstGeom>
          <a:noFill/>
          <a:ln/>
        </p:spPr>
        <p:txBody>
          <a:bodyPr wrap="square" lIns="0" tIns="0" rIns="0" bIns="0" rtlCol="0" anchor="ctr"/>
          <a:lstStyle/>
          <a:p>
            <a:pPr marL="0" indent="0">
              <a:buNone/>
            </a:pPr>
            <a:r>
              <a:rPr lang="en-US" sz="1150" b="1" dirty="0">
                <a:solidFill>
                  <a:srgbClr val="7A1F1A"/>
                </a:solidFill>
                <a:latin typeface="Courier New" pitchFamily="34" charset="0"/>
                <a:ea typeface="Courier New" pitchFamily="34" charset="-122"/>
                <a:cs typeface="Courier New" pitchFamily="34" charset="-120"/>
              </a:rPr>
              <a:t>03  </a:t>
            </a:r>
            <a:r>
              <a:rPr lang="en-US" sz="1150" dirty="0">
                <a:solidFill>
                  <a:srgbClr val="2C261E"/>
                </a:solidFill>
                <a:latin typeface="Cambria" pitchFamily="34" charset="0"/>
                <a:ea typeface="Cambria" pitchFamily="34" charset="-122"/>
                <a:cs typeface="Cambria" pitchFamily="34" charset="-120"/>
              </a:rPr>
              <a:t>Troubleshoot Root Cause</a:t>
            </a:r>
            <a:endParaRPr lang="en-US" sz="1150" dirty="0"/>
          </a:p>
        </p:txBody>
      </p:sp>
      <p:sp>
        <p:nvSpPr>
          <p:cNvPr id="22" name="Text 18"/>
          <p:cNvSpPr txBox="1"/>
          <p:nvPr/>
        </p:nvSpPr>
        <p:spPr>
          <a:xfrm>
            <a:off x="777240" y="5276088"/>
            <a:ext cx="2468880" cy="365760"/>
          </a:xfrm>
          <a:prstGeom prst="rect">
            <a:avLst/>
          </a:prstGeom>
          <a:noFill/>
          <a:ln/>
        </p:spPr>
        <p:txBody>
          <a:bodyPr wrap="square" lIns="0" tIns="0" rIns="0" bIns="0" rtlCol="0" anchor="ctr"/>
          <a:lstStyle/>
          <a:p>
            <a:pPr marL="0" indent="0">
              <a:buNone/>
            </a:pPr>
            <a:r>
              <a:rPr lang="en-US" sz="1150" b="1" dirty="0">
                <a:solidFill>
                  <a:srgbClr val="7A1F1A"/>
                </a:solidFill>
                <a:latin typeface="Courier New" pitchFamily="34" charset="0"/>
                <a:ea typeface="Courier New" pitchFamily="34" charset="-122"/>
                <a:cs typeface="Courier New" pitchFamily="34" charset="-120"/>
              </a:rPr>
              <a:t>04  </a:t>
            </a:r>
            <a:r>
              <a:rPr lang="en-US" sz="1150" dirty="0">
                <a:solidFill>
                  <a:srgbClr val="2C261E"/>
                </a:solidFill>
                <a:latin typeface="Cambria" pitchFamily="34" charset="0"/>
                <a:ea typeface="Cambria" pitchFamily="34" charset="-122"/>
                <a:cs typeface="Cambria" pitchFamily="34" charset="-120"/>
              </a:rPr>
              <a:t>LOTO &amp; Work Permits</a:t>
            </a:r>
            <a:endParaRPr lang="en-US" sz="1150" dirty="0"/>
          </a:p>
        </p:txBody>
      </p:sp>
      <p:sp>
        <p:nvSpPr>
          <p:cNvPr id="23" name="Text 19"/>
          <p:cNvSpPr txBox="1"/>
          <p:nvPr/>
        </p:nvSpPr>
        <p:spPr>
          <a:xfrm>
            <a:off x="777240" y="5678424"/>
            <a:ext cx="2468880" cy="365760"/>
          </a:xfrm>
          <a:prstGeom prst="rect">
            <a:avLst/>
          </a:prstGeom>
          <a:noFill/>
          <a:ln/>
        </p:spPr>
        <p:txBody>
          <a:bodyPr wrap="square" lIns="0" tIns="0" rIns="0" bIns="0" rtlCol="0" anchor="ctr"/>
          <a:lstStyle/>
          <a:p>
            <a:pPr marL="0" indent="0">
              <a:buNone/>
            </a:pPr>
            <a:r>
              <a:rPr lang="en-US" sz="1150" b="1" dirty="0">
                <a:solidFill>
                  <a:srgbClr val="7A1F1A"/>
                </a:solidFill>
                <a:latin typeface="Courier New" pitchFamily="34" charset="0"/>
                <a:ea typeface="Courier New" pitchFamily="34" charset="-122"/>
                <a:cs typeface="Courier New" pitchFamily="34" charset="-120"/>
              </a:rPr>
              <a:t>05  </a:t>
            </a:r>
            <a:r>
              <a:rPr lang="en-US" sz="1150" dirty="0">
                <a:solidFill>
                  <a:srgbClr val="2C261E"/>
                </a:solidFill>
                <a:latin typeface="Cambria" pitchFamily="34" charset="0"/>
                <a:ea typeface="Cambria" pitchFamily="34" charset="-122"/>
                <a:cs typeface="Cambria" pitchFamily="34" charset="-120"/>
              </a:rPr>
              <a:t>Pull Warehouse Spares</a:t>
            </a:r>
            <a:endParaRPr lang="en-US" sz="1150" dirty="0"/>
          </a:p>
        </p:txBody>
      </p:sp>
      <p:sp>
        <p:nvSpPr>
          <p:cNvPr id="24" name="Text 20"/>
          <p:cNvSpPr txBox="1"/>
          <p:nvPr/>
        </p:nvSpPr>
        <p:spPr>
          <a:xfrm>
            <a:off x="3291840" y="4069080"/>
            <a:ext cx="2697480" cy="365760"/>
          </a:xfrm>
          <a:prstGeom prst="rect">
            <a:avLst/>
          </a:prstGeom>
          <a:noFill/>
          <a:ln/>
        </p:spPr>
        <p:txBody>
          <a:bodyPr wrap="square" lIns="0" tIns="0" rIns="0" bIns="0" rtlCol="0" anchor="ctr"/>
          <a:lstStyle/>
          <a:p>
            <a:pPr marL="0" indent="0">
              <a:buNone/>
            </a:pPr>
            <a:r>
              <a:rPr lang="en-US" sz="1150" b="1" dirty="0">
                <a:solidFill>
                  <a:srgbClr val="9A6A12"/>
                </a:solidFill>
                <a:latin typeface="Courier New" pitchFamily="34" charset="0"/>
                <a:ea typeface="Courier New" pitchFamily="34" charset="-122"/>
                <a:cs typeface="Courier New" pitchFamily="34" charset="-120"/>
              </a:rPr>
              <a:t>06  </a:t>
            </a:r>
            <a:r>
              <a:rPr lang="en-US" sz="1150" b="1" dirty="0">
                <a:solidFill>
                  <a:srgbClr val="1C1712"/>
                </a:solidFill>
                <a:latin typeface="Cambria" pitchFamily="34" charset="0"/>
                <a:ea typeface="Cambria" pitchFamily="34" charset="-122"/>
                <a:cs typeface="Cambria" pitchFamily="34" charset="-120"/>
              </a:rPr>
              <a:t>Execute Repair (MTTR)</a:t>
            </a:r>
            <a:endParaRPr lang="en-US" sz="1150" dirty="0"/>
          </a:p>
        </p:txBody>
      </p:sp>
      <p:sp>
        <p:nvSpPr>
          <p:cNvPr id="25" name="Text 21"/>
          <p:cNvSpPr txBox="1"/>
          <p:nvPr/>
        </p:nvSpPr>
        <p:spPr>
          <a:xfrm>
            <a:off x="3291840" y="4471416"/>
            <a:ext cx="2697480" cy="365760"/>
          </a:xfrm>
          <a:prstGeom prst="rect">
            <a:avLst/>
          </a:prstGeom>
          <a:noFill/>
          <a:ln/>
        </p:spPr>
        <p:txBody>
          <a:bodyPr wrap="square" lIns="0" tIns="0" rIns="0" bIns="0" rtlCol="0" anchor="ctr"/>
          <a:lstStyle/>
          <a:p>
            <a:pPr marL="0" indent="0">
              <a:buNone/>
            </a:pPr>
            <a:r>
              <a:rPr lang="en-US" sz="1150" b="1" dirty="0">
                <a:solidFill>
                  <a:srgbClr val="7A1F1A"/>
                </a:solidFill>
                <a:latin typeface="Courier New" pitchFamily="34" charset="0"/>
                <a:ea typeface="Courier New" pitchFamily="34" charset="-122"/>
                <a:cs typeface="Courier New" pitchFamily="34" charset="-120"/>
              </a:rPr>
              <a:t>07  </a:t>
            </a:r>
            <a:r>
              <a:rPr lang="en-US" sz="1150" dirty="0">
                <a:solidFill>
                  <a:srgbClr val="2C261E"/>
                </a:solidFill>
                <a:latin typeface="Cambria" pitchFamily="34" charset="0"/>
                <a:ea typeface="Cambria" pitchFamily="34" charset="-122"/>
                <a:cs typeface="Cambria" pitchFamily="34" charset="-120"/>
              </a:rPr>
              <a:t>Remove Lockout / Tags</a:t>
            </a:r>
            <a:endParaRPr lang="en-US" sz="1150" dirty="0"/>
          </a:p>
        </p:txBody>
      </p:sp>
      <p:sp>
        <p:nvSpPr>
          <p:cNvPr id="26" name="Text 22"/>
          <p:cNvSpPr txBox="1"/>
          <p:nvPr/>
        </p:nvSpPr>
        <p:spPr>
          <a:xfrm>
            <a:off x="3291840" y="4873752"/>
            <a:ext cx="2697480" cy="365760"/>
          </a:xfrm>
          <a:prstGeom prst="rect">
            <a:avLst/>
          </a:prstGeom>
          <a:noFill/>
          <a:ln/>
        </p:spPr>
        <p:txBody>
          <a:bodyPr wrap="square" lIns="0" tIns="0" rIns="0" bIns="0" rtlCol="0" anchor="ctr"/>
          <a:lstStyle/>
          <a:p>
            <a:pPr marL="0" indent="0">
              <a:buNone/>
            </a:pPr>
            <a:r>
              <a:rPr lang="en-US" sz="1150" b="1" dirty="0">
                <a:solidFill>
                  <a:srgbClr val="7A1F1A"/>
                </a:solidFill>
                <a:latin typeface="Courier New" pitchFamily="34" charset="0"/>
                <a:ea typeface="Courier New" pitchFamily="34" charset="-122"/>
                <a:cs typeface="Courier New" pitchFamily="34" charset="-120"/>
              </a:rPr>
              <a:t>08  </a:t>
            </a:r>
            <a:r>
              <a:rPr lang="en-US" sz="1150" dirty="0">
                <a:solidFill>
                  <a:srgbClr val="2C261E"/>
                </a:solidFill>
                <a:latin typeface="Cambria" pitchFamily="34" charset="0"/>
                <a:ea typeface="Cambria" pitchFamily="34" charset="-122"/>
                <a:cs typeface="Cambria" pitchFamily="34" charset="-120"/>
              </a:rPr>
              <a:t>Cold &amp; Hot Testing</a:t>
            </a:r>
            <a:endParaRPr lang="en-US" sz="1150" dirty="0"/>
          </a:p>
        </p:txBody>
      </p:sp>
      <p:sp>
        <p:nvSpPr>
          <p:cNvPr id="27" name="Text 23"/>
          <p:cNvSpPr txBox="1"/>
          <p:nvPr/>
        </p:nvSpPr>
        <p:spPr>
          <a:xfrm>
            <a:off x="3291840" y="5276088"/>
            <a:ext cx="2697480" cy="365760"/>
          </a:xfrm>
          <a:prstGeom prst="rect">
            <a:avLst/>
          </a:prstGeom>
          <a:noFill/>
          <a:ln/>
        </p:spPr>
        <p:txBody>
          <a:bodyPr wrap="square" lIns="0" tIns="0" rIns="0" bIns="0" rtlCol="0" anchor="ctr"/>
          <a:lstStyle/>
          <a:p>
            <a:pPr marL="0" indent="0">
              <a:buNone/>
            </a:pPr>
            <a:r>
              <a:rPr lang="en-US" sz="1150" b="1" dirty="0">
                <a:solidFill>
                  <a:srgbClr val="7A1F1A"/>
                </a:solidFill>
                <a:latin typeface="Courier New" pitchFamily="34" charset="0"/>
                <a:ea typeface="Courier New" pitchFamily="34" charset="-122"/>
                <a:cs typeface="Courier New" pitchFamily="34" charset="-120"/>
              </a:rPr>
              <a:t>09  </a:t>
            </a:r>
            <a:r>
              <a:rPr lang="en-US" sz="1150" dirty="0">
                <a:solidFill>
                  <a:srgbClr val="2C261E"/>
                </a:solidFill>
                <a:latin typeface="Cambria" pitchFamily="34" charset="0"/>
                <a:ea typeface="Cambria" pitchFamily="34" charset="-122"/>
                <a:cs typeface="Cambria" pitchFamily="34" charset="-120"/>
              </a:rPr>
              <a:t>Restart Unit to Full Production Rate</a:t>
            </a:r>
            <a:endParaRPr lang="en-US" sz="1150" dirty="0"/>
          </a:p>
        </p:txBody>
      </p:sp>
      <p:sp>
        <p:nvSpPr>
          <p:cNvPr id="28" name="Shape 24"/>
          <p:cNvSpPr/>
          <p:nvPr/>
        </p:nvSpPr>
        <p:spPr>
          <a:xfrm>
            <a:off x="6208776" y="3611880"/>
            <a:ext cx="5431536" cy="2606040"/>
          </a:xfrm>
          <a:prstGeom prst="rect">
            <a:avLst/>
          </a:prstGeom>
          <a:solidFill>
            <a:srgbClr val="EFDCCF"/>
          </a:solidFill>
          <a:ln w="12700">
            <a:solidFill>
              <a:srgbClr val="C9B48F"/>
            </a:solidFill>
            <a:prstDash val="solid"/>
          </a:ln>
        </p:spPr>
        <p:txBody>
          <a:bodyPr/>
          <a:lstStyle/>
          <a:p>
            <a:endParaRPr lang="en-IN"/>
          </a:p>
        </p:txBody>
      </p:sp>
      <p:sp>
        <p:nvSpPr>
          <p:cNvPr id="29" name="Text 25"/>
          <p:cNvSpPr txBox="1"/>
          <p:nvPr/>
        </p:nvSpPr>
        <p:spPr>
          <a:xfrm>
            <a:off x="6437376" y="3749040"/>
            <a:ext cx="493776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WORKED INDUCED DRAFT FAN CALCULATION</a:t>
            </a:r>
            <a:endParaRPr lang="en-US" sz="950" dirty="0"/>
          </a:p>
        </p:txBody>
      </p:sp>
      <p:sp>
        <p:nvSpPr>
          <p:cNvPr id="30" name="Shape 26"/>
          <p:cNvSpPr/>
          <p:nvPr/>
        </p:nvSpPr>
        <p:spPr>
          <a:xfrm>
            <a:off x="6437376" y="4069080"/>
            <a:ext cx="4974336" cy="1143000"/>
          </a:xfrm>
          <a:prstGeom prst="rect">
            <a:avLst/>
          </a:prstGeom>
          <a:solidFill>
            <a:srgbClr val="EADDC0"/>
          </a:solidFill>
          <a:ln w="12700">
            <a:solidFill>
              <a:srgbClr val="C9B48F"/>
            </a:solidFill>
            <a:prstDash val="solid"/>
          </a:ln>
        </p:spPr>
        <p:txBody>
          <a:bodyPr/>
          <a:lstStyle/>
          <a:p>
            <a:endParaRPr lang="en-IN"/>
          </a:p>
        </p:txBody>
      </p:sp>
      <p:pic>
        <p:nvPicPr>
          <p:cNvPr id="31" name="Image 2" descr="Formula"/>
          <p:cNvPicPr>
            <a:picLocks noChangeAspect="1"/>
          </p:cNvPicPr>
          <p:nvPr/>
        </p:nvPicPr>
        <p:blipFill>
          <a:blip r:embed="rId5"/>
          <a:stretch>
            <a:fillRect/>
          </a:stretch>
        </p:blipFill>
        <p:spPr>
          <a:xfrm>
            <a:off x="6528816" y="4431125"/>
            <a:ext cx="4791456" cy="418909"/>
          </a:xfrm>
          <a:prstGeom prst="rect">
            <a:avLst/>
          </a:prstGeom>
        </p:spPr>
      </p:pic>
      <p:sp>
        <p:nvSpPr>
          <p:cNvPr id="32" name="Text 27"/>
          <p:cNvSpPr txBox="1"/>
          <p:nvPr/>
        </p:nvSpPr>
        <p:spPr>
          <a:xfrm>
            <a:off x="6437376" y="5349240"/>
            <a:ext cx="4983480" cy="731520"/>
          </a:xfrm>
          <a:prstGeom prst="rect">
            <a:avLst/>
          </a:prstGeom>
          <a:noFill/>
          <a:ln/>
        </p:spPr>
        <p:txBody>
          <a:bodyPr wrap="square" lIns="0" tIns="0" rIns="0" bIns="0" rtlCol="0" anchor="ctr"/>
          <a:lstStyle/>
          <a:p>
            <a:pPr marL="0" indent="0">
              <a:buNone/>
            </a:pPr>
            <a:r>
              <a:rPr lang="en-US" sz="1300" dirty="0">
                <a:solidFill>
                  <a:srgbClr val="2C261E"/>
                </a:solidFill>
                <a:latin typeface="Cambria" pitchFamily="34" charset="0"/>
                <a:ea typeface="Cambria" pitchFamily="34" charset="-122"/>
                <a:cs typeface="Cambria" pitchFamily="34" charset="-120"/>
              </a:rPr>
              <a:t>4 bearing temperature trips caused 6.0 hours cumulative outage → </a:t>
            </a:r>
            <a:r>
              <a:rPr lang="en-US" sz="1300" b="1" dirty="0">
                <a:solidFill>
                  <a:srgbClr val="7A1F1A"/>
                </a:solidFill>
                <a:latin typeface="Cambria" pitchFamily="34" charset="0"/>
                <a:ea typeface="Cambria" pitchFamily="34" charset="-122"/>
                <a:cs typeface="Cambria" pitchFamily="34" charset="-120"/>
              </a:rPr>
              <a:t>MDT = 1.5 hrs</a:t>
            </a:r>
            <a:r>
              <a:rPr lang="en-US" sz="1300" dirty="0">
                <a:solidFill>
                  <a:srgbClr val="2C261E"/>
                </a:solidFill>
                <a:latin typeface="Cambria" pitchFamily="34" charset="0"/>
                <a:ea typeface="Cambria" pitchFamily="34" charset="-122"/>
                <a:cs typeface="Cambria" pitchFamily="34" charset="-120"/>
              </a:rPr>
              <a: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EBD7"/>
        </a:solidFill>
        <a:effectLst/>
      </p:bgPr>
    </p:bg>
    <p:spTree>
      <p:nvGrpSpPr>
        <p:cNvPr id="1" name=""/>
        <p:cNvGrpSpPr/>
        <p:nvPr/>
      </p:nvGrpSpPr>
      <p:grpSpPr>
        <a:xfrm>
          <a:off x="0" y="0"/>
          <a:ext cx="0" cy="0"/>
          <a:chOff x="0" y="0"/>
          <a:chExt cx="0" cy="0"/>
        </a:xfrm>
      </p:grpSpPr>
      <p:pic>
        <p:nvPicPr>
          <p:cNvPr id="2" name="Image 0" descr="assets/bg_section.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22960" y="1051560"/>
            <a:ext cx="10543032" cy="41148"/>
          </a:xfrm>
          <a:prstGeom prst="rect">
            <a:avLst/>
          </a:prstGeom>
          <a:solidFill>
            <a:srgbClr val="1C1712"/>
          </a:solidFill>
          <a:ln w="12700">
            <a:solidFill>
              <a:srgbClr val="333333"/>
            </a:solidFill>
            <a:prstDash val="solid"/>
          </a:ln>
        </p:spPr>
        <p:txBody>
          <a:bodyPr/>
          <a:lstStyle/>
          <a:p>
            <a:endParaRPr lang="en-IN"/>
          </a:p>
        </p:txBody>
      </p:sp>
      <p:sp>
        <p:nvSpPr>
          <p:cNvPr id="4" name="Shape 1"/>
          <p:cNvSpPr/>
          <p:nvPr/>
        </p:nvSpPr>
        <p:spPr>
          <a:xfrm>
            <a:off x="822960" y="1133856"/>
            <a:ext cx="10543032" cy="0"/>
          </a:xfrm>
          <a:prstGeom prst="line">
            <a:avLst/>
          </a:prstGeom>
          <a:noFill/>
          <a:ln w="12700">
            <a:solidFill>
              <a:srgbClr val="1C1712"/>
            </a:solidFill>
            <a:prstDash val="solid"/>
          </a:ln>
        </p:spPr>
        <p:txBody>
          <a:bodyPr/>
          <a:lstStyle/>
          <a:p>
            <a:endParaRPr lang="en-IN"/>
          </a:p>
        </p:txBody>
      </p:sp>
      <p:sp>
        <p:nvSpPr>
          <p:cNvPr id="5" name="Text 2"/>
          <p:cNvSpPr txBox="1"/>
          <p:nvPr/>
        </p:nvSpPr>
        <p:spPr>
          <a:xfrm>
            <a:off x="822960" y="1234440"/>
            <a:ext cx="10543032" cy="274320"/>
          </a:xfrm>
          <a:prstGeom prst="rect">
            <a:avLst/>
          </a:prstGeom>
          <a:noFill/>
          <a:ln/>
        </p:spPr>
        <p:txBody>
          <a:bodyPr wrap="square" lIns="0" tIns="0" rIns="0" bIns="0" rtlCol="0" anchor="t"/>
          <a:lstStyle/>
          <a:p>
            <a:pPr marL="0" indent="0" algn="ctr">
              <a:buNone/>
            </a:pPr>
            <a:r>
              <a:rPr lang="en-US" sz="1200" b="1" kern="0" spc="300" dirty="0">
                <a:solidFill>
                  <a:srgbClr val="7A1F1A"/>
                </a:solidFill>
                <a:latin typeface="Courier New" pitchFamily="34" charset="0"/>
                <a:ea typeface="Courier New" pitchFamily="34" charset="-122"/>
                <a:cs typeface="Courier New" pitchFamily="34" charset="-120"/>
              </a:rPr>
              <a:t>SPECIAL DISPATCH SECTION III</a:t>
            </a:r>
            <a:endParaRPr lang="en-US" sz="1200" dirty="0"/>
          </a:p>
        </p:txBody>
      </p:sp>
      <p:sp>
        <p:nvSpPr>
          <p:cNvPr id="6" name="Text 3"/>
          <p:cNvSpPr txBox="1"/>
          <p:nvPr/>
        </p:nvSpPr>
        <p:spPr>
          <a:xfrm>
            <a:off x="822960" y="1874520"/>
            <a:ext cx="10543032" cy="548640"/>
          </a:xfrm>
          <a:prstGeom prst="rect">
            <a:avLst/>
          </a:prstGeom>
          <a:noFill/>
          <a:ln/>
        </p:spPr>
        <p:txBody>
          <a:bodyPr wrap="square" lIns="0" tIns="0" rIns="0" bIns="0" rtlCol="0" anchor="t"/>
          <a:lstStyle/>
          <a:p>
            <a:pPr marL="0" indent="0" algn="ctr">
              <a:buNone/>
            </a:pPr>
            <a:r>
              <a:rPr lang="en-US" sz="1500" kern="0" spc="200" dirty="0">
                <a:solidFill>
                  <a:srgbClr val="8A8477"/>
                </a:solidFill>
                <a:latin typeface="Courier New" pitchFamily="34" charset="0"/>
                <a:ea typeface="Courier New" pitchFamily="34" charset="-122"/>
                <a:cs typeface="Courier New" pitchFamily="34" charset="-120"/>
              </a:rPr>
              <a:t>No. III</a:t>
            </a:r>
            <a:endParaRPr lang="en-US" sz="1500" dirty="0"/>
          </a:p>
        </p:txBody>
      </p:sp>
      <p:sp>
        <p:nvSpPr>
          <p:cNvPr id="7" name="Text 4"/>
          <p:cNvSpPr txBox="1"/>
          <p:nvPr/>
        </p:nvSpPr>
        <p:spPr>
          <a:xfrm>
            <a:off x="822960" y="2286000"/>
            <a:ext cx="10543032" cy="1325880"/>
          </a:xfrm>
          <a:prstGeom prst="rect">
            <a:avLst/>
          </a:prstGeom>
          <a:noFill/>
          <a:ln/>
        </p:spPr>
        <p:txBody>
          <a:bodyPr wrap="square" lIns="0" tIns="0" rIns="0" bIns="0" rtlCol="0" anchor="ctr">
            <a:normAutofit/>
          </a:bodyPr>
          <a:lstStyle/>
          <a:p>
            <a:pPr marL="0" indent="0" algn="ctr">
              <a:buNone/>
            </a:pPr>
            <a:r>
              <a:rPr lang="en-US" sz="5000" b="1" dirty="0">
                <a:solidFill>
                  <a:srgbClr val="1C1712"/>
                </a:solidFill>
                <a:latin typeface="Cambria" pitchFamily="34" charset="0"/>
                <a:ea typeface="Cambria" pitchFamily="34" charset="-122"/>
                <a:cs typeface="Cambria" pitchFamily="34" charset="-120"/>
              </a:rPr>
              <a:t>Probability &amp; Reliability Statistics</a:t>
            </a:r>
            <a:endParaRPr lang="en-US" sz="5000" dirty="0"/>
          </a:p>
        </p:txBody>
      </p:sp>
      <p:sp>
        <p:nvSpPr>
          <p:cNvPr id="8" name="Shape 5"/>
          <p:cNvSpPr/>
          <p:nvPr/>
        </p:nvSpPr>
        <p:spPr>
          <a:xfrm>
            <a:off x="3108960" y="3703320"/>
            <a:ext cx="5971032" cy="0"/>
          </a:xfrm>
          <a:prstGeom prst="line">
            <a:avLst/>
          </a:prstGeom>
          <a:noFill/>
          <a:ln w="19050">
            <a:solidFill>
              <a:srgbClr val="7A1F1A"/>
            </a:solidFill>
            <a:prstDash val="solid"/>
          </a:ln>
        </p:spPr>
        <p:txBody>
          <a:bodyPr/>
          <a:lstStyle/>
          <a:p>
            <a:endParaRPr lang="en-IN"/>
          </a:p>
        </p:txBody>
      </p:sp>
      <p:sp>
        <p:nvSpPr>
          <p:cNvPr id="9" name="Text 6"/>
          <p:cNvSpPr txBox="1"/>
          <p:nvPr/>
        </p:nvSpPr>
        <p:spPr>
          <a:xfrm>
            <a:off x="1280160" y="3886200"/>
            <a:ext cx="9628632" cy="640080"/>
          </a:xfrm>
          <a:prstGeom prst="rect">
            <a:avLst/>
          </a:prstGeom>
          <a:noFill/>
          <a:ln/>
        </p:spPr>
        <p:txBody>
          <a:bodyPr wrap="square" lIns="0" tIns="0" rIns="0" bIns="0" rtlCol="0" anchor="t"/>
          <a:lstStyle/>
          <a:p>
            <a:pPr marL="0" indent="0" algn="ctr">
              <a:buNone/>
            </a:pPr>
            <a:r>
              <a:rPr lang="en-US" sz="1600" i="1" dirty="0">
                <a:solidFill>
                  <a:srgbClr val="5A5347"/>
                </a:solidFill>
                <a:latin typeface="Cambria" pitchFamily="34" charset="0"/>
                <a:ea typeface="Cambria" pitchFamily="34" charset="-122"/>
                <a:cs typeface="Cambria" pitchFamily="34" charset="-120"/>
              </a:rPr>
              <a:t>Weibull Parameter Dynamics, Bathtub Curves, Work Order Regressions &amp; Financial Risk</a:t>
            </a:r>
            <a:endParaRPr lang="en-US" sz="1600" dirty="0"/>
          </a:p>
        </p:txBody>
      </p:sp>
      <p:sp>
        <p:nvSpPr>
          <p:cNvPr id="10" name="Shape 7"/>
          <p:cNvSpPr/>
          <p:nvPr/>
        </p:nvSpPr>
        <p:spPr>
          <a:xfrm>
            <a:off x="3313328" y="4709160"/>
            <a:ext cx="1249070" cy="274320"/>
          </a:xfrm>
          <a:prstGeom prst="rect">
            <a:avLst/>
          </a:prstGeom>
          <a:solidFill>
            <a:srgbClr val="EFDCCF"/>
          </a:solidFill>
          <a:ln w="12700">
            <a:solidFill>
              <a:srgbClr val="7A1F1A"/>
            </a:solidFill>
            <a:prstDash val="solid"/>
          </a:ln>
        </p:spPr>
        <p:txBody>
          <a:bodyPr/>
          <a:lstStyle/>
          <a:p>
            <a:endParaRPr lang="en-IN"/>
          </a:p>
        </p:txBody>
      </p:sp>
      <p:sp>
        <p:nvSpPr>
          <p:cNvPr id="11" name="Text 8"/>
          <p:cNvSpPr txBox="1"/>
          <p:nvPr/>
        </p:nvSpPr>
        <p:spPr>
          <a:xfrm>
            <a:off x="3313328" y="4709160"/>
            <a:ext cx="124907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WEIBULL Β Η Γ</a:t>
            </a:r>
            <a:endParaRPr lang="en-US" sz="900" dirty="0"/>
          </a:p>
        </p:txBody>
      </p:sp>
      <p:sp>
        <p:nvSpPr>
          <p:cNvPr id="12" name="Shape 9"/>
          <p:cNvSpPr/>
          <p:nvPr/>
        </p:nvSpPr>
        <p:spPr>
          <a:xfrm>
            <a:off x="4726991" y="4709160"/>
            <a:ext cx="1099109" cy="274320"/>
          </a:xfrm>
          <a:prstGeom prst="rect">
            <a:avLst/>
          </a:prstGeom>
          <a:solidFill>
            <a:srgbClr val="EFDCCF"/>
          </a:solidFill>
          <a:ln w="12700">
            <a:solidFill>
              <a:srgbClr val="7A1F1A"/>
            </a:solidFill>
            <a:prstDash val="solid"/>
          </a:ln>
        </p:spPr>
        <p:txBody>
          <a:bodyPr/>
          <a:lstStyle/>
          <a:p>
            <a:endParaRPr lang="en-IN"/>
          </a:p>
        </p:txBody>
      </p:sp>
      <p:sp>
        <p:nvSpPr>
          <p:cNvPr id="13" name="Text 10"/>
          <p:cNvSpPr txBox="1"/>
          <p:nvPr/>
        </p:nvSpPr>
        <p:spPr>
          <a:xfrm>
            <a:off x="4726991" y="4709160"/>
            <a:ext cx="1099109"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EXPONENTIAL</a:t>
            </a:r>
            <a:endParaRPr lang="en-US" sz="900" dirty="0"/>
          </a:p>
        </p:txBody>
      </p:sp>
      <p:sp>
        <p:nvSpPr>
          <p:cNvPr id="14" name="Shape 11"/>
          <p:cNvSpPr/>
          <p:nvPr/>
        </p:nvSpPr>
        <p:spPr>
          <a:xfrm>
            <a:off x="5990692" y="4709160"/>
            <a:ext cx="1249070" cy="274320"/>
          </a:xfrm>
          <a:prstGeom prst="rect">
            <a:avLst/>
          </a:prstGeom>
          <a:solidFill>
            <a:srgbClr val="EFDCCF"/>
          </a:solidFill>
          <a:ln w="12700">
            <a:solidFill>
              <a:srgbClr val="7A1F1A"/>
            </a:solidFill>
            <a:prstDash val="solid"/>
          </a:ln>
        </p:spPr>
        <p:txBody>
          <a:bodyPr/>
          <a:lstStyle/>
          <a:p>
            <a:endParaRPr lang="en-IN"/>
          </a:p>
        </p:txBody>
      </p:sp>
      <p:sp>
        <p:nvSpPr>
          <p:cNvPr id="15" name="Text 12"/>
          <p:cNvSpPr txBox="1"/>
          <p:nvPr/>
        </p:nvSpPr>
        <p:spPr>
          <a:xfrm>
            <a:off x="5990692" y="4709160"/>
            <a:ext cx="124907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BATHTUB CURVE</a:t>
            </a:r>
            <a:endParaRPr lang="en-US" sz="900" dirty="0"/>
          </a:p>
        </p:txBody>
      </p:sp>
      <p:sp>
        <p:nvSpPr>
          <p:cNvPr id="16" name="Shape 13"/>
          <p:cNvSpPr/>
          <p:nvPr/>
        </p:nvSpPr>
        <p:spPr>
          <a:xfrm>
            <a:off x="7404354" y="4709160"/>
            <a:ext cx="1474013" cy="274320"/>
          </a:xfrm>
          <a:prstGeom prst="rect">
            <a:avLst/>
          </a:prstGeom>
          <a:solidFill>
            <a:srgbClr val="EFDCCF"/>
          </a:solidFill>
          <a:ln w="12700">
            <a:solidFill>
              <a:srgbClr val="7A1F1A"/>
            </a:solidFill>
            <a:prstDash val="solid"/>
          </a:ln>
        </p:spPr>
        <p:txBody>
          <a:bodyPr/>
          <a:lstStyle/>
          <a:p>
            <a:endParaRPr lang="en-IN"/>
          </a:p>
        </p:txBody>
      </p:sp>
      <p:sp>
        <p:nvSpPr>
          <p:cNvPr id="17" name="Text 14"/>
          <p:cNvSpPr txBox="1"/>
          <p:nvPr/>
        </p:nvSpPr>
        <p:spPr>
          <a:xfrm>
            <a:off x="7404354" y="4709160"/>
            <a:ext cx="1474013"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RISK = POF × COF</a:t>
            </a:r>
            <a:endParaRPr lang="en-US" sz="900" dirty="0"/>
          </a:p>
        </p:txBody>
      </p:sp>
      <p:sp>
        <p:nvSpPr>
          <p:cNvPr id="18" name="Shape 15"/>
          <p:cNvSpPr/>
          <p:nvPr/>
        </p:nvSpPr>
        <p:spPr>
          <a:xfrm>
            <a:off x="822960" y="5440680"/>
            <a:ext cx="10543032" cy="41148"/>
          </a:xfrm>
          <a:prstGeom prst="rect">
            <a:avLst/>
          </a:prstGeom>
          <a:solidFill>
            <a:srgbClr val="1C1712"/>
          </a:solidFill>
          <a:ln w="12700">
            <a:solidFill>
              <a:srgbClr val="333333"/>
            </a:solidFill>
            <a:prstDash val="solid"/>
          </a:ln>
        </p:spPr>
        <p:txBody>
          <a:bodyPr/>
          <a:lstStyle/>
          <a:p>
            <a:endParaRPr lang="en-IN"/>
          </a:p>
        </p:txBody>
      </p:sp>
      <p:sp>
        <p:nvSpPr>
          <p:cNvPr id="19" name="Shape 16"/>
          <p:cNvSpPr/>
          <p:nvPr/>
        </p:nvSpPr>
        <p:spPr>
          <a:xfrm>
            <a:off x="822960" y="5522976"/>
            <a:ext cx="10543032" cy="0"/>
          </a:xfrm>
          <a:prstGeom prst="line">
            <a:avLst/>
          </a:prstGeom>
          <a:noFill/>
          <a:ln w="12700">
            <a:solidFill>
              <a:srgbClr val="1C1712"/>
            </a:solidFill>
            <a:prstDash val="solid"/>
          </a:ln>
        </p:spPr>
        <p:txBody>
          <a:bodyPr/>
          <a:lstStyle/>
          <a:p>
            <a:endParaRPr lang="en-IN"/>
          </a:p>
        </p:txBody>
      </p:sp>
      <p:sp>
        <p:nvSpPr>
          <p:cNvPr id="20" name="Shape 1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21" name="Text 1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22" name="Text 1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21</a:t>
            </a:r>
            <a:r>
              <a:rPr sz="900">
                <a:solidFill>
                  <a:srgbClr val="8A8477"/>
                </a:solidFill>
                <a:latin typeface="Courier New"/>
              </a:rPr>
              <a:t> / 80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Probability of Failure (POF) S-Curves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cumulative failure distribution and the fundamental duality POF + R = 1.0.</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22</a:t>
            </a:r>
            <a:r>
              <a:rPr sz="900">
                <a:solidFill>
                  <a:srgbClr val="8A8477"/>
                </a:solidFill>
                <a:latin typeface="Courier New"/>
              </a:rPr>
              <a:t> / 80</a:t>
            </a:r>
            <a:endParaRPr lang="en-US" sz="900" dirty="0"/>
          </a:p>
        </p:txBody>
      </p:sp>
      <p:sp>
        <p:nvSpPr>
          <p:cNvPr id="13" name="Shape 10"/>
          <p:cNvSpPr/>
          <p:nvPr/>
        </p:nvSpPr>
        <p:spPr>
          <a:xfrm>
            <a:off x="548640" y="1783080"/>
            <a:ext cx="5532120" cy="44348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NATURE OF THE POF FUNCTION</a:t>
            </a:r>
            <a:endParaRPr lang="en-US" sz="950" dirty="0"/>
          </a:p>
        </p:txBody>
      </p:sp>
      <p:sp>
        <p:nvSpPr>
          <p:cNvPr id="15" name="Text 12"/>
          <p:cNvSpPr txBox="1"/>
          <p:nvPr/>
        </p:nvSpPr>
        <p:spPr>
          <a:xfrm>
            <a:off x="777240" y="2286000"/>
            <a:ext cx="5074920" cy="3749040"/>
          </a:xfrm>
          <a:prstGeom prst="rect">
            <a:avLst/>
          </a:prstGeom>
          <a:noFill/>
          <a:ln/>
        </p:spPr>
        <p:txBody>
          <a:bodyPr wrap="square" lIns="0" tIns="0" rIns="0" bIns="0" rtlCol="0" anchor="t"/>
          <a:lstStyle/>
          <a:p>
            <a:pPr marL="190500" indent="-190500">
              <a:spcAft>
                <a:spcPts val="1600"/>
              </a:spcAft>
              <a:buSzPct val="100000"/>
              <a:buChar char="▪"/>
            </a:pPr>
            <a:r>
              <a:rPr lang="en-US" sz="1350" b="1" dirty="0">
                <a:solidFill>
                  <a:srgbClr val="1C1712"/>
                </a:solidFill>
                <a:latin typeface="Cambria" pitchFamily="34" charset="0"/>
                <a:ea typeface="Cambria" pitchFamily="34" charset="-122"/>
                <a:cs typeface="Cambria" pitchFamily="34" charset="-120"/>
              </a:rPr>
              <a:t>Strictly Quantitative:</a:t>
            </a:r>
            <a:r>
              <a:rPr lang="en-US" sz="1350" dirty="0">
                <a:solidFill>
                  <a:srgbClr val="2C261E"/>
                </a:solidFill>
                <a:latin typeface="Cambria" pitchFamily="34" charset="0"/>
                <a:ea typeface="Cambria" pitchFamily="34" charset="-122"/>
                <a:cs typeface="Cambria" pitchFamily="34" charset="-120"/>
              </a:rPr>
              <a:t> A bounded real number: 0.00% ≤ POF(t) ≤ 100.00%.</a:t>
            </a:r>
            <a:endParaRPr lang="en-US" sz="1350" dirty="0"/>
          </a:p>
          <a:p>
            <a:pPr marL="190500" indent="-190500">
              <a:spcAft>
                <a:spcPts val="1600"/>
              </a:spcAft>
              <a:buSzPct val="100000"/>
              <a:buChar char="▪"/>
            </a:pPr>
            <a:r>
              <a:rPr lang="en-US" sz="1350" b="1" dirty="0">
                <a:solidFill>
                  <a:srgbClr val="1C1712"/>
                </a:solidFill>
                <a:latin typeface="Cambria" pitchFamily="34" charset="0"/>
                <a:ea typeface="Cambria" pitchFamily="34" charset="-122"/>
                <a:cs typeface="Cambria" pitchFamily="34" charset="-120"/>
              </a:rPr>
              <a:t>Cumulative Probability:</a:t>
            </a:r>
            <a:r>
              <a:rPr lang="en-US" sz="1350" dirty="0">
                <a:solidFill>
                  <a:srgbClr val="2C261E"/>
                </a:solidFill>
                <a:latin typeface="Cambria" pitchFamily="34" charset="0"/>
                <a:ea typeface="Cambria" pitchFamily="34" charset="-122"/>
                <a:cs typeface="Cambria" pitchFamily="34" charset="-120"/>
              </a:rPr>
              <a:t> Probability that failure occurs </a:t>
            </a:r>
            <a:r>
              <a:rPr lang="en-US" sz="1350" b="1" dirty="0">
                <a:solidFill>
                  <a:srgbClr val="1C1712"/>
                </a:solidFill>
                <a:latin typeface="Cambria" pitchFamily="34" charset="0"/>
                <a:ea typeface="Cambria" pitchFamily="34" charset="-122"/>
                <a:cs typeface="Cambria" pitchFamily="34" charset="-120"/>
              </a:rPr>
              <a:t>on or before</a:t>
            </a:r>
            <a:r>
              <a:rPr lang="en-US" sz="1350" dirty="0">
                <a:solidFill>
                  <a:srgbClr val="2C261E"/>
                </a:solidFill>
                <a:latin typeface="Cambria" pitchFamily="34" charset="0"/>
                <a:ea typeface="Cambria" pitchFamily="34" charset="-122"/>
                <a:cs typeface="Cambria" pitchFamily="34" charset="-120"/>
              </a:rPr>
              <a:t> future date t.</a:t>
            </a:r>
            <a:endParaRPr lang="en-US" sz="1350" dirty="0"/>
          </a:p>
          <a:p>
            <a:pPr marL="190500" indent="-190500">
              <a:spcAft>
                <a:spcPts val="1600"/>
              </a:spcAft>
              <a:buSzPct val="100000"/>
              <a:buChar char="▪"/>
            </a:pPr>
            <a:r>
              <a:rPr lang="en-US" sz="1350" b="1" dirty="0">
                <a:solidFill>
                  <a:srgbClr val="1C1712"/>
                </a:solidFill>
                <a:latin typeface="Cambria" pitchFamily="34" charset="0"/>
                <a:ea typeface="Cambria" pitchFamily="34" charset="-122"/>
                <a:cs typeface="Cambria" pitchFamily="34" charset="-120"/>
              </a:rPr>
              <a:t>Non-Decreasing S-Curve:</a:t>
            </a:r>
            <a:r>
              <a:rPr lang="en-US" sz="1350" dirty="0">
                <a:solidFill>
                  <a:srgbClr val="2C261E"/>
                </a:solidFill>
                <a:latin typeface="Cambria" pitchFamily="34" charset="0"/>
                <a:ea typeface="Cambria" pitchFamily="34" charset="-122"/>
                <a:cs typeface="Cambria" pitchFamily="34" charset="-120"/>
              </a:rPr>
              <a:t> For wear-out modes, POF accelerates near characteristic life.</a:t>
            </a:r>
            <a:endParaRPr lang="en-US" sz="1350" dirty="0"/>
          </a:p>
          <a:p>
            <a:pPr marL="190500" indent="-190500">
              <a:spcAft>
                <a:spcPts val="1600"/>
              </a:spcAft>
              <a:buSzPct val="100000"/>
              <a:buChar char="▪"/>
            </a:pPr>
            <a:r>
              <a:rPr lang="en-US" sz="1350" b="1" dirty="0">
                <a:solidFill>
                  <a:srgbClr val="1C1712"/>
                </a:solidFill>
                <a:latin typeface="Cambria" pitchFamily="34" charset="0"/>
                <a:ea typeface="Cambria" pitchFamily="34" charset="-122"/>
                <a:cs typeface="Cambria" pitchFamily="34" charset="-120"/>
              </a:rPr>
              <a:t>Dynamic Recalibration:</a:t>
            </a:r>
            <a:r>
              <a:rPr lang="en-US" sz="1350" dirty="0">
                <a:solidFill>
                  <a:srgbClr val="2C261E"/>
                </a:solidFill>
                <a:latin typeface="Cambria" pitchFamily="34" charset="0"/>
                <a:ea typeface="Cambria" pitchFamily="34" charset="-122"/>
                <a:cs typeface="Cambria" pitchFamily="34" charset="-120"/>
              </a:rPr>
              <a:t> In QRO, the curve shifts left if corrosion accelerates or right if operating conditions improve.</a:t>
            </a:r>
            <a:endParaRPr lang="en-US" sz="1350" dirty="0"/>
          </a:p>
        </p:txBody>
      </p:sp>
      <p:sp>
        <p:nvSpPr>
          <p:cNvPr id="16" name="Shape 13"/>
          <p:cNvSpPr/>
          <p:nvPr/>
        </p:nvSpPr>
        <p:spPr>
          <a:xfrm>
            <a:off x="6309360" y="1783080"/>
            <a:ext cx="5330952" cy="4434840"/>
          </a:xfrm>
          <a:prstGeom prst="rect">
            <a:avLst/>
          </a:prstGeom>
          <a:solidFill>
            <a:srgbClr val="EFE4CD"/>
          </a:solidFill>
          <a:ln w="12700">
            <a:solidFill>
              <a:srgbClr val="C9B48F"/>
            </a:solidFill>
            <a:prstDash val="solid"/>
          </a:ln>
        </p:spPr>
        <p:txBody>
          <a:bodyPr/>
          <a:lstStyle/>
          <a:p>
            <a:endParaRPr lang="en-IN"/>
          </a:p>
        </p:txBody>
      </p:sp>
      <p:sp>
        <p:nvSpPr>
          <p:cNvPr id="17" name="Text 14"/>
          <p:cNvSpPr txBox="1"/>
          <p:nvPr/>
        </p:nvSpPr>
        <p:spPr>
          <a:xfrm>
            <a:off x="653796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COMPLEMENTARY PARTITION LAW</a:t>
            </a:r>
            <a:endParaRPr lang="en-US" sz="950" dirty="0"/>
          </a:p>
        </p:txBody>
      </p:sp>
      <p:sp>
        <p:nvSpPr>
          <p:cNvPr id="18" name="Shape 15"/>
          <p:cNvSpPr/>
          <p:nvPr/>
        </p:nvSpPr>
        <p:spPr>
          <a:xfrm>
            <a:off x="6537960" y="2331720"/>
            <a:ext cx="4873752" cy="1371600"/>
          </a:xfrm>
          <a:prstGeom prst="rect">
            <a:avLst/>
          </a:prstGeom>
          <a:solidFill>
            <a:srgbClr val="F4EBD7"/>
          </a:solidFill>
          <a:ln w="12700">
            <a:solidFill>
              <a:srgbClr val="C9B48F"/>
            </a:solidFill>
            <a:prstDash val="solid"/>
          </a:ln>
        </p:spPr>
        <p:txBody>
          <a:bodyPr/>
          <a:lstStyle/>
          <a:p>
            <a:endParaRPr lang="en-IN"/>
          </a:p>
        </p:txBody>
      </p:sp>
      <p:pic>
        <p:nvPicPr>
          <p:cNvPr id="19" name="Image 1" descr="Formula"/>
          <p:cNvPicPr>
            <a:picLocks noChangeAspect="1"/>
          </p:cNvPicPr>
          <p:nvPr/>
        </p:nvPicPr>
        <p:blipFill>
          <a:blip r:embed="rId4"/>
          <a:stretch>
            <a:fillRect/>
          </a:stretch>
        </p:blipFill>
        <p:spPr>
          <a:xfrm>
            <a:off x="6629400" y="2881485"/>
            <a:ext cx="4690872" cy="272070"/>
          </a:xfrm>
          <a:prstGeom prst="rect">
            <a:avLst/>
          </a:prstGeom>
        </p:spPr>
      </p:pic>
      <p:sp>
        <p:nvSpPr>
          <p:cNvPr id="20" name="Text 16"/>
          <p:cNvSpPr txBox="1"/>
          <p:nvPr/>
        </p:nvSpPr>
        <p:spPr>
          <a:xfrm>
            <a:off x="6537960" y="3931920"/>
            <a:ext cx="4873752" cy="1005840"/>
          </a:xfrm>
          <a:prstGeom prst="rect">
            <a:avLst/>
          </a:prstGeom>
          <a:noFill/>
          <a:ln/>
        </p:spPr>
        <p:txBody>
          <a:bodyPr wrap="square" lIns="0" tIns="0" rIns="0" bIns="0" rtlCol="0" anchor="t"/>
          <a:lstStyle/>
          <a:p>
            <a:pPr marL="0" indent="0">
              <a:buNone/>
            </a:pPr>
            <a:r>
              <a:rPr lang="en-US" sz="1400" dirty="0">
                <a:solidFill>
                  <a:srgbClr val="2C261E"/>
                </a:solidFill>
                <a:latin typeface="Cambria" pitchFamily="34" charset="0"/>
                <a:ea typeface="Cambria" pitchFamily="34" charset="-122"/>
                <a:cs typeface="Cambria" pitchFamily="34" charset="-120"/>
              </a:rPr>
              <a:t>At any point in time, an asset has either failed or survived. The two outcomes form a complete, mutually exclusive probability partition of the sample space.</a:t>
            </a:r>
            <a:endParaRPr lang="en-US" sz="1400" dirty="0"/>
          </a:p>
        </p:txBody>
      </p:sp>
      <p:sp>
        <p:nvSpPr>
          <p:cNvPr id="21" name="Shape 17"/>
          <p:cNvSpPr/>
          <p:nvPr/>
        </p:nvSpPr>
        <p:spPr>
          <a:xfrm>
            <a:off x="6537960" y="5074920"/>
            <a:ext cx="4873752" cy="960120"/>
          </a:xfrm>
          <a:prstGeom prst="rect">
            <a:avLst/>
          </a:prstGeom>
          <a:solidFill>
            <a:srgbClr val="EFDCCF"/>
          </a:solidFill>
          <a:ln w="12700">
            <a:solidFill>
              <a:srgbClr val="A03B30"/>
            </a:solidFill>
            <a:prstDash val="solid"/>
          </a:ln>
        </p:spPr>
        <p:txBody>
          <a:bodyPr/>
          <a:lstStyle/>
          <a:p>
            <a:endParaRPr lang="en-IN"/>
          </a:p>
        </p:txBody>
      </p:sp>
      <p:sp>
        <p:nvSpPr>
          <p:cNvPr id="22" name="Shape 18"/>
          <p:cNvSpPr/>
          <p:nvPr/>
        </p:nvSpPr>
        <p:spPr>
          <a:xfrm>
            <a:off x="6720840" y="5239512"/>
            <a:ext cx="512064" cy="512064"/>
          </a:xfrm>
          <a:prstGeom prst="ellipse">
            <a:avLst/>
          </a:prstGeom>
          <a:solidFill>
            <a:srgbClr val="EFDCCF"/>
          </a:solidFill>
          <a:ln w="15875">
            <a:solidFill>
              <a:srgbClr val="7A1F1A"/>
            </a:solidFill>
            <a:prstDash val="solid"/>
          </a:ln>
        </p:spPr>
        <p:txBody>
          <a:bodyPr/>
          <a:lstStyle/>
          <a:p>
            <a:endParaRPr lang="en-IN"/>
          </a:p>
        </p:txBody>
      </p:sp>
      <p:pic>
        <p:nvPicPr>
          <p:cNvPr id="23" name="Image 2" descr="preencoded.png"/>
          <p:cNvPicPr>
            <a:picLocks noChangeAspect="1"/>
          </p:cNvPicPr>
          <p:nvPr/>
        </p:nvPicPr>
        <p:blipFill>
          <a:blip r:embed="rId5"/>
          <a:stretch>
            <a:fillRect/>
          </a:stretch>
        </p:blipFill>
        <p:spPr>
          <a:xfrm>
            <a:off x="6848856" y="5367528"/>
            <a:ext cx="256032" cy="256032"/>
          </a:xfrm>
          <a:prstGeom prst="rect">
            <a:avLst/>
          </a:prstGeom>
        </p:spPr>
      </p:pic>
      <p:sp>
        <p:nvSpPr>
          <p:cNvPr id="24" name="Text 19"/>
          <p:cNvSpPr txBox="1"/>
          <p:nvPr/>
        </p:nvSpPr>
        <p:spPr>
          <a:xfrm>
            <a:off x="7406640" y="5074920"/>
            <a:ext cx="3886200" cy="960120"/>
          </a:xfrm>
          <a:prstGeom prst="rect">
            <a:avLst/>
          </a:prstGeom>
          <a:noFill/>
          <a:ln/>
        </p:spPr>
        <p:txBody>
          <a:bodyPr wrap="square" lIns="0" tIns="0" rIns="0" bIns="0" rtlCol="0" anchor="ctr"/>
          <a:lstStyle/>
          <a:p>
            <a:pPr marL="0" indent="0">
              <a:buNone/>
            </a:pPr>
            <a:r>
              <a:rPr lang="en-US" sz="1300" i="1" dirty="0">
                <a:solidFill>
                  <a:srgbClr val="1C1712"/>
                </a:solidFill>
                <a:latin typeface="Cambria" pitchFamily="34" charset="0"/>
                <a:ea typeface="Cambria" pitchFamily="34" charset="-122"/>
                <a:cs typeface="Cambria" pitchFamily="34" charset="-120"/>
              </a:rPr>
              <a:t>Survival and failure probabilities always sum to unity across the mission horizon.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Exponential Distribution (Constant Hazard Rate)</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memoryless property governing random industrial failures.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23</a:t>
            </a:r>
            <a:r>
              <a:rPr sz="900">
                <a:solidFill>
                  <a:srgbClr val="8A8477"/>
                </a:solidFill>
                <a:latin typeface="Courier New"/>
              </a:rPr>
              <a:t> / 80</a:t>
            </a:r>
            <a:endParaRPr lang="en-US" sz="900" dirty="0"/>
          </a:p>
        </p:txBody>
      </p:sp>
      <p:sp>
        <p:nvSpPr>
          <p:cNvPr id="13" name="Shape 10"/>
          <p:cNvSpPr/>
          <p:nvPr/>
        </p:nvSpPr>
        <p:spPr>
          <a:xfrm>
            <a:off x="548640" y="1783080"/>
            <a:ext cx="11091672" cy="1371600"/>
          </a:xfrm>
          <a:prstGeom prst="rect">
            <a:avLst/>
          </a:prstGeom>
          <a:solidFill>
            <a:srgbClr val="EFDCCF"/>
          </a:solidFill>
          <a:ln w="12700">
            <a:solidFill>
              <a:srgbClr val="A03B30"/>
            </a:solidFill>
            <a:prstDash val="solid"/>
          </a:ln>
        </p:spPr>
        <p:txBody>
          <a:bodyPr/>
          <a:lstStyle/>
          <a:p>
            <a:endParaRPr lang="en-IN"/>
          </a:p>
        </p:txBody>
      </p:sp>
      <p:pic>
        <p:nvPicPr>
          <p:cNvPr id="14" name="Image 1" descr="Formula"/>
          <p:cNvPicPr>
            <a:picLocks noChangeAspect="1"/>
          </p:cNvPicPr>
          <p:nvPr/>
        </p:nvPicPr>
        <p:blipFill>
          <a:blip r:embed="rId4"/>
          <a:stretch>
            <a:fillRect/>
          </a:stretch>
        </p:blipFill>
        <p:spPr>
          <a:xfrm>
            <a:off x="2564285" y="2168450"/>
            <a:ext cx="7032950" cy="600861"/>
          </a:xfrm>
          <a:prstGeom prst="rect">
            <a:avLst/>
          </a:prstGeom>
        </p:spPr>
      </p:pic>
      <p:sp>
        <p:nvSpPr>
          <p:cNvPr id="15" name="Shape 11"/>
          <p:cNvSpPr/>
          <p:nvPr/>
        </p:nvSpPr>
        <p:spPr>
          <a:xfrm>
            <a:off x="548640" y="3337560"/>
            <a:ext cx="5431536" cy="2880360"/>
          </a:xfrm>
          <a:prstGeom prst="rect">
            <a:avLst/>
          </a:prstGeom>
          <a:solidFill>
            <a:srgbClr val="FBF4E4"/>
          </a:solidFill>
          <a:ln w="12700">
            <a:solidFill>
              <a:srgbClr val="C9B48F"/>
            </a:solidFill>
            <a:prstDash val="solid"/>
          </a:ln>
        </p:spPr>
        <p:txBody>
          <a:bodyPr/>
          <a:lstStyle/>
          <a:p>
            <a:endParaRPr lang="en-IN"/>
          </a:p>
        </p:txBody>
      </p:sp>
      <p:sp>
        <p:nvSpPr>
          <p:cNvPr id="16" name="Shape 12"/>
          <p:cNvSpPr/>
          <p:nvPr/>
        </p:nvSpPr>
        <p:spPr>
          <a:xfrm>
            <a:off x="822960" y="3566160"/>
            <a:ext cx="548640" cy="548640"/>
          </a:xfrm>
          <a:prstGeom prst="ellipse">
            <a:avLst/>
          </a:prstGeom>
          <a:solidFill>
            <a:srgbClr val="DCE6EC"/>
          </a:solidFill>
          <a:ln w="15875">
            <a:solidFill>
              <a:srgbClr val="1A4A6E"/>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960120" y="3703320"/>
            <a:ext cx="274320" cy="274320"/>
          </a:xfrm>
          <a:prstGeom prst="rect">
            <a:avLst/>
          </a:prstGeom>
        </p:spPr>
      </p:pic>
      <p:sp>
        <p:nvSpPr>
          <p:cNvPr id="18" name="Text 13"/>
          <p:cNvSpPr txBox="1"/>
          <p:nvPr/>
        </p:nvSpPr>
        <p:spPr>
          <a:xfrm>
            <a:off x="1508760" y="3639312"/>
            <a:ext cx="4297680" cy="310896"/>
          </a:xfrm>
          <a:prstGeom prst="rect">
            <a:avLst/>
          </a:prstGeom>
          <a:noFill/>
          <a:ln/>
        </p:spPr>
        <p:txBody>
          <a:bodyPr wrap="square" lIns="0" tIns="0" rIns="0" bIns="0" rtlCol="0" anchor="t"/>
          <a:lstStyle/>
          <a:p>
            <a:pPr marL="0" indent="0">
              <a:buNone/>
            </a:pPr>
            <a:r>
              <a:rPr lang="en-US" sz="1700" b="1" dirty="0">
                <a:solidFill>
                  <a:srgbClr val="1C1712"/>
                </a:solidFill>
                <a:latin typeface="Cambria" pitchFamily="34" charset="0"/>
                <a:ea typeface="Cambria" pitchFamily="34" charset="-122"/>
                <a:cs typeface="Cambria" pitchFamily="34" charset="-120"/>
              </a:rPr>
              <a:t>The Memoryless Property</a:t>
            </a:r>
            <a:endParaRPr lang="en-US" sz="1700" dirty="0"/>
          </a:p>
        </p:txBody>
      </p:sp>
      <p:sp>
        <p:nvSpPr>
          <p:cNvPr id="19" name="Text 14"/>
          <p:cNvSpPr txBox="1"/>
          <p:nvPr/>
        </p:nvSpPr>
        <p:spPr>
          <a:xfrm>
            <a:off x="822960" y="4343400"/>
            <a:ext cx="4937760" cy="1645920"/>
          </a:xfrm>
          <a:prstGeom prst="rect">
            <a:avLst/>
          </a:prstGeom>
          <a:noFill/>
          <a:ln/>
        </p:spPr>
        <p:txBody>
          <a:bodyPr wrap="square" lIns="0" tIns="0" rIns="0" bIns="0" rtlCol="0" anchor="t"/>
          <a:lstStyle/>
          <a:p>
            <a:pPr marL="0" indent="0">
              <a:buNone/>
            </a:pPr>
            <a:r>
              <a:rPr lang="en-US" sz="1400" dirty="0">
                <a:solidFill>
                  <a:srgbClr val="2C261E"/>
                </a:solidFill>
                <a:latin typeface="Cambria" pitchFamily="34" charset="0"/>
                <a:ea typeface="Cambria" pitchFamily="34" charset="-122"/>
                <a:cs typeface="Cambria" pitchFamily="34" charset="-120"/>
              </a:rPr>
              <a:t>An asset following an Exponential distribution does not age. An asset that has survived 10 years has the exact same probability of failing in the next hour as a brand-new asset just installed.</a:t>
            </a:r>
            <a:endParaRPr lang="en-US" sz="1400" dirty="0"/>
          </a:p>
        </p:txBody>
      </p:sp>
      <p:sp>
        <p:nvSpPr>
          <p:cNvPr id="20" name="Shape 15"/>
          <p:cNvSpPr/>
          <p:nvPr/>
        </p:nvSpPr>
        <p:spPr>
          <a:xfrm>
            <a:off x="6208776" y="3337560"/>
            <a:ext cx="5431536" cy="2880360"/>
          </a:xfrm>
          <a:prstGeom prst="rect">
            <a:avLst/>
          </a:prstGeom>
          <a:solidFill>
            <a:srgbClr val="FBF4E4"/>
          </a:solidFill>
          <a:ln w="12700">
            <a:solidFill>
              <a:srgbClr val="C9B48F"/>
            </a:solidFill>
            <a:prstDash val="solid"/>
          </a:ln>
        </p:spPr>
        <p:txBody>
          <a:bodyPr/>
          <a:lstStyle/>
          <a:p>
            <a:endParaRPr lang="en-IN"/>
          </a:p>
        </p:txBody>
      </p:sp>
      <p:sp>
        <p:nvSpPr>
          <p:cNvPr id="21" name="Shape 16"/>
          <p:cNvSpPr/>
          <p:nvPr/>
        </p:nvSpPr>
        <p:spPr>
          <a:xfrm>
            <a:off x="6483096" y="3566160"/>
            <a:ext cx="548640" cy="548640"/>
          </a:xfrm>
          <a:prstGeom prst="ellipse">
            <a:avLst/>
          </a:prstGeom>
          <a:solidFill>
            <a:srgbClr val="EDE2C4"/>
          </a:solidFill>
          <a:ln w="15875">
            <a:solidFill>
              <a:srgbClr val="9A6A12"/>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6620256" y="3703320"/>
            <a:ext cx="274320" cy="274320"/>
          </a:xfrm>
          <a:prstGeom prst="rect">
            <a:avLst/>
          </a:prstGeom>
        </p:spPr>
      </p:pic>
      <p:sp>
        <p:nvSpPr>
          <p:cNvPr id="23" name="Text 17"/>
          <p:cNvSpPr txBox="1"/>
          <p:nvPr/>
        </p:nvSpPr>
        <p:spPr>
          <a:xfrm>
            <a:off x="7168896" y="3639312"/>
            <a:ext cx="4297680" cy="310896"/>
          </a:xfrm>
          <a:prstGeom prst="rect">
            <a:avLst/>
          </a:prstGeom>
          <a:noFill/>
          <a:ln/>
        </p:spPr>
        <p:txBody>
          <a:bodyPr wrap="square" lIns="0" tIns="0" rIns="0" bIns="0" rtlCol="0" anchor="t"/>
          <a:lstStyle/>
          <a:p>
            <a:pPr marL="0" indent="0">
              <a:buNone/>
            </a:pPr>
            <a:r>
              <a:rPr lang="en-US" sz="1700" b="1" dirty="0">
                <a:solidFill>
                  <a:srgbClr val="1C1712"/>
                </a:solidFill>
                <a:latin typeface="Cambria" pitchFamily="34" charset="0"/>
                <a:ea typeface="Cambria" pitchFamily="34" charset="-122"/>
                <a:cs typeface="Cambria" pitchFamily="34" charset="-120"/>
              </a:rPr>
              <a:t>Industrial Applicability</a:t>
            </a:r>
            <a:endParaRPr lang="en-US" sz="1700" dirty="0"/>
          </a:p>
        </p:txBody>
      </p:sp>
      <p:sp>
        <p:nvSpPr>
          <p:cNvPr id="24" name="Text 18"/>
          <p:cNvSpPr txBox="1"/>
          <p:nvPr/>
        </p:nvSpPr>
        <p:spPr>
          <a:xfrm>
            <a:off x="6483096" y="4343400"/>
            <a:ext cx="4937760" cy="1645920"/>
          </a:xfrm>
          <a:prstGeom prst="rect">
            <a:avLst/>
          </a:prstGeom>
          <a:noFill/>
          <a:ln/>
        </p:spPr>
        <p:txBody>
          <a:bodyPr wrap="square" lIns="0" tIns="0" rIns="0" bIns="0" rtlCol="0" anchor="t"/>
          <a:lstStyle/>
          <a:p>
            <a:pPr marL="0" indent="0">
              <a:buNone/>
            </a:pPr>
            <a:r>
              <a:rPr lang="en-US" sz="1400" dirty="0">
                <a:solidFill>
                  <a:srgbClr val="2C261E"/>
                </a:solidFill>
                <a:latin typeface="Cambria" pitchFamily="34" charset="0"/>
                <a:ea typeface="Cambria" pitchFamily="34" charset="-122"/>
                <a:cs typeface="Cambria" pitchFamily="34" charset="-120"/>
              </a:rPr>
              <a:t>Applies to electronic cards, microchips, pressure relief valves, and assets subjected to purely random external shocks such as lightning strikes and power-grid dips.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Developing Exponential Distributions from Work Orders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Extracting empirical failure rates from CMMS work order history.</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24</a:t>
            </a:r>
            <a:r>
              <a:rPr sz="900">
                <a:solidFill>
                  <a:srgbClr val="8A8477"/>
                </a:solidFill>
                <a:latin typeface="Courier New"/>
              </a:rPr>
              <a:t> / 80</a:t>
            </a:r>
            <a:endParaRPr lang="en-US" sz="900" dirty="0"/>
          </a:p>
        </p:txBody>
      </p:sp>
      <p:sp>
        <p:nvSpPr>
          <p:cNvPr id="13" name="Shape 10"/>
          <p:cNvSpPr/>
          <p:nvPr/>
        </p:nvSpPr>
        <p:spPr>
          <a:xfrm>
            <a:off x="548640" y="1783080"/>
            <a:ext cx="5431536" cy="914400"/>
          </a:xfrm>
          <a:prstGeom prst="rect">
            <a:avLst/>
          </a:prstGeom>
          <a:solidFill>
            <a:srgbClr val="FBF4E4"/>
          </a:solidFill>
          <a:ln w="12700">
            <a:solidFill>
              <a:srgbClr val="C9B48F"/>
            </a:solidFill>
            <a:prstDash val="solid"/>
          </a:ln>
        </p:spPr>
        <p:txBody>
          <a:bodyPr/>
          <a:lstStyle/>
          <a:p>
            <a:endParaRPr lang="en-IN"/>
          </a:p>
        </p:txBody>
      </p:sp>
      <p:sp>
        <p:nvSpPr>
          <p:cNvPr id="14" name="Shape 11"/>
          <p:cNvSpPr/>
          <p:nvPr/>
        </p:nvSpPr>
        <p:spPr>
          <a:xfrm>
            <a:off x="731520" y="2039112"/>
            <a:ext cx="402336" cy="402336"/>
          </a:xfrm>
          <a:prstGeom prst="ellipse">
            <a:avLst/>
          </a:prstGeom>
          <a:solidFill>
            <a:srgbClr val="EFDCCF"/>
          </a:solidFill>
          <a:ln w="15875">
            <a:solidFill>
              <a:srgbClr val="7A1F1A"/>
            </a:solidFill>
            <a:prstDash val="solid"/>
          </a:ln>
        </p:spPr>
        <p:txBody>
          <a:bodyPr/>
          <a:lstStyle/>
          <a:p>
            <a:endParaRPr lang="en-IN"/>
          </a:p>
        </p:txBody>
      </p:sp>
      <p:sp>
        <p:nvSpPr>
          <p:cNvPr id="15" name="Text 12"/>
          <p:cNvSpPr txBox="1"/>
          <p:nvPr/>
        </p:nvSpPr>
        <p:spPr>
          <a:xfrm>
            <a:off x="731520" y="2039112"/>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16" name="Text 13"/>
          <p:cNvSpPr txBox="1"/>
          <p:nvPr/>
        </p:nvSpPr>
        <p:spPr>
          <a:xfrm>
            <a:off x="1280160" y="1911096"/>
            <a:ext cx="4480560" cy="310896"/>
          </a:xfrm>
          <a:prstGeom prst="rect">
            <a:avLst/>
          </a:prstGeom>
          <a:noFill/>
          <a:ln/>
        </p:spPr>
        <p:txBody>
          <a:bodyPr wrap="square" lIns="0" tIns="0" rIns="0" bIns="0" rtlCol="0" anchor="t"/>
          <a:lstStyle/>
          <a:p>
            <a:pPr marL="0" indent="0">
              <a:buNone/>
            </a:pPr>
            <a:r>
              <a:rPr lang="en-US" sz="1400" b="1" dirty="0">
                <a:solidFill>
                  <a:srgbClr val="1C1712"/>
                </a:solidFill>
                <a:latin typeface="Cambria" pitchFamily="34" charset="0"/>
                <a:ea typeface="Cambria" pitchFamily="34" charset="-122"/>
                <a:cs typeface="Cambria" pitchFamily="34" charset="-120"/>
              </a:rPr>
              <a:t>Query Work Orders</a:t>
            </a:r>
            <a:endParaRPr lang="en-US" sz="1400" dirty="0"/>
          </a:p>
        </p:txBody>
      </p:sp>
      <p:sp>
        <p:nvSpPr>
          <p:cNvPr id="17" name="Text 14"/>
          <p:cNvSpPr txBox="1"/>
          <p:nvPr/>
        </p:nvSpPr>
        <p:spPr>
          <a:xfrm>
            <a:off x="1280160" y="2203704"/>
            <a:ext cx="4526280" cy="457200"/>
          </a:xfrm>
          <a:prstGeom prst="rect">
            <a:avLst/>
          </a:prstGeom>
          <a:noFill/>
          <a:ln/>
        </p:spPr>
        <p:txBody>
          <a:bodyPr wrap="square" lIns="0" tIns="0" rIns="0" bIns="0" rtlCol="0" anchor="t"/>
          <a:lstStyle/>
          <a:p>
            <a:pPr marL="190500" indent="-190500">
              <a:spcAft>
                <a:spcPts val="200"/>
              </a:spcAft>
              <a:buSzPct val="100000"/>
              <a:buChar char="•"/>
            </a:pPr>
            <a:r>
              <a:rPr lang="en-US" sz="1100" dirty="0">
                <a:solidFill>
                  <a:srgbClr val="2C261E"/>
                </a:solidFill>
                <a:latin typeface="Cambria" pitchFamily="34" charset="0"/>
                <a:ea typeface="Cambria" pitchFamily="34" charset="-122"/>
                <a:cs typeface="Cambria" pitchFamily="34" charset="-120"/>
              </a:rPr>
              <a:t>Extract completed CMMS corrective work orders.</a:t>
            </a:r>
            <a:endParaRPr lang="en-US" sz="1100" dirty="0"/>
          </a:p>
          <a:p>
            <a:pPr marL="190500" indent="-190500">
              <a:spcAft>
                <a:spcPts val="200"/>
              </a:spcAft>
              <a:buSzPct val="100000"/>
              <a:buChar char="•"/>
            </a:pPr>
            <a:r>
              <a:rPr lang="en-US" sz="1100" dirty="0">
                <a:solidFill>
                  <a:srgbClr val="2C261E"/>
                </a:solidFill>
                <a:latin typeface="Cambria" pitchFamily="34" charset="0"/>
                <a:ea typeface="Cambria" pitchFamily="34" charset="-122"/>
                <a:cs typeface="Cambria" pitchFamily="34" charset="-120"/>
              </a:rPr>
              <a:t>Tabulate true operating runtime between consecutive failures.</a:t>
            </a:r>
            <a:endParaRPr lang="en-US" sz="1100" dirty="0"/>
          </a:p>
        </p:txBody>
      </p:sp>
      <p:sp>
        <p:nvSpPr>
          <p:cNvPr id="18" name="Shape 15"/>
          <p:cNvSpPr/>
          <p:nvPr/>
        </p:nvSpPr>
        <p:spPr>
          <a:xfrm>
            <a:off x="548640" y="2834640"/>
            <a:ext cx="5431536" cy="914400"/>
          </a:xfrm>
          <a:prstGeom prst="rect">
            <a:avLst/>
          </a:prstGeom>
          <a:solidFill>
            <a:srgbClr val="FBF4E4"/>
          </a:solidFill>
          <a:ln w="12700">
            <a:solidFill>
              <a:srgbClr val="C9B48F"/>
            </a:solidFill>
            <a:prstDash val="solid"/>
          </a:ln>
        </p:spPr>
        <p:txBody>
          <a:bodyPr/>
          <a:lstStyle/>
          <a:p>
            <a:endParaRPr lang="en-IN"/>
          </a:p>
        </p:txBody>
      </p:sp>
      <p:sp>
        <p:nvSpPr>
          <p:cNvPr id="19" name="Shape 16"/>
          <p:cNvSpPr/>
          <p:nvPr/>
        </p:nvSpPr>
        <p:spPr>
          <a:xfrm>
            <a:off x="731520" y="3090672"/>
            <a:ext cx="402336" cy="402336"/>
          </a:xfrm>
          <a:prstGeom prst="ellipse">
            <a:avLst/>
          </a:prstGeom>
          <a:solidFill>
            <a:srgbClr val="EFDCCF"/>
          </a:solidFill>
          <a:ln w="15875">
            <a:solidFill>
              <a:srgbClr val="7A1F1A"/>
            </a:solidFill>
            <a:prstDash val="solid"/>
          </a:ln>
        </p:spPr>
        <p:txBody>
          <a:bodyPr/>
          <a:lstStyle/>
          <a:p>
            <a:endParaRPr lang="en-IN"/>
          </a:p>
        </p:txBody>
      </p:sp>
      <p:sp>
        <p:nvSpPr>
          <p:cNvPr id="20" name="Text 17"/>
          <p:cNvSpPr txBox="1"/>
          <p:nvPr/>
        </p:nvSpPr>
        <p:spPr>
          <a:xfrm>
            <a:off x="731520" y="3090672"/>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1" name="Text 18"/>
          <p:cNvSpPr txBox="1"/>
          <p:nvPr/>
        </p:nvSpPr>
        <p:spPr>
          <a:xfrm>
            <a:off x="1280160" y="2962656"/>
            <a:ext cx="4480560" cy="310896"/>
          </a:xfrm>
          <a:prstGeom prst="rect">
            <a:avLst/>
          </a:prstGeom>
          <a:noFill/>
          <a:ln/>
        </p:spPr>
        <p:txBody>
          <a:bodyPr wrap="square" lIns="0" tIns="0" rIns="0" bIns="0" rtlCol="0" anchor="t"/>
          <a:lstStyle/>
          <a:p>
            <a:pPr marL="0" indent="0">
              <a:buNone/>
            </a:pPr>
            <a:r>
              <a:rPr lang="en-US" sz="1400" b="1" dirty="0">
                <a:solidFill>
                  <a:srgbClr val="1C1712"/>
                </a:solidFill>
                <a:latin typeface="Cambria" pitchFamily="34" charset="0"/>
                <a:ea typeface="Cambria" pitchFamily="34" charset="-122"/>
                <a:cs typeface="Cambria" pitchFamily="34" charset="-120"/>
              </a:rPr>
              <a:t>Calculate MTTF</a:t>
            </a:r>
            <a:endParaRPr lang="en-US" sz="1400" dirty="0"/>
          </a:p>
        </p:txBody>
      </p:sp>
      <p:sp>
        <p:nvSpPr>
          <p:cNvPr id="22" name="Text 19"/>
          <p:cNvSpPr txBox="1"/>
          <p:nvPr/>
        </p:nvSpPr>
        <p:spPr>
          <a:xfrm>
            <a:off x="1280160" y="3255264"/>
            <a:ext cx="4526280" cy="457200"/>
          </a:xfrm>
          <a:prstGeom prst="rect">
            <a:avLst/>
          </a:prstGeom>
          <a:noFill/>
          <a:ln/>
        </p:spPr>
        <p:txBody>
          <a:bodyPr wrap="square" lIns="0" tIns="0" rIns="0" bIns="0" rtlCol="0" anchor="t"/>
          <a:lstStyle/>
          <a:p>
            <a:pPr marL="190500" indent="-190500">
              <a:spcAft>
                <a:spcPts val="200"/>
              </a:spcAft>
              <a:buSzPct val="100000"/>
              <a:buChar char="•"/>
            </a:pPr>
            <a:r>
              <a:rPr lang="en-US" sz="1100" dirty="0">
                <a:solidFill>
                  <a:srgbClr val="2C261E"/>
                </a:solidFill>
                <a:latin typeface="Cambria" pitchFamily="34" charset="0"/>
                <a:ea typeface="Cambria" pitchFamily="34" charset="-122"/>
                <a:cs typeface="Cambria" pitchFamily="34" charset="-120"/>
              </a:rPr>
              <a:t>Compute arithmetic mean operating lifespan.</a:t>
            </a:r>
            <a:endParaRPr lang="en-US" sz="1100" dirty="0"/>
          </a:p>
          <a:p>
            <a:pPr marL="190500" indent="-190500">
              <a:spcAft>
                <a:spcPts val="200"/>
              </a:spcAft>
              <a:buSzPct val="100000"/>
              <a:buChar char="•"/>
            </a:pPr>
            <a:r>
              <a:rPr lang="en-US" sz="1100" dirty="0">
                <a:solidFill>
                  <a:srgbClr val="2C261E"/>
                </a:solidFill>
                <a:latin typeface="Cambria" pitchFamily="34" charset="0"/>
                <a:ea typeface="Cambria" pitchFamily="34" charset="-122"/>
                <a:cs typeface="Cambria" pitchFamily="34" charset="-120"/>
              </a:rPr>
              <a:t>Validates whether hazard exhibits memoryless behavior.</a:t>
            </a:r>
            <a:endParaRPr lang="en-US" sz="1100" dirty="0"/>
          </a:p>
        </p:txBody>
      </p:sp>
      <p:sp>
        <p:nvSpPr>
          <p:cNvPr id="23" name="Shape 20"/>
          <p:cNvSpPr/>
          <p:nvPr/>
        </p:nvSpPr>
        <p:spPr>
          <a:xfrm>
            <a:off x="548640" y="3886200"/>
            <a:ext cx="5431536" cy="914400"/>
          </a:xfrm>
          <a:prstGeom prst="rect">
            <a:avLst/>
          </a:prstGeom>
          <a:solidFill>
            <a:srgbClr val="FBF4E4"/>
          </a:solidFill>
          <a:ln w="12700">
            <a:solidFill>
              <a:srgbClr val="C9B48F"/>
            </a:solidFill>
            <a:prstDash val="solid"/>
          </a:ln>
        </p:spPr>
        <p:txBody>
          <a:bodyPr/>
          <a:lstStyle/>
          <a:p>
            <a:endParaRPr lang="en-IN"/>
          </a:p>
        </p:txBody>
      </p:sp>
      <p:sp>
        <p:nvSpPr>
          <p:cNvPr id="24" name="Shape 21"/>
          <p:cNvSpPr/>
          <p:nvPr/>
        </p:nvSpPr>
        <p:spPr>
          <a:xfrm>
            <a:off x="731520" y="4142232"/>
            <a:ext cx="402336" cy="402336"/>
          </a:xfrm>
          <a:prstGeom prst="ellipse">
            <a:avLst/>
          </a:prstGeom>
          <a:solidFill>
            <a:srgbClr val="EFDCCF"/>
          </a:solidFill>
          <a:ln w="15875">
            <a:solidFill>
              <a:srgbClr val="7A1F1A"/>
            </a:solidFill>
            <a:prstDash val="solid"/>
          </a:ln>
        </p:spPr>
        <p:txBody>
          <a:bodyPr/>
          <a:lstStyle/>
          <a:p>
            <a:endParaRPr lang="en-IN"/>
          </a:p>
        </p:txBody>
      </p:sp>
      <p:sp>
        <p:nvSpPr>
          <p:cNvPr id="25" name="Text 22"/>
          <p:cNvSpPr txBox="1"/>
          <p:nvPr/>
        </p:nvSpPr>
        <p:spPr>
          <a:xfrm>
            <a:off x="731520" y="4142232"/>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26" name="Text 23"/>
          <p:cNvSpPr txBox="1"/>
          <p:nvPr/>
        </p:nvSpPr>
        <p:spPr>
          <a:xfrm>
            <a:off x="1280160" y="4014216"/>
            <a:ext cx="4480560" cy="310896"/>
          </a:xfrm>
          <a:prstGeom prst="rect">
            <a:avLst/>
          </a:prstGeom>
          <a:noFill/>
          <a:ln/>
        </p:spPr>
        <p:txBody>
          <a:bodyPr wrap="square" lIns="0" tIns="0" rIns="0" bIns="0" rtlCol="0" anchor="t"/>
          <a:lstStyle/>
          <a:p>
            <a:pPr marL="0" indent="0">
              <a:buNone/>
            </a:pPr>
            <a:r>
              <a:rPr lang="en-US" sz="1400" b="1" dirty="0">
                <a:solidFill>
                  <a:srgbClr val="1C1712"/>
                </a:solidFill>
                <a:latin typeface="Cambria" pitchFamily="34" charset="0"/>
                <a:ea typeface="Cambria" pitchFamily="34" charset="-122"/>
                <a:cs typeface="Cambria" pitchFamily="34" charset="-120"/>
              </a:rPr>
              <a:t>Invert for λ</a:t>
            </a:r>
            <a:endParaRPr lang="en-US" sz="1400" dirty="0"/>
          </a:p>
        </p:txBody>
      </p:sp>
      <p:sp>
        <p:nvSpPr>
          <p:cNvPr id="27" name="Text 24"/>
          <p:cNvSpPr txBox="1"/>
          <p:nvPr/>
        </p:nvSpPr>
        <p:spPr>
          <a:xfrm>
            <a:off x="1280160" y="4306824"/>
            <a:ext cx="4526280" cy="457200"/>
          </a:xfrm>
          <a:prstGeom prst="rect">
            <a:avLst/>
          </a:prstGeom>
          <a:noFill/>
          <a:ln/>
        </p:spPr>
        <p:txBody>
          <a:bodyPr wrap="square" lIns="0" tIns="0" rIns="0" bIns="0" rtlCol="0" anchor="t"/>
          <a:lstStyle/>
          <a:p>
            <a:pPr marL="190500" indent="-190500">
              <a:spcAft>
                <a:spcPts val="200"/>
              </a:spcAft>
              <a:buSzPct val="100000"/>
              <a:buChar char="•"/>
            </a:pPr>
            <a:r>
              <a:rPr lang="en-US" sz="1100" dirty="0">
                <a:solidFill>
                  <a:srgbClr val="2C261E"/>
                </a:solidFill>
                <a:latin typeface="Cambria" pitchFamily="34" charset="0"/>
                <a:ea typeface="Cambria" pitchFamily="34" charset="-122"/>
                <a:cs typeface="Cambria" pitchFamily="34" charset="-120"/>
              </a:rPr>
              <a:t>Invert MTTF to obtain annual hazard rate: λ = 1 / MTTF.</a:t>
            </a:r>
            <a:endParaRPr lang="en-US" sz="1100" dirty="0"/>
          </a:p>
          <a:p>
            <a:pPr marL="190500" indent="-190500">
              <a:spcAft>
                <a:spcPts val="200"/>
              </a:spcAft>
              <a:buSzPct val="100000"/>
              <a:buChar char="•"/>
            </a:pPr>
            <a:r>
              <a:rPr lang="en-US" sz="1100" dirty="0">
                <a:solidFill>
                  <a:srgbClr val="2C261E"/>
                </a:solidFill>
                <a:latin typeface="Cambria" pitchFamily="34" charset="0"/>
                <a:ea typeface="Cambria" pitchFamily="34" charset="-122"/>
                <a:cs typeface="Cambria" pitchFamily="34" charset="-120"/>
              </a:rPr>
              <a:t>Establishes baseline failure intensity for RAM models.</a:t>
            </a:r>
            <a:endParaRPr lang="en-US" sz="1100" dirty="0"/>
          </a:p>
        </p:txBody>
      </p:sp>
      <p:sp>
        <p:nvSpPr>
          <p:cNvPr id="28" name="Shape 25"/>
          <p:cNvSpPr/>
          <p:nvPr/>
        </p:nvSpPr>
        <p:spPr>
          <a:xfrm>
            <a:off x="6172200" y="1783080"/>
            <a:ext cx="5468112" cy="4434840"/>
          </a:xfrm>
          <a:prstGeom prst="rect">
            <a:avLst/>
          </a:prstGeom>
          <a:solidFill>
            <a:srgbClr val="FFFFFF"/>
          </a:solidFill>
          <a:ln w="12700">
            <a:solidFill>
              <a:srgbClr val="A68C5E"/>
            </a:solidFill>
            <a:prstDash val="solid"/>
          </a:ln>
        </p:spPr>
        <p:txBody>
          <a:bodyPr/>
          <a:lstStyle/>
          <a:p>
            <a:endParaRPr lang="en-IN"/>
          </a:p>
        </p:txBody>
      </p:sp>
      <p:sp>
        <p:nvSpPr>
          <p:cNvPr id="29" name="Text 26"/>
          <p:cNvSpPr txBox="1"/>
          <p:nvPr/>
        </p:nvSpPr>
        <p:spPr>
          <a:xfrm>
            <a:off x="6355080" y="1901952"/>
            <a:ext cx="5102352"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EXPONENTIAL DISTRIBUTION: DENSITY &amp; CUMULATIVE POF</a:t>
            </a:r>
            <a:endParaRPr lang="en-US" sz="850" dirty="0"/>
          </a:p>
        </p:txBody>
      </p:sp>
      <p:sp>
        <p:nvSpPr>
          <p:cNvPr id="30" name="Shape 27"/>
          <p:cNvSpPr/>
          <p:nvPr/>
        </p:nvSpPr>
        <p:spPr>
          <a:xfrm>
            <a:off x="6355080" y="2148840"/>
            <a:ext cx="5102352" cy="0"/>
          </a:xfrm>
          <a:prstGeom prst="line">
            <a:avLst/>
          </a:prstGeom>
          <a:noFill/>
          <a:ln w="9525">
            <a:solidFill>
              <a:srgbClr val="C9B48F"/>
            </a:solidFill>
            <a:prstDash val="solid"/>
          </a:ln>
        </p:spPr>
        <p:txBody>
          <a:bodyPr/>
          <a:lstStyle/>
          <a:p>
            <a:endParaRPr lang="en-IN"/>
          </a:p>
        </p:txBody>
      </p:sp>
      <p:pic>
        <p:nvPicPr>
          <p:cNvPr id="33" name="Picture 32">
            <a:extLst>
              <a:ext uri="{FF2B5EF4-FFF2-40B4-BE49-F238E27FC236}">
                <a16:creationId xmlns:a16="http://schemas.microsoft.com/office/drawing/2014/main" id="{5217E5A3-1661-1EA4-2CE4-66E0AE739BDE}"/>
              </a:ext>
            </a:extLst>
          </p:cNvPr>
          <p:cNvPicPr>
            <a:picLocks noChangeAspect="1"/>
          </p:cNvPicPr>
          <p:nvPr/>
        </p:nvPicPr>
        <p:blipFill>
          <a:blip r:embed="rId4"/>
          <a:stretch>
            <a:fillRect/>
          </a:stretch>
        </p:blipFill>
        <p:spPr>
          <a:xfrm>
            <a:off x="6259139" y="2221992"/>
            <a:ext cx="5294234" cy="373887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03 — PROBABILITY &amp; STATISTICS</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Developing Exponential Distribution from Work Order History</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Extracting empirical failure rates from CMMS work order history to parameterize λ.</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25</a:t>
            </a:r>
            <a:r>
              <a:rPr sz="900">
                <a:solidFill>
                  <a:srgbClr val="8A8477"/>
                </a:solidFill>
                <a:latin typeface="Courier New"/>
              </a:rPr>
              <a:t> / 80</a:t>
            </a:r>
          </a:p>
        </p:txBody>
      </p:sp>
      <p:sp>
        <p:nvSpPr>
          <p:cNvPr id="13" name="Rectangle 12"/>
          <p:cNvSpPr/>
          <p:nvPr/>
        </p:nvSpPr>
        <p:spPr>
          <a:xfrm>
            <a:off x="548640" y="1783080"/>
            <a:ext cx="11091672" cy="448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8640" y="1853080"/>
            <a:ext cx="10811672" cy="220000"/>
          </a:xfrm>
          <a:prstGeom prst="rect">
            <a:avLst/>
          </a:prstGeom>
          <a:noFill/>
        </p:spPr>
        <p:txBody>
          <a:bodyPr wrap="none" lIns="0" tIns="0">
            <a:spAutoFit/>
          </a:bodyPr>
          <a:lstStyle/>
          <a:p>
            <a:pPr>
              <a:defRPr sz="850" b="1">
                <a:solidFill>
                  <a:srgbClr val="7A1F1A"/>
                </a:solidFill>
                <a:latin typeface="Courier New"/>
              </a:defRPr>
            </a:pPr>
            <a:r>
              <a:t>FIG · CMMS FAILURE HISTORY TO EXPONENTIAL DISTRIBUTION WORKFLOW</a:t>
            </a:r>
          </a:p>
        </p:txBody>
      </p:sp>
      <p:sp>
        <p:nvSpPr>
          <p:cNvPr id="15" name="Rectangle 14"/>
          <p:cNvSpPr/>
          <p:nvPr/>
        </p:nvSpPr>
        <p:spPr>
          <a:xfrm>
            <a:off x="688640" y="2083080"/>
            <a:ext cx="10811672"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50000" y="2250000"/>
            <a:ext cx="2700000" cy="365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000" y="2350000"/>
            <a:ext cx="2500000" cy="400000"/>
          </a:xfrm>
          <a:prstGeom prst="rect">
            <a:avLst/>
          </a:prstGeom>
          <a:noFill/>
        </p:spPr>
        <p:txBody>
          <a:bodyPr wrap="none">
            <a:spAutoFit/>
          </a:bodyPr>
          <a:lstStyle/>
          <a:p>
            <a:pPr algn="ctr">
              <a:defRPr sz="1500" b="1">
                <a:solidFill>
                  <a:srgbClr val="1C1712"/>
                </a:solidFill>
                <a:latin typeface="Cambria"/>
              </a:defRPr>
            </a:pPr>
            <a:r>
              <a:t>Failure History</a:t>
            </a:r>
          </a:p>
        </p:txBody>
      </p:sp>
      <p:graphicFrame>
        <p:nvGraphicFramePr>
          <p:cNvPr id="18" name="Table 17"/>
          <p:cNvGraphicFramePr>
            <a:graphicFrameLocks noGrp="1"/>
          </p:cNvGraphicFramePr>
          <p:nvPr/>
        </p:nvGraphicFramePr>
        <p:xfrm>
          <a:off x="850000" y="2800000"/>
          <a:ext cx="2500000" cy="1700000"/>
        </p:xfrm>
        <a:graphic>
          <a:graphicData uri="http://schemas.openxmlformats.org/drawingml/2006/table">
            <a:tbl>
              <a:tblPr firstRow="1" bandRow="1">
                <a:tableStyleId>{5C22544A-7EE6-4342-B048-85BDC9FD1C3A}</a:tableStyleId>
              </a:tblPr>
              <a:tblGrid>
                <a:gridCol w="1250000">
                  <a:extLst>
                    <a:ext uri="{9D8B030D-6E8A-4147-A177-3AD203B41FA5}">
                      <a16:colId xmlns:a16="http://schemas.microsoft.com/office/drawing/2014/main" val="20000"/>
                    </a:ext>
                  </a:extLst>
                </a:gridCol>
                <a:gridCol w="1250000">
                  <a:extLst>
                    <a:ext uri="{9D8B030D-6E8A-4147-A177-3AD203B41FA5}">
                      <a16:colId xmlns:a16="http://schemas.microsoft.com/office/drawing/2014/main" val="20001"/>
                    </a:ext>
                  </a:extLst>
                </a:gridCol>
              </a:tblGrid>
              <a:tr h="340000">
                <a:tc>
                  <a:txBody>
                    <a:bodyPr/>
                    <a:lstStyle/>
                    <a:p>
                      <a:pPr algn="ctr">
                        <a:defRPr sz="1100" b="1">
                          <a:solidFill>
                            <a:srgbClr val="FFFFFF"/>
                          </a:solidFill>
                          <a:latin typeface="Cambria"/>
                        </a:defRPr>
                      </a:pPr>
                      <a:r>
                        <a:t>Asset</a:t>
                      </a:r>
                    </a:p>
                  </a:txBody>
                  <a:tcPr>
                    <a:solidFill>
                      <a:srgbClr val="3E9B8D"/>
                    </a:solidFill>
                  </a:tcPr>
                </a:tc>
                <a:tc>
                  <a:txBody>
                    <a:bodyPr/>
                    <a:lstStyle/>
                    <a:p>
                      <a:pPr algn="ctr">
                        <a:defRPr sz="1100" b="1">
                          <a:solidFill>
                            <a:srgbClr val="FFFFFF"/>
                          </a:solidFill>
                          <a:latin typeface="Cambria"/>
                        </a:defRPr>
                      </a:pPr>
                      <a:r>
                        <a:t>Life (Years)</a:t>
                      </a:r>
                    </a:p>
                  </a:txBody>
                  <a:tcPr>
                    <a:solidFill>
                      <a:srgbClr val="3E9B8D"/>
                    </a:solidFill>
                  </a:tcPr>
                </a:tc>
                <a:extLst>
                  <a:ext uri="{0D108BD9-81ED-4DB2-BD59-A6C34878D82A}">
                    <a16:rowId xmlns:a16="http://schemas.microsoft.com/office/drawing/2014/main" val="10000"/>
                  </a:ext>
                </a:extLst>
              </a:tr>
              <a:tr h="340000">
                <a:tc>
                  <a:txBody>
                    <a:bodyPr/>
                    <a:lstStyle/>
                    <a:p>
                      <a:pPr algn="ctr">
                        <a:defRPr sz="1050">
                          <a:solidFill>
                            <a:srgbClr val="1C1712"/>
                          </a:solidFill>
                          <a:latin typeface="Courier New"/>
                        </a:defRPr>
                      </a:pPr>
                      <a:r>
                        <a:t>Asset 101</a:t>
                      </a:r>
                    </a:p>
                  </a:txBody>
                  <a:tcPr>
                    <a:solidFill>
                      <a:srgbClr val="FFFFFF"/>
                    </a:solidFill>
                  </a:tcPr>
                </a:tc>
                <a:tc>
                  <a:txBody>
                    <a:bodyPr/>
                    <a:lstStyle/>
                    <a:p>
                      <a:pPr algn="ctr">
                        <a:defRPr sz="1050">
                          <a:solidFill>
                            <a:srgbClr val="1C1712"/>
                          </a:solidFill>
                          <a:latin typeface="Courier New"/>
                        </a:defRPr>
                      </a:pPr>
                      <a:r>
                        <a:t>5.7</a:t>
                      </a:r>
                    </a:p>
                  </a:txBody>
                  <a:tcPr>
                    <a:solidFill>
                      <a:srgbClr val="FFFFFF"/>
                    </a:solidFill>
                  </a:tcPr>
                </a:tc>
                <a:extLst>
                  <a:ext uri="{0D108BD9-81ED-4DB2-BD59-A6C34878D82A}">
                    <a16:rowId xmlns:a16="http://schemas.microsoft.com/office/drawing/2014/main" val="10001"/>
                  </a:ext>
                </a:extLst>
              </a:tr>
              <a:tr h="340000">
                <a:tc>
                  <a:txBody>
                    <a:bodyPr/>
                    <a:lstStyle/>
                    <a:p>
                      <a:pPr algn="ctr">
                        <a:defRPr sz="1050">
                          <a:solidFill>
                            <a:srgbClr val="1C1712"/>
                          </a:solidFill>
                          <a:latin typeface="Courier New"/>
                        </a:defRPr>
                      </a:pPr>
                      <a:r>
                        <a:t>Asset 101</a:t>
                      </a:r>
                    </a:p>
                  </a:txBody>
                  <a:tcPr>
                    <a:solidFill>
                      <a:srgbClr val="FAFAF8"/>
                    </a:solidFill>
                  </a:tcPr>
                </a:tc>
                <a:tc>
                  <a:txBody>
                    <a:bodyPr/>
                    <a:lstStyle/>
                    <a:p>
                      <a:pPr algn="ctr">
                        <a:defRPr sz="1050">
                          <a:solidFill>
                            <a:srgbClr val="1C1712"/>
                          </a:solidFill>
                          <a:latin typeface="Courier New"/>
                        </a:defRPr>
                      </a:pPr>
                      <a:r>
                        <a:t>3.2</a:t>
                      </a:r>
                    </a:p>
                  </a:txBody>
                  <a:tcPr>
                    <a:solidFill>
                      <a:srgbClr val="FAFAF8"/>
                    </a:solidFill>
                  </a:tcPr>
                </a:tc>
                <a:extLst>
                  <a:ext uri="{0D108BD9-81ED-4DB2-BD59-A6C34878D82A}">
                    <a16:rowId xmlns:a16="http://schemas.microsoft.com/office/drawing/2014/main" val="10002"/>
                  </a:ext>
                </a:extLst>
              </a:tr>
              <a:tr h="340000">
                <a:tc>
                  <a:txBody>
                    <a:bodyPr/>
                    <a:lstStyle/>
                    <a:p>
                      <a:pPr algn="ctr">
                        <a:defRPr sz="1050">
                          <a:solidFill>
                            <a:srgbClr val="1C1712"/>
                          </a:solidFill>
                          <a:latin typeface="Courier New"/>
                        </a:defRPr>
                      </a:pPr>
                      <a:r>
                        <a:t>Asset 101</a:t>
                      </a:r>
                    </a:p>
                  </a:txBody>
                  <a:tcPr>
                    <a:solidFill>
                      <a:srgbClr val="FFFFFF"/>
                    </a:solidFill>
                  </a:tcPr>
                </a:tc>
                <a:tc>
                  <a:txBody>
                    <a:bodyPr/>
                    <a:lstStyle/>
                    <a:p>
                      <a:pPr algn="ctr">
                        <a:defRPr sz="1050">
                          <a:solidFill>
                            <a:srgbClr val="1C1712"/>
                          </a:solidFill>
                          <a:latin typeface="Courier New"/>
                        </a:defRPr>
                      </a:pPr>
                      <a:r>
                        <a:t>9.1</a:t>
                      </a:r>
                    </a:p>
                  </a:txBody>
                  <a:tcPr>
                    <a:solidFill>
                      <a:srgbClr val="FFFFFF"/>
                    </a:solidFill>
                  </a:tcPr>
                </a:tc>
                <a:extLst>
                  <a:ext uri="{0D108BD9-81ED-4DB2-BD59-A6C34878D82A}">
                    <a16:rowId xmlns:a16="http://schemas.microsoft.com/office/drawing/2014/main" val="10003"/>
                  </a:ext>
                </a:extLst>
              </a:tr>
              <a:tr h="340000">
                <a:tc>
                  <a:txBody>
                    <a:bodyPr/>
                    <a:lstStyle/>
                    <a:p>
                      <a:pPr algn="ctr">
                        <a:defRPr sz="1050">
                          <a:solidFill>
                            <a:srgbClr val="1C1712"/>
                          </a:solidFill>
                          <a:latin typeface="Courier New"/>
                        </a:defRPr>
                      </a:pPr>
                      <a:r>
                        <a:t>...</a:t>
                      </a:r>
                    </a:p>
                  </a:txBody>
                  <a:tcPr>
                    <a:solidFill>
                      <a:srgbClr val="FAFAF8"/>
                    </a:solidFill>
                  </a:tcPr>
                </a:tc>
                <a:tc>
                  <a:txBody>
                    <a:bodyPr/>
                    <a:lstStyle/>
                    <a:p>
                      <a:pPr algn="ctr">
                        <a:defRPr sz="1050">
                          <a:solidFill>
                            <a:srgbClr val="1C1712"/>
                          </a:solidFill>
                          <a:latin typeface="Courier New"/>
                        </a:defRPr>
                      </a:pPr>
                      <a:r>
                        <a:t>...</a:t>
                      </a:r>
                    </a:p>
                  </a:txBody>
                  <a:tcPr>
                    <a:solidFill>
                      <a:srgbClr val="FAFAF8"/>
                    </a:solid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850000" y="4650000"/>
            <a:ext cx="2500000" cy="1100000"/>
          </a:xfrm>
          <a:prstGeom prst="rect">
            <a:avLst/>
          </a:prstGeom>
          <a:noFill/>
        </p:spPr>
        <p:txBody>
          <a:bodyPr wrap="square">
            <a:spAutoFit/>
          </a:bodyPr>
          <a:lstStyle/>
          <a:p>
            <a:pPr>
              <a:defRPr sz="1100" b="1">
                <a:solidFill>
                  <a:srgbClr val="7A1F1A"/>
                </a:solidFill>
                <a:latin typeface="Cambria"/>
              </a:defRPr>
            </a:pPr>
            <a:r>
              <a:t>CMMS Work Orders:</a:t>
            </a:r>
          </a:p>
          <a:p>
            <a:pPr>
              <a:defRPr sz="1000">
                <a:solidFill>
                  <a:srgbClr val="5A5347"/>
                </a:solidFill>
                <a:latin typeface="Cambria"/>
              </a:defRPr>
            </a:pPr>
            <a:r>
              <a:t>Queries logged maintenance records to measure elapsed runtime between unscheduled outages.</a:t>
            </a:r>
          </a:p>
        </p:txBody>
      </p:sp>
      <p:sp>
        <p:nvSpPr>
          <p:cNvPr id="20" name="Right Arrow 19"/>
          <p:cNvSpPr/>
          <p:nvPr/>
        </p:nvSpPr>
        <p:spPr>
          <a:xfrm>
            <a:off x="3600000" y="3600000"/>
            <a:ext cx="450000" cy="300000"/>
          </a:xfrm>
          <a:prstGeom prst="rightArrow">
            <a:avLst/>
          </a:prstGeom>
          <a:solidFill>
            <a:srgbClr val="5FB8A6"/>
          </a:solidFill>
          <a:ln>
            <a:solidFill>
              <a:srgbClr val="5F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00000" y="2250000"/>
            <a:ext cx="3400000" cy="365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50000" y="2350000"/>
            <a:ext cx="3100000" cy="400000"/>
          </a:xfrm>
          <a:prstGeom prst="rect">
            <a:avLst/>
          </a:prstGeom>
          <a:noFill/>
        </p:spPr>
        <p:txBody>
          <a:bodyPr wrap="none">
            <a:spAutoFit/>
          </a:bodyPr>
          <a:lstStyle/>
          <a:p>
            <a:pPr algn="ctr">
              <a:defRPr sz="1500" b="1">
                <a:solidFill>
                  <a:srgbClr val="1C1712"/>
                </a:solidFill>
                <a:latin typeface="Cambria"/>
              </a:defRPr>
            </a:pPr>
            <a:r>
              <a:t>Calculate Failure Rate</a:t>
            </a:r>
          </a:p>
        </p:txBody>
      </p:sp>
      <p:sp>
        <p:nvSpPr>
          <p:cNvPr id="23" name="Rounded Rectangle 22"/>
          <p:cNvSpPr/>
          <p:nvPr/>
        </p:nvSpPr>
        <p:spPr>
          <a:xfrm>
            <a:off x="4350000" y="2800000"/>
            <a:ext cx="3100000" cy="850000"/>
          </a:xfrm>
          <a:prstGeom prst="roundRect">
            <a:avLst/>
          </a:prstGeom>
          <a:solidFill>
            <a:srgbClr val="FFFFFF"/>
          </a:solidFill>
          <a:ln>
            <a:solidFill>
              <a:srgbClr val="3E9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A1F1A"/>
                </a:solidFill>
                <a:latin typeface="Cambria"/>
              </a:defRPr>
            </a:pPr>
            <a:r>
              <a:t>1. Calculate Mean Time to Failure</a:t>
            </a:r>
          </a:p>
          <a:p>
            <a:pPr algn="ctr">
              <a:defRPr sz="1050">
                <a:solidFill>
                  <a:srgbClr val="1C1712"/>
                </a:solidFill>
                <a:latin typeface="Courier New"/>
              </a:defRPr>
            </a:pPr>
            <a:r>
              <a:t>MTTF = Σ (Operating Life) / Total Events</a:t>
            </a:r>
          </a:p>
        </p:txBody>
      </p:sp>
      <p:sp>
        <p:nvSpPr>
          <p:cNvPr id="24" name="Rounded Rectangle 23"/>
          <p:cNvSpPr/>
          <p:nvPr/>
        </p:nvSpPr>
        <p:spPr>
          <a:xfrm>
            <a:off x="4350000" y="3800000"/>
            <a:ext cx="3100000" cy="1100000"/>
          </a:xfrm>
          <a:prstGeom prst="roundRect">
            <a:avLst/>
          </a:prstGeom>
          <a:solidFill>
            <a:srgbClr val="FFFFFF"/>
          </a:solidFill>
          <a:ln>
            <a:solidFill>
              <a:srgbClr val="3E9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A1F1A"/>
                </a:solidFill>
                <a:latin typeface="Cambria"/>
              </a:defRPr>
            </a:pPr>
            <a:r>
              <a:t>2. Calculate Failure Rate (λ)</a:t>
            </a:r>
          </a:p>
          <a:p>
            <a:pPr algn="ctr">
              <a:defRPr sz="1100" b="1">
                <a:solidFill>
                  <a:srgbClr val="1C1712"/>
                </a:solidFill>
                <a:latin typeface="Courier New"/>
              </a:defRPr>
            </a:pPr>
            <a:r>
              <a:t>Failure Rate (# Events/Year) = 1 / MTTF</a:t>
            </a:r>
          </a:p>
        </p:txBody>
      </p:sp>
      <p:sp>
        <p:nvSpPr>
          <p:cNvPr id="25" name="TextBox 24"/>
          <p:cNvSpPr txBox="1"/>
          <p:nvPr/>
        </p:nvSpPr>
        <p:spPr>
          <a:xfrm>
            <a:off x="4350000" y="5050000"/>
            <a:ext cx="3100000" cy="750000"/>
          </a:xfrm>
          <a:prstGeom prst="rect">
            <a:avLst/>
          </a:prstGeom>
          <a:noFill/>
        </p:spPr>
        <p:txBody>
          <a:bodyPr wrap="square">
            <a:spAutoFit/>
          </a:bodyPr>
          <a:lstStyle/>
          <a:p>
            <a:pPr>
              <a:defRPr sz="1100" b="1">
                <a:solidFill>
                  <a:srgbClr val="7A1F1A"/>
                </a:solidFill>
                <a:latin typeface="Cambria"/>
              </a:defRPr>
            </a:pPr>
            <a:r>
              <a:t>Constant Hazard Assumption:</a:t>
            </a:r>
          </a:p>
          <a:p>
            <a:pPr>
              <a:defRPr sz="1000">
                <a:solidFill>
                  <a:srgbClr val="5A5347"/>
                </a:solidFill>
                <a:latin typeface="Cambria"/>
              </a:defRPr>
            </a:pPr>
            <a:r>
              <a:t>λ remains constant over operating duration, modeling memoryless failure mechanisms.</a:t>
            </a:r>
          </a:p>
        </p:txBody>
      </p:sp>
      <p:sp>
        <p:nvSpPr>
          <p:cNvPr id="26" name="Right Arrow 25"/>
          <p:cNvSpPr/>
          <p:nvPr/>
        </p:nvSpPr>
        <p:spPr>
          <a:xfrm>
            <a:off x="7750000" y="3600000"/>
            <a:ext cx="450000" cy="300000"/>
          </a:xfrm>
          <a:prstGeom prst="rightArrow">
            <a:avLst/>
          </a:prstGeom>
          <a:solidFill>
            <a:srgbClr val="5FB8A6"/>
          </a:solidFill>
          <a:ln>
            <a:solidFill>
              <a:srgbClr val="5F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350000" y="2250000"/>
            <a:ext cx="3100000" cy="365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50000" y="2350000"/>
            <a:ext cx="2900000" cy="400000"/>
          </a:xfrm>
          <a:prstGeom prst="rect">
            <a:avLst/>
          </a:prstGeom>
          <a:noFill/>
        </p:spPr>
        <p:txBody>
          <a:bodyPr wrap="none">
            <a:spAutoFit/>
          </a:bodyPr>
          <a:lstStyle/>
          <a:p>
            <a:pPr algn="ctr">
              <a:defRPr sz="1500" b="1">
                <a:solidFill>
                  <a:srgbClr val="1C1712"/>
                </a:solidFill>
                <a:latin typeface="Cambria"/>
              </a:defRPr>
            </a:pPr>
            <a:r>
              <a:t>Generate Distribution</a:t>
            </a:r>
          </a:p>
        </p:txBody>
      </p:sp>
      <p:pic>
        <p:nvPicPr>
          <p:cNvPr id="29" name="Picture 28" descr="exp_plot.png"/>
          <p:cNvPicPr>
            <a:picLocks noChangeAspect="1"/>
          </p:cNvPicPr>
          <p:nvPr/>
        </p:nvPicPr>
        <p:blipFill>
          <a:blip r:embed="rId3"/>
          <a:stretch>
            <a:fillRect/>
          </a:stretch>
        </p:blipFill>
        <p:spPr>
          <a:xfrm>
            <a:off x="8450000" y="2800000"/>
            <a:ext cx="2900000" cy="2100000"/>
          </a:xfrm>
          <a:prstGeom prst="rect">
            <a:avLst/>
          </a:prstGeom>
        </p:spPr>
      </p:pic>
      <p:sp>
        <p:nvSpPr>
          <p:cNvPr id="30" name="TextBox 29"/>
          <p:cNvSpPr txBox="1"/>
          <p:nvPr/>
        </p:nvSpPr>
        <p:spPr>
          <a:xfrm>
            <a:off x="8450000" y="5000000"/>
            <a:ext cx="2900000" cy="800000"/>
          </a:xfrm>
          <a:prstGeom prst="rect">
            <a:avLst/>
          </a:prstGeom>
          <a:noFill/>
        </p:spPr>
        <p:txBody>
          <a:bodyPr wrap="square">
            <a:spAutoFit/>
          </a:bodyPr>
          <a:lstStyle/>
          <a:p>
            <a:pPr>
              <a:defRPr sz="1100" b="1">
                <a:solidFill>
                  <a:srgbClr val="7A1F1A"/>
                </a:solidFill>
                <a:latin typeface="Cambria"/>
              </a:defRPr>
            </a:pPr>
            <a:r>
              <a:t>Cumulative CDF:</a:t>
            </a:r>
          </a:p>
          <a:p>
            <a:pPr>
              <a:defRPr sz="1000">
                <a:solidFill>
                  <a:srgbClr val="5A5347"/>
                </a:solidFill>
                <a:latin typeface="Cambria"/>
              </a:defRPr>
            </a:pPr>
            <a:r>
              <a:t>F(t) = 1 - exp(-λt). Predicts cumulative failure probability over 1 to 12 years.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Weibull Distribution: 3-Parameter Formulation</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universal distribution governing physical degradation and wear-out.</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26</a:t>
            </a:r>
            <a:r>
              <a:rPr sz="900">
                <a:solidFill>
                  <a:srgbClr val="8A8477"/>
                </a:solidFill>
                <a:latin typeface="Courier New"/>
              </a:rPr>
              <a:t> / 80</a:t>
            </a:r>
            <a:endParaRPr lang="en-US" sz="900" dirty="0"/>
          </a:p>
        </p:txBody>
      </p:sp>
      <p:sp>
        <p:nvSpPr>
          <p:cNvPr id="13" name="Shape 10"/>
          <p:cNvSpPr/>
          <p:nvPr/>
        </p:nvSpPr>
        <p:spPr>
          <a:xfrm>
            <a:off x="548640" y="1783080"/>
            <a:ext cx="11091672" cy="1234440"/>
          </a:xfrm>
          <a:prstGeom prst="rect">
            <a:avLst/>
          </a:prstGeom>
          <a:solidFill>
            <a:srgbClr val="EFDCCF"/>
          </a:solidFill>
          <a:ln w="12700">
            <a:solidFill>
              <a:srgbClr val="A03B30"/>
            </a:solidFill>
            <a:prstDash val="solid"/>
          </a:ln>
        </p:spPr>
        <p:txBody>
          <a:bodyPr/>
          <a:lstStyle/>
          <a:p>
            <a:endParaRPr lang="en-IN"/>
          </a:p>
        </p:txBody>
      </p:sp>
      <p:pic>
        <p:nvPicPr>
          <p:cNvPr id="14" name="Image 1" descr="Formula"/>
          <p:cNvPicPr>
            <a:picLocks noChangeAspect="1"/>
          </p:cNvPicPr>
          <p:nvPr/>
        </p:nvPicPr>
        <p:blipFill>
          <a:blip r:embed="rId4"/>
          <a:stretch>
            <a:fillRect/>
          </a:stretch>
        </p:blipFill>
        <p:spPr>
          <a:xfrm>
            <a:off x="1595049" y="1856232"/>
            <a:ext cx="8971422" cy="1097280"/>
          </a:xfrm>
          <a:prstGeom prst="rect">
            <a:avLst/>
          </a:prstGeom>
        </p:spPr>
      </p:pic>
      <p:sp>
        <p:nvSpPr>
          <p:cNvPr id="15" name="Shape 11"/>
          <p:cNvSpPr/>
          <p:nvPr/>
        </p:nvSpPr>
        <p:spPr>
          <a:xfrm>
            <a:off x="548640" y="3200400"/>
            <a:ext cx="3547872" cy="1691640"/>
          </a:xfrm>
          <a:prstGeom prst="rect">
            <a:avLst/>
          </a:prstGeom>
          <a:solidFill>
            <a:srgbClr val="DCE6EC"/>
          </a:solidFill>
          <a:ln w="12700">
            <a:solidFill>
              <a:srgbClr val="1A4A6E"/>
            </a:solidFill>
            <a:prstDash val="solid"/>
          </a:ln>
        </p:spPr>
        <p:txBody>
          <a:bodyPr/>
          <a:lstStyle/>
          <a:p>
            <a:endParaRPr lang="en-IN"/>
          </a:p>
        </p:txBody>
      </p:sp>
      <p:sp>
        <p:nvSpPr>
          <p:cNvPr id="16" name="Text 12"/>
          <p:cNvSpPr txBox="1"/>
          <p:nvPr/>
        </p:nvSpPr>
        <p:spPr>
          <a:xfrm>
            <a:off x="777240" y="3291840"/>
            <a:ext cx="914400" cy="640080"/>
          </a:xfrm>
          <a:prstGeom prst="rect">
            <a:avLst/>
          </a:prstGeom>
          <a:noFill/>
          <a:ln/>
        </p:spPr>
        <p:txBody>
          <a:bodyPr wrap="square" lIns="0" tIns="0" rIns="0" bIns="0" rtlCol="0" anchor="t"/>
          <a:lstStyle/>
          <a:p>
            <a:pPr marL="0" indent="0">
              <a:buNone/>
            </a:pPr>
            <a:r>
              <a:rPr lang="en-US" sz="4000" b="1" dirty="0">
                <a:solidFill>
                  <a:srgbClr val="1A4A6E"/>
                </a:solidFill>
                <a:latin typeface="Cambria" pitchFamily="34" charset="0"/>
                <a:ea typeface="Cambria" pitchFamily="34" charset="-122"/>
                <a:cs typeface="Cambria" pitchFamily="34" charset="-120"/>
              </a:rPr>
              <a:t>η</a:t>
            </a:r>
            <a:endParaRPr lang="en-US" sz="4000" dirty="0"/>
          </a:p>
        </p:txBody>
      </p:sp>
      <p:sp>
        <p:nvSpPr>
          <p:cNvPr id="17" name="Text 13"/>
          <p:cNvSpPr txBox="1"/>
          <p:nvPr/>
        </p:nvSpPr>
        <p:spPr>
          <a:xfrm>
            <a:off x="1600200" y="3383280"/>
            <a:ext cx="2359152" cy="310896"/>
          </a:xfrm>
          <a:prstGeom prst="rect">
            <a:avLst/>
          </a:prstGeom>
          <a:noFill/>
          <a:ln/>
        </p:spPr>
        <p:txBody>
          <a:bodyPr wrap="square" lIns="0" tIns="0" rIns="0" bIns="0" rtlCol="0" anchor="t"/>
          <a:lstStyle/>
          <a:p>
            <a:pPr marL="0" indent="0">
              <a:buNone/>
            </a:pPr>
            <a:r>
              <a:rPr lang="en-US" sz="1400" b="1" dirty="0">
                <a:solidFill>
                  <a:srgbClr val="1A4A6E"/>
                </a:solidFill>
                <a:latin typeface="Cambria" pitchFamily="34" charset="0"/>
                <a:ea typeface="Cambria" pitchFamily="34" charset="-122"/>
                <a:cs typeface="Cambria" pitchFamily="34" charset="-120"/>
              </a:rPr>
              <a:t>Eta — Scale / Life</a:t>
            </a:r>
            <a:endParaRPr lang="en-US" sz="1400" dirty="0"/>
          </a:p>
        </p:txBody>
      </p:sp>
      <p:sp>
        <p:nvSpPr>
          <p:cNvPr id="18" name="Text 14"/>
          <p:cNvSpPr txBox="1"/>
          <p:nvPr/>
        </p:nvSpPr>
        <p:spPr>
          <a:xfrm>
            <a:off x="777240" y="3977640"/>
            <a:ext cx="3090672" cy="86868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Characteristic Life. The time at which 63.2% of the population will have failed.</a:t>
            </a:r>
            <a:endParaRPr lang="en-US" sz="1250" dirty="0"/>
          </a:p>
        </p:txBody>
      </p:sp>
      <p:sp>
        <p:nvSpPr>
          <p:cNvPr id="19" name="Shape 15"/>
          <p:cNvSpPr/>
          <p:nvPr/>
        </p:nvSpPr>
        <p:spPr>
          <a:xfrm>
            <a:off x="4320540" y="3200400"/>
            <a:ext cx="3547872" cy="1691640"/>
          </a:xfrm>
          <a:prstGeom prst="rect">
            <a:avLst/>
          </a:prstGeom>
          <a:solidFill>
            <a:srgbClr val="EFDCCF"/>
          </a:solidFill>
          <a:ln w="12700">
            <a:solidFill>
              <a:srgbClr val="7A1F1A"/>
            </a:solidFill>
            <a:prstDash val="solid"/>
          </a:ln>
        </p:spPr>
        <p:txBody>
          <a:bodyPr/>
          <a:lstStyle/>
          <a:p>
            <a:endParaRPr lang="en-IN"/>
          </a:p>
        </p:txBody>
      </p:sp>
      <p:sp>
        <p:nvSpPr>
          <p:cNvPr id="20" name="Text 16"/>
          <p:cNvSpPr txBox="1"/>
          <p:nvPr/>
        </p:nvSpPr>
        <p:spPr>
          <a:xfrm>
            <a:off x="4549140" y="3291840"/>
            <a:ext cx="914400" cy="640080"/>
          </a:xfrm>
          <a:prstGeom prst="rect">
            <a:avLst/>
          </a:prstGeom>
          <a:noFill/>
          <a:ln/>
        </p:spPr>
        <p:txBody>
          <a:bodyPr wrap="square" lIns="0" tIns="0" rIns="0" bIns="0" rtlCol="0" anchor="t"/>
          <a:lstStyle/>
          <a:p>
            <a:pPr marL="0" indent="0">
              <a:buNone/>
            </a:pPr>
            <a:r>
              <a:rPr lang="en-US" sz="4000" b="1" dirty="0">
                <a:solidFill>
                  <a:srgbClr val="7A1F1A"/>
                </a:solidFill>
                <a:latin typeface="Cambria" pitchFamily="34" charset="0"/>
                <a:ea typeface="Cambria" pitchFamily="34" charset="-122"/>
                <a:cs typeface="Cambria" pitchFamily="34" charset="-120"/>
              </a:rPr>
              <a:t>β</a:t>
            </a:r>
            <a:endParaRPr lang="en-US" sz="4000" dirty="0"/>
          </a:p>
        </p:txBody>
      </p:sp>
      <p:sp>
        <p:nvSpPr>
          <p:cNvPr id="21" name="Text 17"/>
          <p:cNvSpPr txBox="1"/>
          <p:nvPr/>
        </p:nvSpPr>
        <p:spPr>
          <a:xfrm>
            <a:off x="5372100" y="3383280"/>
            <a:ext cx="2359152" cy="310896"/>
          </a:xfrm>
          <a:prstGeom prst="rect">
            <a:avLst/>
          </a:prstGeom>
          <a:noFill/>
          <a:ln/>
        </p:spPr>
        <p:txBody>
          <a:bodyPr wrap="square" lIns="0" tIns="0" rIns="0" bIns="0" rtlCol="0" anchor="t"/>
          <a:lstStyle/>
          <a:p>
            <a:pPr marL="0" indent="0">
              <a:buNone/>
            </a:pPr>
            <a:r>
              <a:rPr lang="en-US" sz="1400" b="1" dirty="0">
                <a:solidFill>
                  <a:srgbClr val="7A1F1A"/>
                </a:solidFill>
                <a:latin typeface="Cambria" pitchFamily="34" charset="0"/>
                <a:ea typeface="Cambria" pitchFamily="34" charset="-122"/>
                <a:cs typeface="Cambria" pitchFamily="34" charset="-120"/>
              </a:rPr>
              <a:t>Beta — Shape</a:t>
            </a:r>
            <a:endParaRPr lang="en-US" sz="1400" dirty="0"/>
          </a:p>
        </p:txBody>
      </p:sp>
      <p:sp>
        <p:nvSpPr>
          <p:cNvPr id="22" name="Text 18"/>
          <p:cNvSpPr txBox="1"/>
          <p:nvPr/>
        </p:nvSpPr>
        <p:spPr>
          <a:xfrm>
            <a:off x="4549140" y="3977640"/>
            <a:ext cx="3090672" cy="86868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Defines the failure mode: β&lt;1 infant mortality; β=1 random; β&gt;1 wear-out.</a:t>
            </a:r>
            <a:endParaRPr lang="en-US" sz="1250" dirty="0"/>
          </a:p>
        </p:txBody>
      </p:sp>
      <p:sp>
        <p:nvSpPr>
          <p:cNvPr id="23" name="Shape 19"/>
          <p:cNvSpPr/>
          <p:nvPr/>
        </p:nvSpPr>
        <p:spPr>
          <a:xfrm>
            <a:off x="8092440" y="3200400"/>
            <a:ext cx="3547872" cy="1691640"/>
          </a:xfrm>
          <a:prstGeom prst="rect">
            <a:avLst/>
          </a:prstGeom>
          <a:solidFill>
            <a:srgbClr val="DDE7D6"/>
          </a:solidFill>
          <a:ln w="12700">
            <a:solidFill>
              <a:srgbClr val="2F6B3A"/>
            </a:solidFill>
            <a:prstDash val="solid"/>
          </a:ln>
        </p:spPr>
        <p:txBody>
          <a:bodyPr/>
          <a:lstStyle/>
          <a:p>
            <a:endParaRPr lang="en-IN"/>
          </a:p>
        </p:txBody>
      </p:sp>
      <p:sp>
        <p:nvSpPr>
          <p:cNvPr id="24" name="Text 20"/>
          <p:cNvSpPr txBox="1"/>
          <p:nvPr/>
        </p:nvSpPr>
        <p:spPr>
          <a:xfrm>
            <a:off x="8321040" y="3291840"/>
            <a:ext cx="914400" cy="640080"/>
          </a:xfrm>
          <a:prstGeom prst="rect">
            <a:avLst/>
          </a:prstGeom>
          <a:noFill/>
          <a:ln/>
        </p:spPr>
        <p:txBody>
          <a:bodyPr wrap="square" lIns="0" tIns="0" rIns="0" bIns="0" rtlCol="0" anchor="t"/>
          <a:lstStyle/>
          <a:p>
            <a:pPr marL="0" indent="0">
              <a:buNone/>
            </a:pPr>
            <a:r>
              <a:rPr lang="en-US" sz="4000" b="1" dirty="0">
                <a:solidFill>
                  <a:srgbClr val="2F6B3A"/>
                </a:solidFill>
                <a:latin typeface="Cambria" pitchFamily="34" charset="0"/>
                <a:ea typeface="Cambria" pitchFamily="34" charset="-122"/>
                <a:cs typeface="Cambria" pitchFamily="34" charset="-120"/>
              </a:rPr>
              <a:t>γ</a:t>
            </a:r>
            <a:endParaRPr lang="en-US" sz="4000" dirty="0"/>
          </a:p>
        </p:txBody>
      </p:sp>
      <p:sp>
        <p:nvSpPr>
          <p:cNvPr id="25" name="Text 21"/>
          <p:cNvSpPr txBox="1"/>
          <p:nvPr/>
        </p:nvSpPr>
        <p:spPr>
          <a:xfrm>
            <a:off x="9144000" y="3383280"/>
            <a:ext cx="2359152" cy="310896"/>
          </a:xfrm>
          <a:prstGeom prst="rect">
            <a:avLst/>
          </a:prstGeom>
          <a:noFill/>
          <a:ln/>
        </p:spPr>
        <p:txBody>
          <a:bodyPr wrap="square" lIns="0" tIns="0" rIns="0" bIns="0" rtlCol="0" anchor="t"/>
          <a:lstStyle/>
          <a:p>
            <a:pPr marL="0" indent="0">
              <a:buNone/>
            </a:pPr>
            <a:r>
              <a:rPr lang="en-US" sz="1400" b="1" dirty="0">
                <a:solidFill>
                  <a:srgbClr val="2F6B3A"/>
                </a:solidFill>
                <a:latin typeface="Cambria" pitchFamily="34" charset="0"/>
                <a:ea typeface="Cambria" pitchFamily="34" charset="-122"/>
                <a:cs typeface="Cambria" pitchFamily="34" charset="-120"/>
              </a:rPr>
              <a:t>Gamma — Location</a:t>
            </a:r>
            <a:endParaRPr lang="en-US" sz="1400" dirty="0"/>
          </a:p>
        </p:txBody>
      </p:sp>
      <p:sp>
        <p:nvSpPr>
          <p:cNvPr id="26" name="Text 22"/>
          <p:cNvSpPr txBox="1"/>
          <p:nvPr/>
        </p:nvSpPr>
        <p:spPr>
          <a:xfrm>
            <a:off x="8321040" y="3977640"/>
            <a:ext cx="3090672" cy="86868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Failure-free life. Minimum threshold time before which zero failures can physically occur.</a:t>
            </a:r>
            <a:endParaRPr lang="en-US" sz="1250" dirty="0"/>
          </a:p>
        </p:txBody>
      </p:sp>
      <p:sp>
        <p:nvSpPr>
          <p:cNvPr id="27" name="Shape 23"/>
          <p:cNvSpPr/>
          <p:nvPr/>
        </p:nvSpPr>
        <p:spPr>
          <a:xfrm>
            <a:off x="548640" y="5074920"/>
            <a:ext cx="11091672" cy="1143000"/>
          </a:xfrm>
          <a:prstGeom prst="rect">
            <a:avLst/>
          </a:prstGeom>
          <a:solidFill>
            <a:srgbClr val="EFE4CD"/>
          </a:solidFill>
          <a:ln w="12700">
            <a:solidFill>
              <a:srgbClr val="C9B48F"/>
            </a:solidFill>
            <a:prstDash val="solid"/>
          </a:ln>
        </p:spPr>
        <p:txBody>
          <a:bodyPr/>
          <a:lstStyle/>
          <a:p>
            <a:endParaRPr lang="en-IN"/>
          </a:p>
        </p:txBody>
      </p:sp>
      <p:sp>
        <p:nvSpPr>
          <p:cNvPr id="28" name="Shape 24"/>
          <p:cNvSpPr/>
          <p:nvPr/>
        </p:nvSpPr>
        <p:spPr>
          <a:xfrm>
            <a:off x="749808" y="5230368"/>
            <a:ext cx="512064" cy="512064"/>
          </a:xfrm>
          <a:prstGeom prst="ellipse">
            <a:avLst/>
          </a:prstGeom>
          <a:solidFill>
            <a:srgbClr val="EDE2C4"/>
          </a:solidFill>
          <a:ln w="15875">
            <a:solidFill>
              <a:srgbClr val="9A6A12"/>
            </a:solidFill>
            <a:prstDash val="solid"/>
          </a:ln>
        </p:spPr>
        <p:txBody>
          <a:bodyPr/>
          <a:lstStyle/>
          <a:p>
            <a:endParaRPr lang="en-IN"/>
          </a:p>
        </p:txBody>
      </p:sp>
      <p:pic>
        <p:nvPicPr>
          <p:cNvPr id="29" name="Image 2" descr="preencoded.png"/>
          <p:cNvPicPr>
            <a:picLocks noChangeAspect="1"/>
          </p:cNvPicPr>
          <p:nvPr/>
        </p:nvPicPr>
        <p:blipFill>
          <a:blip r:embed="rId5"/>
          <a:stretch>
            <a:fillRect/>
          </a:stretch>
        </p:blipFill>
        <p:spPr>
          <a:xfrm>
            <a:off x="877824" y="5358384"/>
            <a:ext cx="256032" cy="256032"/>
          </a:xfrm>
          <a:prstGeom prst="rect">
            <a:avLst/>
          </a:prstGeom>
        </p:spPr>
      </p:pic>
      <p:sp>
        <p:nvSpPr>
          <p:cNvPr id="30" name="Text 25"/>
          <p:cNvSpPr txBox="1"/>
          <p:nvPr/>
        </p:nvSpPr>
        <p:spPr>
          <a:xfrm>
            <a:off x="1463040" y="5074920"/>
            <a:ext cx="10012680" cy="1143000"/>
          </a:xfrm>
          <a:prstGeom prst="rect">
            <a:avLst/>
          </a:prstGeom>
          <a:noFill/>
          <a:ln/>
        </p:spPr>
        <p:txBody>
          <a:bodyPr wrap="square" lIns="0" tIns="0" rIns="0" bIns="0" rtlCol="0" anchor="ctr"/>
          <a:lstStyle/>
          <a:p>
            <a:pPr marL="0" indent="0">
              <a:buNone/>
            </a:pPr>
            <a:r>
              <a:rPr lang="en-US" sz="1400" b="1" dirty="0">
                <a:solidFill>
                  <a:srgbClr val="1C1712"/>
                </a:solidFill>
                <a:latin typeface="Cambria" pitchFamily="34" charset="0"/>
                <a:ea typeface="Cambria" pitchFamily="34" charset="-122"/>
                <a:cs typeface="Cambria" pitchFamily="34" charset="-120"/>
              </a:rPr>
              <a:t>Why Weibull is King:  </a:t>
            </a:r>
            <a:r>
              <a:rPr lang="en-US" sz="1400" dirty="0">
                <a:solidFill>
                  <a:srgbClr val="2C261E"/>
                </a:solidFill>
                <a:latin typeface="Cambria" pitchFamily="34" charset="0"/>
                <a:ea typeface="Cambria" pitchFamily="34" charset="-122"/>
                <a:cs typeface="Cambria" pitchFamily="34" charset="-120"/>
              </a:rPr>
              <a:t>By simply varying β, the Weibull distribution can mathematically mimic the Exponential (β = 1), the Normal / Gaussian (β ≈ 3.5), or skewed lognormal distributions — making it universal for all physical assets.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Simulator: Weibull Shape (Beta) Dynamics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How the hazard-rate curve changes behavior as the shape parameter β varies.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27</a:t>
            </a:r>
            <a:r>
              <a:rPr sz="900">
                <a:solidFill>
                  <a:srgbClr val="8A8477"/>
                </a:solidFill>
                <a:latin typeface="Courier New"/>
              </a:rPr>
              <a:t> / 80</a:t>
            </a:r>
            <a:endParaRPr lang="en-US" sz="900" dirty="0"/>
          </a:p>
        </p:txBody>
      </p:sp>
      <p:sp>
        <p:nvSpPr>
          <p:cNvPr id="13" name="Shape 10"/>
          <p:cNvSpPr/>
          <p:nvPr/>
        </p:nvSpPr>
        <p:spPr>
          <a:xfrm>
            <a:off x="548640" y="1783080"/>
            <a:ext cx="4572000" cy="44348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947672"/>
            <a:ext cx="36576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WEIBULL SHAPE CONTROLLER</a:t>
            </a:r>
            <a:endParaRPr lang="en-US" sz="950" dirty="0"/>
          </a:p>
        </p:txBody>
      </p:sp>
      <p:sp>
        <p:nvSpPr>
          <p:cNvPr id="15" name="Text 12"/>
          <p:cNvSpPr txBox="1"/>
          <p:nvPr/>
        </p:nvSpPr>
        <p:spPr>
          <a:xfrm>
            <a:off x="777240" y="2286000"/>
            <a:ext cx="2651760" cy="237744"/>
          </a:xfrm>
          <a:prstGeom prst="rect">
            <a:avLst/>
          </a:prstGeom>
          <a:noFill/>
          <a:ln/>
        </p:spPr>
        <p:txBody>
          <a:bodyPr wrap="square" lIns="0" tIns="0" rIns="0" bIns="0" rtlCol="0" anchor="t"/>
          <a:lstStyle/>
          <a:p>
            <a:pPr marL="0" indent="0">
              <a:buNone/>
            </a:pPr>
            <a:r>
              <a:rPr lang="en-US" sz="1200" dirty="0">
                <a:solidFill>
                  <a:srgbClr val="2C261E"/>
                </a:solidFill>
                <a:latin typeface="Cambria" pitchFamily="34" charset="0"/>
                <a:ea typeface="Cambria" pitchFamily="34" charset="-122"/>
                <a:cs typeface="Cambria" pitchFamily="34" charset="-120"/>
              </a:rPr>
              <a:t>Weibull Beta (β)</a:t>
            </a:r>
            <a:endParaRPr lang="en-US" sz="1200" dirty="0"/>
          </a:p>
        </p:txBody>
      </p:sp>
      <p:sp>
        <p:nvSpPr>
          <p:cNvPr id="16" name="Text 13"/>
          <p:cNvSpPr txBox="1"/>
          <p:nvPr/>
        </p:nvSpPr>
        <p:spPr>
          <a:xfrm>
            <a:off x="3429000" y="2286000"/>
            <a:ext cx="1463040" cy="237744"/>
          </a:xfrm>
          <a:prstGeom prst="rect">
            <a:avLst/>
          </a:prstGeom>
          <a:noFill/>
          <a:ln/>
        </p:spPr>
        <p:txBody>
          <a:bodyPr wrap="square" lIns="0" tIns="0" rIns="0" bIns="0" rtlCol="0" anchor="t"/>
          <a:lstStyle/>
          <a:p>
            <a:pPr marL="0" indent="0" algn="r">
              <a:buNone/>
            </a:pPr>
            <a:r>
              <a:rPr lang="en-US" sz="1200" b="1" dirty="0">
                <a:solidFill>
                  <a:srgbClr val="7A1F1A"/>
                </a:solidFill>
                <a:latin typeface="Courier New" pitchFamily="34" charset="0"/>
                <a:ea typeface="Courier New" pitchFamily="34" charset="-122"/>
                <a:cs typeface="Courier New" pitchFamily="34" charset="-120"/>
              </a:rPr>
              <a:t>β = 1.00</a:t>
            </a:r>
            <a:endParaRPr lang="en-US" sz="1200" dirty="0"/>
          </a:p>
        </p:txBody>
      </p:sp>
      <p:sp>
        <p:nvSpPr>
          <p:cNvPr id="17" name="Shape 14"/>
          <p:cNvSpPr/>
          <p:nvPr/>
        </p:nvSpPr>
        <p:spPr>
          <a:xfrm>
            <a:off x="777240" y="2596896"/>
            <a:ext cx="4114800" cy="73152"/>
          </a:xfrm>
          <a:prstGeom prst="rect">
            <a:avLst/>
          </a:prstGeom>
          <a:solidFill>
            <a:srgbClr val="EADDC0"/>
          </a:solidFill>
          <a:ln w="6350">
            <a:solidFill>
              <a:srgbClr val="C9B48F"/>
            </a:solidFill>
            <a:prstDash val="solid"/>
          </a:ln>
        </p:spPr>
        <p:txBody>
          <a:bodyPr/>
          <a:lstStyle/>
          <a:p>
            <a:endParaRPr lang="en-IN"/>
          </a:p>
        </p:txBody>
      </p:sp>
      <p:sp>
        <p:nvSpPr>
          <p:cNvPr id="18" name="Shape 15"/>
          <p:cNvSpPr/>
          <p:nvPr/>
        </p:nvSpPr>
        <p:spPr>
          <a:xfrm>
            <a:off x="777240" y="2596896"/>
            <a:ext cx="685800" cy="73152"/>
          </a:xfrm>
          <a:prstGeom prst="rect">
            <a:avLst/>
          </a:prstGeom>
          <a:solidFill>
            <a:srgbClr val="7A1F1A"/>
          </a:solidFill>
          <a:ln w="12700">
            <a:solidFill>
              <a:srgbClr val="333333"/>
            </a:solidFill>
            <a:prstDash val="solid"/>
          </a:ln>
        </p:spPr>
        <p:txBody>
          <a:bodyPr/>
          <a:lstStyle/>
          <a:p>
            <a:endParaRPr lang="en-IN"/>
          </a:p>
        </p:txBody>
      </p:sp>
      <p:sp>
        <p:nvSpPr>
          <p:cNvPr id="19" name="Shape 16"/>
          <p:cNvSpPr/>
          <p:nvPr/>
        </p:nvSpPr>
        <p:spPr>
          <a:xfrm>
            <a:off x="1371600" y="2542032"/>
            <a:ext cx="182880" cy="182880"/>
          </a:xfrm>
          <a:prstGeom prst="ellipse">
            <a:avLst/>
          </a:prstGeom>
          <a:solidFill>
            <a:srgbClr val="F4EBD7"/>
          </a:solidFill>
          <a:ln w="25400">
            <a:solidFill>
              <a:srgbClr val="7A1F1A"/>
            </a:solidFill>
            <a:prstDash val="solid"/>
          </a:ln>
        </p:spPr>
        <p:txBody>
          <a:bodyPr/>
          <a:lstStyle/>
          <a:p>
            <a:endParaRPr lang="en-IN"/>
          </a:p>
        </p:txBody>
      </p:sp>
      <p:sp>
        <p:nvSpPr>
          <p:cNvPr id="20" name="Text 17"/>
          <p:cNvSpPr txBox="1"/>
          <p:nvPr/>
        </p:nvSpPr>
        <p:spPr>
          <a:xfrm>
            <a:off x="777240" y="2724912"/>
            <a:ext cx="1371600" cy="164592"/>
          </a:xfrm>
          <a:prstGeom prst="rect">
            <a:avLst/>
          </a:prstGeom>
          <a:noFill/>
          <a:ln/>
        </p:spPr>
        <p:txBody>
          <a:bodyPr wrap="square" lIns="0" tIns="0" rIns="0" bIns="0" rtlCol="0" anchor="t"/>
          <a:lstStyle/>
          <a:p>
            <a:pPr marL="0" indent="0">
              <a:buNone/>
            </a:pPr>
            <a:r>
              <a:rPr lang="en-US" sz="800" dirty="0">
                <a:solidFill>
                  <a:srgbClr val="8A8477"/>
                </a:solidFill>
                <a:latin typeface="Courier New" pitchFamily="34" charset="0"/>
                <a:ea typeface="Courier New" pitchFamily="34" charset="-122"/>
                <a:cs typeface="Courier New" pitchFamily="34" charset="-120"/>
              </a:rPr>
              <a:t>0.5 Infant</a:t>
            </a:r>
            <a:endParaRPr lang="en-US" sz="800" dirty="0"/>
          </a:p>
        </p:txBody>
      </p:sp>
      <p:sp>
        <p:nvSpPr>
          <p:cNvPr id="21" name="Text 18"/>
          <p:cNvSpPr txBox="1"/>
          <p:nvPr/>
        </p:nvSpPr>
        <p:spPr>
          <a:xfrm>
            <a:off x="3520440" y="2724912"/>
            <a:ext cx="1371600" cy="164592"/>
          </a:xfrm>
          <a:prstGeom prst="rect">
            <a:avLst/>
          </a:prstGeom>
          <a:noFill/>
          <a:ln/>
        </p:spPr>
        <p:txBody>
          <a:bodyPr wrap="square" lIns="0" tIns="0" rIns="0" bIns="0" rtlCol="0" anchor="t"/>
          <a:lstStyle/>
          <a:p>
            <a:pPr marL="0" indent="0" algn="r">
              <a:buNone/>
            </a:pPr>
            <a:r>
              <a:rPr lang="en-US" sz="800" dirty="0">
                <a:solidFill>
                  <a:srgbClr val="8A8477"/>
                </a:solidFill>
                <a:latin typeface="Courier New" pitchFamily="34" charset="0"/>
                <a:ea typeface="Courier New" pitchFamily="34" charset="-122"/>
                <a:cs typeface="Courier New" pitchFamily="34" charset="-120"/>
              </a:rPr>
              <a:t>3.5 Wear-out</a:t>
            </a:r>
            <a:endParaRPr lang="en-US" sz="800" dirty="0"/>
          </a:p>
        </p:txBody>
      </p:sp>
      <p:sp>
        <p:nvSpPr>
          <p:cNvPr id="22" name="Shape 19"/>
          <p:cNvSpPr/>
          <p:nvPr/>
        </p:nvSpPr>
        <p:spPr>
          <a:xfrm>
            <a:off x="777240" y="3063240"/>
            <a:ext cx="4114800" cy="548640"/>
          </a:xfrm>
          <a:prstGeom prst="rect">
            <a:avLst/>
          </a:prstGeom>
          <a:solidFill>
            <a:srgbClr val="EFDCCF"/>
          </a:solidFill>
          <a:ln w="12700">
            <a:solidFill>
              <a:srgbClr val="A03B30"/>
            </a:solidFill>
            <a:prstDash val="solid"/>
          </a:ln>
        </p:spPr>
        <p:txBody>
          <a:bodyPr/>
          <a:lstStyle/>
          <a:p>
            <a:endParaRPr lang="en-IN"/>
          </a:p>
        </p:txBody>
      </p:sp>
      <p:sp>
        <p:nvSpPr>
          <p:cNvPr id="23" name="Text 20"/>
          <p:cNvSpPr txBox="1"/>
          <p:nvPr/>
        </p:nvSpPr>
        <p:spPr>
          <a:xfrm>
            <a:off x="896112" y="3063240"/>
            <a:ext cx="3886200" cy="548640"/>
          </a:xfrm>
          <a:prstGeom prst="rect">
            <a:avLst/>
          </a:prstGeom>
          <a:noFill/>
          <a:ln/>
        </p:spPr>
        <p:txBody>
          <a:bodyPr wrap="square" lIns="0" tIns="0" rIns="0" bIns="0" rtlCol="0" anchor="ctr"/>
          <a:lstStyle/>
          <a:p>
            <a:pPr marL="0" indent="0">
              <a:buNone/>
            </a:pPr>
            <a:r>
              <a:rPr lang="en-US" sz="1250" i="1" dirty="0">
                <a:solidFill>
                  <a:srgbClr val="1C1712"/>
                </a:solidFill>
                <a:latin typeface="Cambria" pitchFamily="34" charset="0"/>
                <a:ea typeface="Cambria" pitchFamily="34" charset="-122"/>
                <a:cs typeface="Cambria" pitchFamily="34" charset="-120"/>
              </a:rPr>
              <a:t>Active Behavior: Random Shocks / Exponential (Constant Hazard Rate)</a:t>
            </a:r>
            <a:endParaRPr lang="en-US" sz="1250" dirty="0"/>
          </a:p>
        </p:txBody>
      </p:sp>
      <p:sp>
        <p:nvSpPr>
          <p:cNvPr id="24" name="Shape 21"/>
          <p:cNvSpPr/>
          <p:nvPr/>
        </p:nvSpPr>
        <p:spPr>
          <a:xfrm>
            <a:off x="777240" y="3749040"/>
            <a:ext cx="347472" cy="347472"/>
          </a:xfrm>
          <a:prstGeom prst="ellipse">
            <a:avLst/>
          </a:prstGeom>
          <a:solidFill>
            <a:srgbClr val="EFDCCF"/>
          </a:solidFill>
          <a:ln w="15875">
            <a:solidFill>
              <a:srgbClr val="7A1F1A"/>
            </a:solidFill>
            <a:prstDash val="solid"/>
          </a:ln>
        </p:spPr>
        <p:txBody>
          <a:bodyPr/>
          <a:lstStyle/>
          <a:p>
            <a:endParaRPr lang="en-IN"/>
          </a:p>
        </p:txBody>
      </p:sp>
      <p:sp>
        <p:nvSpPr>
          <p:cNvPr id="25" name="Text 22"/>
          <p:cNvSpPr txBox="1"/>
          <p:nvPr/>
        </p:nvSpPr>
        <p:spPr>
          <a:xfrm>
            <a:off x="777240" y="3749040"/>
            <a:ext cx="347472" cy="347472"/>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26" name="Text 23"/>
          <p:cNvSpPr txBox="1"/>
          <p:nvPr/>
        </p:nvSpPr>
        <p:spPr>
          <a:xfrm>
            <a:off x="1234440" y="3730752"/>
            <a:ext cx="3657600" cy="256032"/>
          </a:xfrm>
          <a:prstGeom prst="rect">
            <a:avLst/>
          </a:prstGeom>
          <a:noFill/>
          <a:ln/>
        </p:spPr>
        <p:txBody>
          <a:bodyPr wrap="square" lIns="0" tIns="0" rIns="0" bIns="0" rtlCol="0" anchor="t"/>
          <a:lstStyle/>
          <a:p>
            <a:pPr marL="0" indent="0">
              <a:buNone/>
            </a:pPr>
            <a:r>
              <a:rPr lang="en-US" sz="1250" b="1" dirty="0">
                <a:solidFill>
                  <a:srgbClr val="7A1F1A"/>
                </a:solidFill>
                <a:latin typeface="Cambria" pitchFamily="34" charset="0"/>
                <a:ea typeface="Cambria" pitchFamily="34" charset="-122"/>
                <a:cs typeface="Cambria" pitchFamily="34" charset="-120"/>
              </a:rPr>
              <a:t>β &lt; 1.0 — Infant Mortality</a:t>
            </a:r>
            <a:endParaRPr lang="en-US" sz="1250" dirty="0"/>
          </a:p>
        </p:txBody>
      </p:sp>
      <p:sp>
        <p:nvSpPr>
          <p:cNvPr id="27" name="Text 24"/>
          <p:cNvSpPr txBox="1"/>
          <p:nvPr/>
        </p:nvSpPr>
        <p:spPr>
          <a:xfrm>
            <a:off x="1234440" y="3986784"/>
            <a:ext cx="3657600" cy="54864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Decreasing failure rate. Time-based overhauls introduce assembly errors. Focus on burn-in &amp; install QA.</a:t>
            </a:r>
            <a:endParaRPr lang="en-US" sz="1150" dirty="0"/>
          </a:p>
        </p:txBody>
      </p:sp>
      <p:sp>
        <p:nvSpPr>
          <p:cNvPr id="28" name="Shape 25"/>
          <p:cNvSpPr/>
          <p:nvPr/>
        </p:nvSpPr>
        <p:spPr>
          <a:xfrm>
            <a:off x="777240" y="4590288"/>
            <a:ext cx="347472" cy="347472"/>
          </a:xfrm>
          <a:prstGeom prst="ellipse">
            <a:avLst/>
          </a:prstGeom>
          <a:solidFill>
            <a:srgbClr val="EFDCCF"/>
          </a:solidFill>
          <a:ln w="15875">
            <a:solidFill>
              <a:srgbClr val="7A1F1A"/>
            </a:solidFill>
            <a:prstDash val="solid"/>
          </a:ln>
        </p:spPr>
        <p:txBody>
          <a:bodyPr/>
          <a:lstStyle/>
          <a:p>
            <a:endParaRPr lang="en-IN"/>
          </a:p>
        </p:txBody>
      </p:sp>
      <p:sp>
        <p:nvSpPr>
          <p:cNvPr id="29" name="Text 26"/>
          <p:cNvSpPr txBox="1"/>
          <p:nvPr/>
        </p:nvSpPr>
        <p:spPr>
          <a:xfrm>
            <a:off x="777240" y="4590288"/>
            <a:ext cx="347472" cy="347472"/>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30" name="Text 27"/>
          <p:cNvSpPr txBox="1"/>
          <p:nvPr/>
        </p:nvSpPr>
        <p:spPr>
          <a:xfrm>
            <a:off x="1234440" y="4572000"/>
            <a:ext cx="3657600" cy="256032"/>
          </a:xfrm>
          <a:prstGeom prst="rect">
            <a:avLst/>
          </a:prstGeom>
          <a:noFill/>
          <a:ln/>
        </p:spPr>
        <p:txBody>
          <a:bodyPr wrap="square" lIns="0" tIns="0" rIns="0" bIns="0" rtlCol="0" anchor="t"/>
          <a:lstStyle/>
          <a:p>
            <a:pPr marL="0" indent="0">
              <a:buNone/>
            </a:pPr>
            <a:r>
              <a:rPr lang="en-US" sz="1250" b="1" dirty="0">
                <a:solidFill>
                  <a:srgbClr val="7A1F1A"/>
                </a:solidFill>
                <a:latin typeface="Cambria" pitchFamily="34" charset="0"/>
                <a:ea typeface="Cambria" pitchFamily="34" charset="-122"/>
                <a:cs typeface="Cambria" pitchFamily="34" charset="-120"/>
              </a:rPr>
              <a:t>β = 1.0 — Random Shocks</a:t>
            </a:r>
            <a:endParaRPr lang="en-US" sz="1250" dirty="0"/>
          </a:p>
        </p:txBody>
      </p:sp>
      <p:sp>
        <p:nvSpPr>
          <p:cNvPr id="31" name="Text 28"/>
          <p:cNvSpPr txBox="1"/>
          <p:nvPr/>
        </p:nvSpPr>
        <p:spPr>
          <a:xfrm>
            <a:off x="1234440" y="4828032"/>
            <a:ext cx="3657600" cy="54864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Constant failure rate. Overhauls do not extend life. Focus on condition monitoring &amp; redundancy.</a:t>
            </a:r>
            <a:endParaRPr lang="en-US" sz="1150" dirty="0"/>
          </a:p>
        </p:txBody>
      </p:sp>
      <p:sp>
        <p:nvSpPr>
          <p:cNvPr id="32" name="Shape 29"/>
          <p:cNvSpPr/>
          <p:nvPr/>
        </p:nvSpPr>
        <p:spPr>
          <a:xfrm>
            <a:off x="777240" y="5431536"/>
            <a:ext cx="347472" cy="347472"/>
          </a:xfrm>
          <a:prstGeom prst="ellipse">
            <a:avLst/>
          </a:prstGeom>
          <a:solidFill>
            <a:srgbClr val="EFDCCF"/>
          </a:solidFill>
          <a:ln w="15875">
            <a:solidFill>
              <a:srgbClr val="7A1F1A"/>
            </a:solidFill>
            <a:prstDash val="solid"/>
          </a:ln>
        </p:spPr>
        <p:txBody>
          <a:bodyPr/>
          <a:lstStyle/>
          <a:p>
            <a:endParaRPr lang="en-IN"/>
          </a:p>
        </p:txBody>
      </p:sp>
      <p:sp>
        <p:nvSpPr>
          <p:cNvPr id="33" name="Text 30"/>
          <p:cNvSpPr txBox="1"/>
          <p:nvPr/>
        </p:nvSpPr>
        <p:spPr>
          <a:xfrm>
            <a:off x="777240" y="5431536"/>
            <a:ext cx="347472" cy="347472"/>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34" name="Text 31"/>
          <p:cNvSpPr txBox="1"/>
          <p:nvPr/>
        </p:nvSpPr>
        <p:spPr>
          <a:xfrm>
            <a:off x="1234440" y="5413248"/>
            <a:ext cx="3657600" cy="256032"/>
          </a:xfrm>
          <a:prstGeom prst="rect">
            <a:avLst/>
          </a:prstGeom>
          <a:noFill/>
          <a:ln/>
        </p:spPr>
        <p:txBody>
          <a:bodyPr wrap="square" lIns="0" tIns="0" rIns="0" bIns="0" rtlCol="0" anchor="t"/>
          <a:lstStyle/>
          <a:p>
            <a:pPr marL="0" indent="0">
              <a:buNone/>
            </a:pPr>
            <a:r>
              <a:rPr lang="en-US" sz="1250" b="1" dirty="0">
                <a:solidFill>
                  <a:srgbClr val="7A1F1A"/>
                </a:solidFill>
                <a:latin typeface="Cambria" pitchFamily="34" charset="0"/>
                <a:ea typeface="Cambria" pitchFamily="34" charset="-122"/>
                <a:cs typeface="Cambria" pitchFamily="34" charset="-120"/>
              </a:rPr>
              <a:t>β &gt; 1.0 — Wear-Out</a:t>
            </a:r>
            <a:endParaRPr lang="en-US" sz="1250" dirty="0"/>
          </a:p>
        </p:txBody>
      </p:sp>
      <p:sp>
        <p:nvSpPr>
          <p:cNvPr id="35" name="Text 32"/>
          <p:cNvSpPr txBox="1"/>
          <p:nvPr/>
        </p:nvSpPr>
        <p:spPr>
          <a:xfrm>
            <a:off x="1234440" y="5669280"/>
            <a:ext cx="3657600" cy="548640"/>
          </a:xfrm>
          <a:prstGeom prst="rect">
            <a:avLst/>
          </a:prstGeom>
          <a:noFill/>
          <a:ln/>
        </p:spPr>
        <p:txBody>
          <a:bodyPr wrap="square" lIns="0" tIns="0" rIns="0" bIns="0" rtlCol="0" anchor="t"/>
          <a:lstStyle/>
          <a:p>
            <a:pPr marL="0" indent="0">
              <a:buNone/>
            </a:pPr>
            <a:r>
              <a:rPr lang="en-US" sz="1150" dirty="0">
                <a:solidFill>
                  <a:srgbClr val="5A5347"/>
                </a:solidFill>
                <a:latin typeface="Cambria" pitchFamily="34" charset="0"/>
                <a:ea typeface="Cambria" pitchFamily="34" charset="-122"/>
                <a:cs typeface="Cambria" pitchFamily="34" charset="-120"/>
              </a:rPr>
              <a:t>Increasing failure rate: wear, erosion, corrosion. Scheduled overhaul / replacement is highly effective.</a:t>
            </a:r>
            <a:endParaRPr lang="en-US" sz="1150" dirty="0"/>
          </a:p>
        </p:txBody>
      </p:sp>
      <p:sp>
        <p:nvSpPr>
          <p:cNvPr id="36" name="Shape 33"/>
          <p:cNvSpPr/>
          <p:nvPr/>
        </p:nvSpPr>
        <p:spPr>
          <a:xfrm>
            <a:off x="5257800" y="1783080"/>
            <a:ext cx="6382512" cy="4434840"/>
          </a:xfrm>
          <a:prstGeom prst="rect">
            <a:avLst/>
          </a:prstGeom>
          <a:solidFill>
            <a:srgbClr val="FBF4E4"/>
          </a:solidFill>
          <a:ln w="12700">
            <a:solidFill>
              <a:srgbClr val="C9B48F"/>
            </a:solidFill>
            <a:prstDash val="solid"/>
          </a:ln>
        </p:spPr>
        <p:txBody>
          <a:bodyPr/>
          <a:lstStyle/>
          <a:p>
            <a:endParaRPr lang="en-IN"/>
          </a:p>
        </p:txBody>
      </p:sp>
      <p:graphicFrame>
        <p:nvGraphicFramePr>
          <p:cNvPr id="37" name="Chart 0"/>
          <p:cNvGraphicFramePr/>
          <p:nvPr/>
        </p:nvGraphicFramePr>
        <p:xfrm>
          <a:off x="5440680" y="1965960"/>
          <a:ext cx="5989320" cy="41148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Effects of Changing Eta (Scale Parameter η)</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Characteristic life determines the horizontal spread of the failure distribution.</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28</a:t>
            </a:r>
            <a:r>
              <a:rPr sz="900">
                <a:solidFill>
                  <a:srgbClr val="8A8477"/>
                </a:solidFill>
                <a:latin typeface="Courier New"/>
              </a:rPr>
              <a:t> / 80</a:t>
            </a:r>
            <a:endParaRPr lang="en-US" sz="900" dirty="0"/>
          </a:p>
        </p:txBody>
      </p:sp>
      <p:sp>
        <p:nvSpPr>
          <p:cNvPr id="13" name="Shape 10"/>
          <p:cNvSpPr/>
          <p:nvPr/>
        </p:nvSpPr>
        <p:spPr>
          <a:xfrm>
            <a:off x="548640" y="1783080"/>
            <a:ext cx="5989320" cy="324612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49808" y="1920240"/>
            <a:ext cx="5586984"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ETA (SCALE PARAMETER Η)</a:t>
            </a:r>
            <a:endParaRPr lang="en-US" sz="850" dirty="0"/>
          </a:p>
        </p:txBody>
      </p:sp>
      <p:sp>
        <p:nvSpPr>
          <p:cNvPr id="15" name="Shape 12"/>
          <p:cNvSpPr/>
          <p:nvPr/>
        </p:nvSpPr>
        <p:spPr>
          <a:xfrm>
            <a:off x="749808" y="2167128"/>
            <a:ext cx="5586984" cy="0"/>
          </a:xfrm>
          <a:prstGeom prst="line">
            <a:avLst/>
          </a:prstGeom>
          <a:noFill/>
          <a:ln w="9525">
            <a:solidFill>
              <a:srgbClr val="C9B48F"/>
            </a:solidFill>
            <a:prstDash val="solid"/>
          </a:ln>
        </p:spPr>
        <p:txBody>
          <a:bodyPr/>
          <a:lstStyle/>
          <a:p>
            <a:endParaRPr lang="en-IN"/>
          </a:p>
        </p:txBody>
      </p:sp>
      <p:pic>
        <p:nvPicPr>
          <p:cNvPr id="16" name="Image 1" descr="s27_0"/>
          <p:cNvPicPr>
            <a:picLocks noChangeAspect="1"/>
          </p:cNvPicPr>
          <p:nvPr/>
        </p:nvPicPr>
        <p:blipFill>
          <a:blip r:embed="rId4"/>
          <a:stretch>
            <a:fillRect/>
          </a:stretch>
        </p:blipFill>
        <p:spPr>
          <a:xfrm>
            <a:off x="865925" y="2258568"/>
            <a:ext cx="5354750" cy="2624328"/>
          </a:xfrm>
          <a:prstGeom prst="rect">
            <a:avLst/>
          </a:prstGeom>
        </p:spPr>
      </p:pic>
      <p:sp>
        <p:nvSpPr>
          <p:cNvPr id="17" name="Shape 13"/>
          <p:cNvSpPr/>
          <p:nvPr/>
        </p:nvSpPr>
        <p:spPr>
          <a:xfrm>
            <a:off x="548640" y="5166360"/>
            <a:ext cx="256032" cy="201168"/>
          </a:xfrm>
          <a:prstGeom prst="rect">
            <a:avLst/>
          </a:prstGeom>
          <a:solidFill>
            <a:srgbClr val="1A4A6E"/>
          </a:solidFill>
          <a:ln w="12700">
            <a:solidFill>
              <a:srgbClr val="333333"/>
            </a:solidFill>
            <a:prstDash val="solid"/>
          </a:ln>
        </p:spPr>
        <p:txBody>
          <a:bodyPr/>
          <a:lstStyle/>
          <a:p>
            <a:endParaRPr lang="en-IN"/>
          </a:p>
        </p:txBody>
      </p:sp>
      <p:sp>
        <p:nvSpPr>
          <p:cNvPr id="18" name="Text 14"/>
          <p:cNvSpPr txBox="1"/>
          <p:nvPr/>
        </p:nvSpPr>
        <p:spPr>
          <a:xfrm>
            <a:off x="914400" y="5120640"/>
            <a:ext cx="5486400" cy="329184"/>
          </a:xfrm>
          <a:prstGeom prst="rect">
            <a:avLst/>
          </a:prstGeom>
          <a:noFill/>
          <a:ln/>
        </p:spPr>
        <p:txBody>
          <a:bodyPr wrap="square" lIns="0" tIns="0" rIns="0" bIns="0" rtlCol="0" anchor="t"/>
          <a:lstStyle/>
          <a:p>
            <a:pPr marL="0" indent="0">
              <a:buNone/>
            </a:pPr>
            <a:r>
              <a:rPr lang="en-US" sz="1200" b="1" dirty="0">
                <a:solidFill>
                  <a:srgbClr val="1A4A6E"/>
                </a:solidFill>
                <a:latin typeface="Cambria" pitchFamily="34" charset="0"/>
                <a:ea typeface="Cambria" pitchFamily="34" charset="-122"/>
                <a:cs typeface="Cambria" pitchFamily="34" charset="-120"/>
              </a:rPr>
              <a:t>η = 3 Years (Narrower Spread)</a:t>
            </a:r>
            <a:endParaRPr lang="en-US" sz="1200" dirty="0"/>
          </a:p>
        </p:txBody>
      </p:sp>
      <p:sp>
        <p:nvSpPr>
          <p:cNvPr id="19" name="Shape 15"/>
          <p:cNvSpPr/>
          <p:nvPr/>
        </p:nvSpPr>
        <p:spPr>
          <a:xfrm>
            <a:off x="548640" y="5532120"/>
            <a:ext cx="256032" cy="201168"/>
          </a:xfrm>
          <a:prstGeom prst="rect">
            <a:avLst/>
          </a:prstGeom>
          <a:solidFill>
            <a:srgbClr val="9A6A12"/>
          </a:solidFill>
          <a:ln w="12700">
            <a:solidFill>
              <a:srgbClr val="333333"/>
            </a:solidFill>
            <a:prstDash val="solid"/>
          </a:ln>
        </p:spPr>
        <p:txBody>
          <a:bodyPr/>
          <a:lstStyle/>
          <a:p>
            <a:endParaRPr lang="en-IN"/>
          </a:p>
        </p:txBody>
      </p:sp>
      <p:sp>
        <p:nvSpPr>
          <p:cNvPr id="20" name="Text 16"/>
          <p:cNvSpPr txBox="1"/>
          <p:nvPr/>
        </p:nvSpPr>
        <p:spPr>
          <a:xfrm>
            <a:off x="914400" y="5486400"/>
            <a:ext cx="5486400" cy="329184"/>
          </a:xfrm>
          <a:prstGeom prst="rect">
            <a:avLst/>
          </a:prstGeom>
          <a:noFill/>
          <a:ln/>
        </p:spPr>
        <p:txBody>
          <a:bodyPr wrap="square" lIns="0" tIns="0" rIns="0" bIns="0" rtlCol="0" anchor="t"/>
          <a:lstStyle/>
          <a:p>
            <a:pPr marL="0" indent="0">
              <a:buNone/>
            </a:pPr>
            <a:r>
              <a:rPr lang="en-US" sz="1200" b="1" dirty="0">
                <a:solidFill>
                  <a:srgbClr val="9A6A12"/>
                </a:solidFill>
                <a:latin typeface="Cambria" pitchFamily="34" charset="0"/>
                <a:ea typeface="Cambria" pitchFamily="34" charset="-122"/>
                <a:cs typeface="Cambria" pitchFamily="34" charset="-120"/>
              </a:rPr>
              <a:t>η = 4 Years (Intermediate Scale)</a:t>
            </a:r>
            <a:endParaRPr lang="en-US" sz="1200" dirty="0"/>
          </a:p>
        </p:txBody>
      </p:sp>
      <p:sp>
        <p:nvSpPr>
          <p:cNvPr id="21" name="Shape 17"/>
          <p:cNvSpPr/>
          <p:nvPr/>
        </p:nvSpPr>
        <p:spPr>
          <a:xfrm>
            <a:off x="548640" y="5897880"/>
            <a:ext cx="256032" cy="201168"/>
          </a:xfrm>
          <a:prstGeom prst="rect">
            <a:avLst/>
          </a:prstGeom>
          <a:solidFill>
            <a:srgbClr val="5A5347"/>
          </a:solidFill>
          <a:ln w="12700">
            <a:solidFill>
              <a:srgbClr val="333333"/>
            </a:solidFill>
            <a:prstDash val="solid"/>
          </a:ln>
        </p:spPr>
        <p:txBody>
          <a:bodyPr/>
          <a:lstStyle/>
          <a:p>
            <a:endParaRPr lang="en-IN"/>
          </a:p>
        </p:txBody>
      </p:sp>
      <p:sp>
        <p:nvSpPr>
          <p:cNvPr id="22" name="Text 18"/>
          <p:cNvSpPr txBox="1"/>
          <p:nvPr/>
        </p:nvSpPr>
        <p:spPr>
          <a:xfrm>
            <a:off x="914400" y="5852160"/>
            <a:ext cx="5486400" cy="329184"/>
          </a:xfrm>
          <a:prstGeom prst="rect">
            <a:avLst/>
          </a:prstGeom>
          <a:noFill/>
          <a:ln/>
        </p:spPr>
        <p:txBody>
          <a:bodyPr wrap="square" lIns="0" tIns="0" rIns="0" bIns="0" rtlCol="0" anchor="t"/>
          <a:lstStyle/>
          <a:p>
            <a:pPr marL="0" indent="0">
              <a:buNone/>
            </a:pPr>
            <a:r>
              <a:rPr lang="en-US" sz="1200" b="1" dirty="0">
                <a:solidFill>
                  <a:srgbClr val="5A5347"/>
                </a:solidFill>
                <a:latin typeface="Cambria" pitchFamily="34" charset="0"/>
                <a:ea typeface="Cambria" pitchFamily="34" charset="-122"/>
                <a:cs typeface="Cambria" pitchFamily="34" charset="-120"/>
              </a:rPr>
              <a:t>η = 5 Years (Extended Life)</a:t>
            </a:r>
            <a:endParaRPr lang="en-US" sz="1200" dirty="0"/>
          </a:p>
        </p:txBody>
      </p:sp>
      <p:sp>
        <p:nvSpPr>
          <p:cNvPr id="23" name="Shape 19"/>
          <p:cNvSpPr/>
          <p:nvPr/>
        </p:nvSpPr>
        <p:spPr>
          <a:xfrm>
            <a:off x="6720840" y="1783080"/>
            <a:ext cx="4919472" cy="1737360"/>
          </a:xfrm>
          <a:prstGeom prst="rect">
            <a:avLst/>
          </a:prstGeom>
          <a:solidFill>
            <a:srgbClr val="EFE4CD"/>
          </a:solidFill>
          <a:ln w="12700">
            <a:solidFill>
              <a:srgbClr val="C9B48F"/>
            </a:solidFill>
            <a:prstDash val="solid"/>
          </a:ln>
        </p:spPr>
        <p:txBody>
          <a:bodyPr/>
          <a:lstStyle/>
          <a:p>
            <a:endParaRPr lang="en-IN"/>
          </a:p>
        </p:txBody>
      </p:sp>
      <p:sp>
        <p:nvSpPr>
          <p:cNvPr id="24" name="Text 20"/>
          <p:cNvSpPr txBox="1"/>
          <p:nvPr/>
        </p:nvSpPr>
        <p:spPr>
          <a:xfrm>
            <a:off x="6949440" y="1920240"/>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ENGINEERING INSIGHT</a:t>
            </a:r>
            <a:endParaRPr lang="en-US" sz="950" dirty="0"/>
          </a:p>
        </p:txBody>
      </p:sp>
      <p:sp>
        <p:nvSpPr>
          <p:cNvPr id="25" name="Text 21"/>
          <p:cNvSpPr txBox="1"/>
          <p:nvPr/>
        </p:nvSpPr>
        <p:spPr>
          <a:xfrm>
            <a:off x="6949440" y="2212848"/>
            <a:ext cx="4480560" cy="123444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Increasing η shifts the distribution peak to the right and stretches the curve, representing extended operating life resulting from superior metallurgy or cleaner lubrication.</a:t>
            </a:r>
            <a:endParaRPr lang="en-US" sz="1300" dirty="0"/>
          </a:p>
        </p:txBody>
      </p:sp>
      <p:sp>
        <p:nvSpPr>
          <p:cNvPr id="26" name="Shape 22"/>
          <p:cNvSpPr/>
          <p:nvPr/>
        </p:nvSpPr>
        <p:spPr>
          <a:xfrm>
            <a:off x="6720840" y="3657600"/>
            <a:ext cx="4919472" cy="2560320"/>
          </a:xfrm>
          <a:prstGeom prst="rect">
            <a:avLst/>
          </a:prstGeom>
          <a:solidFill>
            <a:srgbClr val="FBF4E4"/>
          </a:solidFill>
          <a:ln w="12700">
            <a:solidFill>
              <a:srgbClr val="C9B48F"/>
            </a:solidFill>
            <a:prstDash val="solid"/>
          </a:ln>
        </p:spPr>
        <p:txBody>
          <a:bodyPr/>
          <a:lstStyle/>
          <a:p>
            <a:endParaRPr lang="en-IN"/>
          </a:p>
        </p:txBody>
      </p:sp>
      <p:sp>
        <p:nvSpPr>
          <p:cNvPr id="27" name="Text 23"/>
          <p:cNvSpPr txBox="1"/>
          <p:nvPr/>
        </p:nvSpPr>
        <p:spPr>
          <a:xfrm>
            <a:off x="6949440" y="3794760"/>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SIGNIFICANCE OF ETA (η)</a:t>
            </a:r>
            <a:endParaRPr lang="en-US" sz="950" dirty="0"/>
          </a:p>
        </p:txBody>
      </p:sp>
      <p:sp>
        <p:nvSpPr>
          <p:cNvPr id="28" name="Text 24"/>
          <p:cNvSpPr txBox="1"/>
          <p:nvPr/>
        </p:nvSpPr>
        <p:spPr>
          <a:xfrm>
            <a:off x="6949440" y="4114800"/>
            <a:ext cx="4526280" cy="2011680"/>
          </a:xfrm>
          <a:prstGeom prst="rect">
            <a:avLst/>
          </a:prstGeom>
          <a:noFill/>
          <a:ln/>
        </p:spPr>
        <p:txBody>
          <a:bodyPr wrap="square" lIns="0" tIns="0" rIns="0" bIns="0" rtlCol="0" anchor="t"/>
          <a:lstStyle/>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Characteristic Life:</a:t>
            </a:r>
            <a:r>
              <a:rPr lang="en-US" sz="1250" dirty="0">
                <a:solidFill>
                  <a:srgbClr val="2C261E"/>
                </a:solidFill>
                <a:latin typeface="Cambria" pitchFamily="34" charset="0"/>
                <a:ea typeface="Cambria" pitchFamily="34" charset="-122"/>
                <a:cs typeface="Cambria" pitchFamily="34" charset="-120"/>
              </a:rPr>
              <a:t> Time t = η where F(η) = 1 − e⁻¹ = 63.2% of all assets fail, regardless of β.</a:t>
            </a:r>
            <a:endParaRPr lang="en-US" sz="1250" dirty="0"/>
          </a:p>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Scale Stretching:</a:t>
            </a:r>
            <a:r>
              <a:rPr lang="en-US" sz="1250" dirty="0">
                <a:solidFill>
                  <a:srgbClr val="2C261E"/>
                </a:solidFill>
                <a:latin typeface="Cambria" pitchFamily="34" charset="0"/>
                <a:ea typeface="Cambria" pitchFamily="34" charset="-122"/>
                <a:cs typeface="Cambria" pitchFamily="34" charset="-120"/>
              </a:rPr>
              <a:t> Increasing η stretches the curve rightward, modeling improved metallurgy or maintenance.</a:t>
            </a:r>
            <a:endParaRPr lang="en-US" sz="1250" dirty="0"/>
          </a:p>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Dimensional Units:</a:t>
            </a:r>
            <a:r>
              <a:rPr lang="en-US" sz="1250" dirty="0">
                <a:solidFill>
                  <a:srgbClr val="2C261E"/>
                </a:solidFill>
                <a:latin typeface="Cambria" pitchFamily="34" charset="0"/>
                <a:ea typeface="Cambria" pitchFamily="34" charset="-122"/>
                <a:cs typeface="Cambria" pitchFamily="34" charset="-120"/>
              </a:rPr>
              <a:t> η carries the same physical units as time (hours, cycles, revolutions).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Effects of Changing Beta (Shape Parameter β)</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shape parameter dictates whether failure is infant mortality, random, or wear-out.</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29</a:t>
            </a:r>
            <a:r>
              <a:rPr sz="900">
                <a:solidFill>
                  <a:srgbClr val="8A8477"/>
                </a:solidFill>
                <a:latin typeface="Courier New"/>
              </a:rPr>
              <a:t> / 80</a:t>
            </a:r>
            <a:endParaRPr lang="en-US" sz="900" dirty="0"/>
          </a:p>
        </p:txBody>
      </p:sp>
      <p:sp>
        <p:nvSpPr>
          <p:cNvPr id="13" name="Shape 10"/>
          <p:cNvSpPr/>
          <p:nvPr/>
        </p:nvSpPr>
        <p:spPr>
          <a:xfrm>
            <a:off x="548640" y="1783080"/>
            <a:ext cx="5989320" cy="324612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49808" y="1920240"/>
            <a:ext cx="5586984"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BETA (SHAPE PARAMETER Β)</a:t>
            </a:r>
            <a:endParaRPr lang="en-US" sz="850" dirty="0"/>
          </a:p>
        </p:txBody>
      </p:sp>
      <p:sp>
        <p:nvSpPr>
          <p:cNvPr id="15" name="Shape 12"/>
          <p:cNvSpPr/>
          <p:nvPr/>
        </p:nvSpPr>
        <p:spPr>
          <a:xfrm>
            <a:off x="749808" y="2167128"/>
            <a:ext cx="5586984" cy="0"/>
          </a:xfrm>
          <a:prstGeom prst="line">
            <a:avLst/>
          </a:prstGeom>
          <a:noFill/>
          <a:ln w="9525">
            <a:solidFill>
              <a:srgbClr val="C9B48F"/>
            </a:solidFill>
            <a:prstDash val="solid"/>
          </a:ln>
        </p:spPr>
        <p:txBody>
          <a:bodyPr/>
          <a:lstStyle/>
          <a:p>
            <a:endParaRPr lang="en-IN"/>
          </a:p>
        </p:txBody>
      </p:sp>
      <p:pic>
        <p:nvPicPr>
          <p:cNvPr id="16" name="Image 1" descr="s28_0"/>
          <p:cNvPicPr>
            <a:picLocks noChangeAspect="1"/>
          </p:cNvPicPr>
          <p:nvPr/>
        </p:nvPicPr>
        <p:blipFill>
          <a:blip r:embed="rId4"/>
          <a:stretch>
            <a:fillRect/>
          </a:stretch>
        </p:blipFill>
        <p:spPr>
          <a:xfrm>
            <a:off x="865925" y="2258568"/>
            <a:ext cx="5354750" cy="2624328"/>
          </a:xfrm>
          <a:prstGeom prst="rect">
            <a:avLst/>
          </a:prstGeom>
        </p:spPr>
      </p:pic>
      <p:sp>
        <p:nvSpPr>
          <p:cNvPr id="17" name="Shape 13"/>
          <p:cNvSpPr/>
          <p:nvPr/>
        </p:nvSpPr>
        <p:spPr>
          <a:xfrm>
            <a:off x="548640" y="5166360"/>
            <a:ext cx="256032" cy="201168"/>
          </a:xfrm>
          <a:prstGeom prst="rect">
            <a:avLst/>
          </a:prstGeom>
          <a:solidFill>
            <a:srgbClr val="1A4A6E"/>
          </a:solidFill>
          <a:ln w="12700">
            <a:solidFill>
              <a:srgbClr val="333333"/>
            </a:solidFill>
            <a:prstDash val="solid"/>
          </a:ln>
        </p:spPr>
        <p:txBody>
          <a:bodyPr/>
          <a:lstStyle/>
          <a:p>
            <a:endParaRPr lang="en-IN"/>
          </a:p>
        </p:txBody>
      </p:sp>
      <p:sp>
        <p:nvSpPr>
          <p:cNvPr id="18" name="Text 14"/>
          <p:cNvSpPr txBox="1"/>
          <p:nvPr/>
        </p:nvSpPr>
        <p:spPr>
          <a:xfrm>
            <a:off x="914400" y="5120640"/>
            <a:ext cx="5486400" cy="329184"/>
          </a:xfrm>
          <a:prstGeom prst="rect">
            <a:avLst/>
          </a:prstGeom>
          <a:noFill/>
          <a:ln/>
        </p:spPr>
        <p:txBody>
          <a:bodyPr wrap="square" lIns="0" tIns="0" rIns="0" bIns="0" rtlCol="0" anchor="t"/>
          <a:lstStyle/>
          <a:p>
            <a:pPr marL="0" indent="0">
              <a:buNone/>
            </a:pPr>
            <a:r>
              <a:rPr lang="en-US" sz="1200" b="1" dirty="0">
                <a:solidFill>
                  <a:srgbClr val="1A4A6E"/>
                </a:solidFill>
                <a:latin typeface="Cambria" pitchFamily="34" charset="0"/>
                <a:ea typeface="Cambria" pitchFamily="34" charset="-122"/>
                <a:cs typeface="Cambria" pitchFamily="34" charset="-120"/>
              </a:rPr>
              <a:t>β &lt; 1.0: Infant Mortality (Decreasing Rate)</a:t>
            </a:r>
            <a:endParaRPr lang="en-US" sz="1200" dirty="0"/>
          </a:p>
        </p:txBody>
      </p:sp>
      <p:sp>
        <p:nvSpPr>
          <p:cNvPr id="19" name="Shape 15"/>
          <p:cNvSpPr/>
          <p:nvPr/>
        </p:nvSpPr>
        <p:spPr>
          <a:xfrm>
            <a:off x="548640" y="5532120"/>
            <a:ext cx="256032" cy="201168"/>
          </a:xfrm>
          <a:prstGeom prst="rect">
            <a:avLst/>
          </a:prstGeom>
          <a:solidFill>
            <a:srgbClr val="9A6A12"/>
          </a:solidFill>
          <a:ln w="12700">
            <a:solidFill>
              <a:srgbClr val="333333"/>
            </a:solidFill>
            <a:prstDash val="solid"/>
          </a:ln>
        </p:spPr>
        <p:txBody>
          <a:bodyPr/>
          <a:lstStyle/>
          <a:p>
            <a:endParaRPr lang="en-IN"/>
          </a:p>
        </p:txBody>
      </p:sp>
      <p:sp>
        <p:nvSpPr>
          <p:cNvPr id="20" name="Text 16"/>
          <p:cNvSpPr txBox="1"/>
          <p:nvPr/>
        </p:nvSpPr>
        <p:spPr>
          <a:xfrm>
            <a:off x="914400" y="5486400"/>
            <a:ext cx="5486400" cy="329184"/>
          </a:xfrm>
          <a:prstGeom prst="rect">
            <a:avLst/>
          </a:prstGeom>
          <a:noFill/>
          <a:ln/>
        </p:spPr>
        <p:txBody>
          <a:bodyPr wrap="square" lIns="0" tIns="0" rIns="0" bIns="0" rtlCol="0" anchor="t"/>
          <a:lstStyle/>
          <a:p>
            <a:pPr marL="0" indent="0">
              <a:buNone/>
            </a:pPr>
            <a:r>
              <a:rPr lang="en-US" sz="1200" b="1" dirty="0">
                <a:solidFill>
                  <a:srgbClr val="9A6A12"/>
                </a:solidFill>
                <a:latin typeface="Cambria" pitchFamily="34" charset="0"/>
                <a:ea typeface="Cambria" pitchFamily="34" charset="-122"/>
                <a:cs typeface="Cambria" pitchFamily="34" charset="-120"/>
              </a:rPr>
              <a:t>β = 1.0: Random Exponential (Constant Rate)</a:t>
            </a:r>
            <a:endParaRPr lang="en-US" sz="1200" dirty="0"/>
          </a:p>
        </p:txBody>
      </p:sp>
      <p:sp>
        <p:nvSpPr>
          <p:cNvPr id="21" name="Shape 17"/>
          <p:cNvSpPr/>
          <p:nvPr/>
        </p:nvSpPr>
        <p:spPr>
          <a:xfrm>
            <a:off x="548640" y="5897880"/>
            <a:ext cx="256032" cy="201168"/>
          </a:xfrm>
          <a:prstGeom prst="rect">
            <a:avLst/>
          </a:prstGeom>
          <a:solidFill>
            <a:srgbClr val="5A5347"/>
          </a:solidFill>
          <a:ln w="12700">
            <a:solidFill>
              <a:srgbClr val="333333"/>
            </a:solidFill>
            <a:prstDash val="solid"/>
          </a:ln>
        </p:spPr>
        <p:txBody>
          <a:bodyPr/>
          <a:lstStyle/>
          <a:p>
            <a:endParaRPr lang="en-IN"/>
          </a:p>
        </p:txBody>
      </p:sp>
      <p:sp>
        <p:nvSpPr>
          <p:cNvPr id="22" name="Text 18"/>
          <p:cNvSpPr txBox="1"/>
          <p:nvPr/>
        </p:nvSpPr>
        <p:spPr>
          <a:xfrm>
            <a:off x="914400" y="5852160"/>
            <a:ext cx="5486400" cy="329184"/>
          </a:xfrm>
          <a:prstGeom prst="rect">
            <a:avLst/>
          </a:prstGeom>
          <a:noFill/>
          <a:ln/>
        </p:spPr>
        <p:txBody>
          <a:bodyPr wrap="square" lIns="0" tIns="0" rIns="0" bIns="0" rtlCol="0" anchor="t"/>
          <a:lstStyle/>
          <a:p>
            <a:pPr marL="0" indent="0">
              <a:buNone/>
            </a:pPr>
            <a:r>
              <a:rPr lang="en-US" sz="1200" b="1" dirty="0">
                <a:solidFill>
                  <a:srgbClr val="5A5347"/>
                </a:solidFill>
                <a:latin typeface="Cambria" pitchFamily="34" charset="0"/>
                <a:ea typeface="Cambria" pitchFamily="34" charset="-122"/>
                <a:cs typeface="Cambria" pitchFamily="34" charset="-120"/>
              </a:rPr>
              <a:t>β &gt; 1.0: Wear-Out (Increasing Rate)</a:t>
            </a:r>
            <a:endParaRPr lang="en-US" sz="1200" dirty="0"/>
          </a:p>
        </p:txBody>
      </p:sp>
      <p:sp>
        <p:nvSpPr>
          <p:cNvPr id="23" name="Shape 19"/>
          <p:cNvSpPr/>
          <p:nvPr/>
        </p:nvSpPr>
        <p:spPr>
          <a:xfrm>
            <a:off x="6720840" y="1783080"/>
            <a:ext cx="4919472" cy="1737360"/>
          </a:xfrm>
          <a:prstGeom prst="rect">
            <a:avLst/>
          </a:prstGeom>
          <a:solidFill>
            <a:srgbClr val="EFE4CD"/>
          </a:solidFill>
          <a:ln w="12700">
            <a:solidFill>
              <a:srgbClr val="C9B48F"/>
            </a:solidFill>
            <a:prstDash val="solid"/>
          </a:ln>
        </p:spPr>
        <p:txBody>
          <a:bodyPr/>
          <a:lstStyle/>
          <a:p>
            <a:endParaRPr lang="en-IN"/>
          </a:p>
        </p:txBody>
      </p:sp>
      <p:sp>
        <p:nvSpPr>
          <p:cNvPr id="24" name="Text 20"/>
          <p:cNvSpPr txBox="1"/>
          <p:nvPr/>
        </p:nvSpPr>
        <p:spPr>
          <a:xfrm>
            <a:off x="6949440" y="1920240"/>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ENGINEERING INSIGHT</a:t>
            </a:r>
            <a:endParaRPr lang="en-US" sz="950" dirty="0"/>
          </a:p>
        </p:txBody>
      </p:sp>
      <p:sp>
        <p:nvSpPr>
          <p:cNvPr id="25" name="Text 21"/>
          <p:cNvSpPr txBox="1"/>
          <p:nvPr/>
        </p:nvSpPr>
        <p:spPr>
          <a:xfrm>
            <a:off x="6949440" y="2212848"/>
            <a:ext cx="4480560" cy="123444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Transitioning from β&lt;1 (steep early drop) to β=1 (smooth exponential) to β&gt;1 (bell-shaped wear-out peak) radically alters the appropriate maintenance strategy.</a:t>
            </a:r>
            <a:endParaRPr lang="en-US" sz="1300" dirty="0"/>
          </a:p>
        </p:txBody>
      </p:sp>
      <p:sp>
        <p:nvSpPr>
          <p:cNvPr id="26" name="Shape 22"/>
          <p:cNvSpPr/>
          <p:nvPr/>
        </p:nvSpPr>
        <p:spPr>
          <a:xfrm>
            <a:off x="6720840" y="3657600"/>
            <a:ext cx="4919472" cy="2560320"/>
          </a:xfrm>
          <a:prstGeom prst="rect">
            <a:avLst/>
          </a:prstGeom>
          <a:solidFill>
            <a:srgbClr val="FBF4E4"/>
          </a:solidFill>
          <a:ln w="12700">
            <a:solidFill>
              <a:srgbClr val="C9B48F"/>
            </a:solidFill>
            <a:prstDash val="solid"/>
          </a:ln>
        </p:spPr>
        <p:txBody>
          <a:bodyPr/>
          <a:lstStyle/>
          <a:p>
            <a:endParaRPr lang="en-IN"/>
          </a:p>
        </p:txBody>
      </p:sp>
      <p:sp>
        <p:nvSpPr>
          <p:cNvPr id="27" name="Text 23"/>
          <p:cNvSpPr txBox="1"/>
          <p:nvPr/>
        </p:nvSpPr>
        <p:spPr>
          <a:xfrm>
            <a:off x="6949440" y="3794760"/>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THE THREE OPERATIONAL REGIMES</a:t>
            </a:r>
            <a:endParaRPr lang="en-US" sz="950" dirty="0"/>
          </a:p>
        </p:txBody>
      </p:sp>
      <p:sp>
        <p:nvSpPr>
          <p:cNvPr id="28" name="Text 24"/>
          <p:cNvSpPr txBox="1"/>
          <p:nvPr/>
        </p:nvSpPr>
        <p:spPr>
          <a:xfrm>
            <a:off x="6949440" y="4114800"/>
            <a:ext cx="4526280" cy="2011680"/>
          </a:xfrm>
          <a:prstGeom prst="rect">
            <a:avLst/>
          </a:prstGeom>
          <a:noFill/>
          <a:ln/>
        </p:spPr>
        <p:txBody>
          <a:bodyPr wrap="square" lIns="0" tIns="0" rIns="0" bIns="0" rtlCol="0" anchor="t"/>
          <a:lstStyle/>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β &lt; 1 (Infant Mortality):</a:t>
            </a:r>
            <a:r>
              <a:rPr lang="en-US" sz="1250" dirty="0">
                <a:solidFill>
                  <a:srgbClr val="2C261E"/>
                </a:solidFill>
                <a:latin typeface="Cambria" pitchFamily="34" charset="0"/>
                <a:ea typeface="Cambria" pitchFamily="34" charset="-122"/>
                <a:cs typeface="Cambria" pitchFamily="34" charset="-120"/>
              </a:rPr>
              <a:t> Decreasing rate; manufacturing defects, poor installation, commissioning errors.</a:t>
            </a:r>
            <a:endParaRPr lang="en-US" sz="1250" dirty="0"/>
          </a:p>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β = 1.0 (Random):</a:t>
            </a:r>
            <a:r>
              <a:rPr lang="en-US" sz="1250" dirty="0">
                <a:solidFill>
                  <a:srgbClr val="2C261E"/>
                </a:solidFill>
                <a:latin typeface="Cambria" pitchFamily="34" charset="0"/>
                <a:ea typeface="Cambria" pitchFamily="34" charset="-122"/>
                <a:cs typeface="Cambria" pitchFamily="34" charset="-120"/>
              </a:rPr>
              <a:t> Constant rate; external shocks, electrical surges, foreign-object ingestion.</a:t>
            </a:r>
            <a:endParaRPr lang="en-US" sz="1250" dirty="0"/>
          </a:p>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β &gt; 1 (Wear-Out):</a:t>
            </a:r>
            <a:r>
              <a:rPr lang="en-US" sz="1250" dirty="0">
                <a:solidFill>
                  <a:srgbClr val="2C261E"/>
                </a:solidFill>
                <a:latin typeface="Cambria" pitchFamily="34" charset="0"/>
                <a:ea typeface="Cambria" pitchFamily="34" charset="-122"/>
                <a:cs typeface="Cambria" pitchFamily="34" charset="-120"/>
              </a:rPr>
              <a:t> Increasing rate; β≈1.5 moderate fatigue, β≥3.4 approaches Gaussian.</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Effects of Changing Gamma (Location Parameter γ)</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Guaranteed failure-free operating life and corrosion allowance delay.</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30</a:t>
            </a:r>
            <a:r>
              <a:rPr sz="900">
                <a:solidFill>
                  <a:srgbClr val="8A8477"/>
                </a:solidFill>
                <a:latin typeface="Courier New"/>
              </a:rPr>
              <a:t> / 80</a:t>
            </a:r>
            <a:endParaRPr lang="en-US" sz="900" dirty="0"/>
          </a:p>
        </p:txBody>
      </p:sp>
      <p:sp>
        <p:nvSpPr>
          <p:cNvPr id="13" name="Shape 10"/>
          <p:cNvSpPr/>
          <p:nvPr/>
        </p:nvSpPr>
        <p:spPr>
          <a:xfrm>
            <a:off x="548640" y="1783080"/>
            <a:ext cx="5989320" cy="324612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49808" y="1920240"/>
            <a:ext cx="5586984"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GAMMA (LOCATION PARAMETER Γ)</a:t>
            </a:r>
            <a:endParaRPr lang="en-US" sz="850" dirty="0"/>
          </a:p>
        </p:txBody>
      </p:sp>
      <p:sp>
        <p:nvSpPr>
          <p:cNvPr id="15" name="Shape 12"/>
          <p:cNvSpPr/>
          <p:nvPr/>
        </p:nvSpPr>
        <p:spPr>
          <a:xfrm>
            <a:off x="749808" y="2167128"/>
            <a:ext cx="5586984" cy="0"/>
          </a:xfrm>
          <a:prstGeom prst="line">
            <a:avLst/>
          </a:prstGeom>
          <a:noFill/>
          <a:ln w="9525">
            <a:solidFill>
              <a:srgbClr val="C9B48F"/>
            </a:solidFill>
            <a:prstDash val="solid"/>
          </a:ln>
        </p:spPr>
        <p:txBody>
          <a:bodyPr/>
          <a:lstStyle/>
          <a:p>
            <a:endParaRPr lang="en-IN"/>
          </a:p>
        </p:txBody>
      </p:sp>
      <p:pic>
        <p:nvPicPr>
          <p:cNvPr id="16" name="Image 1" descr="s29_0"/>
          <p:cNvPicPr>
            <a:picLocks noChangeAspect="1"/>
          </p:cNvPicPr>
          <p:nvPr/>
        </p:nvPicPr>
        <p:blipFill>
          <a:blip r:embed="rId4"/>
          <a:stretch>
            <a:fillRect/>
          </a:stretch>
        </p:blipFill>
        <p:spPr>
          <a:xfrm>
            <a:off x="865925" y="2258568"/>
            <a:ext cx="5354750" cy="2624328"/>
          </a:xfrm>
          <a:prstGeom prst="rect">
            <a:avLst/>
          </a:prstGeom>
        </p:spPr>
      </p:pic>
      <p:sp>
        <p:nvSpPr>
          <p:cNvPr id="17" name="Shape 13"/>
          <p:cNvSpPr/>
          <p:nvPr/>
        </p:nvSpPr>
        <p:spPr>
          <a:xfrm>
            <a:off x="548640" y="5166360"/>
            <a:ext cx="256032" cy="201168"/>
          </a:xfrm>
          <a:prstGeom prst="rect">
            <a:avLst/>
          </a:prstGeom>
          <a:solidFill>
            <a:srgbClr val="1A4A6E"/>
          </a:solidFill>
          <a:ln w="12700">
            <a:solidFill>
              <a:srgbClr val="333333"/>
            </a:solidFill>
            <a:prstDash val="solid"/>
          </a:ln>
        </p:spPr>
        <p:txBody>
          <a:bodyPr/>
          <a:lstStyle/>
          <a:p>
            <a:endParaRPr lang="en-IN"/>
          </a:p>
        </p:txBody>
      </p:sp>
      <p:sp>
        <p:nvSpPr>
          <p:cNvPr id="18" name="Text 14"/>
          <p:cNvSpPr txBox="1"/>
          <p:nvPr/>
        </p:nvSpPr>
        <p:spPr>
          <a:xfrm>
            <a:off x="914400" y="5120640"/>
            <a:ext cx="5486400" cy="329184"/>
          </a:xfrm>
          <a:prstGeom prst="rect">
            <a:avLst/>
          </a:prstGeom>
          <a:noFill/>
          <a:ln/>
        </p:spPr>
        <p:txBody>
          <a:bodyPr wrap="square" lIns="0" tIns="0" rIns="0" bIns="0" rtlCol="0" anchor="t"/>
          <a:lstStyle/>
          <a:p>
            <a:pPr marL="0" indent="0">
              <a:buNone/>
            </a:pPr>
            <a:r>
              <a:rPr lang="en-US" sz="1200" b="1" dirty="0">
                <a:solidFill>
                  <a:srgbClr val="1A4A6E"/>
                </a:solidFill>
                <a:latin typeface="Cambria" pitchFamily="34" charset="0"/>
                <a:ea typeface="Cambria" pitchFamily="34" charset="-122"/>
                <a:cs typeface="Cambria" pitchFamily="34" charset="-120"/>
              </a:rPr>
              <a:t>γ = 0 Years (Failures Can Begin At Startup)</a:t>
            </a:r>
            <a:endParaRPr lang="en-US" sz="1200" dirty="0"/>
          </a:p>
        </p:txBody>
      </p:sp>
      <p:sp>
        <p:nvSpPr>
          <p:cNvPr id="19" name="Shape 15"/>
          <p:cNvSpPr/>
          <p:nvPr/>
        </p:nvSpPr>
        <p:spPr>
          <a:xfrm>
            <a:off x="548640" y="5532120"/>
            <a:ext cx="256032" cy="201168"/>
          </a:xfrm>
          <a:prstGeom prst="rect">
            <a:avLst/>
          </a:prstGeom>
          <a:solidFill>
            <a:srgbClr val="9A6A12"/>
          </a:solidFill>
          <a:ln w="12700">
            <a:solidFill>
              <a:srgbClr val="333333"/>
            </a:solidFill>
            <a:prstDash val="solid"/>
          </a:ln>
        </p:spPr>
        <p:txBody>
          <a:bodyPr/>
          <a:lstStyle/>
          <a:p>
            <a:endParaRPr lang="en-IN"/>
          </a:p>
        </p:txBody>
      </p:sp>
      <p:sp>
        <p:nvSpPr>
          <p:cNvPr id="20" name="Text 16"/>
          <p:cNvSpPr txBox="1"/>
          <p:nvPr/>
        </p:nvSpPr>
        <p:spPr>
          <a:xfrm>
            <a:off x="914400" y="5486400"/>
            <a:ext cx="5486400" cy="329184"/>
          </a:xfrm>
          <a:prstGeom prst="rect">
            <a:avLst/>
          </a:prstGeom>
          <a:noFill/>
          <a:ln/>
        </p:spPr>
        <p:txBody>
          <a:bodyPr wrap="square" lIns="0" tIns="0" rIns="0" bIns="0" rtlCol="0" anchor="t"/>
          <a:lstStyle/>
          <a:p>
            <a:pPr marL="0" indent="0">
              <a:buNone/>
            </a:pPr>
            <a:r>
              <a:rPr lang="en-US" sz="1200" b="1" dirty="0">
                <a:solidFill>
                  <a:srgbClr val="9A6A12"/>
                </a:solidFill>
                <a:latin typeface="Cambria" pitchFamily="34" charset="0"/>
                <a:ea typeface="Cambria" pitchFamily="34" charset="-122"/>
                <a:cs typeface="Cambria" pitchFamily="34" charset="-120"/>
              </a:rPr>
              <a:t>γ = 2 Years (Guaranteed Failure-Free)</a:t>
            </a:r>
            <a:endParaRPr lang="en-US" sz="1200" dirty="0"/>
          </a:p>
        </p:txBody>
      </p:sp>
      <p:sp>
        <p:nvSpPr>
          <p:cNvPr id="21" name="Shape 17"/>
          <p:cNvSpPr/>
          <p:nvPr/>
        </p:nvSpPr>
        <p:spPr>
          <a:xfrm>
            <a:off x="548640" y="5897880"/>
            <a:ext cx="256032" cy="201168"/>
          </a:xfrm>
          <a:prstGeom prst="rect">
            <a:avLst/>
          </a:prstGeom>
          <a:solidFill>
            <a:srgbClr val="5A5347"/>
          </a:solidFill>
          <a:ln w="12700">
            <a:solidFill>
              <a:srgbClr val="333333"/>
            </a:solidFill>
            <a:prstDash val="solid"/>
          </a:ln>
        </p:spPr>
        <p:txBody>
          <a:bodyPr/>
          <a:lstStyle/>
          <a:p>
            <a:endParaRPr lang="en-IN"/>
          </a:p>
        </p:txBody>
      </p:sp>
      <p:sp>
        <p:nvSpPr>
          <p:cNvPr id="22" name="Text 18"/>
          <p:cNvSpPr txBox="1"/>
          <p:nvPr/>
        </p:nvSpPr>
        <p:spPr>
          <a:xfrm>
            <a:off x="914400" y="5852160"/>
            <a:ext cx="5486400" cy="329184"/>
          </a:xfrm>
          <a:prstGeom prst="rect">
            <a:avLst/>
          </a:prstGeom>
          <a:noFill/>
          <a:ln/>
        </p:spPr>
        <p:txBody>
          <a:bodyPr wrap="square" lIns="0" tIns="0" rIns="0" bIns="0" rtlCol="0" anchor="t"/>
          <a:lstStyle/>
          <a:p>
            <a:pPr marL="0" indent="0">
              <a:buNone/>
            </a:pPr>
            <a:r>
              <a:rPr lang="en-US" sz="1200" b="1" dirty="0">
                <a:solidFill>
                  <a:srgbClr val="5A5347"/>
                </a:solidFill>
                <a:latin typeface="Cambria" pitchFamily="34" charset="0"/>
                <a:ea typeface="Cambria" pitchFamily="34" charset="-122"/>
                <a:cs typeface="Cambria" pitchFamily="34" charset="-120"/>
              </a:rPr>
              <a:t>γ = 4 Years (Corrosion Allowance Delay)</a:t>
            </a:r>
            <a:endParaRPr lang="en-US" sz="1200" dirty="0"/>
          </a:p>
        </p:txBody>
      </p:sp>
      <p:sp>
        <p:nvSpPr>
          <p:cNvPr id="23" name="Shape 19"/>
          <p:cNvSpPr/>
          <p:nvPr/>
        </p:nvSpPr>
        <p:spPr>
          <a:xfrm>
            <a:off x="6720840" y="1783080"/>
            <a:ext cx="4919472" cy="1737360"/>
          </a:xfrm>
          <a:prstGeom prst="rect">
            <a:avLst/>
          </a:prstGeom>
          <a:solidFill>
            <a:srgbClr val="EFE4CD"/>
          </a:solidFill>
          <a:ln w="12700">
            <a:solidFill>
              <a:srgbClr val="C9B48F"/>
            </a:solidFill>
            <a:prstDash val="solid"/>
          </a:ln>
        </p:spPr>
        <p:txBody>
          <a:bodyPr/>
          <a:lstStyle/>
          <a:p>
            <a:endParaRPr lang="en-IN"/>
          </a:p>
        </p:txBody>
      </p:sp>
      <p:sp>
        <p:nvSpPr>
          <p:cNvPr id="24" name="Text 20"/>
          <p:cNvSpPr txBox="1"/>
          <p:nvPr/>
        </p:nvSpPr>
        <p:spPr>
          <a:xfrm>
            <a:off x="6949440" y="1920240"/>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ENGINEERING INSIGHT</a:t>
            </a:r>
            <a:endParaRPr lang="en-US" sz="950" dirty="0"/>
          </a:p>
        </p:txBody>
      </p:sp>
      <p:sp>
        <p:nvSpPr>
          <p:cNvPr id="25" name="Text 21"/>
          <p:cNvSpPr txBox="1"/>
          <p:nvPr/>
        </p:nvSpPr>
        <p:spPr>
          <a:xfrm>
            <a:off x="6949440" y="2212848"/>
            <a:ext cx="4480560" cy="123444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γ is the location parameter. Failures cannot occur physically before t = γ. In piping, heavy nominal walls guarantee zero failure risk during early operating years.</a:t>
            </a:r>
            <a:endParaRPr lang="en-US" sz="1300" dirty="0"/>
          </a:p>
        </p:txBody>
      </p:sp>
      <p:sp>
        <p:nvSpPr>
          <p:cNvPr id="26" name="Shape 22"/>
          <p:cNvSpPr/>
          <p:nvPr/>
        </p:nvSpPr>
        <p:spPr>
          <a:xfrm>
            <a:off x="6720840" y="3657600"/>
            <a:ext cx="4919472" cy="2560320"/>
          </a:xfrm>
          <a:prstGeom prst="rect">
            <a:avLst/>
          </a:prstGeom>
          <a:solidFill>
            <a:srgbClr val="FBF4E4"/>
          </a:solidFill>
          <a:ln w="12700">
            <a:solidFill>
              <a:srgbClr val="C9B48F"/>
            </a:solidFill>
            <a:prstDash val="solid"/>
          </a:ln>
        </p:spPr>
        <p:txBody>
          <a:bodyPr/>
          <a:lstStyle/>
          <a:p>
            <a:endParaRPr lang="en-IN"/>
          </a:p>
        </p:txBody>
      </p:sp>
      <p:sp>
        <p:nvSpPr>
          <p:cNvPr id="27" name="Text 23"/>
          <p:cNvSpPr txBox="1"/>
          <p:nvPr/>
        </p:nvSpPr>
        <p:spPr>
          <a:xfrm>
            <a:off x="6949440" y="3794760"/>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FAILURE-FREE LIFE (γ)</a:t>
            </a:r>
            <a:endParaRPr lang="en-US" sz="950" dirty="0"/>
          </a:p>
        </p:txBody>
      </p:sp>
      <p:sp>
        <p:nvSpPr>
          <p:cNvPr id="28" name="Text 24"/>
          <p:cNvSpPr txBox="1"/>
          <p:nvPr/>
        </p:nvSpPr>
        <p:spPr>
          <a:xfrm>
            <a:off x="6949440" y="4114800"/>
            <a:ext cx="4526280" cy="2011680"/>
          </a:xfrm>
          <a:prstGeom prst="rect">
            <a:avLst/>
          </a:prstGeom>
          <a:noFill/>
          <a:ln/>
        </p:spPr>
        <p:txBody>
          <a:bodyPr wrap="square" lIns="0" tIns="0" rIns="0" bIns="0" rtlCol="0" anchor="t"/>
          <a:lstStyle/>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Absolute Zero Probability:</a:t>
            </a:r>
            <a:r>
              <a:rPr lang="en-US" sz="1250" dirty="0">
                <a:solidFill>
                  <a:srgbClr val="2C261E"/>
                </a:solidFill>
                <a:latin typeface="Cambria" pitchFamily="34" charset="0"/>
                <a:ea typeface="Cambria" pitchFamily="34" charset="-122"/>
                <a:cs typeface="Cambria" pitchFamily="34" charset="-120"/>
              </a:rPr>
              <a:t> When t &lt; γ, P(Failure) = 0. Degradation cannot cause loss before γ.</a:t>
            </a:r>
            <a:endParaRPr lang="en-US" sz="1250" dirty="0"/>
          </a:p>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Protective Barriers:</a:t>
            </a:r>
            <a:r>
              <a:rPr lang="en-US" sz="1250" dirty="0">
                <a:solidFill>
                  <a:srgbClr val="2C261E"/>
                </a:solidFill>
                <a:latin typeface="Cambria" pitchFamily="34" charset="0"/>
                <a:ea typeface="Cambria" pitchFamily="34" charset="-122"/>
                <a:cs typeface="Cambria" pitchFamily="34" charset="-120"/>
              </a:rPr>
              <a:t> Models coatings, corrosion inhibitors, or minimum corrosion allowances before metal attack.</a:t>
            </a:r>
            <a:endParaRPr lang="en-US" sz="1250" dirty="0"/>
          </a:p>
          <a:p>
            <a:pPr marL="190500" indent="-190500">
              <a:spcAft>
                <a:spcPts val="1000"/>
              </a:spcAft>
              <a:buSzPct val="100000"/>
              <a:buChar char="▪"/>
            </a:pPr>
            <a:r>
              <a:rPr lang="en-US" sz="1250" b="1" dirty="0">
                <a:solidFill>
                  <a:srgbClr val="1C1712"/>
                </a:solidFill>
                <a:latin typeface="Cambria" pitchFamily="34" charset="0"/>
                <a:ea typeface="Cambria" pitchFamily="34" charset="-122"/>
                <a:cs typeface="Cambria" pitchFamily="34" charset="-120"/>
              </a:rPr>
              <a:t>Rigid Translation:</a:t>
            </a:r>
            <a:r>
              <a:rPr lang="en-US" sz="1250" dirty="0">
                <a:solidFill>
                  <a:srgbClr val="2C261E"/>
                </a:solidFill>
                <a:latin typeface="Cambria" pitchFamily="34" charset="0"/>
                <a:ea typeface="Cambria" pitchFamily="34" charset="-122"/>
                <a:cs typeface="Cambria" pitchFamily="34" charset="-120"/>
              </a:rPr>
              <a:t> Shifting γ moves the distribution bodily along the time axis without changing width or shape.</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Weibull Regression from Work Order History</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Linearizing the Weibull cumulative equation via double natural logarithm.</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31</a:t>
            </a:r>
            <a:r>
              <a:rPr sz="900">
                <a:solidFill>
                  <a:srgbClr val="8A8477"/>
                </a:solidFill>
                <a:latin typeface="Courier New"/>
              </a:rPr>
              <a:t> / 80</a:t>
            </a:r>
            <a:endParaRPr lang="en-US" sz="900" dirty="0"/>
          </a:p>
        </p:txBody>
      </p:sp>
      <p:sp>
        <p:nvSpPr>
          <p:cNvPr id="13" name="Shape 10"/>
          <p:cNvSpPr/>
          <p:nvPr/>
        </p:nvSpPr>
        <p:spPr>
          <a:xfrm>
            <a:off x="548640" y="1783080"/>
            <a:ext cx="11091672" cy="1051560"/>
          </a:xfrm>
          <a:prstGeom prst="rect">
            <a:avLst/>
          </a:prstGeom>
          <a:solidFill>
            <a:srgbClr val="EFDCCF"/>
          </a:solidFill>
          <a:ln w="12700">
            <a:solidFill>
              <a:srgbClr val="A03B30"/>
            </a:solidFill>
            <a:prstDash val="solid"/>
          </a:ln>
        </p:spPr>
        <p:txBody>
          <a:bodyPr/>
          <a:lstStyle/>
          <a:p>
            <a:endParaRPr lang="en-IN"/>
          </a:p>
        </p:txBody>
      </p:sp>
      <p:pic>
        <p:nvPicPr>
          <p:cNvPr id="14" name="Image 1" descr="Formula"/>
          <p:cNvPicPr>
            <a:picLocks noChangeAspect="1"/>
          </p:cNvPicPr>
          <p:nvPr/>
        </p:nvPicPr>
        <p:blipFill>
          <a:blip r:embed="rId4"/>
          <a:stretch>
            <a:fillRect/>
          </a:stretch>
        </p:blipFill>
        <p:spPr>
          <a:xfrm>
            <a:off x="2785956" y="1847088"/>
            <a:ext cx="6589608" cy="914400"/>
          </a:xfrm>
          <a:prstGeom prst="rect">
            <a:avLst/>
          </a:prstGeom>
        </p:spPr>
      </p:pic>
      <p:sp>
        <p:nvSpPr>
          <p:cNvPr id="15" name="Shape 11"/>
          <p:cNvSpPr/>
          <p:nvPr/>
        </p:nvSpPr>
        <p:spPr>
          <a:xfrm>
            <a:off x="548640" y="3017520"/>
            <a:ext cx="5431536" cy="3200400"/>
          </a:xfrm>
          <a:prstGeom prst="rect">
            <a:avLst/>
          </a:prstGeom>
          <a:solidFill>
            <a:srgbClr val="FBF4E4"/>
          </a:solidFill>
          <a:ln w="12700">
            <a:solidFill>
              <a:srgbClr val="C9B48F"/>
            </a:solidFill>
            <a:prstDash val="solid"/>
          </a:ln>
        </p:spPr>
        <p:txBody>
          <a:bodyPr/>
          <a:lstStyle/>
          <a:p>
            <a:endParaRPr lang="en-IN"/>
          </a:p>
        </p:txBody>
      </p:sp>
      <p:sp>
        <p:nvSpPr>
          <p:cNvPr id="16" name="Text 12"/>
          <p:cNvSpPr txBox="1"/>
          <p:nvPr/>
        </p:nvSpPr>
        <p:spPr>
          <a:xfrm>
            <a:off x="777240" y="3200400"/>
            <a:ext cx="502920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Slope = Shape Parameter (β)</a:t>
            </a:r>
            <a:endParaRPr lang="en-US" sz="1500" dirty="0"/>
          </a:p>
        </p:txBody>
      </p:sp>
      <p:sp>
        <p:nvSpPr>
          <p:cNvPr id="17" name="Text 13"/>
          <p:cNvSpPr txBox="1"/>
          <p:nvPr/>
        </p:nvSpPr>
        <p:spPr>
          <a:xfrm>
            <a:off x="777240" y="3566160"/>
            <a:ext cx="4937760" cy="73152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The gradient of the best-fit line directly yields β, revealing the empirical failure mechanism from field data.</a:t>
            </a:r>
            <a:endParaRPr lang="en-US" sz="1300" dirty="0"/>
          </a:p>
        </p:txBody>
      </p:sp>
      <p:sp>
        <p:nvSpPr>
          <p:cNvPr id="18" name="Shape 14"/>
          <p:cNvSpPr/>
          <p:nvPr/>
        </p:nvSpPr>
        <p:spPr>
          <a:xfrm>
            <a:off x="777240" y="4434840"/>
            <a:ext cx="4974336" cy="0"/>
          </a:xfrm>
          <a:prstGeom prst="line">
            <a:avLst/>
          </a:prstGeom>
          <a:noFill/>
          <a:ln w="9525">
            <a:solidFill>
              <a:srgbClr val="C9B48F"/>
            </a:solidFill>
            <a:prstDash val="solid"/>
          </a:ln>
        </p:spPr>
        <p:txBody>
          <a:bodyPr/>
          <a:lstStyle/>
          <a:p>
            <a:endParaRPr lang="en-IN"/>
          </a:p>
        </p:txBody>
      </p:sp>
      <p:sp>
        <p:nvSpPr>
          <p:cNvPr id="19" name="Text 15"/>
          <p:cNvSpPr txBox="1"/>
          <p:nvPr/>
        </p:nvSpPr>
        <p:spPr>
          <a:xfrm>
            <a:off x="777240" y="4572000"/>
            <a:ext cx="502920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X-Intercept = Scale (η)</a:t>
            </a:r>
            <a:endParaRPr lang="en-US" sz="1500" dirty="0"/>
          </a:p>
        </p:txBody>
      </p:sp>
      <p:sp>
        <p:nvSpPr>
          <p:cNvPr id="20" name="Text 16"/>
          <p:cNvSpPr txBox="1"/>
          <p:nvPr/>
        </p:nvSpPr>
        <p:spPr>
          <a:xfrm>
            <a:off x="777240" y="4937760"/>
            <a:ext cx="4937760" cy="914400"/>
          </a:xfrm>
          <a:prstGeom prst="rect">
            <a:avLst/>
          </a:prstGeom>
          <a:noFill/>
          <a:ln/>
        </p:spPr>
        <p:txBody>
          <a:bodyPr wrap="square" lIns="0" tIns="0" rIns="0" bIns="0" rtlCol="0" anchor="t"/>
          <a:lstStyle/>
          <a:p>
            <a:pPr marL="190500" indent="-190500">
              <a:spcAft>
                <a:spcPts val="600"/>
              </a:spcAft>
              <a:buSzPct val="100000"/>
              <a:buChar char="▪"/>
            </a:pPr>
            <a:r>
              <a:rPr lang="en-US" sz="1300" b="1" dirty="0">
                <a:solidFill>
                  <a:srgbClr val="1C1712"/>
                </a:solidFill>
                <a:latin typeface="Cambria" pitchFamily="34" charset="0"/>
                <a:ea typeface="Cambria" pitchFamily="34" charset="-122"/>
                <a:cs typeface="Cambria" pitchFamily="34" charset="-120"/>
              </a:rPr>
              <a:t>Horizontal Intercept:</a:t>
            </a:r>
            <a:r>
              <a:rPr lang="en-US" sz="1300" dirty="0">
                <a:solidFill>
                  <a:srgbClr val="2C261E"/>
                </a:solidFill>
                <a:latin typeface="Cambria" pitchFamily="34" charset="0"/>
                <a:ea typeface="Cambria" pitchFamily="34" charset="-122"/>
                <a:cs typeface="Cambria" pitchFamily="34" charset="-120"/>
              </a:rPr>
              <a:t> Directly calculates characteristic life η from the linearized regression fit line.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03 — PROBABILITY &amp; STATISTICS</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Developing Weibull Distribution from Work Order History</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Transforming historical time-to-failure observations into cumulative Weibull parameters.</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32</a:t>
            </a:r>
            <a:r>
              <a:rPr sz="900">
                <a:solidFill>
                  <a:srgbClr val="8A8477"/>
                </a:solidFill>
                <a:latin typeface="Courier New"/>
              </a:rPr>
              <a:t> / 80</a:t>
            </a:r>
          </a:p>
        </p:txBody>
      </p:sp>
      <p:sp>
        <p:nvSpPr>
          <p:cNvPr id="13" name="Rectangle 12"/>
          <p:cNvSpPr/>
          <p:nvPr/>
        </p:nvSpPr>
        <p:spPr>
          <a:xfrm>
            <a:off x="548640" y="1783080"/>
            <a:ext cx="11091672" cy="448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8640" y="1853080"/>
            <a:ext cx="10811672" cy="220000"/>
          </a:xfrm>
          <a:prstGeom prst="rect">
            <a:avLst/>
          </a:prstGeom>
          <a:noFill/>
        </p:spPr>
        <p:txBody>
          <a:bodyPr wrap="none" lIns="0" tIns="0">
            <a:spAutoFit/>
          </a:bodyPr>
          <a:lstStyle/>
          <a:p>
            <a:pPr>
              <a:defRPr sz="850" b="1">
                <a:solidFill>
                  <a:srgbClr val="7A1F1A"/>
                </a:solidFill>
                <a:latin typeface="Courier New"/>
              </a:defRPr>
            </a:pPr>
            <a:r>
              <a:t>FIG · WEIBULL PARAMETER ESTIMATION WORKFLOW FROM WORK ORDER HISTORY</a:t>
            </a:r>
          </a:p>
        </p:txBody>
      </p:sp>
      <p:sp>
        <p:nvSpPr>
          <p:cNvPr id="15" name="Rectangle 14"/>
          <p:cNvSpPr/>
          <p:nvPr/>
        </p:nvSpPr>
        <p:spPr>
          <a:xfrm>
            <a:off x="688640" y="2083080"/>
            <a:ext cx="10811672"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50000" y="2250000"/>
            <a:ext cx="2700000" cy="365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0000" y="2350000"/>
            <a:ext cx="2500000" cy="400000"/>
          </a:xfrm>
          <a:prstGeom prst="rect">
            <a:avLst/>
          </a:prstGeom>
          <a:noFill/>
        </p:spPr>
        <p:txBody>
          <a:bodyPr wrap="none">
            <a:spAutoFit/>
          </a:bodyPr>
          <a:lstStyle/>
          <a:p>
            <a:pPr algn="ctr">
              <a:defRPr sz="1500" b="1">
                <a:solidFill>
                  <a:srgbClr val="1C1712"/>
                </a:solidFill>
                <a:latin typeface="Cambria"/>
              </a:defRPr>
            </a:pPr>
            <a:r>
              <a:t>Failure History</a:t>
            </a:r>
          </a:p>
        </p:txBody>
      </p:sp>
      <p:graphicFrame>
        <p:nvGraphicFramePr>
          <p:cNvPr id="18" name="Table 17"/>
          <p:cNvGraphicFramePr>
            <a:graphicFrameLocks noGrp="1"/>
          </p:cNvGraphicFramePr>
          <p:nvPr/>
        </p:nvGraphicFramePr>
        <p:xfrm>
          <a:off x="850000" y="2800000"/>
          <a:ext cx="2500000" cy="1700000"/>
        </p:xfrm>
        <a:graphic>
          <a:graphicData uri="http://schemas.openxmlformats.org/drawingml/2006/table">
            <a:tbl>
              <a:tblPr firstRow="1" bandRow="1">
                <a:tableStyleId>{5C22544A-7EE6-4342-B048-85BDC9FD1C3A}</a:tableStyleId>
              </a:tblPr>
              <a:tblGrid>
                <a:gridCol w="1250000">
                  <a:extLst>
                    <a:ext uri="{9D8B030D-6E8A-4147-A177-3AD203B41FA5}">
                      <a16:colId xmlns:a16="http://schemas.microsoft.com/office/drawing/2014/main" val="20000"/>
                    </a:ext>
                  </a:extLst>
                </a:gridCol>
                <a:gridCol w="1250000">
                  <a:extLst>
                    <a:ext uri="{9D8B030D-6E8A-4147-A177-3AD203B41FA5}">
                      <a16:colId xmlns:a16="http://schemas.microsoft.com/office/drawing/2014/main" val="20001"/>
                    </a:ext>
                  </a:extLst>
                </a:gridCol>
              </a:tblGrid>
              <a:tr h="340000">
                <a:tc>
                  <a:txBody>
                    <a:bodyPr/>
                    <a:lstStyle/>
                    <a:p>
                      <a:pPr algn="ctr">
                        <a:defRPr sz="1100" b="1">
                          <a:solidFill>
                            <a:srgbClr val="FFFFFF"/>
                          </a:solidFill>
                          <a:latin typeface="Cambria"/>
                        </a:defRPr>
                      </a:pPr>
                      <a:r>
                        <a:t>Asset</a:t>
                      </a:r>
                    </a:p>
                  </a:txBody>
                  <a:tcPr>
                    <a:solidFill>
                      <a:srgbClr val="3E9B8D"/>
                    </a:solidFill>
                  </a:tcPr>
                </a:tc>
                <a:tc>
                  <a:txBody>
                    <a:bodyPr/>
                    <a:lstStyle/>
                    <a:p>
                      <a:pPr algn="ctr">
                        <a:defRPr sz="1100" b="1">
                          <a:solidFill>
                            <a:srgbClr val="FFFFFF"/>
                          </a:solidFill>
                          <a:latin typeface="Cambria"/>
                        </a:defRPr>
                      </a:pPr>
                      <a:r>
                        <a:t>Life (Years)</a:t>
                      </a:r>
                    </a:p>
                  </a:txBody>
                  <a:tcPr>
                    <a:solidFill>
                      <a:srgbClr val="3E9B8D"/>
                    </a:solidFill>
                  </a:tcPr>
                </a:tc>
                <a:extLst>
                  <a:ext uri="{0D108BD9-81ED-4DB2-BD59-A6C34878D82A}">
                    <a16:rowId xmlns:a16="http://schemas.microsoft.com/office/drawing/2014/main" val="10000"/>
                  </a:ext>
                </a:extLst>
              </a:tr>
              <a:tr h="340000">
                <a:tc>
                  <a:txBody>
                    <a:bodyPr/>
                    <a:lstStyle/>
                    <a:p>
                      <a:pPr algn="ctr">
                        <a:defRPr sz="1050">
                          <a:solidFill>
                            <a:srgbClr val="1C1712"/>
                          </a:solidFill>
                          <a:latin typeface="Courier New"/>
                        </a:defRPr>
                      </a:pPr>
                      <a:r>
                        <a:t>Asset 101</a:t>
                      </a:r>
                    </a:p>
                  </a:txBody>
                  <a:tcPr>
                    <a:solidFill>
                      <a:srgbClr val="FFFFFF"/>
                    </a:solidFill>
                  </a:tcPr>
                </a:tc>
                <a:tc>
                  <a:txBody>
                    <a:bodyPr/>
                    <a:lstStyle/>
                    <a:p>
                      <a:pPr algn="ctr">
                        <a:defRPr sz="1050">
                          <a:solidFill>
                            <a:srgbClr val="1C1712"/>
                          </a:solidFill>
                          <a:latin typeface="Courier New"/>
                        </a:defRPr>
                      </a:pPr>
                      <a:r>
                        <a:t>5.7</a:t>
                      </a:r>
                    </a:p>
                  </a:txBody>
                  <a:tcPr>
                    <a:solidFill>
                      <a:srgbClr val="FFFFFF"/>
                    </a:solidFill>
                  </a:tcPr>
                </a:tc>
                <a:extLst>
                  <a:ext uri="{0D108BD9-81ED-4DB2-BD59-A6C34878D82A}">
                    <a16:rowId xmlns:a16="http://schemas.microsoft.com/office/drawing/2014/main" val="10001"/>
                  </a:ext>
                </a:extLst>
              </a:tr>
              <a:tr h="340000">
                <a:tc>
                  <a:txBody>
                    <a:bodyPr/>
                    <a:lstStyle/>
                    <a:p>
                      <a:pPr algn="ctr">
                        <a:defRPr sz="1050">
                          <a:solidFill>
                            <a:srgbClr val="1C1712"/>
                          </a:solidFill>
                          <a:latin typeface="Courier New"/>
                        </a:defRPr>
                      </a:pPr>
                      <a:r>
                        <a:t>Asset 101</a:t>
                      </a:r>
                    </a:p>
                  </a:txBody>
                  <a:tcPr>
                    <a:solidFill>
                      <a:srgbClr val="FAFAF8"/>
                    </a:solidFill>
                  </a:tcPr>
                </a:tc>
                <a:tc>
                  <a:txBody>
                    <a:bodyPr/>
                    <a:lstStyle/>
                    <a:p>
                      <a:pPr algn="ctr">
                        <a:defRPr sz="1050">
                          <a:solidFill>
                            <a:srgbClr val="1C1712"/>
                          </a:solidFill>
                          <a:latin typeface="Courier New"/>
                        </a:defRPr>
                      </a:pPr>
                      <a:r>
                        <a:t>3.2</a:t>
                      </a:r>
                    </a:p>
                  </a:txBody>
                  <a:tcPr>
                    <a:solidFill>
                      <a:srgbClr val="FAFAF8"/>
                    </a:solidFill>
                  </a:tcPr>
                </a:tc>
                <a:extLst>
                  <a:ext uri="{0D108BD9-81ED-4DB2-BD59-A6C34878D82A}">
                    <a16:rowId xmlns:a16="http://schemas.microsoft.com/office/drawing/2014/main" val="10002"/>
                  </a:ext>
                </a:extLst>
              </a:tr>
              <a:tr h="340000">
                <a:tc>
                  <a:txBody>
                    <a:bodyPr/>
                    <a:lstStyle/>
                    <a:p>
                      <a:pPr algn="ctr">
                        <a:defRPr sz="1050">
                          <a:solidFill>
                            <a:srgbClr val="1C1712"/>
                          </a:solidFill>
                          <a:latin typeface="Courier New"/>
                        </a:defRPr>
                      </a:pPr>
                      <a:r>
                        <a:t>Asset 101</a:t>
                      </a:r>
                    </a:p>
                  </a:txBody>
                  <a:tcPr>
                    <a:solidFill>
                      <a:srgbClr val="FFFFFF"/>
                    </a:solidFill>
                  </a:tcPr>
                </a:tc>
                <a:tc>
                  <a:txBody>
                    <a:bodyPr/>
                    <a:lstStyle/>
                    <a:p>
                      <a:pPr algn="ctr">
                        <a:defRPr sz="1050">
                          <a:solidFill>
                            <a:srgbClr val="1C1712"/>
                          </a:solidFill>
                          <a:latin typeface="Courier New"/>
                        </a:defRPr>
                      </a:pPr>
                      <a:r>
                        <a:t>9.1</a:t>
                      </a:r>
                    </a:p>
                  </a:txBody>
                  <a:tcPr>
                    <a:solidFill>
                      <a:srgbClr val="FFFFFF"/>
                    </a:solidFill>
                  </a:tcPr>
                </a:tc>
                <a:extLst>
                  <a:ext uri="{0D108BD9-81ED-4DB2-BD59-A6C34878D82A}">
                    <a16:rowId xmlns:a16="http://schemas.microsoft.com/office/drawing/2014/main" val="10003"/>
                  </a:ext>
                </a:extLst>
              </a:tr>
              <a:tr h="340000">
                <a:tc>
                  <a:txBody>
                    <a:bodyPr/>
                    <a:lstStyle/>
                    <a:p>
                      <a:pPr algn="ctr">
                        <a:defRPr sz="1050">
                          <a:solidFill>
                            <a:srgbClr val="1C1712"/>
                          </a:solidFill>
                          <a:latin typeface="Courier New"/>
                        </a:defRPr>
                      </a:pPr>
                      <a:r>
                        <a:t>...</a:t>
                      </a:r>
                    </a:p>
                  </a:txBody>
                  <a:tcPr>
                    <a:solidFill>
                      <a:srgbClr val="FAFAF8"/>
                    </a:solidFill>
                  </a:tcPr>
                </a:tc>
                <a:tc>
                  <a:txBody>
                    <a:bodyPr/>
                    <a:lstStyle/>
                    <a:p>
                      <a:pPr algn="ctr">
                        <a:defRPr sz="1050">
                          <a:solidFill>
                            <a:srgbClr val="1C1712"/>
                          </a:solidFill>
                          <a:latin typeface="Courier New"/>
                        </a:defRPr>
                      </a:pPr>
                      <a:r>
                        <a:t>...</a:t>
                      </a:r>
                    </a:p>
                  </a:txBody>
                  <a:tcPr>
                    <a:solidFill>
                      <a:srgbClr val="FAFAF8"/>
                    </a:solid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850000" y="4650000"/>
            <a:ext cx="2500000" cy="1100000"/>
          </a:xfrm>
          <a:prstGeom prst="rect">
            <a:avLst/>
          </a:prstGeom>
          <a:noFill/>
        </p:spPr>
        <p:txBody>
          <a:bodyPr wrap="square">
            <a:spAutoFit/>
          </a:bodyPr>
          <a:lstStyle/>
          <a:p>
            <a:pPr>
              <a:defRPr sz="1100" b="1">
                <a:solidFill>
                  <a:srgbClr val="7A1F1A"/>
                </a:solidFill>
                <a:latin typeface="Cambria"/>
              </a:defRPr>
            </a:pPr>
            <a:r>
              <a:t>Historical Lifespans:</a:t>
            </a:r>
          </a:p>
          <a:p>
            <a:pPr>
              <a:defRPr sz="1000">
                <a:solidFill>
                  <a:srgbClr val="5A5347"/>
                </a:solidFill>
                <a:latin typeface="Cambria"/>
              </a:defRPr>
            </a:pPr>
            <a:r>
              <a:t>Chronological operating runtime observed between consecutive corrective maintenance interventions.</a:t>
            </a:r>
          </a:p>
        </p:txBody>
      </p:sp>
      <p:sp>
        <p:nvSpPr>
          <p:cNvPr id="20" name="Right Arrow 19"/>
          <p:cNvSpPr/>
          <p:nvPr/>
        </p:nvSpPr>
        <p:spPr>
          <a:xfrm>
            <a:off x="3600000" y="3600000"/>
            <a:ext cx="450000" cy="300000"/>
          </a:xfrm>
          <a:prstGeom prst="rightArrow">
            <a:avLst/>
          </a:prstGeom>
          <a:solidFill>
            <a:srgbClr val="5FB8A6"/>
          </a:solidFill>
          <a:ln>
            <a:solidFill>
              <a:srgbClr val="5F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00000" y="2250000"/>
            <a:ext cx="3400000" cy="365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50000" y="2350000"/>
            <a:ext cx="3100000" cy="400000"/>
          </a:xfrm>
          <a:prstGeom prst="rect">
            <a:avLst/>
          </a:prstGeom>
          <a:noFill/>
        </p:spPr>
        <p:txBody>
          <a:bodyPr wrap="none">
            <a:spAutoFit/>
          </a:bodyPr>
          <a:lstStyle/>
          <a:p>
            <a:pPr algn="ctr">
              <a:defRPr sz="1500" b="1">
                <a:solidFill>
                  <a:srgbClr val="1C1712"/>
                </a:solidFill>
                <a:latin typeface="Cambria"/>
              </a:defRPr>
            </a:pPr>
            <a:r>
              <a:t>Regression Analysis</a:t>
            </a:r>
          </a:p>
        </p:txBody>
      </p:sp>
      <p:sp>
        <p:nvSpPr>
          <p:cNvPr id="23" name="Rounded Rectangle 22"/>
          <p:cNvSpPr/>
          <p:nvPr/>
        </p:nvSpPr>
        <p:spPr>
          <a:xfrm>
            <a:off x="4350000" y="2800000"/>
            <a:ext cx="3100000" cy="1300000"/>
          </a:xfrm>
          <a:prstGeom prst="roundRect">
            <a:avLst/>
          </a:prstGeom>
          <a:solidFill>
            <a:srgbClr val="FFFFFF"/>
          </a:solidFill>
          <a:ln>
            <a:solidFill>
              <a:srgbClr val="3E9B8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A1F1A"/>
                </a:solidFill>
                <a:latin typeface="Cambria"/>
              </a:defRPr>
            </a:pPr>
            <a:r>
              <a:t>Double Natural Log Linearization</a:t>
            </a:r>
          </a:p>
          <a:p>
            <a:pPr algn="ctr">
              <a:defRPr sz="1050" b="1">
                <a:solidFill>
                  <a:srgbClr val="1C1712"/>
                </a:solidFill>
                <a:latin typeface="Courier New"/>
              </a:defRPr>
            </a:pPr>
            <a:r>
              <a:t>ln(-ln(1 - F(t))) = β·ln(t) - β·ln(η)</a:t>
            </a:r>
          </a:p>
        </p:txBody>
      </p:sp>
      <p:sp>
        <p:nvSpPr>
          <p:cNvPr id="24" name="Rounded Rectangle 23"/>
          <p:cNvSpPr/>
          <p:nvPr/>
        </p:nvSpPr>
        <p:spPr>
          <a:xfrm>
            <a:off x="4350000" y="4200000"/>
            <a:ext cx="3100000" cy="1550000"/>
          </a:xfrm>
          <a:prstGeom prst="roundRect">
            <a:avLst/>
          </a:prstGeom>
          <a:solidFill>
            <a:srgbClr val="FFFFFF"/>
          </a:solidFill>
          <a:ln>
            <a:solidFill>
              <a:srgbClr val="3E9B8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50" b="1">
                <a:solidFill>
                  <a:srgbClr val="7A1F1A"/>
                </a:solidFill>
                <a:latin typeface="Cambria"/>
              </a:defRPr>
            </a:pPr>
            <a:r>
              <a:t>Estimated Parameters:</a:t>
            </a:r>
          </a:p>
          <a:p>
            <a:pPr>
              <a:defRPr sz="1050">
                <a:solidFill>
                  <a:srgbClr val="1C1712"/>
                </a:solidFill>
                <a:latin typeface="Cambria"/>
              </a:defRPr>
            </a:pPr>
            <a:r>
              <a:t>• Slope = Shape (β): Dictates wear-out rate</a:t>
            </a:r>
          </a:p>
          <a:p>
            <a:pPr>
              <a:defRPr sz="1050">
                <a:solidFill>
                  <a:srgbClr val="1C1712"/>
                </a:solidFill>
                <a:latin typeface="Cambria"/>
              </a:defRPr>
            </a:pPr>
            <a:r>
              <a:t>• Intercept = Scale (η): Characteristic life</a:t>
            </a:r>
          </a:p>
          <a:p>
            <a:pPr>
              <a:defRPr sz="1050">
                <a:solidFill>
                  <a:srgbClr val="1C1712"/>
                </a:solidFill>
                <a:latin typeface="Cambria"/>
              </a:defRPr>
            </a:pPr>
            <a:r>
              <a:t>• R² Correlation: Goodness-of-fit metric</a:t>
            </a:r>
          </a:p>
        </p:txBody>
      </p:sp>
      <p:sp>
        <p:nvSpPr>
          <p:cNvPr id="25" name="Right Arrow 24"/>
          <p:cNvSpPr/>
          <p:nvPr/>
        </p:nvSpPr>
        <p:spPr>
          <a:xfrm>
            <a:off x="7750000" y="3600000"/>
            <a:ext cx="450000" cy="300000"/>
          </a:xfrm>
          <a:prstGeom prst="rightArrow">
            <a:avLst/>
          </a:prstGeom>
          <a:solidFill>
            <a:srgbClr val="5FB8A6"/>
          </a:solidFill>
          <a:ln>
            <a:solidFill>
              <a:srgbClr val="5F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350000" y="2250000"/>
            <a:ext cx="3100000" cy="365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50000" y="2350000"/>
            <a:ext cx="2900000" cy="400000"/>
          </a:xfrm>
          <a:prstGeom prst="rect">
            <a:avLst/>
          </a:prstGeom>
          <a:noFill/>
        </p:spPr>
        <p:txBody>
          <a:bodyPr wrap="none">
            <a:spAutoFit/>
          </a:bodyPr>
          <a:lstStyle/>
          <a:p>
            <a:pPr algn="ctr">
              <a:defRPr sz="1500" b="1">
                <a:solidFill>
                  <a:srgbClr val="1C1712"/>
                </a:solidFill>
                <a:latin typeface="Cambria"/>
              </a:defRPr>
            </a:pPr>
            <a:r>
              <a:t>Weibull Distribution</a:t>
            </a:r>
          </a:p>
        </p:txBody>
      </p:sp>
      <p:pic>
        <p:nvPicPr>
          <p:cNvPr id="28" name="Picture 27" descr="weibull_plot.png"/>
          <p:cNvPicPr>
            <a:picLocks noChangeAspect="1"/>
          </p:cNvPicPr>
          <p:nvPr/>
        </p:nvPicPr>
        <p:blipFill>
          <a:blip r:embed="rId3"/>
          <a:stretch>
            <a:fillRect/>
          </a:stretch>
        </p:blipFill>
        <p:spPr>
          <a:xfrm>
            <a:off x="8450000" y="2800000"/>
            <a:ext cx="2900000" cy="2100000"/>
          </a:xfrm>
          <a:prstGeom prst="rect">
            <a:avLst/>
          </a:prstGeom>
        </p:spPr>
      </p:pic>
      <p:sp>
        <p:nvSpPr>
          <p:cNvPr id="29" name="TextBox 28"/>
          <p:cNvSpPr txBox="1"/>
          <p:nvPr/>
        </p:nvSpPr>
        <p:spPr>
          <a:xfrm>
            <a:off x="8450000" y="5000000"/>
            <a:ext cx="2900000" cy="800000"/>
          </a:xfrm>
          <a:prstGeom prst="rect">
            <a:avLst/>
          </a:prstGeom>
          <a:noFill/>
        </p:spPr>
        <p:txBody>
          <a:bodyPr wrap="square">
            <a:spAutoFit/>
          </a:bodyPr>
          <a:lstStyle/>
          <a:p>
            <a:pPr>
              <a:defRPr sz="1100" b="1">
                <a:solidFill>
                  <a:srgbClr val="7A1F1A"/>
                </a:solidFill>
                <a:latin typeface="Cambria"/>
              </a:defRPr>
            </a:pPr>
            <a:r>
              <a:t>Cumulative S-Curve:</a:t>
            </a:r>
          </a:p>
          <a:p>
            <a:pPr>
              <a:defRPr sz="1000">
                <a:solidFill>
                  <a:srgbClr val="5A5347"/>
                </a:solidFill>
                <a:latin typeface="Cambria"/>
              </a:defRPr>
            </a:pPr>
            <a:r>
              <a:t>F(t) = 1 - exp(-(t/η)^β). Governs wear-out acceleration and predictive replacement timing.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The Classical Bathtub Curve &amp; Associated Beta Values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Three distinct physical failure regions across the equipment operating lifecycle.</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33</a:t>
            </a:r>
            <a:r>
              <a:rPr sz="900">
                <a:solidFill>
                  <a:srgbClr val="8A8477"/>
                </a:solidFill>
                <a:latin typeface="Courier New"/>
              </a:rPr>
              <a:t> / 80</a:t>
            </a:r>
            <a:endParaRPr lang="en-US" sz="900" dirty="0"/>
          </a:p>
        </p:txBody>
      </p:sp>
      <p:sp>
        <p:nvSpPr>
          <p:cNvPr id="13" name="Shape 10"/>
          <p:cNvSpPr/>
          <p:nvPr/>
        </p:nvSpPr>
        <p:spPr>
          <a:xfrm>
            <a:off x="548640" y="1783080"/>
            <a:ext cx="5989320" cy="324612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THE CLASSICAL BATHTUB CURVE</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pic>
        <p:nvPicPr>
          <p:cNvPr id="16" name="Image 1" descr="The Classical Bathtub Curve"/>
          <p:cNvPicPr>
            <a:picLocks noChangeAspect="1"/>
          </p:cNvPicPr>
          <p:nvPr/>
        </p:nvPicPr>
        <p:blipFill>
          <a:blip r:embed="rId4"/>
          <a:stretch>
            <a:fillRect/>
          </a:stretch>
        </p:blipFill>
        <p:spPr>
          <a:xfrm>
            <a:off x="713232" y="2594359"/>
            <a:ext cx="5660136" cy="1952747"/>
          </a:xfrm>
          <a:prstGeom prst="rect">
            <a:avLst/>
          </a:prstGeom>
        </p:spPr>
      </p:pic>
      <p:sp>
        <p:nvSpPr>
          <p:cNvPr id="17" name="Shape 13"/>
          <p:cNvSpPr/>
          <p:nvPr/>
        </p:nvSpPr>
        <p:spPr>
          <a:xfrm>
            <a:off x="548640" y="5138928"/>
            <a:ext cx="685800" cy="256032"/>
          </a:xfrm>
          <a:prstGeom prst="rect">
            <a:avLst/>
          </a:prstGeom>
          <a:solidFill>
            <a:srgbClr val="DCE6EC"/>
          </a:solidFill>
          <a:ln w="12700">
            <a:solidFill>
              <a:srgbClr val="1A4A6E"/>
            </a:solidFill>
            <a:prstDash val="solid"/>
          </a:ln>
        </p:spPr>
        <p:txBody>
          <a:bodyPr/>
          <a:lstStyle/>
          <a:p>
            <a:endParaRPr lang="en-IN"/>
          </a:p>
        </p:txBody>
      </p:sp>
      <p:sp>
        <p:nvSpPr>
          <p:cNvPr id="18" name="Text 14"/>
          <p:cNvSpPr txBox="1"/>
          <p:nvPr/>
        </p:nvSpPr>
        <p:spPr>
          <a:xfrm>
            <a:off x="548640" y="5138928"/>
            <a:ext cx="685800" cy="256032"/>
          </a:xfrm>
          <a:prstGeom prst="rect">
            <a:avLst/>
          </a:prstGeom>
          <a:noFill/>
          <a:ln/>
        </p:spPr>
        <p:txBody>
          <a:bodyPr wrap="square" lIns="0" tIns="0" rIns="0" bIns="0" rtlCol="0" anchor="ctr"/>
          <a:lstStyle/>
          <a:p>
            <a:pPr marL="0" indent="0" algn="ctr">
              <a:buNone/>
            </a:pPr>
            <a:r>
              <a:rPr lang="en-US" sz="900" b="1" dirty="0">
                <a:solidFill>
                  <a:srgbClr val="1A4A6E"/>
                </a:solidFill>
                <a:latin typeface="Courier New" pitchFamily="34" charset="0"/>
                <a:ea typeface="Courier New" pitchFamily="34" charset="-122"/>
                <a:cs typeface="Courier New" pitchFamily="34" charset="-120"/>
              </a:rPr>
              <a:t>ZONE I</a:t>
            </a:r>
            <a:endParaRPr lang="en-US" sz="900" dirty="0"/>
          </a:p>
        </p:txBody>
      </p:sp>
      <p:sp>
        <p:nvSpPr>
          <p:cNvPr id="19" name="Text 15"/>
          <p:cNvSpPr txBox="1"/>
          <p:nvPr/>
        </p:nvSpPr>
        <p:spPr>
          <a:xfrm>
            <a:off x="1371600" y="5120640"/>
            <a:ext cx="5029200" cy="292608"/>
          </a:xfrm>
          <a:prstGeom prst="rect">
            <a:avLst/>
          </a:prstGeom>
          <a:noFill/>
          <a:ln/>
        </p:spPr>
        <p:txBody>
          <a:bodyPr wrap="square" lIns="0" tIns="0" rIns="0" bIns="0" rtlCol="0" anchor="t"/>
          <a:lstStyle/>
          <a:p>
            <a:pPr marL="0" indent="0">
              <a:buNone/>
            </a:pPr>
            <a:r>
              <a:rPr lang="en-US" sz="1250" b="1" dirty="0">
                <a:solidFill>
                  <a:srgbClr val="1A4A6E"/>
                </a:solidFill>
                <a:latin typeface="Cambria" pitchFamily="34" charset="0"/>
                <a:ea typeface="Cambria" pitchFamily="34" charset="-122"/>
                <a:cs typeface="Cambria" pitchFamily="34" charset="-120"/>
              </a:rPr>
              <a:t>Burn-In</a:t>
            </a:r>
            <a:endParaRPr lang="en-US" sz="1250" dirty="0"/>
          </a:p>
        </p:txBody>
      </p:sp>
      <p:sp>
        <p:nvSpPr>
          <p:cNvPr id="20" name="Shape 16"/>
          <p:cNvSpPr/>
          <p:nvPr/>
        </p:nvSpPr>
        <p:spPr>
          <a:xfrm>
            <a:off x="548640" y="5504688"/>
            <a:ext cx="685800" cy="256032"/>
          </a:xfrm>
          <a:prstGeom prst="rect">
            <a:avLst/>
          </a:prstGeom>
          <a:solidFill>
            <a:srgbClr val="DDE7D6"/>
          </a:solidFill>
          <a:ln w="12700">
            <a:solidFill>
              <a:srgbClr val="2F6B3A"/>
            </a:solidFill>
            <a:prstDash val="solid"/>
          </a:ln>
        </p:spPr>
        <p:txBody>
          <a:bodyPr/>
          <a:lstStyle/>
          <a:p>
            <a:endParaRPr lang="en-IN"/>
          </a:p>
        </p:txBody>
      </p:sp>
      <p:sp>
        <p:nvSpPr>
          <p:cNvPr id="21" name="Text 17"/>
          <p:cNvSpPr txBox="1"/>
          <p:nvPr/>
        </p:nvSpPr>
        <p:spPr>
          <a:xfrm>
            <a:off x="548640" y="5504688"/>
            <a:ext cx="685800" cy="256032"/>
          </a:xfrm>
          <a:prstGeom prst="rect">
            <a:avLst/>
          </a:prstGeom>
          <a:noFill/>
          <a:ln/>
        </p:spPr>
        <p:txBody>
          <a:bodyPr wrap="square" lIns="0" tIns="0" rIns="0" bIns="0" rtlCol="0" anchor="ctr"/>
          <a:lstStyle/>
          <a:p>
            <a:pPr marL="0" indent="0" algn="ctr">
              <a:buNone/>
            </a:pPr>
            <a:r>
              <a:rPr lang="en-US" sz="900" b="1" dirty="0">
                <a:solidFill>
                  <a:srgbClr val="2F6B3A"/>
                </a:solidFill>
                <a:latin typeface="Courier New" pitchFamily="34" charset="0"/>
                <a:ea typeface="Courier New" pitchFamily="34" charset="-122"/>
                <a:cs typeface="Courier New" pitchFamily="34" charset="-120"/>
              </a:rPr>
              <a:t>ZONE II</a:t>
            </a:r>
            <a:endParaRPr lang="en-US" sz="900" dirty="0"/>
          </a:p>
        </p:txBody>
      </p:sp>
      <p:sp>
        <p:nvSpPr>
          <p:cNvPr id="22" name="Text 18"/>
          <p:cNvSpPr txBox="1"/>
          <p:nvPr/>
        </p:nvSpPr>
        <p:spPr>
          <a:xfrm>
            <a:off x="1371600" y="5486400"/>
            <a:ext cx="5029200" cy="292608"/>
          </a:xfrm>
          <a:prstGeom prst="rect">
            <a:avLst/>
          </a:prstGeom>
          <a:noFill/>
          <a:ln/>
        </p:spPr>
        <p:txBody>
          <a:bodyPr wrap="square" lIns="0" tIns="0" rIns="0" bIns="0" rtlCol="0" anchor="t"/>
          <a:lstStyle/>
          <a:p>
            <a:pPr marL="0" indent="0">
              <a:buNone/>
            </a:pPr>
            <a:r>
              <a:rPr lang="en-US" sz="1250" b="1" dirty="0">
                <a:solidFill>
                  <a:srgbClr val="2F6B3A"/>
                </a:solidFill>
                <a:latin typeface="Cambria" pitchFamily="34" charset="0"/>
                <a:ea typeface="Cambria" pitchFamily="34" charset="-122"/>
                <a:cs typeface="Cambria" pitchFamily="34" charset="-120"/>
              </a:rPr>
              <a:t>Useful Life</a:t>
            </a:r>
            <a:endParaRPr lang="en-US" sz="1250" dirty="0"/>
          </a:p>
        </p:txBody>
      </p:sp>
      <p:sp>
        <p:nvSpPr>
          <p:cNvPr id="23" name="Shape 19"/>
          <p:cNvSpPr/>
          <p:nvPr/>
        </p:nvSpPr>
        <p:spPr>
          <a:xfrm>
            <a:off x="548640" y="5870448"/>
            <a:ext cx="685800" cy="256032"/>
          </a:xfrm>
          <a:prstGeom prst="rect">
            <a:avLst/>
          </a:prstGeom>
          <a:solidFill>
            <a:srgbClr val="EFDCCF"/>
          </a:solidFill>
          <a:ln w="12700">
            <a:solidFill>
              <a:srgbClr val="7A1F1A"/>
            </a:solidFill>
            <a:prstDash val="solid"/>
          </a:ln>
        </p:spPr>
        <p:txBody>
          <a:bodyPr/>
          <a:lstStyle/>
          <a:p>
            <a:endParaRPr lang="en-IN"/>
          </a:p>
        </p:txBody>
      </p:sp>
      <p:sp>
        <p:nvSpPr>
          <p:cNvPr id="24" name="Text 20"/>
          <p:cNvSpPr txBox="1"/>
          <p:nvPr/>
        </p:nvSpPr>
        <p:spPr>
          <a:xfrm>
            <a:off x="548640" y="5870448"/>
            <a:ext cx="685800" cy="256032"/>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ZONE III</a:t>
            </a:r>
            <a:endParaRPr lang="en-US" sz="900" dirty="0"/>
          </a:p>
        </p:txBody>
      </p:sp>
      <p:sp>
        <p:nvSpPr>
          <p:cNvPr id="25" name="Text 21"/>
          <p:cNvSpPr txBox="1"/>
          <p:nvPr/>
        </p:nvSpPr>
        <p:spPr>
          <a:xfrm>
            <a:off x="1371600" y="5852160"/>
            <a:ext cx="5029200" cy="292608"/>
          </a:xfrm>
          <a:prstGeom prst="rect">
            <a:avLst/>
          </a:prstGeom>
          <a:noFill/>
          <a:ln/>
        </p:spPr>
        <p:txBody>
          <a:bodyPr wrap="square" lIns="0" tIns="0" rIns="0" bIns="0" rtlCol="0" anchor="t"/>
          <a:lstStyle/>
          <a:p>
            <a:pPr marL="0" indent="0">
              <a:buNone/>
            </a:pPr>
            <a:r>
              <a:rPr lang="en-US" sz="1250" b="1" dirty="0">
                <a:solidFill>
                  <a:srgbClr val="7A1F1A"/>
                </a:solidFill>
                <a:latin typeface="Cambria" pitchFamily="34" charset="0"/>
                <a:ea typeface="Cambria" pitchFamily="34" charset="-122"/>
                <a:cs typeface="Cambria" pitchFamily="34" charset="-120"/>
              </a:rPr>
              <a:t>Wear-Out</a:t>
            </a:r>
            <a:endParaRPr lang="en-US" sz="1250" dirty="0"/>
          </a:p>
        </p:txBody>
      </p:sp>
      <p:sp>
        <p:nvSpPr>
          <p:cNvPr id="26" name="Shape 22"/>
          <p:cNvSpPr/>
          <p:nvPr/>
        </p:nvSpPr>
        <p:spPr>
          <a:xfrm>
            <a:off x="6720840" y="1783080"/>
            <a:ext cx="4919472" cy="1508760"/>
          </a:xfrm>
          <a:prstGeom prst="rect">
            <a:avLst/>
          </a:prstGeom>
          <a:solidFill>
            <a:srgbClr val="EFDCCF"/>
          </a:solidFill>
          <a:ln w="12700">
            <a:solidFill>
              <a:srgbClr val="A03B30"/>
            </a:solidFill>
            <a:prstDash val="solid"/>
          </a:ln>
        </p:spPr>
        <p:txBody>
          <a:bodyPr/>
          <a:lstStyle/>
          <a:p>
            <a:endParaRPr lang="en-IN"/>
          </a:p>
        </p:txBody>
      </p:sp>
      <p:sp>
        <p:nvSpPr>
          <p:cNvPr id="27" name="Shape 23"/>
          <p:cNvSpPr/>
          <p:nvPr/>
        </p:nvSpPr>
        <p:spPr>
          <a:xfrm>
            <a:off x="6903720" y="1965960"/>
            <a:ext cx="512064" cy="512064"/>
          </a:xfrm>
          <a:prstGeom prst="ellipse">
            <a:avLst/>
          </a:prstGeom>
          <a:solidFill>
            <a:srgbClr val="EFDCCF"/>
          </a:solidFill>
          <a:ln w="15875">
            <a:solidFill>
              <a:srgbClr val="7A1F1A"/>
            </a:solidFill>
            <a:prstDash val="solid"/>
          </a:ln>
        </p:spPr>
        <p:txBody>
          <a:bodyPr/>
          <a:lstStyle/>
          <a:p>
            <a:endParaRPr lang="en-IN"/>
          </a:p>
        </p:txBody>
      </p:sp>
      <p:pic>
        <p:nvPicPr>
          <p:cNvPr id="28" name="Image 2" descr="preencoded.png"/>
          <p:cNvPicPr>
            <a:picLocks noChangeAspect="1"/>
          </p:cNvPicPr>
          <p:nvPr/>
        </p:nvPicPr>
        <p:blipFill>
          <a:blip r:embed="rId5"/>
          <a:stretch>
            <a:fillRect/>
          </a:stretch>
        </p:blipFill>
        <p:spPr>
          <a:xfrm>
            <a:off x="7031736" y="2093976"/>
            <a:ext cx="256032" cy="256032"/>
          </a:xfrm>
          <a:prstGeom prst="rect">
            <a:avLst/>
          </a:prstGeom>
        </p:spPr>
      </p:pic>
      <p:sp>
        <p:nvSpPr>
          <p:cNvPr id="29" name="Text 24"/>
          <p:cNvSpPr txBox="1"/>
          <p:nvPr/>
        </p:nvSpPr>
        <p:spPr>
          <a:xfrm>
            <a:off x="7589520" y="1783080"/>
            <a:ext cx="3886200" cy="1508760"/>
          </a:xfrm>
          <a:prstGeom prst="rect">
            <a:avLst/>
          </a:prstGeom>
          <a:noFill/>
          <a:ln/>
        </p:spPr>
        <p:txBody>
          <a:bodyPr wrap="square" lIns="0" tIns="0" rIns="0" bIns="0" rtlCol="0" anchor="ctr"/>
          <a:lstStyle/>
          <a:p>
            <a:pPr marL="0" indent="0">
              <a:buNone/>
            </a:pPr>
            <a:r>
              <a:rPr lang="en-US" sz="1350" b="1" dirty="0">
                <a:solidFill>
                  <a:srgbClr val="1C1712"/>
                </a:solidFill>
                <a:latin typeface="Cambria" pitchFamily="34" charset="0"/>
                <a:ea typeface="Cambria" pitchFamily="34" charset="-122"/>
                <a:cs typeface="Cambria" pitchFamily="34" charset="-120"/>
              </a:rPr>
              <a:t>The QRO Reality:  </a:t>
            </a:r>
            <a:r>
              <a:rPr lang="en-US" sz="1300" dirty="0">
                <a:solidFill>
                  <a:srgbClr val="2C261E"/>
                </a:solidFill>
                <a:latin typeface="Cambria" pitchFamily="34" charset="0"/>
                <a:ea typeface="Cambria" pitchFamily="34" charset="-122"/>
                <a:cs typeface="Cambria" pitchFamily="34" charset="-120"/>
              </a:rPr>
              <a:t>Nowlan &amp; Heap aviation studies proved only ~11% of equipment follows classical wear-out; 89% exhibits random or infant-mortality patterns.</a:t>
            </a:r>
            <a:endParaRPr lang="en-US" sz="1250" dirty="0"/>
          </a:p>
        </p:txBody>
      </p:sp>
      <p:sp>
        <p:nvSpPr>
          <p:cNvPr id="30" name="Shape 25"/>
          <p:cNvSpPr/>
          <p:nvPr/>
        </p:nvSpPr>
        <p:spPr>
          <a:xfrm>
            <a:off x="6720840" y="3429000"/>
            <a:ext cx="4919472" cy="2788920"/>
          </a:xfrm>
          <a:prstGeom prst="rect">
            <a:avLst/>
          </a:prstGeom>
          <a:solidFill>
            <a:srgbClr val="FBF4E4"/>
          </a:solidFill>
          <a:ln w="12700">
            <a:solidFill>
              <a:srgbClr val="C9B48F"/>
            </a:solidFill>
            <a:prstDash val="solid"/>
          </a:ln>
        </p:spPr>
        <p:txBody>
          <a:bodyPr/>
          <a:lstStyle/>
          <a:p>
            <a:endParaRPr lang="en-IN"/>
          </a:p>
        </p:txBody>
      </p:sp>
      <p:sp>
        <p:nvSpPr>
          <p:cNvPr id="31" name="Text 26"/>
          <p:cNvSpPr txBox="1"/>
          <p:nvPr/>
        </p:nvSpPr>
        <p:spPr>
          <a:xfrm>
            <a:off x="6949440" y="3566160"/>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ACTIONABLE PROTOCOLS BY ZONE</a:t>
            </a:r>
            <a:endParaRPr lang="en-US" sz="950" dirty="0"/>
          </a:p>
        </p:txBody>
      </p:sp>
      <p:sp>
        <p:nvSpPr>
          <p:cNvPr id="32" name="Text 27"/>
          <p:cNvSpPr txBox="1"/>
          <p:nvPr/>
        </p:nvSpPr>
        <p:spPr>
          <a:xfrm>
            <a:off x="6949440" y="3913632"/>
            <a:ext cx="4526280" cy="2194560"/>
          </a:xfrm>
          <a:prstGeom prst="rect">
            <a:avLst/>
          </a:prstGeom>
          <a:noFill/>
          <a:ln/>
        </p:spPr>
        <p:txBody>
          <a:bodyPr wrap="square" lIns="0" tIns="0" rIns="0" bIns="0" rtlCol="0" anchor="t"/>
          <a:lstStyle/>
          <a:p>
            <a:pPr marL="190500" indent="-190500">
              <a:spcAft>
                <a:spcPts val="1200"/>
              </a:spcAft>
              <a:buSzPct val="100000"/>
              <a:buChar char="▪"/>
            </a:pPr>
            <a:r>
              <a:rPr lang="en-US" sz="1250" b="1" dirty="0">
                <a:solidFill>
                  <a:srgbClr val="1C1712"/>
                </a:solidFill>
                <a:latin typeface="Cambria" pitchFamily="34" charset="0"/>
                <a:ea typeface="Cambria" pitchFamily="34" charset="-122"/>
                <a:cs typeface="Cambria" pitchFamily="34" charset="-120"/>
              </a:rPr>
              <a:t>Zone I (Burn-In):</a:t>
            </a:r>
            <a:r>
              <a:rPr lang="en-US" sz="1250" dirty="0">
                <a:solidFill>
                  <a:srgbClr val="2C261E"/>
                </a:solidFill>
                <a:latin typeface="Cambria" pitchFamily="34" charset="0"/>
                <a:ea typeface="Cambria" pitchFamily="34" charset="-122"/>
                <a:cs typeface="Cambria" pitchFamily="34" charset="-120"/>
              </a:rPr>
              <a:t> Factory acceptance testing, strict installation checklists, enhanced first-30-day vibration monitoring.</a:t>
            </a:r>
            <a:endParaRPr lang="en-US" sz="1250" dirty="0"/>
          </a:p>
          <a:p>
            <a:pPr marL="190500" indent="-190500">
              <a:spcAft>
                <a:spcPts val="1200"/>
              </a:spcAft>
              <a:buSzPct val="100000"/>
              <a:buChar char="▪"/>
            </a:pPr>
            <a:r>
              <a:rPr lang="en-US" sz="1250" b="1" dirty="0">
                <a:solidFill>
                  <a:srgbClr val="1C1712"/>
                </a:solidFill>
                <a:latin typeface="Cambria" pitchFamily="34" charset="0"/>
                <a:ea typeface="Cambria" pitchFamily="34" charset="-122"/>
                <a:cs typeface="Cambria" pitchFamily="34" charset="-120"/>
              </a:rPr>
              <a:t>Zone II (Useful Life):</a:t>
            </a:r>
            <a:r>
              <a:rPr lang="en-US" sz="1250" dirty="0">
                <a:solidFill>
                  <a:srgbClr val="2C261E"/>
                </a:solidFill>
                <a:latin typeface="Cambria" pitchFamily="34" charset="0"/>
                <a:ea typeface="Cambria" pitchFamily="34" charset="-122"/>
                <a:cs typeface="Cambria" pitchFamily="34" charset="-120"/>
              </a:rPr>
              <a:t> Periodic condition monitoring, lube sampling, operating within design envelopes.</a:t>
            </a:r>
            <a:endParaRPr lang="en-US" sz="1250" dirty="0"/>
          </a:p>
          <a:p>
            <a:pPr marL="190500" indent="-190500">
              <a:spcAft>
                <a:spcPts val="1200"/>
              </a:spcAft>
              <a:buSzPct val="100000"/>
              <a:buChar char="▪"/>
            </a:pPr>
            <a:r>
              <a:rPr lang="en-US" sz="1250" b="1" dirty="0">
                <a:solidFill>
                  <a:srgbClr val="1C1712"/>
                </a:solidFill>
                <a:latin typeface="Cambria" pitchFamily="34" charset="0"/>
                <a:ea typeface="Cambria" pitchFamily="34" charset="-122"/>
                <a:cs typeface="Cambria" pitchFamily="34" charset="-120"/>
              </a:rPr>
              <a:t>Zone III (Wear-Out):</a:t>
            </a:r>
            <a:r>
              <a:rPr lang="en-US" sz="1250" dirty="0">
                <a:solidFill>
                  <a:srgbClr val="2C261E"/>
                </a:solidFill>
                <a:latin typeface="Cambria" pitchFamily="34" charset="0"/>
                <a:ea typeface="Cambria" pitchFamily="34" charset="-122"/>
                <a:cs typeface="Cambria" pitchFamily="34" charset="-120"/>
              </a:rPr>
              <a:t> Planned overhaul, seal replacement, capital retubing timed before exponential risk escalation.</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03 — PROBABILITY &amp; STATISTICS</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Quantified Financial Risk: Risk = POF × COF</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Real-time calculation of annualized monetized risk against corporate ceilings.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34</a:t>
            </a:r>
            <a:r>
              <a:rPr sz="900">
                <a:solidFill>
                  <a:srgbClr val="8A8477"/>
                </a:solidFill>
                <a:latin typeface="Courier New"/>
              </a:rPr>
              <a:t> / 80</a:t>
            </a:r>
            <a:endParaRPr lang="en-US" sz="900" dirty="0"/>
          </a:p>
        </p:txBody>
      </p:sp>
      <p:sp>
        <p:nvSpPr>
          <p:cNvPr id="13" name="Shape 10"/>
          <p:cNvSpPr/>
          <p:nvPr/>
        </p:nvSpPr>
        <p:spPr>
          <a:xfrm>
            <a:off x="548640" y="1783080"/>
            <a:ext cx="5029200" cy="44348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947672"/>
            <a:ext cx="36576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RISK MATRIX ENGINE</a:t>
            </a:r>
            <a:endParaRPr lang="en-US" sz="950" dirty="0"/>
          </a:p>
        </p:txBody>
      </p:sp>
      <p:sp>
        <p:nvSpPr>
          <p:cNvPr id="15" name="Shape 12"/>
          <p:cNvSpPr/>
          <p:nvPr/>
        </p:nvSpPr>
        <p:spPr>
          <a:xfrm>
            <a:off x="4709160" y="1920240"/>
            <a:ext cx="685800" cy="274320"/>
          </a:xfrm>
          <a:prstGeom prst="rect">
            <a:avLst/>
          </a:prstGeom>
          <a:solidFill>
            <a:srgbClr val="DDE7D6"/>
          </a:solidFill>
          <a:ln w="12700">
            <a:solidFill>
              <a:srgbClr val="2F6B3A"/>
            </a:solidFill>
            <a:prstDash val="solid"/>
          </a:ln>
        </p:spPr>
        <p:txBody>
          <a:bodyPr/>
          <a:lstStyle/>
          <a:p>
            <a:endParaRPr lang="en-IN"/>
          </a:p>
        </p:txBody>
      </p:sp>
      <p:sp>
        <p:nvSpPr>
          <p:cNvPr id="16" name="Text 13"/>
          <p:cNvSpPr txBox="1"/>
          <p:nvPr/>
        </p:nvSpPr>
        <p:spPr>
          <a:xfrm>
            <a:off x="4709160" y="1920240"/>
            <a:ext cx="685800" cy="274320"/>
          </a:xfrm>
          <a:prstGeom prst="rect">
            <a:avLst/>
          </a:prstGeom>
          <a:noFill/>
          <a:ln/>
        </p:spPr>
        <p:txBody>
          <a:bodyPr wrap="square" lIns="0" tIns="0" rIns="0" bIns="0" rtlCol="0" anchor="ctr"/>
          <a:lstStyle/>
          <a:p>
            <a:pPr marL="0" indent="0" algn="ctr">
              <a:buNone/>
            </a:pPr>
            <a:r>
              <a:rPr lang="en-US" sz="900" b="1" dirty="0">
                <a:solidFill>
                  <a:srgbClr val="2F6B3A"/>
                </a:solidFill>
                <a:latin typeface="Courier New" pitchFamily="34" charset="0"/>
                <a:ea typeface="Courier New" pitchFamily="34" charset="-122"/>
                <a:cs typeface="Courier New" pitchFamily="34" charset="-120"/>
              </a:rPr>
              <a:t>LIVE</a:t>
            </a:r>
            <a:endParaRPr lang="en-US" sz="900" dirty="0"/>
          </a:p>
        </p:txBody>
      </p:sp>
      <p:sp>
        <p:nvSpPr>
          <p:cNvPr id="17" name="Text 14"/>
          <p:cNvSpPr txBox="1"/>
          <p:nvPr/>
        </p:nvSpPr>
        <p:spPr>
          <a:xfrm>
            <a:off x="777240" y="2377440"/>
            <a:ext cx="3108960" cy="237744"/>
          </a:xfrm>
          <a:prstGeom prst="rect">
            <a:avLst/>
          </a:prstGeom>
          <a:noFill/>
          <a:ln/>
        </p:spPr>
        <p:txBody>
          <a:bodyPr wrap="square" lIns="0" tIns="0" rIns="0" bIns="0" rtlCol="0" anchor="t"/>
          <a:lstStyle/>
          <a:p>
            <a:pPr marL="0" indent="0">
              <a:buNone/>
            </a:pPr>
            <a:r>
              <a:rPr lang="en-US" sz="1200" dirty="0">
                <a:solidFill>
                  <a:srgbClr val="2C261E"/>
                </a:solidFill>
                <a:latin typeface="Cambria" pitchFamily="34" charset="0"/>
                <a:ea typeface="Cambria" pitchFamily="34" charset="-122"/>
                <a:cs typeface="Cambria" pitchFamily="34" charset="-120"/>
              </a:rPr>
              <a:t>Probability of Failure (POF)</a:t>
            </a:r>
            <a:endParaRPr lang="en-US" sz="1200" dirty="0"/>
          </a:p>
        </p:txBody>
      </p:sp>
      <p:sp>
        <p:nvSpPr>
          <p:cNvPr id="18" name="Text 15"/>
          <p:cNvSpPr txBox="1"/>
          <p:nvPr/>
        </p:nvSpPr>
        <p:spPr>
          <a:xfrm>
            <a:off x="3886200" y="2377440"/>
            <a:ext cx="1463040" cy="237744"/>
          </a:xfrm>
          <a:prstGeom prst="rect">
            <a:avLst/>
          </a:prstGeom>
          <a:noFill/>
          <a:ln/>
        </p:spPr>
        <p:txBody>
          <a:bodyPr wrap="square" lIns="0" tIns="0" rIns="0" bIns="0" rtlCol="0" anchor="t"/>
          <a:lstStyle/>
          <a:p>
            <a:pPr marL="0" indent="0" algn="r">
              <a:buNone/>
            </a:pPr>
            <a:r>
              <a:rPr lang="en-US" sz="1200" b="1" dirty="0">
                <a:solidFill>
                  <a:srgbClr val="7A1F1A"/>
                </a:solidFill>
                <a:latin typeface="Courier New" pitchFamily="34" charset="0"/>
                <a:ea typeface="Courier New" pitchFamily="34" charset="-122"/>
                <a:cs typeface="Courier New" pitchFamily="34" charset="-120"/>
              </a:rPr>
              <a:t>15.0 %</a:t>
            </a:r>
            <a:endParaRPr lang="en-US" sz="1200" dirty="0"/>
          </a:p>
        </p:txBody>
      </p:sp>
      <p:sp>
        <p:nvSpPr>
          <p:cNvPr id="19" name="Shape 16"/>
          <p:cNvSpPr/>
          <p:nvPr/>
        </p:nvSpPr>
        <p:spPr>
          <a:xfrm>
            <a:off x="777240" y="2688336"/>
            <a:ext cx="4572000" cy="73152"/>
          </a:xfrm>
          <a:prstGeom prst="rect">
            <a:avLst/>
          </a:prstGeom>
          <a:solidFill>
            <a:srgbClr val="EADDC0"/>
          </a:solidFill>
          <a:ln w="6350">
            <a:solidFill>
              <a:srgbClr val="C9B48F"/>
            </a:solidFill>
            <a:prstDash val="solid"/>
          </a:ln>
        </p:spPr>
        <p:txBody>
          <a:bodyPr/>
          <a:lstStyle/>
          <a:p>
            <a:endParaRPr lang="en-IN"/>
          </a:p>
        </p:txBody>
      </p:sp>
      <p:sp>
        <p:nvSpPr>
          <p:cNvPr id="20" name="Shape 17"/>
          <p:cNvSpPr/>
          <p:nvPr/>
        </p:nvSpPr>
        <p:spPr>
          <a:xfrm>
            <a:off x="777240" y="2688336"/>
            <a:ext cx="685800" cy="73152"/>
          </a:xfrm>
          <a:prstGeom prst="rect">
            <a:avLst/>
          </a:prstGeom>
          <a:solidFill>
            <a:srgbClr val="7A1F1A"/>
          </a:solidFill>
          <a:ln w="12700">
            <a:solidFill>
              <a:srgbClr val="333333"/>
            </a:solidFill>
            <a:prstDash val="solid"/>
          </a:ln>
        </p:spPr>
        <p:txBody>
          <a:bodyPr/>
          <a:lstStyle/>
          <a:p>
            <a:endParaRPr lang="en-IN"/>
          </a:p>
        </p:txBody>
      </p:sp>
      <p:sp>
        <p:nvSpPr>
          <p:cNvPr id="21" name="Shape 18"/>
          <p:cNvSpPr/>
          <p:nvPr/>
        </p:nvSpPr>
        <p:spPr>
          <a:xfrm>
            <a:off x="1371600" y="2633472"/>
            <a:ext cx="182880" cy="182880"/>
          </a:xfrm>
          <a:prstGeom prst="ellipse">
            <a:avLst/>
          </a:prstGeom>
          <a:solidFill>
            <a:srgbClr val="F4EBD7"/>
          </a:solidFill>
          <a:ln w="25400">
            <a:solidFill>
              <a:srgbClr val="7A1F1A"/>
            </a:solidFill>
            <a:prstDash val="solid"/>
          </a:ln>
        </p:spPr>
        <p:txBody>
          <a:bodyPr/>
          <a:lstStyle/>
          <a:p>
            <a:endParaRPr lang="en-IN"/>
          </a:p>
        </p:txBody>
      </p:sp>
      <p:sp>
        <p:nvSpPr>
          <p:cNvPr id="22" name="Text 19"/>
          <p:cNvSpPr txBox="1"/>
          <p:nvPr/>
        </p:nvSpPr>
        <p:spPr>
          <a:xfrm>
            <a:off x="777240" y="2816352"/>
            <a:ext cx="1371600" cy="164592"/>
          </a:xfrm>
          <a:prstGeom prst="rect">
            <a:avLst/>
          </a:prstGeom>
          <a:noFill/>
          <a:ln/>
        </p:spPr>
        <p:txBody>
          <a:bodyPr wrap="square" lIns="0" tIns="0" rIns="0" bIns="0" rtlCol="0" anchor="t"/>
          <a:lstStyle/>
          <a:p>
            <a:pPr marL="0" indent="0">
              <a:buNone/>
            </a:pPr>
            <a:r>
              <a:rPr lang="en-US" sz="800" dirty="0">
                <a:solidFill>
                  <a:srgbClr val="8A8477"/>
                </a:solidFill>
                <a:latin typeface="Courier New" pitchFamily="34" charset="0"/>
                <a:ea typeface="Courier New" pitchFamily="34" charset="-122"/>
                <a:cs typeface="Courier New" pitchFamily="34" charset="-120"/>
              </a:rPr>
              <a:t>0.1%</a:t>
            </a:r>
            <a:endParaRPr lang="en-US" sz="800" dirty="0"/>
          </a:p>
        </p:txBody>
      </p:sp>
      <p:sp>
        <p:nvSpPr>
          <p:cNvPr id="23" name="Text 20"/>
          <p:cNvSpPr txBox="1"/>
          <p:nvPr/>
        </p:nvSpPr>
        <p:spPr>
          <a:xfrm>
            <a:off x="3977640" y="2816352"/>
            <a:ext cx="1371600" cy="164592"/>
          </a:xfrm>
          <a:prstGeom prst="rect">
            <a:avLst/>
          </a:prstGeom>
          <a:noFill/>
          <a:ln/>
        </p:spPr>
        <p:txBody>
          <a:bodyPr wrap="square" lIns="0" tIns="0" rIns="0" bIns="0" rtlCol="0" anchor="t"/>
          <a:lstStyle/>
          <a:p>
            <a:pPr marL="0" indent="0" algn="r">
              <a:buNone/>
            </a:pPr>
            <a:r>
              <a:rPr lang="en-US" sz="800" dirty="0">
                <a:solidFill>
                  <a:srgbClr val="8A8477"/>
                </a:solidFill>
                <a:latin typeface="Courier New" pitchFamily="34" charset="0"/>
                <a:ea typeface="Courier New" pitchFamily="34" charset="-122"/>
                <a:cs typeface="Courier New" pitchFamily="34" charset="-120"/>
              </a:rPr>
              <a:t>100%</a:t>
            </a:r>
            <a:endParaRPr lang="en-US" sz="800" dirty="0"/>
          </a:p>
        </p:txBody>
      </p:sp>
      <p:sp>
        <p:nvSpPr>
          <p:cNvPr id="24" name="Text 21"/>
          <p:cNvSpPr txBox="1"/>
          <p:nvPr/>
        </p:nvSpPr>
        <p:spPr>
          <a:xfrm>
            <a:off x="777240" y="3200400"/>
            <a:ext cx="3108960" cy="237744"/>
          </a:xfrm>
          <a:prstGeom prst="rect">
            <a:avLst/>
          </a:prstGeom>
          <a:noFill/>
          <a:ln/>
        </p:spPr>
        <p:txBody>
          <a:bodyPr wrap="square" lIns="0" tIns="0" rIns="0" bIns="0" rtlCol="0" anchor="t"/>
          <a:lstStyle/>
          <a:p>
            <a:pPr marL="0" indent="0">
              <a:buNone/>
            </a:pPr>
            <a:r>
              <a:rPr lang="en-US" sz="1200" dirty="0">
                <a:solidFill>
                  <a:srgbClr val="2C261E"/>
                </a:solidFill>
                <a:latin typeface="Cambria" pitchFamily="34" charset="0"/>
                <a:ea typeface="Cambria" pitchFamily="34" charset="-122"/>
                <a:cs typeface="Cambria" pitchFamily="34" charset="-120"/>
              </a:rPr>
              <a:t>Consequence of Failure (COF)</a:t>
            </a:r>
            <a:endParaRPr lang="en-US" sz="1200" dirty="0"/>
          </a:p>
        </p:txBody>
      </p:sp>
      <p:sp>
        <p:nvSpPr>
          <p:cNvPr id="25" name="Text 22"/>
          <p:cNvSpPr txBox="1"/>
          <p:nvPr/>
        </p:nvSpPr>
        <p:spPr>
          <a:xfrm>
            <a:off x="3886200" y="3200400"/>
            <a:ext cx="1463040" cy="237744"/>
          </a:xfrm>
          <a:prstGeom prst="rect">
            <a:avLst/>
          </a:prstGeom>
          <a:noFill/>
          <a:ln/>
        </p:spPr>
        <p:txBody>
          <a:bodyPr wrap="square" lIns="0" tIns="0" rIns="0" bIns="0" rtlCol="0" anchor="t"/>
          <a:lstStyle/>
          <a:p>
            <a:pPr marL="0" indent="0" algn="r">
              <a:buNone/>
            </a:pPr>
            <a:r>
              <a:rPr lang="en-US" sz="1200" b="1" dirty="0">
                <a:solidFill>
                  <a:srgbClr val="9A6A12"/>
                </a:solidFill>
                <a:latin typeface="Courier New" pitchFamily="34" charset="0"/>
                <a:ea typeface="Courier New" pitchFamily="34" charset="-122"/>
                <a:cs typeface="Courier New" pitchFamily="34" charset="-120"/>
              </a:rPr>
              <a:t>$500,000</a:t>
            </a:r>
            <a:endParaRPr lang="en-US" sz="1200" dirty="0"/>
          </a:p>
        </p:txBody>
      </p:sp>
      <p:sp>
        <p:nvSpPr>
          <p:cNvPr id="26" name="Shape 23"/>
          <p:cNvSpPr/>
          <p:nvPr/>
        </p:nvSpPr>
        <p:spPr>
          <a:xfrm>
            <a:off x="777240" y="3511296"/>
            <a:ext cx="4572000" cy="73152"/>
          </a:xfrm>
          <a:prstGeom prst="rect">
            <a:avLst/>
          </a:prstGeom>
          <a:solidFill>
            <a:srgbClr val="EADDC0"/>
          </a:solidFill>
          <a:ln w="6350">
            <a:solidFill>
              <a:srgbClr val="C9B48F"/>
            </a:solidFill>
            <a:prstDash val="solid"/>
          </a:ln>
        </p:spPr>
        <p:txBody>
          <a:bodyPr/>
          <a:lstStyle/>
          <a:p>
            <a:endParaRPr lang="en-IN"/>
          </a:p>
        </p:txBody>
      </p:sp>
      <p:sp>
        <p:nvSpPr>
          <p:cNvPr id="27" name="Shape 24"/>
          <p:cNvSpPr/>
          <p:nvPr/>
        </p:nvSpPr>
        <p:spPr>
          <a:xfrm>
            <a:off x="777240" y="3511296"/>
            <a:ext cx="2286000" cy="73152"/>
          </a:xfrm>
          <a:prstGeom prst="rect">
            <a:avLst/>
          </a:prstGeom>
          <a:solidFill>
            <a:srgbClr val="9A6A12"/>
          </a:solidFill>
          <a:ln w="12700">
            <a:solidFill>
              <a:srgbClr val="333333"/>
            </a:solidFill>
            <a:prstDash val="solid"/>
          </a:ln>
        </p:spPr>
        <p:txBody>
          <a:bodyPr/>
          <a:lstStyle/>
          <a:p>
            <a:endParaRPr lang="en-IN"/>
          </a:p>
        </p:txBody>
      </p:sp>
      <p:sp>
        <p:nvSpPr>
          <p:cNvPr id="28" name="Shape 25"/>
          <p:cNvSpPr/>
          <p:nvPr/>
        </p:nvSpPr>
        <p:spPr>
          <a:xfrm>
            <a:off x="2971800" y="3456432"/>
            <a:ext cx="182880" cy="182880"/>
          </a:xfrm>
          <a:prstGeom prst="ellipse">
            <a:avLst/>
          </a:prstGeom>
          <a:solidFill>
            <a:srgbClr val="F4EBD7"/>
          </a:solidFill>
          <a:ln w="25400">
            <a:solidFill>
              <a:srgbClr val="9A6A12"/>
            </a:solidFill>
            <a:prstDash val="solid"/>
          </a:ln>
        </p:spPr>
        <p:txBody>
          <a:bodyPr/>
          <a:lstStyle/>
          <a:p>
            <a:endParaRPr lang="en-IN"/>
          </a:p>
        </p:txBody>
      </p:sp>
      <p:sp>
        <p:nvSpPr>
          <p:cNvPr id="29" name="Text 26"/>
          <p:cNvSpPr txBox="1"/>
          <p:nvPr/>
        </p:nvSpPr>
        <p:spPr>
          <a:xfrm>
            <a:off x="777240" y="3639312"/>
            <a:ext cx="1371600" cy="164592"/>
          </a:xfrm>
          <a:prstGeom prst="rect">
            <a:avLst/>
          </a:prstGeom>
          <a:noFill/>
          <a:ln/>
        </p:spPr>
        <p:txBody>
          <a:bodyPr wrap="square" lIns="0" tIns="0" rIns="0" bIns="0" rtlCol="0" anchor="t"/>
          <a:lstStyle/>
          <a:p>
            <a:pPr marL="0" indent="0">
              <a:buNone/>
            </a:pPr>
            <a:r>
              <a:rPr lang="en-US" sz="800" dirty="0">
                <a:solidFill>
                  <a:srgbClr val="8A8477"/>
                </a:solidFill>
                <a:latin typeface="Courier New" pitchFamily="34" charset="0"/>
                <a:ea typeface="Courier New" pitchFamily="34" charset="-122"/>
                <a:cs typeface="Courier New" pitchFamily="34" charset="-120"/>
              </a:rPr>
              <a:t>$10k</a:t>
            </a:r>
            <a:endParaRPr lang="en-US" sz="800" dirty="0"/>
          </a:p>
        </p:txBody>
      </p:sp>
      <p:sp>
        <p:nvSpPr>
          <p:cNvPr id="30" name="Text 27"/>
          <p:cNvSpPr txBox="1"/>
          <p:nvPr/>
        </p:nvSpPr>
        <p:spPr>
          <a:xfrm>
            <a:off x="3977640" y="3639312"/>
            <a:ext cx="1371600" cy="164592"/>
          </a:xfrm>
          <a:prstGeom prst="rect">
            <a:avLst/>
          </a:prstGeom>
          <a:noFill/>
          <a:ln/>
        </p:spPr>
        <p:txBody>
          <a:bodyPr wrap="square" lIns="0" tIns="0" rIns="0" bIns="0" rtlCol="0" anchor="t"/>
          <a:lstStyle/>
          <a:p>
            <a:pPr marL="0" indent="0" algn="r">
              <a:buNone/>
            </a:pPr>
            <a:r>
              <a:rPr lang="en-US" sz="800" dirty="0">
                <a:solidFill>
                  <a:srgbClr val="8A8477"/>
                </a:solidFill>
                <a:latin typeface="Courier New" pitchFamily="34" charset="0"/>
                <a:ea typeface="Courier New" pitchFamily="34" charset="-122"/>
                <a:cs typeface="Courier New" pitchFamily="34" charset="-120"/>
              </a:rPr>
              <a:t>$1M</a:t>
            </a:r>
            <a:endParaRPr lang="en-US" sz="800" dirty="0"/>
          </a:p>
        </p:txBody>
      </p:sp>
      <p:sp>
        <p:nvSpPr>
          <p:cNvPr id="31" name="Shape 28"/>
          <p:cNvSpPr/>
          <p:nvPr/>
        </p:nvSpPr>
        <p:spPr>
          <a:xfrm>
            <a:off x="777240" y="4114800"/>
            <a:ext cx="4572000" cy="502920"/>
          </a:xfrm>
          <a:prstGeom prst="rect">
            <a:avLst/>
          </a:prstGeom>
          <a:solidFill>
            <a:srgbClr val="DDE7D6"/>
          </a:solidFill>
          <a:ln w="12700">
            <a:solidFill>
              <a:srgbClr val="2F6B3A"/>
            </a:solidFill>
            <a:prstDash val="solid"/>
          </a:ln>
        </p:spPr>
        <p:txBody>
          <a:bodyPr/>
          <a:lstStyle/>
          <a:p>
            <a:endParaRPr lang="en-IN"/>
          </a:p>
        </p:txBody>
      </p:sp>
      <p:sp>
        <p:nvSpPr>
          <p:cNvPr id="32" name="Text 29"/>
          <p:cNvSpPr txBox="1"/>
          <p:nvPr/>
        </p:nvSpPr>
        <p:spPr>
          <a:xfrm>
            <a:off x="777240" y="4114800"/>
            <a:ext cx="4572000" cy="502920"/>
          </a:xfrm>
          <a:prstGeom prst="rect">
            <a:avLst/>
          </a:prstGeom>
          <a:noFill/>
          <a:ln/>
        </p:spPr>
        <p:txBody>
          <a:bodyPr wrap="square" lIns="0" tIns="0" rIns="0" bIns="0" rtlCol="0" anchor="ctr"/>
          <a:lstStyle/>
          <a:p>
            <a:pPr marL="0" indent="0" algn="ctr">
              <a:buNone/>
            </a:pPr>
            <a:r>
              <a:rPr lang="en-US" sz="1300" b="1" dirty="0">
                <a:solidFill>
                  <a:srgbClr val="2F6B3A"/>
                </a:solidFill>
                <a:latin typeface="Cambria" pitchFamily="34" charset="0"/>
                <a:ea typeface="Cambria" pitchFamily="34" charset="-122"/>
                <a:cs typeface="Cambria" pitchFamily="34" charset="-120"/>
              </a:rPr>
              <a:t>✓ Within Acceptable Operating Risk Ceiling</a:t>
            </a:r>
            <a:endParaRPr lang="en-US" sz="1300" dirty="0"/>
          </a:p>
        </p:txBody>
      </p:sp>
      <p:sp>
        <p:nvSpPr>
          <p:cNvPr id="33" name="Shape 30"/>
          <p:cNvSpPr/>
          <p:nvPr/>
        </p:nvSpPr>
        <p:spPr>
          <a:xfrm>
            <a:off x="777240" y="4754880"/>
            <a:ext cx="4572000" cy="1280160"/>
          </a:xfrm>
          <a:prstGeom prst="rect">
            <a:avLst/>
          </a:prstGeom>
          <a:solidFill>
            <a:srgbClr val="EFDCCF"/>
          </a:solidFill>
          <a:ln w="12700">
            <a:solidFill>
              <a:srgbClr val="A03B30"/>
            </a:solidFill>
            <a:prstDash val="solid"/>
          </a:ln>
        </p:spPr>
        <p:txBody>
          <a:bodyPr/>
          <a:lstStyle/>
          <a:p>
            <a:endParaRPr lang="en-IN"/>
          </a:p>
        </p:txBody>
      </p:sp>
      <p:sp>
        <p:nvSpPr>
          <p:cNvPr id="34" name="Text 31"/>
          <p:cNvSpPr txBox="1"/>
          <p:nvPr/>
        </p:nvSpPr>
        <p:spPr>
          <a:xfrm>
            <a:off x="960120" y="4864608"/>
            <a:ext cx="36576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ANNUALIZED MONETARY RISK</a:t>
            </a:r>
            <a:endParaRPr lang="en-US" sz="950" dirty="0"/>
          </a:p>
        </p:txBody>
      </p:sp>
      <p:sp>
        <p:nvSpPr>
          <p:cNvPr id="35" name="Text 32"/>
          <p:cNvSpPr txBox="1"/>
          <p:nvPr/>
        </p:nvSpPr>
        <p:spPr>
          <a:xfrm>
            <a:off x="960120" y="5074920"/>
            <a:ext cx="4206240" cy="685800"/>
          </a:xfrm>
          <a:prstGeom prst="rect">
            <a:avLst/>
          </a:prstGeom>
          <a:noFill/>
          <a:ln/>
        </p:spPr>
        <p:txBody>
          <a:bodyPr wrap="square" lIns="0" tIns="0" rIns="0" bIns="0" rtlCol="0" anchor="t"/>
          <a:lstStyle/>
          <a:p>
            <a:pPr marL="0" indent="0">
              <a:buNone/>
            </a:pPr>
            <a:r>
              <a:rPr lang="en-US" sz="3800" b="1" dirty="0">
                <a:solidFill>
                  <a:srgbClr val="7A1F1A"/>
                </a:solidFill>
                <a:latin typeface="Cambria" pitchFamily="34" charset="0"/>
                <a:ea typeface="Cambria" pitchFamily="34" charset="-122"/>
                <a:cs typeface="Cambria" pitchFamily="34" charset="-120"/>
              </a:rPr>
              <a:t>$ 75,000</a:t>
            </a:r>
            <a:endParaRPr lang="en-US" sz="3800" dirty="0"/>
          </a:p>
        </p:txBody>
      </p:sp>
      <p:sp>
        <p:nvSpPr>
          <p:cNvPr id="36" name="Shape 33"/>
          <p:cNvSpPr/>
          <p:nvPr/>
        </p:nvSpPr>
        <p:spPr>
          <a:xfrm>
            <a:off x="5806440" y="1783080"/>
            <a:ext cx="5833872" cy="4434840"/>
          </a:xfrm>
          <a:prstGeom prst="rect">
            <a:avLst/>
          </a:prstGeom>
          <a:solidFill>
            <a:srgbClr val="EFE4CD"/>
          </a:solidFill>
          <a:ln w="12700">
            <a:solidFill>
              <a:srgbClr val="C9B48F"/>
            </a:solidFill>
            <a:prstDash val="solid"/>
          </a:ln>
        </p:spPr>
        <p:txBody>
          <a:bodyPr/>
          <a:lstStyle/>
          <a:p>
            <a:endParaRPr lang="en-IN"/>
          </a:p>
        </p:txBody>
      </p:sp>
      <p:sp>
        <p:nvSpPr>
          <p:cNvPr id="37" name="Shape 34"/>
          <p:cNvSpPr/>
          <p:nvPr/>
        </p:nvSpPr>
        <p:spPr>
          <a:xfrm>
            <a:off x="6035040" y="2011680"/>
            <a:ext cx="5376672" cy="914400"/>
          </a:xfrm>
          <a:prstGeom prst="rect">
            <a:avLst/>
          </a:prstGeom>
          <a:solidFill>
            <a:srgbClr val="F4EBD7"/>
          </a:solidFill>
          <a:ln w="12700">
            <a:solidFill>
              <a:srgbClr val="C9B48F"/>
            </a:solidFill>
            <a:prstDash val="solid"/>
          </a:ln>
        </p:spPr>
        <p:txBody>
          <a:bodyPr/>
          <a:lstStyle/>
          <a:p>
            <a:endParaRPr lang="en-IN"/>
          </a:p>
        </p:txBody>
      </p:sp>
      <p:pic>
        <p:nvPicPr>
          <p:cNvPr id="38" name="Image 1" descr="Formula"/>
          <p:cNvPicPr>
            <a:picLocks noChangeAspect="1"/>
          </p:cNvPicPr>
          <p:nvPr/>
        </p:nvPicPr>
        <p:blipFill>
          <a:blip r:embed="rId4"/>
          <a:stretch>
            <a:fillRect/>
          </a:stretch>
        </p:blipFill>
        <p:spPr>
          <a:xfrm>
            <a:off x="6126480" y="2270879"/>
            <a:ext cx="5193792" cy="405145"/>
          </a:xfrm>
          <a:prstGeom prst="rect">
            <a:avLst/>
          </a:prstGeom>
        </p:spPr>
      </p:pic>
      <p:graphicFrame>
        <p:nvGraphicFramePr>
          <p:cNvPr id="39" name="Chart 0"/>
          <p:cNvGraphicFramePr/>
          <p:nvPr/>
        </p:nvGraphicFramePr>
        <p:xfrm>
          <a:off x="6035040" y="3063240"/>
          <a:ext cx="5394960" cy="278892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03 — PROBABILITY &amp; STATISTICS</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Conditional Reliability</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Dynamic reassessment of failure probabilities given proven asset survival to time t.</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35</a:t>
            </a:r>
            <a:r>
              <a:rPr sz="900">
                <a:solidFill>
                  <a:srgbClr val="8A8477"/>
                </a:solidFill>
                <a:latin typeface="Courier New"/>
              </a:rPr>
              <a:t> / 80</a:t>
            </a:r>
          </a:p>
        </p:txBody>
      </p:sp>
      <p:sp>
        <p:nvSpPr>
          <p:cNvPr id="13" name="Rectangle 12"/>
          <p:cNvSpPr/>
          <p:nvPr/>
        </p:nvSpPr>
        <p:spPr>
          <a:xfrm>
            <a:off x="548640" y="1783080"/>
            <a:ext cx="11091672" cy="130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wrap="square" lIns="228600" tIns="109728" rIns="228600" rtlCol="0" anchor="ctr"/>
          <a:lstStyle/>
          <a:p>
            <a:pPr algn="ctr">
              <a:defRPr sz="1250">
                <a:solidFill>
                  <a:srgbClr val="1C1712"/>
                </a:solidFill>
                <a:latin typeface="Cambria"/>
              </a:defRPr>
            </a:pPr>
            <a:r>
              <a:t>• Sometimes we want to know the expected reliability for an asset, given it has successfully and verifiably functioned properly for some period time already, or its </a:t>
            </a:r>
            <a:r>
              <a:rPr b="1">
                <a:solidFill>
                  <a:srgbClr val="7A1F1A"/>
                </a:solidFill>
              </a:rPr>
              <a:t>Conditional Reliability.</a:t>
            </a:r>
          </a:p>
          <a:p>
            <a:pPr>
              <a:spcBef>
                <a:spcPts val="800"/>
              </a:spcBef>
              <a:defRPr sz="1250">
                <a:solidFill>
                  <a:srgbClr val="1C1712"/>
                </a:solidFill>
                <a:latin typeface="Cambria"/>
              </a:defRPr>
            </a:pPr>
            <a:r>
              <a:t>• This is particularly useful in the case of </a:t>
            </a:r>
            <a:r>
              <a:rPr b="1"/>
              <a:t>infant mortality</a:t>
            </a:r>
            <a:r>
              <a:t> mentioned earlier, as once a certain amount of time has passed, the likelihood of failure drops significantly providing a more realistic estimate of the asset's probability of failure going forward.</a:t>
            </a:r>
          </a:p>
        </p:txBody>
      </p:sp>
      <p:sp>
        <p:nvSpPr>
          <p:cNvPr id="14" name="Rectangle 13"/>
          <p:cNvSpPr/>
          <p:nvPr/>
        </p:nvSpPr>
        <p:spPr>
          <a:xfrm>
            <a:off x="548640" y="3200000"/>
            <a:ext cx="5450000" cy="300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8640" y="3270000"/>
            <a:ext cx="5170000" cy="220000"/>
          </a:xfrm>
          <a:prstGeom prst="rect">
            <a:avLst/>
          </a:prstGeom>
          <a:noFill/>
        </p:spPr>
        <p:txBody>
          <a:bodyPr wrap="none" lIns="0" tIns="0">
            <a:spAutoFit/>
          </a:bodyPr>
          <a:lstStyle/>
          <a:p>
            <a:pPr>
              <a:defRPr sz="850" b="1">
                <a:solidFill>
                  <a:srgbClr val="7A1F1A"/>
                </a:solidFill>
                <a:latin typeface="Courier New"/>
              </a:defRPr>
            </a:pPr>
            <a:r>
              <a:t>FIG · BASELINE RELIABILITY &amp; PROBABILITY OF FAILURE (FROM T=0)</a:t>
            </a:r>
          </a:p>
        </p:txBody>
      </p:sp>
      <p:sp>
        <p:nvSpPr>
          <p:cNvPr id="16" name="Rectangle 15"/>
          <p:cNvSpPr/>
          <p:nvPr/>
        </p:nvSpPr>
        <p:spPr>
          <a:xfrm>
            <a:off x="688640" y="3500000"/>
            <a:ext cx="517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ond_rel_1.png"/>
          <p:cNvPicPr>
            <a:picLocks noChangeAspect="1"/>
          </p:cNvPicPr>
          <p:nvPr/>
        </p:nvPicPr>
        <p:blipFill>
          <a:blip r:embed="rId3"/>
          <a:stretch>
            <a:fillRect/>
          </a:stretch>
        </p:blipFill>
        <p:spPr>
          <a:xfrm>
            <a:off x="650000" y="3580000"/>
            <a:ext cx="5250000" cy="2550000"/>
          </a:xfrm>
          <a:prstGeom prst="rect">
            <a:avLst/>
          </a:prstGeom>
        </p:spPr>
      </p:pic>
      <p:sp>
        <p:nvSpPr>
          <p:cNvPr id="18" name="Rectangle 17"/>
          <p:cNvSpPr/>
          <p:nvPr/>
        </p:nvSpPr>
        <p:spPr>
          <a:xfrm>
            <a:off x="6190312" y="3200000"/>
            <a:ext cx="5450000" cy="300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0312" y="3270000"/>
            <a:ext cx="5170000" cy="220000"/>
          </a:xfrm>
          <a:prstGeom prst="rect">
            <a:avLst/>
          </a:prstGeom>
          <a:noFill/>
        </p:spPr>
        <p:txBody>
          <a:bodyPr wrap="none" lIns="0" tIns="0">
            <a:spAutoFit/>
          </a:bodyPr>
          <a:lstStyle/>
          <a:p>
            <a:pPr>
              <a:defRPr sz="850" b="1">
                <a:solidFill>
                  <a:srgbClr val="7A1F1A"/>
                </a:solidFill>
                <a:latin typeface="Courier New"/>
              </a:defRPr>
            </a:pPr>
            <a:r>
              <a:t>FIG · CONDITIONAL RELIABILITY REASSESSED AT TODAY (T=4 YEARS)</a:t>
            </a:r>
          </a:p>
        </p:txBody>
      </p:sp>
      <p:sp>
        <p:nvSpPr>
          <p:cNvPr id="20" name="Rectangle 19"/>
          <p:cNvSpPr/>
          <p:nvPr/>
        </p:nvSpPr>
        <p:spPr>
          <a:xfrm>
            <a:off x="6330312" y="3500000"/>
            <a:ext cx="517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ond_rel_2.png"/>
          <p:cNvPicPr>
            <a:picLocks noChangeAspect="1"/>
          </p:cNvPicPr>
          <p:nvPr/>
        </p:nvPicPr>
        <p:blipFill>
          <a:blip r:embed="rId4"/>
          <a:stretch>
            <a:fillRect/>
          </a:stretch>
        </p:blipFill>
        <p:spPr>
          <a:xfrm>
            <a:off x="6290312" y="3580000"/>
            <a:ext cx="5250000" cy="2550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F4EBD7"/>
        </a:solidFill>
        <a:effectLst/>
      </p:bgPr>
    </p:bg>
    <p:spTree>
      <p:nvGrpSpPr>
        <p:cNvPr id="1" name=""/>
        <p:cNvGrpSpPr/>
        <p:nvPr/>
      </p:nvGrpSpPr>
      <p:grpSpPr>
        <a:xfrm>
          <a:off x="0" y="0"/>
          <a:ext cx="0" cy="0"/>
          <a:chOff x="0" y="0"/>
          <a:chExt cx="0" cy="0"/>
        </a:xfrm>
      </p:grpSpPr>
      <p:pic>
        <p:nvPicPr>
          <p:cNvPr id="2" name="Image 0" descr="assets/bg_section.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22960" y="1051560"/>
            <a:ext cx="10543032" cy="41148"/>
          </a:xfrm>
          <a:prstGeom prst="rect">
            <a:avLst/>
          </a:prstGeom>
          <a:solidFill>
            <a:srgbClr val="1C1712"/>
          </a:solidFill>
          <a:ln w="12700">
            <a:solidFill>
              <a:srgbClr val="333333"/>
            </a:solidFill>
            <a:prstDash val="solid"/>
          </a:ln>
        </p:spPr>
        <p:txBody>
          <a:bodyPr/>
          <a:lstStyle/>
          <a:p>
            <a:endParaRPr lang="en-IN"/>
          </a:p>
        </p:txBody>
      </p:sp>
      <p:sp>
        <p:nvSpPr>
          <p:cNvPr id="4" name="Shape 1"/>
          <p:cNvSpPr/>
          <p:nvPr/>
        </p:nvSpPr>
        <p:spPr>
          <a:xfrm>
            <a:off x="822960" y="1133856"/>
            <a:ext cx="10543032" cy="0"/>
          </a:xfrm>
          <a:prstGeom prst="line">
            <a:avLst/>
          </a:prstGeom>
          <a:noFill/>
          <a:ln w="12700">
            <a:solidFill>
              <a:srgbClr val="1C1712"/>
            </a:solidFill>
            <a:prstDash val="solid"/>
          </a:ln>
        </p:spPr>
        <p:txBody>
          <a:bodyPr/>
          <a:lstStyle/>
          <a:p>
            <a:endParaRPr lang="en-IN"/>
          </a:p>
        </p:txBody>
      </p:sp>
      <p:sp>
        <p:nvSpPr>
          <p:cNvPr id="5" name="Text 2"/>
          <p:cNvSpPr txBox="1"/>
          <p:nvPr/>
        </p:nvSpPr>
        <p:spPr>
          <a:xfrm>
            <a:off x="822960" y="1234440"/>
            <a:ext cx="10543032" cy="274320"/>
          </a:xfrm>
          <a:prstGeom prst="rect">
            <a:avLst/>
          </a:prstGeom>
          <a:noFill/>
          <a:ln/>
        </p:spPr>
        <p:txBody>
          <a:bodyPr wrap="square" lIns="0" tIns="0" rIns="0" bIns="0" rtlCol="0" anchor="t"/>
          <a:lstStyle/>
          <a:p>
            <a:pPr marL="0" indent="0" algn="ctr">
              <a:buNone/>
            </a:pPr>
            <a:r>
              <a:rPr lang="en-US" sz="1200" b="1" kern="0" spc="300" dirty="0">
                <a:solidFill>
                  <a:srgbClr val="7A1F1A"/>
                </a:solidFill>
                <a:latin typeface="Courier New" pitchFamily="34" charset="0"/>
                <a:ea typeface="Courier New" pitchFamily="34" charset="-122"/>
                <a:cs typeface="Courier New" pitchFamily="34" charset="-120"/>
              </a:rPr>
              <a:t>SPECIAL DISPATCH SECTION IV</a:t>
            </a:r>
            <a:endParaRPr lang="en-US" sz="1200" dirty="0"/>
          </a:p>
        </p:txBody>
      </p:sp>
      <p:sp>
        <p:nvSpPr>
          <p:cNvPr id="6" name="Text 3"/>
          <p:cNvSpPr txBox="1"/>
          <p:nvPr/>
        </p:nvSpPr>
        <p:spPr>
          <a:xfrm>
            <a:off x="822960" y="1874520"/>
            <a:ext cx="10543032" cy="548640"/>
          </a:xfrm>
          <a:prstGeom prst="rect">
            <a:avLst/>
          </a:prstGeom>
          <a:noFill/>
          <a:ln/>
        </p:spPr>
        <p:txBody>
          <a:bodyPr wrap="square" lIns="0" tIns="0" rIns="0" bIns="0" rtlCol="0" anchor="t"/>
          <a:lstStyle/>
          <a:p>
            <a:pPr marL="0" indent="0" algn="ctr">
              <a:buNone/>
            </a:pPr>
            <a:r>
              <a:rPr lang="en-US" sz="1500" kern="0" spc="200" dirty="0">
                <a:solidFill>
                  <a:srgbClr val="8A8477"/>
                </a:solidFill>
                <a:latin typeface="Courier New" pitchFamily="34" charset="0"/>
                <a:ea typeface="Courier New" pitchFamily="34" charset="-122"/>
                <a:cs typeface="Courier New" pitchFamily="34" charset="-120"/>
              </a:rPr>
              <a:t>No. IV</a:t>
            </a:r>
            <a:endParaRPr lang="en-US" sz="1500" dirty="0"/>
          </a:p>
        </p:txBody>
      </p:sp>
      <p:sp>
        <p:nvSpPr>
          <p:cNvPr id="7" name="Text 4"/>
          <p:cNvSpPr txBox="1"/>
          <p:nvPr/>
        </p:nvSpPr>
        <p:spPr>
          <a:xfrm>
            <a:off x="822960" y="2286000"/>
            <a:ext cx="10543032" cy="1325880"/>
          </a:xfrm>
          <a:prstGeom prst="rect">
            <a:avLst/>
          </a:prstGeom>
          <a:noFill/>
          <a:ln/>
        </p:spPr>
        <p:txBody>
          <a:bodyPr wrap="square" lIns="0" tIns="0" rIns="0" bIns="0" rtlCol="0" anchor="ctr">
            <a:normAutofit/>
          </a:bodyPr>
          <a:lstStyle/>
          <a:p>
            <a:pPr marL="0" indent="0" algn="ctr">
              <a:buNone/>
            </a:pPr>
            <a:r>
              <a:rPr lang="en-US" sz="5000" b="1" dirty="0">
                <a:solidFill>
                  <a:srgbClr val="1C1712"/>
                </a:solidFill>
                <a:latin typeface="Cambria" pitchFamily="34" charset="0"/>
                <a:ea typeface="Cambria" pitchFamily="34" charset="-122"/>
                <a:cs typeface="Cambria" pitchFamily="34" charset="-120"/>
              </a:rPr>
              <a:t>QRO Core Methodology</a:t>
            </a:r>
            <a:endParaRPr lang="en-US" sz="5000" dirty="0"/>
          </a:p>
        </p:txBody>
      </p:sp>
      <p:sp>
        <p:nvSpPr>
          <p:cNvPr id="8" name="Shape 5"/>
          <p:cNvSpPr/>
          <p:nvPr/>
        </p:nvSpPr>
        <p:spPr>
          <a:xfrm>
            <a:off x="3108960" y="3703320"/>
            <a:ext cx="5971032" cy="0"/>
          </a:xfrm>
          <a:prstGeom prst="line">
            <a:avLst/>
          </a:prstGeom>
          <a:noFill/>
          <a:ln w="19050">
            <a:solidFill>
              <a:srgbClr val="7A1F1A"/>
            </a:solidFill>
            <a:prstDash val="solid"/>
          </a:ln>
        </p:spPr>
        <p:txBody>
          <a:bodyPr/>
          <a:lstStyle/>
          <a:p>
            <a:endParaRPr lang="en-IN"/>
          </a:p>
        </p:txBody>
      </p:sp>
      <p:sp>
        <p:nvSpPr>
          <p:cNvPr id="9" name="Text 6"/>
          <p:cNvSpPr txBox="1"/>
          <p:nvPr/>
        </p:nvSpPr>
        <p:spPr>
          <a:xfrm>
            <a:off x="1280160" y="3886200"/>
            <a:ext cx="9628632" cy="640080"/>
          </a:xfrm>
          <a:prstGeom prst="rect">
            <a:avLst/>
          </a:prstGeom>
          <a:noFill/>
          <a:ln/>
        </p:spPr>
        <p:txBody>
          <a:bodyPr wrap="square" lIns="0" tIns="0" rIns="0" bIns="0" rtlCol="0" anchor="t"/>
          <a:lstStyle/>
          <a:p>
            <a:pPr marL="0" indent="0" algn="ctr">
              <a:buNone/>
            </a:pPr>
            <a:r>
              <a:rPr lang="en-US" sz="1600" i="1" dirty="0">
                <a:solidFill>
                  <a:srgbClr val="5A5347"/>
                </a:solidFill>
                <a:latin typeface="Cambria" pitchFamily="34" charset="0"/>
                <a:ea typeface="Cambria" pitchFamily="34" charset="-122"/>
                <a:cs typeface="Cambria" pitchFamily="34" charset="-120"/>
              </a:rPr>
              <a:t>Asset Risk Analysis (ARA), Lifetime Variability Curves (LVC) &amp; Bayesian Prior Integration</a:t>
            </a:r>
            <a:endParaRPr lang="en-US" sz="1600" dirty="0"/>
          </a:p>
        </p:txBody>
      </p:sp>
      <p:sp>
        <p:nvSpPr>
          <p:cNvPr id="10" name="Shape 7"/>
          <p:cNvSpPr/>
          <p:nvPr/>
        </p:nvSpPr>
        <p:spPr>
          <a:xfrm>
            <a:off x="2938424" y="4709160"/>
            <a:ext cx="1174090" cy="274320"/>
          </a:xfrm>
          <a:prstGeom prst="rect">
            <a:avLst/>
          </a:prstGeom>
          <a:solidFill>
            <a:srgbClr val="EFDCCF"/>
          </a:solidFill>
          <a:ln w="12700">
            <a:solidFill>
              <a:srgbClr val="7A1F1A"/>
            </a:solidFill>
            <a:prstDash val="solid"/>
          </a:ln>
        </p:spPr>
        <p:txBody>
          <a:bodyPr/>
          <a:lstStyle/>
          <a:p>
            <a:endParaRPr lang="en-IN"/>
          </a:p>
        </p:txBody>
      </p:sp>
      <p:sp>
        <p:nvSpPr>
          <p:cNvPr id="11" name="Text 8"/>
          <p:cNvSpPr txBox="1"/>
          <p:nvPr/>
        </p:nvSpPr>
        <p:spPr>
          <a:xfrm>
            <a:off x="2938424" y="4709160"/>
            <a:ext cx="117409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ARA WORKFLOW</a:t>
            </a:r>
            <a:endParaRPr lang="en-US" sz="900" dirty="0"/>
          </a:p>
        </p:txBody>
      </p:sp>
      <p:sp>
        <p:nvSpPr>
          <p:cNvPr id="12" name="Shape 9"/>
          <p:cNvSpPr/>
          <p:nvPr/>
        </p:nvSpPr>
        <p:spPr>
          <a:xfrm>
            <a:off x="4277106" y="4709160"/>
            <a:ext cx="1474013" cy="274320"/>
          </a:xfrm>
          <a:prstGeom prst="rect">
            <a:avLst/>
          </a:prstGeom>
          <a:solidFill>
            <a:srgbClr val="EFDCCF"/>
          </a:solidFill>
          <a:ln w="12700">
            <a:solidFill>
              <a:srgbClr val="7A1F1A"/>
            </a:solidFill>
            <a:prstDash val="solid"/>
          </a:ln>
        </p:spPr>
        <p:txBody>
          <a:bodyPr/>
          <a:lstStyle/>
          <a:p>
            <a:endParaRPr lang="en-IN"/>
          </a:p>
        </p:txBody>
      </p:sp>
      <p:sp>
        <p:nvSpPr>
          <p:cNvPr id="13" name="Text 10"/>
          <p:cNvSpPr txBox="1"/>
          <p:nvPr/>
        </p:nvSpPr>
        <p:spPr>
          <a:xfrm>
            <a:off x="4277106" y="4709160"/>
            <a:ext cx="1474013"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LVC ARCHITECTURE</a:t>
            </a:r>
            <a:endParaRPr lang="en-US" sz="900" dirty="0"/>
          </a:p>
        </p:txBody>
      </p:sp>
      <p:sp>
        <p:nvSpPr>
          <p:cNvPr id="14" name="Shape 11"/>
          <p:cNvSpPr/>
          <p:nvPr/>
        </p:nvSpPr>
        <p:spPr>
          <a:xfrm>
            <a:off x="5915711" y="4709160"/>
            <a:ext cx="1548994" cy="274320"/>
          </a:xfrm>
          <a:prstGeom prst="rect">
            <a:avLst/>
          </a:prstGeom>
          <a:solidFill>
            <a:srgbClr val="EFDCCF"/>
          </a:solidFill>
          <a:ln w="12700">
            <a:solidFill>
              <a:srgbClr val="7A1F1A"/>
            </a:solidFill>
            <a:prstDash val="solid"/>
          </a:ln>
        </p:spPr>
        <p:txBody>
          <a:bodyPr/>
          <a:lstStyle/>
          <a:p>
            <a:endParaRPr lang="en-IN"/>
          </a:p>
        </p:txBody>
      </p:sp>
      <p:sp>
        <p:nvSpPr>
          <p:cNvPr id="15" name="Text 12"/>
          <p:cNvSpPr txBox="1"/>
          <p:nvPr/>
        </p:nvSpPr>
        <p:spPr>
          <a:xfrm>
            <a:off x="5915711" y="4709160"/>
            <a:ext cx="1548994"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BAYESIAN UPDATING</a:t>
            </a:r>
            <a:endParaRPr lang="en-US" sz="900" dirty="0"/>
          </a:p>
        </p:txBody>
      </p:sp>
      <p:sp>
        <p:nvSpPr>
          <p:cNvPr id="16" name="Shape 13"/>
          <p:cNvSpPr/>
          <p:nvPr/>
        </p:nvSpPr>
        <p:spPr>
          <a:xfrm>
            <a:off x="7629296" y="4709160"/>
            <a:ext cx="1623974" cy="274320"/>
          </a:xfrm>
          <a:prstGeom prst="rect">
            <a:avLst/>
          </a:prstGeom>
          <a:solidFill>
            <a:srgbClr val="EFDCCF"/>
          </a:solidFill>
          <a:ln w="12700">
            <a:solidFill>
              <a:srgbClr val="7A1F1A"/>
            </a:solidFill>
            <a:prstDash val="solid"/>
          </a:ln>
        </p:spPr>
        <p:txBody>
          <a:bodyPr/>
          <a:lstStyle/>
          <a:p>
            <a:endParaRPr lang="en-IN"/>
          </a:p>
        </p:txBody>
      </p:sp>
      <p:sp>
        <p:nvSpPr>
          <p:cNvPr id="17" name="Text 14"/>
          <p:cNvSpPr txBox="1"/>
          <p:nvPr/>
        </p:nvSpPr>
        <p:spPr>
          <a:xfrm>
            <a:off x="7629296" y="4709160"/>
            <a:ext cx="1623974"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COF QUANTIFICATION</a:t>
            </a:r>
            <a:endParaRPr lang="en-US" sz="900" dirty="0"/>
          </a:p>
        </p:txBody>
      </p:sp>
      <p:sp>
        <p:nvSpPr>
          <p:cNvPr id="18" name="Shape 15"/>
          <p:cNvSpPr/>
          <p:nvPr/>
        </p:nvSpPr>
        <p:spPr>
          <a:xfrm>
            <a:off x="822960" y="5440680"/>
            <a:ext cx="10543032" cy="41148"/>
          </a:xfrm>
          <a:prstGeom prst="rect">
            <a:avLst/>
          </a:prstGeom>
          <a:solidFill>
            <a:srgbClr val="1C1712"/>
          </a:solidFill>
          <a:ln w="12700">
            <a:solidFill>
              <a:srgbClr val="333333"/>
            </a:solidFill>
            <a:prstDash val="solid"/>
          </a:ln>
        </p:spPr>
        <p:txBody>
          <a:bodyPr/>
          <a:lstStyle/>
          <a:p>
            <a:endParaRPr lang="en-IN"/>
          </a:p>
        </p:txBody>
      </p:sp>
      <p:sp>
        <p:nvSpPr>
          <p:cNvPr id="19" name="Shape 16"/>
          <p:cNvSpPr/>
          <p:nvPr/>
        </p:nvSpPr>
        <p:spPr>
          <a:xfrm>
            <a:off x="822960" y="5522976"/>
            <a:ext cx="10543032" cy="0"/>
          </a:xfrm>
          <a:prstGeom prst="line">
            <a:avLst/>
          </a:prstGeom>
          <a:noFill/>
          <a:ln w="12700">
            <a:solidFill>
              <a:srgbClr val="1C1712"/>
            </a:solidFill>
            <a:prstDash val="solid"/>
          </a:ln>
        </p:spPr>
        <p:txBody>
          <a:bodyPr/>
          <a:lstStyle/>
          <a:p>
            <a:endParaRPr lang="en-IN"/>
          </a:p>
        </p:txBody>
      </p:sp>
      <p:sp>
        <p:nvSpPr>
          <p:cNvPr id="20" name="Shape 1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21" name="Text 1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22" name="Text 1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36</a:t>
            </a:r>
            <a:r>
              <a:rPr sz="900">
                <a:solidFill>
                  <a:srgbClr val="8A8477"/>
                </a:solidFill>
                <a:latin typeface="Courier New"/>
              </a:rPr>
              <a:t> / 80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04 — QRO CORE METHODOLOGY</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The Four Fundamental Pillars of QRO</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overarching operational framework for plant-wide reliability optimization.</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37</a:t>
            </a:r>
            <a:r>
              <a:rPr sz="900">
                <a:solidFill>
                  <a:srgbClr val="8A8477"/>
                </a:solidFill>
                <a:latin typeface="Courier New"/>
              </a:rPr>
              <a:t> / 80</a:t>
            </a:r>
            <a:endParaRPr lang="en-US" sz="900" dirty="0"/>
          </a:p>
        </p:txBody>
      </p:sp>
      <p:sp>
        <p:nvSpPr>
          <p:cNvPr id="13" name="Shape 10"/>
          <p:cNvSpPr/>
          <p:nvPr/>
        </p:nvSpPr>
        <p:spPr>
          <a:xfrm>
            <a:off x="548640" y="1783080"/>
            <a:ext cx="5431536" cy="2148840"/>
          </a:xfrm>
          <a:prstGeom prst="rect">
            <a:avLst/>
          </a:prstGeom>
          <a:solidFill>
            <a:srgbClr val="FBF4E4"/>
          </a:solidFill>
          <a:ln w="12700">
            <a:solidFill>
              <a:srgbClr val="C9B48F"/>
            </a:solidFill>
            <a:prstDash val="solid"/>
          </a:ln>
        </p:spPr>
        <p:txBody>
          <a:bodyPr/>
          <a:lstStyle/>
          <a:p>
            <a:endParaRPr lang="en-IN"/>
          </a:p>
        </p:txBody>
      </p:sp>
      <p:sp>
        <p:nvSpPr>
          <p:cNvPr id="14" name="Shape 11"/>
          <p:cNvSpPr/>
          <p:nvPr/>
        </p:nvSpPr>
        <p:spPr>
          <a:xfrm>
            <a:off x="777240" y="1965960"/>
            <a:ext cx="548640" cy="548640"/>
          </a:xfrm>
          <a:prstGeom prst="ellipse">
            <a:avLst/>
          </a:prstGeom>
          <a:solidFill>
            <a:srgbClr val="EFDCCF"/>
          </a:solidFill>
          <a:ln w="15875">
            <a:solidFill>
              <a:srgbClr val="7A1F1A"/>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914400" y="2103120"/>
            <a:ext cx="274320" cy="274320"/>
          </a:xfrm>
          <a:prstGeom prst="rect">
            <a:avLst/>
          </a:prstGeom>
        </p:spPr>
      </p:pic>
      <p:sp>
        <p:nvSpPr>
          <p:cNvPr id="16" name="Text 12"/>
          <p:cNvSpPr txBox="1"/>
          <p:nvPr/>
        </p:nvSpPr>
        <p:spPr>
          <a:xfrm>
            <a:off x="1463040" y="2039112"/>
            <a:ext cx="4334256" cy="310896"/>
          </a:xfrm>
          <a:prstGeom prst="rect">
            <a:avLst/>
          </a:prstGeom>
          <a:noFill/>
          <a:ln/>
        </p:spPr>
        <p:txBody>
          <a:bodyPr wrap="square" lIns="0" tIns="0" rIns="0" bIns="0" rtlCol="0" anchor="t"/>
          <a:lstStyle/>
          <a:p>
            <a:pPr marL="0" indent="0">
              <a:buNone/>
            </a:pPr>
            <a:r>
              <a:rPr lang="en-US" sz="1600" b="1" dirty="0">
                <a:solidFill>
                  <a:srgbClr val="7A1F1A"/>
                </a:solidFill>
                <a:latin typeface="Cambria" pitchFamily="34" charset="0"/>
                <a:ea typeface="Cambria" pitchFamily="34" charset="-122"/>
                <a:cs typeface="Cambria" pitchFamily="34" charset="-120"/>
              </a:rPr>
              <a:t>1. Asset Risk Analysis</a:t>
            </a:r>
            <a:endParaRPr lang="en-US" sz="1600" dirty="0"/>
          </a:p>
        </p:txBody>
      </p:sp>
      <p:sp>
        <p:nvSpPr>
          <p:cNvPr id="17" name="Shape 13"/>
          <p:cNvSpPr/>
          <p:nvPr/>
        </p:nvSpPr>
        <p:spPr>
          <a:xfrm>
            <a:off x="1463040" y="2404872"/>
            <a:ext cx="4334256" cy="0"/>
          </a:xfrm>
          <a:prstGeom prst="line">
            <a:avLst/>
          </a:prstGeom>
          <a:noFill/>
          <a:ln w="9525">
            <a:solidFill>
              <a:srgbClr val="C9B48F"/>
            </a:solidFill>
            <a:prstDash val="solid"/>
          </a:ln>
        </p:spPr>
        <p:txBody>
          <a:bodyPr/>
          <a:lstStyle/>
          <a:p>
            <a:endParaRPr lang="en-IN"/>
          </a:p>
        </p:txBody>
      </p:sp>
      <p:sp>
        <p:nvSpPr>
          <p:cNvPr id="18" name="Text 14"/>
          <p:cNvSpPr txBox="1"/>
          <p:nvPr/>
        </p:nvSpPr>
        <p:spPr>
          <a:xfrm>
            <a:off x="822960" y="2514600"/>
            <a:ext cx="4882896" cy="1325880"/>
          </a:xfrm>
          <a:prstGeom prst="rect">
            <a:avLst/>
          </a:prstGeom>
          <a:noFill/>
          <a:ln/>
        </p:spPr>
        <p:txBody>
          <a:bodyPr wrap="square" lIns="0" tIns="0" rIns="0" bIns="0" rtlCol="0" anchor="t"/>
          <a:lstStyle/>
          <a:p>
            <a:pPr marL="190500" indent="-190500">
              <a:spcAft>
                <a:spcPts val="600"/>
              </a:spcAft>
              <a:buSzPct val="100000"/>
              <a:buChar char="▪"/>
            </a:pPr>
            <a:r>
              <a:rPr lang="en-US" sz="1150" b="1" dirty="0">
                <a:solidFill>
                  <a:srgbClr val="7A1F1A"/>
                </a:solidFill>
                <a:latin typeface="Cambria" pitchFamily="34" charset="0"/>
                <a:ea typeface="Cambria" pitchFamily="34" charset="-122"/>
                <a:cs typeface="Cambria" pitchFamily="34" charset="-120"/>
              </a:rPr>
              <a:t>Quantitative FMEA:</a:t>
            </a:r>
            <a:r>
              <a:rPr lang="en-US" sz="1150" dirty="0">
                <a:solidFill>
                  <a:srgbClr val="2C261E"/>
                </a:solidFill>
                <a:latin typeface="Cambria" pitchFamily="34" charset="0"/>
                <a:ea typeface="Cambria" pitchFamily="34" charset="-122"/>
                <a:cs typeface="Cambria" pitchFamily="34" charset="-120"/>
              </a:rPr>
              <a:t> Maps component degradation to functional failure modes.</a:t>
            </a:r>
            <a:endParaRPr lang="en-US" sz="1150" dirty="0"/>
          </a:p>
          <a:p>
            <a:pPr marL="190500" indent="-190500">
              <a:spcAft>
                <a:spcPts val="600"/>
              </a:spcAft>
              <a:buSzPct val="100000"/>
              <a:buChar char="▪"/>
            </a:pPr>
            <a:r>
              <a:rPr lang="en-US" sz="1150" b="1" dirty="0">
                <a:solidFill>
                  <a:srgbClr val="7A1F1A"/>
                </a:solidFill>
                <a:latin typeface="Cambria" pitchFamily="34" charset="0"/>
                <a:ea typeface="Cambria" pitchFamily="34" charset="-122"/>
                <a:cs typeface="Cambria" pitchFamily="34" charset="-120"/>
              </a:rPr>
              <a:t>Telemetry Ingestion:</a:t>
            </a:r>
            <a:r>
              <a:rPr lang="en-US" sz="1150" dirty="0">
                <a:solidFill>
                  <a:srgbClr val="2C261E"/>
                </a:solidFill>
                <a:latin typeface="Cambria" pitchFamily="34" charset="0"/>
                <a:ea typeface="Cambria" pitchFamily="34" charset="-122"/>
                <a:cs typeface="Cambria" pitchFamily="34" charset="-120"/>
              </a:rPr>
              <a:t> Connects to process historians &amp; vibration streams.</a:t>
            </a:r>
            <a:endParaRPr lang="en-US" sz="1150" dirty="0"/>
          </a:p>
          <a:p>
            <a:pPr marL="190500" indent="-190500">
              <a:spcAft>
                <a:spcPts val="600"/>
              </a:spcAft>
              <a:buSzPct val="100000"/>
              <a:buChar char="▪"/>
            </a:pPr>
            <a:r>
              <a:rPr lang="en-US" sz="1150" b="1" dirty="0">
                <a:solidFill>
                  <a:srgbClr val="7A1F1A"/>
                </a:solidFill>
                <a:latin typeface="Cambria" pitchFamily="34" charset="0"/>
                <a:ea typeface="Cambria" pitchFamily="34" charset="-122"/>
                <a:cs typeface="Cambria" pitchFamily="34" charset="-120"/>
              </a:rPr>
              <a:t>Consequence Modeling:</a:t>
            </a:r>
            <a:r>
              <a:rPr lang="en-US" sz="1150" dirty="0">
                <a:solidFill>
                  <a:srgbClr val="2C261E"/>
                </a:solidFill>
                <a:latin typeface="Cambria" pitchFamily="34" charset="0"/>
                <a:ea typeface="Cambria" pitchFamily="34" charset="-122"/>
                <a:cs typeface="Cambria" pitchFamily="34" charset="-120"/>
              </a:rPr>
              <a:t> Quantifies business loss across production, HSE, repair.</a:t>
            </a:r>
            <a:endParaRPr lang="en-US" sz="1150" dirty="0"/>
          </a:p>
        </p:txBody>
      </p:sp>
      <p:sp>
        <p:nvSpPr>
          <p:cNvPr id="19" name="Shape 15"/>
          <p:cNvSpPr/>
          <p:nvPr/>
        </p:nvSpPr>
        <p:spPr>
          <a:xfrm>
            <a:off x="6208776" y="1783080"/>
            <a:ext cx="5431536" cy="2148840"/>
          </a:xfrm>
          <a:prstGeom prst="rect">
            <a:avLst/>
          </a:prstGeom>
          <a:solidFill>
            <a:srgbClr val="FBF4E4"/>
          </a:solidFill>
          <a:ln w="12700">
            <a:solidFill>
              <a:srgbClr val="C9B48F"/>
            </a:solidFill>
            <a:prstDash val="solid"/>
          </a:ln>
        </p:spPr>
        <p:txBody>
          <a:bodyPr/>
          <a:lstStyle/>
          <a:p>
            <a:endParaRPr lang="en-IN"/>
          </a:p>
        </p:txBody>
      </p:sp>
      <p:sp>
        <p:nvSpPr>
          <p:cNvPr id="20" name="Shape 16"/>
          <p:cNvSpPr/>
          <p:nvPr/>
        </p:nvSpPr>
        <p:spPr>
          <a:xfrm>
            <a:off x="6437376" y="1965960"/>
            <a:ext cx="548640" cy="548640"/>
          </a:xfrm>
          <a:prstGeom prst="ellipse">
            <a:avLst/>
          </a:prstGeom>
          <a:solidFill>
            <a:srgbClr val="DCE6EC"/>
          </a:solidFill>
          <a:ln w="15875">
            <a:solidFill>
              <a:srgbClr val="1A4A6E"/>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6574536" y="2103120"/>
            <a:ext cx="274320" cy="274320"/>
          </a:xfrm>
          <a:prstGeom prst="rect">
            <a:avLst/>
          </a:prstGeom>
        </p:spPr>
      </p:pic>
      <p:sp>
        <p:nvSpPr>
          <p:cNvPr id="22" name="Text 17"/>
          <p:cNvSpPr txBox="1"/>
          <p:nvPr/>
        </p:nvSpPr>
        <p:spPr>
          <a:xfrm>
            <a:off x="7123176" y="2039112"/>
            <a:ext cx="4334256" cy="310896"/>
          </a:xfrm>
          <a:prstGeom prst="rect">
            <a:avLst/>
          </a:prstGeom>
          <a:noFill/>
          <a:ln/>
        </p:spPr>
        <p:txBody>
          <a:bodyPr wrap="square" lIns="0" tIns="0" rIns="0" bIns="0" rtlCol="0" anchor="t"/>
          <a:lstStyle/>
          <a:p>
            <a:pPr marL="0" indent="0">
              <a:buNone/>
            </a:pPr>
            <a:r>
              <a:rPr lang="en-US" sz="1600" b="1" dirty="0">
                <a:solidFill>
                  <a:srgbClr val="1A4A6E"/>
                </a:solidFill>
                <a:latin typeface="Cambria" pitchFamily="34" charset="0"/>
                <a:ea typeface="Cambria" pitchFamily="34" charset="-122"/>
                <a:cs typeface="Cambria" pitchFamily="34" charset="-120"/>
              </a:rPr>
              <a:t>2. Quantifying Uncertainty</a:t>
            </a:r>
            <a:endParaRPr lang="en-US" sz="1600" dirty="0"/>
          </a:p>
        </p:txBody>
      </p:sp>
      <p:sp>
        <p:nvSpPr>
          <p:cNvPr id="23" name="Shape 18"/>
          <p:cNvSpPr/>
          <p:nvPr/>
        </p:nvSpPr>
        <p:spPr>
          <a:xfrm>
            <a:off x="7123176" y="2404872"/>
            <a:ext cx="4334256" cy="0"/>
          </a:xfrm>
          <a:prstGeom prst="line">
            <a:avLst/>
          </a:prstGeom>
          <a:noFill/>
          <a:ln w="9525">
            <a:solidFill>
              <a:srgbClr val="C9B48F"/>
            </a:solidFill>
            <a:prstDash val="solid"/>
          </a:ln>
        </p:spPr>
        <p:txBody>
          <a:bodyPr/>
          <a:lstStyle/>
          <a:p>
            <a:endParaRPr lang="en-IN"/>
          </a:p>
        </p:txBody>
      </p:sp>
      <p:sp>
        <p:nvSpPr>
          <p:cNvPr id="24" name="Text 19"/>
          <p:cNvSpPr txBox="1"/>
          <p:nvPr/>
        </p:nvSpPr>
        <p:spPr>
          <a:xfrm>
            <a:off x="6483096" y="2514600"/>
            <a:ext cx="4882896" cy="1325880"/>
          </a:xfrm>
          <a:prstGeom prst="rect">
            <a:avLst/>
          </a:prstGeom>
          <a:noFill/>
          <a:ln/>
        </p:spPr>
        <p:txBody>
          <a:bodyPr wrap="square" lIns="0" tIns="0" rIns="0" bIns="0" rtlCol="0" anchor="t"/>
          <a:lstStyle/>
          <a:p>
            <a:pPr marL="190500" indent="-190500">
              <a:spcAft>
                <a:spcPts val="600"/>
              </a:spcAft>
              <a:buSzPct val="100000"/>
              <a:buChar char="▪"/>
            </a:pPr>
            <a:r>
              <a:rPr lang="en-US" sz="1150" b="1" dirty="0">
                <a:solidFill>
                  <a:srgbClr val="1A4A6E"/>
                </a:solidFill>
                <a:latin typeface="Cambria" pitchFamily="34" charset="0"/>
                <a:ea typeface="Cambria" pitchFamily="34" charset="-122"/>
                <a:cs typeface="Cambria" pitchFamily="34" charset="-120"/>
              </a:rPr>
              <a:t>LVC Stochastic Models:</a:t>
            </a:r>
            <a:r>
              <a:rPr lang="en-US" sz="1150" dirty="0">
                <a:solidFill>
                  <a:srgbClr val="2C261E"/>
                </a:solidFill>
                <a:latin typeface="Cambria" pitchFamily="34" charset="0"/>
                <a:ea typeface="Cambria" pitchFamily="34" charset="-122"/>
                <a:cs typeface="Cambria" pitchFamily="34" charset="-120"/>
              </a:rPr>
              <a:t> Replaces static lines with probabilistic envelopes.</a:t>
            </a:r>
            <a:endParaRPr lang="en-US" sz="1150" dirty="0"/>
          </a:p>
          <a:p>
            <a:pPr marL="190500" indent="-190500">
              <a:spcAft>
                <a:spcPts val="600"/>
              </a:spcAft>
              <a:buSzPct val="100000"/>
              <a:buChar char="▪"/>
            </a:pPr>
            <a:r>
              <a:rPr lang="en-US" sz="1150" b="1" dirty="0">
                <a:solidFill>
                  <a:srgbClr val="1A4A6E"/>
                </a:solidFill>
                <a:latin typeface="Cambria" pitchFamily="34" charset="0"/>
                <a:ea typeface="Cambria" pitchFamily="34" charset="-122"/>
                <a:cs typeface="Cambria" pitchFamily="34" charset="-120"/>
              </a:rPr>
              <a:t>Extreme Value Analysis:</a:t>
            </a:r>
            <a:r>
              <a:rPr lang="en-US" sz="1150" dirty="0">
                <a:solidFill>
                  <a:srgbClr val="2C261E"/>
                </a:solidFill>
                <a:latin typeface="Cambria" pitchFamily="34" charset="0"/>
                <a:ea typeface="Cambria" pitchFamily="34" charset="-122"/>
                <a:cs typeface="Cambria" pitchFamily="34" charset="-120"/>
              </a:rPr>
              <a:t> Models localized tail risks for pinhole leaks.</a:t>
            </a:r>
            <a:endParaRPr lang="en-US" sz="1150" dirty="0"/>
          </a:p>
          <a:p>
            <a:pPr marL="190500" indent="-190500">
              <a:spcAft>
                <a:spcPts val="600"/>
              </a:spcAft>
              <a:buSzPct val="100000"/>
              <a:buChar char="▪"/>
            </a:pPr>
            <a:r>
              <a:rPr lang="en-US" sz="1150" b="1" dirty="0">
                <a:solidFill>
                  <a:srgbClr val="1A4A6E"/>
                </a:solidFill>
                <a:latin typeface="Cambria" pitchFamily="34" charset="0"/>
                <a:ea typeface="Cambria" pitchFamily="34" charset="-122"/>
                <a:cs typeface="Cambria" pitchFamily="34" charset="-120"/>
              </a:rPr>
              <a:t>Bayesian Updating:</a:t>
            </a:r>
            <a:r>
              <a:rPr lang="en-US" sz="1150" dirty="0">
                <a:solidFill>
                  <a:srgbClr val="2C261E"/>
                </a:solidFill>
                <a:latin typeface="Cambria" pitchFamily="34" charset="0"/>
                <a:ea typeface="Cambria" pitchFamily="34" charset="-122"/>
                <a:cs typeface="Cambria" pitchFamily="34" charset="-120"/>
              </a:rPr>
              <a:t> Recalculates remaining life as NDE inspections arrive.</a:t>
            </a:r>
            <a:endParaRPr lang="en-US" sz="1150" dirty="0"/>
          </a:p>
        </p:txBody>
      </p:sp>
      <p:sp>
        <p:nvSpPr>
          <p:cNvPr id="25" name="Shape 20"/>
          <p:cNvSpPr/>
          <p:nvPr/>
        </p:nvSpPr>
        <p:spPr>
          <a:xfrm>
            <a:off x="548640" y="4114800"/>
            <a:ext cx="5431536" cy="2148840"/>
          </a:xfrm>
          <a:prstGeom prst="rect">
            <a:avLst/>
          </a:prstGeom>
          <a:solidFill>
            <a:srgbClr val="FBF4E4"/>
          </a:solidFill>
          <a:ln w="12700">
            <a:solidFill>
              <a:srgbClr val="C9B48F"/>
            </a:solidFill>
            <a:prstDash val="solid"/>
          </a:ln>
        </p:spPr>
        <p:txBody>
          <a:bodyPr/>
          <a:lstStyle/>
          <a:p>
            <a:endParaRPr lang="en-IN"/>
          </a:p>
        </p:txBody>
      </p:sp>
      <p:sp>
        <p:nvSpPr>
          <p:cNvPr id="26" name="Shape 21"/>
          <p:cNvSpPr/>
          <p:nvPr/>
        </p:nvSpPr>
        <p:spPr>
          <a:xfrm>
            <a:off x="777240" y="4297680"/>
            <a:ext cx="548640" cy="548640"/>
          </a:xfrm>
          <a:prstGeom prst="ellipse">
            <a:avLst/>
          </a:prstGeom>
          <a:solidFill>
            <a:srgbClr val="DDE7D6"/>
          </a:solidFill>
          <a:ln w="15875">
            <a:solidFill>
              <a:srgbClr val="2F6B3A"/>
            </a:solidFill>
            <a:prstDash val="solid"/>
          </a:ln>
        </p:spPr>
        <p:txBody>
          <a:bodyPr/>
          <a:lstStyle/>
          <a:p>
            <a:endParaRPr lang="en-IN"/>
          </a:p>
        </p:txBody>
      </p:sp>
      <p:pic>
        <p:nvPicPr>
          <p:cNvPr id="27" name="Image 3" descr="preencoded.png"/>
          <p:cNvPicPr>
            <a:picLocks noChangeAspect="1"/>
          </p:cNvPicPr>
          <p:nvPr/>
        </p:nvPicPr>
        <p:blipFill>
          <a:blip r:embed="rId6"/>
          <a:stretch>
            <a:fillRect/>
          </a:stretch>
        </p:blipFill>
        <p:spPr>
          <a:xfrm>
            <a:off x="914400" y="4434840"/>
            <a:ext cx="274320" cy="274320"/>
          </a:xfrm>
          <a:prstGeom prst="rect">
            <a:avLst/>
          </a:prstGeom>
        </p:spPr>
      </p:pic>
      <p:sp>
        <p:nvSpPr>
          <p:cNvPr id="28" name="Text 22"/>
          <p:cNvSpPr txBox="1"/>
          <p:nvPr/>
        </p:nvSpPr>
        <p:spPr>
          <a:xfrm>
            <a:off x="1463040" y="4370832"/>
            <a:ext cx="4334256" cy="310896"/>
          </a:xfrm>
          <a:prstGeom prst="rect">
            <a:avLst/>
          </a:prstGeom>
          <a:noFill/>
          <a:ln/>
        </p:spPr>
        <p:txBody>
          <a:bodyPr wrap="square" lIns="0" tIns="0" rIns="0" bIns="0" rtlCol="0" anchor="t"/>
          <a:lstStyle/>
          <a:p>
            <a:pPr marL="0" indent="0">
              <a:buNone/>
            </a:pPr>
            <a:r>
              <a:rPr lang="en-US" sz="1600" b="1" dirty="0">
                <a:solidFill>
                  <a:srgbClr val="2F6B3A"/>
                </a:solidFill>
                <a:latin typeface="Cambria" pitchFamily="34" charset="0"/>
                <a:ea typeface="Cambria" pitchFamily="34" charset="-122"/>
                <a:cs typeface="Cambria" pitchFamily="34" charset="-120"/>
              </a:rPr>
              <a:t>3. Availability Forecasts</a:t>
            </a:r>
            <a:endParaRPr lang="en-US" sz="1600" dirty="0"/>
          </a:p>
        </p:txBody>
      </p:sp>
      <p:sp>
        <p:nvSpPr>
          <p:cNvPr id="29" name="Shape 23"/>
          <p:cNvSpPr/>
          <p:nvPr/>
        </p:nvSpPr>
        <p:spPr>
          <a:xfrm>
            <a:off x="1463040" y="4736592"/>
            <a:ext cx="4334256" cy="0"/>
          </a:xfrm>
          <a:prstGeom prst="line">
            <a:avLst/>
          </a:prstGeom>
          <a:noFill/>
          <a:ln w="9525">
            <a:solidFill>
              <a:srgbClr val="C9B48F"/>
            </a:solidFill>
            <a:prstDash val="solid"/>
          </a:ln>
        </p:spPr>
        <p:txBody>
          <a:bodyPr/>
          <a:lstStyle/>
          <a:p>
            <a:endParaRPr lang="en-IN"/>
          </a:p>
        </p:txBody>
      </p:sp>
      <p:sp>
        <p:nvSpPr>
          <p:cNvPr id="30" name="Text 24"/>
          <p:cNvSpPr txBox="1"/>
          <p:nvPr/>
        </p:nvSpPr>
        <p:spPr>
          <a:xfrm>
            <a:off x="822960" y="4846320"/>
            <a:ext cx="4882896" cy="1325880"/>
          </a:xfrm>
          <a:prstGeom prst="rect">
            <a:avLst/>
          </a:prstGeom>
          <a:noFill/>
          <a:ln/>
        </p:spPr>
        <p:txBody>
          <a:bodyPr wrap="square" lIns="0" tIns="0" rIns="0" bIns="0" rtlCol="0" anchor="t"/>
          <a:lstStyle/>
          <a:p>
            <a:pPr marL="190500" indent="-190500">
              <a:spcAft>
                <a:spcPts val="600"/>
              </a:spcAft>
              <a:buSzPct val="100000"/>
              <a:buChar char="▪"/>
            </a:pPr>
            <a:r>
              <a:rPr lang="en-US" sz="1150" b="1" dirty="0">
                <a:solidFill>
                  <a:srgbClr val="2F6B3A"/>
                </a:solidFill>
                <a:latin typeface="Cambria" pitchFamily="34" charset="0"/>
                <a:ea typeface="Cambria" pitchFamily="34" charset="-122"/>
                <a:cs typeface="Cambria" pitchFamily="34" charset="-120"/>
              </a:rPr>
              <a:t>Markov State Machines:</a:t>
            </a:r>
            <a:r>
              <a:rPr lang="en-US" sz="1150" dirty="0">
                <a:solidFill>
                  <a:srgbClr val="2C261E"/>
                </a:solidFill>
                <a:latin typeface="Cambria" pitchFamily="34" charset="0"/>
                <a:ea typeface="Cambria" pitchFamily="34" charset="-122"/>
                <a:cs typeface="Cambria" pitchFamily="34" charset="-120"/>
              </a:rPr>
              <a:t> Simulates operating, degraded, trip &amp; repair states.</a:t>
            </a:r>
            <a:endParaRPr lang="en-US" sz="1150" dirty="0"/>
          </a:p>
          <a:p>
            <a:pPr marL="190500" indent="-190500">
              <a:spcAft>
                <a:spcPts val="600"/>
              </a:spcAft>
              <a:buSzPct val="100000"/>
              <a:buChar char="▪"/>
            </a:pPr>
            <a:r>
              <a:rPr lang="en-US" sz="1150" b="1" dirty="0">
                <a:solidFill>
                  <a:srgbClr val="2F6B3A"/>
                </a:solidFill>
                <a:latin typeface="Cambria" pitchFamily="34" charset="0"/>
                <a:ea typeface="Cambria" pitchFamily="34" charset="-122"/>
                <a:cs typeface="Cambria" pitchFamily="34" charset="-120"/>
              </a:rPr>
              <a:t>Dynamic Uptime Engine:</a:t>
            </a:r>
            <a:r>
              <a:rPr lang="en-US" sz="1150" dirty="0">
                <a:solidFill>
                  <a:srgbClr val="2C261E"/>
                </a:solidFill>
                <a:latin typeface="Cambria" pitchFamily="34" charset="0"/>
                <a:ea typeface="Cambria" pitchFamily="34" charset="-122"/>
                <a:cs typeface="Cambria" pitchFamily="34" charset="-120"/>
              </a:rPr>
              <a:t> Predicts availability across 1, 3 &amp; 5-year cycles.</a:t>
            </a:r>
            <a:endParaRPr lang="en-US" sz="1150" dirty="0"/>
          </a:p>
          <a:p>
            <a:pPr marL="190500" indent="-190500">
              <a:spcAft>
                <a:spcPts val="600"/>
              </a:spcAft>
              <a:buSzPct val="100000"/>
              <a:buChar char="▪"/>
            </a:pPr>
            <a:r>
              <a:rPr lang="en-US" sz="1150" b="1" dirty="0">
                <a:solidFill>
                  <a:srgbClr val="2F6B3A"/>
                </a:solidFill>
                <a:latin typeface="Cambria" pitchFamily="34" charset="0"/>
                <a:ea typeface="Cambria" pitchFamily="34" charset="-122"/>
                <a:cs typeface="Cambria" pitchFamily="34" charset="-120"/>
              </a:rPr>
              <a:t>Bottleneck Isolation:</a:t>
            </a:r>
            <a:r>
              <a:rPr lang="en-US" sz="1150" dirty="0">
                <a:solidFill>
                  <a:srgbClr val="2C261E"/>
                </a:solidFill>
                <a:latin typeface="Cambria" pitchFamily="34" charset="0"/>
                <a:ea typeface="Cambria" pitchFamily="34" charset="-122"/>
                <a:cs typeface="Cambria" pitchFamily="34" charset="-120"/>
              </a:rPr>
              <a:t> Quantifies unspared system dependencies.</a:t>
            </a:r>
            <a:endParaRPr lang="en-US" sz="1150" dirty="0"/>
          </a:p>
        </p:txBody>
      </p:sp>
      <p:sp>
        <p:nvSpPr>
          <p:cNvPr id="31" name="Shape 25"/>
          <p:cNvSpPr/>
          <p:nvPr/>
        </p:nvSpPr>
        <p:spPr>
          <a:xfrm>
            <a:off x="6208776" y="4114800"/>
            <a:ext cx="5431536" cy="2148840"/>
          </a:xfrm>
          <a:prstGeom prst="rect">
            <a:avLst/>
          </a:prstGeom>
          <a:solidFill>
            <a:srgbClr val="FBF4E4"/>
          </a:solidFill>
          <a:ln w="12700">
            <a:solidFill>
              <a:srgbClr val="C9B48F"/>
            </a:solidFill>
            <a:prstDash val="solid"/>
          </a:ln>
        </p:spPr>
        <p:txBody>
          <a:bodyPr/>
          <a:lstStyle/>
          <a:p>
            <a:endParaRPr lang="en-IN"/>
          </a:p>
        </p:txBody>
      </p:sp>
      <p:sp>
        <p:nvSpPr>
          <p:cNvPr id="32" name="Shape 26"/>
          <p:cNvSpPr/>
          <p:nvPr/>
        </p:nvSpPr>
        <p:spPr>
          <a:xfrm>
            <a:off x="6437376" y="4297680"/>
            <a:ext cx="548640" cy="548640"/>
          </a:xfrm>
          <a:prstGeom prst="ellipse">
            <a:avLst/>
          </a:prstGeom>
          <a:solidFill>
            <a:srgbClr val="EDE2C4"/>
          </a:solidFill>
          <a:ln w="15875">
            <a:solidFill>
              <a:srgbClr val="9A6A12"/>
            </a:solidFill>
            <a:prstDash val="solid"/>
          </a:ln>
        </p:spPr>
        <p:txBody>
          <a:bodyPr/>
          <a:lstStyle/>
          <a:p>
            <a:endParaRPr lang="en-IN"/>
          </a:p>
        </p:txBody>
      </p:sp>
      <p:pic>
        <p:nvPicPr>
          <p:cNvPr id="33" name="Image 4" descr="preencoded.png"/>
          <p:cNvPicPr>
            <a:picLocks noChangeAspect="1"/>
          </p:cNvPicPr>
          <p:nvPr/>
        </p:nvPicPr>
        <p:blipFill>
          <a:blip r:embed="rId7"/>
          <a:stretch>
            <a:fillRect/>
          </a:stretch>
        </p:blipFill>
        <p:spPr>
          <a:xfrm>
            <a:off x="6574536" y="4434840"/>
            <a:ext cx="274320" cy="274320"/>
          </a:xfrm>
          <a:prstGeom prst="rect">
            <a:avLst/>
          </a:prstGeom>
        </p:spPr>
      </p:pic>
      <p:sp>
        <p:nvSpPr>
          <p:cNvPr id="34" name="Text 27"/>
          <p:cNvSpPr txBox="1"/>
          <p:nvPr/>
        </p:nvSpPr>
        <p:spPr>
          <a:xfrm>
            <a:off x="7123176" y="4370832"/>
            <a:ext cx="4334256" cy="310896"/>
          </a:xfrm>
          <a:prstGeom prst="rect">
            <a:avLst/>
          </a:prstGeom>
          <a:noFill/>
          <a:ln/>
        </p:spPr>
        <p:txBody>
          <a:bodyPr wrap="square" lIns="0" tIns="0" rIns="0" bIns="0" rtlCol="0" anchor="t"/>
          <a:lstStyle/>
          <a:p>
            <a:pPr marL="0" indent="0">
              <a:buNone/>
            </a:pPr>
            <a:r>
              <a:rPr lang="en-US" sz="1600" b="1" dirty="0">
                <a:solidFill>
                  <a:srgbClr val="9A6A12"/>
                </a:solidFill>
                <a:latin typeface="Cambria" pitchFamily="34" charset="0"/>
                <a:ea typeface="Cambria" pitchFamily="34" charset="-122"/>
                <a:cs typeface="Cambria" pitchFamily="34" charset="-120"/>
              </a:rPr>
              <a:t>4. Task Optimization</a:t>
            </a:r>
            <a:endParaRPr lang="en-US" sz="1600" dirty="0"/>
          </a:p>
        </p:txBody>
      </p:sp>
      <p:sp>
        <p:nvSpPr>
          <p:cNvPr id="35" name="Shape 28"/>
          <p:cNvSpPr/>
          <p:nvPr/>
        </p:nvSpPr>
        <p:spPr>
          <a:xfrm>
            <a:off x="7123176" y="4736592"/>
            <a:ext cx="4334256" cy="0"/>
          </a:xfrm>
          <a:prstGeom prst="line">
            <a:avLst/>
          </a:prstGeom>
          <a:noFill/>
          <a:ln w="9525">
            <a:solidFill>
              <a:srgbClr val="C9B48F"/>
            </a:solidFill>
            <a:prstDash val="solid"/>
          </a:ln>
        </p:spPr>
        <p:txBody>
          <a:bodyPr/>
          <a:lstStyle/>
          <a:p>
            <a:endParaRPr lang="en-IN"/>
          </a:p>
        </p:txBody>
      </p:sp>
      <p:sp>
        <p:nvSpPr>
          <p:cNvPr id="36" name="Text 29"/>
          <p:cNvSpPr txBox="1"/>
          <p:nvPr/>
        </p:nvSpPr>
        <p:spPr>
          <a:xfrm>
            <a:off x="6483096" y="4846320"/>
            <a:ext cx="4882896" cy="1325880"/>
          </a:xfrm>
          <a:prstGeom prst="rect">
            <a:avLst/>
          </a:prstGeom>
          <a:noFill/>
          <a:ln/>
        </p:spPr>
        <p:txBody>
          <a:bodyPr wrap="square" lIns="0" tIns="0" rIns="0" bIns="0" rtlCol="0" anchor="t"/>
          <a:lstStyle/>
          <a:p>
            <a:pPr marL="190500" indent="-190500">
              <a:spcAft>
                <a:spcPts val="600"/>
              </a:spcAft>
              <a:buSzPct val="100000"/>
              <a:buChar char="▪"/>
            </a:pPr>
            <a:r>
              <a:rPr lang="en-US" sz="1150" b="1" dirty="0">
                <a:solidFill>
                  <a:srgbClr val="9A6A12"/>
                </a:solidFill>
                <a:latin typeface="Cambria" pitchFamily="34" charset="0"/>
                <a:ea typeface="Cambria" pitchFamily="34" charset="-122"/>
                <a:cs typeface="Cambria" pitchFamily="34" charset="-120"/>
              </a:rPr>
              <a:t>Benefit-Cost Ratio:</a:t>
            </a:r>
            <a:r>
              <a:rPr lang="en-US" sz="1150" dirty="0">
                <a:solidFill>
                  <a:srgbClr val="2C261E"/>
                </a:solidFill>
                <a:latin typeface="Cambria" pitchFamily="34" charset="0"/>
                <a:ea typeface="Cambria" pitchFamily="34" charset="-122"/>
                <a:cs typeface="Cambria" pitchFamily="34" charset="-120"/>
              </a:rPr>
              <a:t> Justifies every dollar of inspection &amp; PM spend.</a:t>
            </a:r>
            <a:endParaRPr lang="en-US" sz="1150" dirty="0"/>
          </a:p>
          <a:p>
            <a:pPr marL="190500" indent="-190500">
              <a:spcAft>
                <a:spcPts val="600"/>
              </a:spcAft>
              <a:buSzPct val="100000"/>
              <a:buChar char="▪"/>
            </a:pPr>
            <a:r>
              <a:rPr lang="en-US" sz="1150" b="1" dirty="0">
                <a:solidFill>
                  <a:srgbClr val="9A6A12"/>
                </a:solidFill>
                <a:latin typeface="Cambria" pitchFamily="34" charset="0"/>
                <a:ea typeface="Cambria" pitchFamily="34" charset="-122"/>
                <a:cs typeface="Cambria" pitchFamily="34" charset="-120"/>
              </a:rPr>
              <a:t>Task Effectiveness (QTE):</a:t>
            </a:r>
            <a:r>
              <a:rPr lang="en-US" sz="1150" dirty="0">
                <a:solidFill>
                  <a:srgbClr val="2C261E"/>
                </a:solidFill>
                <a:latin typeface="Cambria" pitchFamily="34" charset="0"/>
                <a:ea typeface="Cambria" pitchFamily="34" charset="-122"/>
                <a:cs typeface="Cambria" pitchFamily="34" charset="-120"/>
              </a:rPr>
              <a:t> Calibrates how work orders modify η &amp; β.</a:t>
            </a:r>
            <a:endParaRPr lang="en-US" sz="1150" dirty="0"/>
          </a:p>
          <a:p>
            <a:pPr marL="190500" indent="-190500">
              <a:spcAft>
                <a:spcPts val="600"/>
              </a:spcAft>
              <a:buSzPct val="100000"/>
              <a:buChar char="▪"/>
            </a:pPr>
            <a:r>
              <a:rPr lang="en-US" sz="1150" b="1" dirty="0">
                <a:solidFill>
                  <a:srgbClr val="9A6A12"/>
                </a:solidFill>
                <a:latin typeface="Cambria" pitchFamily="34" charset="0"/>
                <a:ea typeface="Cambria" pitchFamily="34" charset="-122"/>
                <a:cs typeface="Cambria" pitchFamily="34" charset="-120"/>
              </a:rPr>
              <a:t>Turnaround Grouping:</a:t>
            </a:r>
            <a:r>
              <a:rPr lang="en-US" sz="1150" dirty="0">
                <a:solidFill>
                  <a:srgbClr val="2C261E"/>
                </a:solidFill>
                <a:latin typeface="Cambria" pitchFamily="34" charset="0"/>
                <a:ea typeface="Cambria" pitchFamily="34" charset="-122"/>
                <a:cs typeface="Cambria" pitchFamily="34" charset="-120"/>
              </a:rPr>
              <a:t> Clusters compatible tasks into scheduled outages.</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5">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04 — QRO CORE METHODOLOGY</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Pillar 1: Asset Risk Analysis (ARA) Workflow</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5-tier quantitative hierarchy connecting telemetry to maintenance decisions.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38</a:t>
            </a:r>
            <a:r>
              <a:rPr sz="900">
                <a:solidFill>
                  <a:srgbClr val="8A8477"/>
                </a:solidFill>
                <a:latin typeface="Courier New"/>
              </a:rPr>
              <a:t> / 80</a:t>
            </a:r>
            <a:endParaRPr lang="en-US" sz="900" dirty="0"/>
          </a:p>
        </p:txBody>
      </p:sp>
      <p:sp>
        <p:nvSpPr>
          <p:cNvPr id="13" name="Shape 10"/>
          <p:cNvSpPr/>
          <p:nvPr/>
        </p:nvSpPr>
        <p:spPr>
          <a:xfrm>
            <a:off x="548640" y="1783080"/>
            <a:ext cx="11091672" cy="233172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10725912"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ASSET RISK ANALYSIS (ARA) — NEWTON SOFTWARE</a:t>
            </a:r>
            <a:endParaRPr lang="en-US" sz="850" dirty="0"/>
          </a:p>
        </p:txBody>
      </p:sp>
      <p:sp>
        <p:nvSpPr>
          <p:cNvPr id="15" name="Shape 12"/>
          <p:cNvSpPr/>
          <p:nvPr/>
        </p:nvSpPr>
        <p:spPr>
          <a:xfrm>
            <a:off x="731520" y="2148840"/>
            <a:ext cx="10725912" cy="0"/>
          </a:xfrm>
          <a:prstGeom prst="line">
            <a:avLst/>
          </a:prstGeom>
          <a:noFill/>
          <a:ln w="9525">
            <a:solidFill>
              <a:srgbClr val="C9B48F"/>
            </a:solidFill>
            <a:prstDash val="solid"/>
          </a:ln>
        </p:spPr>
        <p:txBody>
          <a:bodyPr/>
          <a:lstStyle/>
          <a:p>
            <a:endParaRPr lang="en-IN"/>
          </a:p>
        </p:txBody>
      </p:sp>
      <p:sp>
        <p:nvSpPr>
          <p:cNvPr id="17" name="Shape 13"/>
          <p:cNvSpPr/>
          <p:nvPr/>
        </p:nvSpPr>
        <p:spPr>
          <a:xfrm>
            <a:off x="548640" y="4251960"/>
            <a:ext cx="2148840" cy="1234440"/>
          </a:xfrm>
          <a:prstGeom prst="rect">
            <a:avLst/>
          </a:prstGeom>
          <a:solidFill>
            <a:srgbClr val="EFE4CD"/>
          </a:solidFill>
          <a:ln w="12700">
            <a:solidFill>
              <a:srgbClr val="C9B48F"/>
            </a:solidFill>
            <a:prstDash val="solid"/>
          </a:ln>
        </p:spPr>
        <p:txBody>
          <a:bodyPr/>
          <a:lstStyle/>
          <a:p>
            <a:endParaRPr lang="en-IN"/>
          </a:p>
        </p:txBody>
      </p:sp>
      <p:sp>
        <p:nvSpPr>
          <p:cNvPr id="18" name="Shape 14"/>
          <p:cNvSpPr/>
          <p:nvPr/>
        </p:nvSpPr>
        <p:spPr>
          <a:xfrm>
            <a:off x="685800" y="4370832"/>
            <a:ext cx="329184" cy="329184"/>
          </a:xfrm>
          <a:prstGeom prst="ellipse">
            <a:avLst/>
          </a:prstGeom>
          <a:solidFill>
            <a:srgbClr val="EFDCCF"/>
          </a:solidFill>
          <a:ln w="15875">
            <a:solidFill>
              <a:srgbClr val="7A1F1A"/>
            </a:solidFill>
            <a:prstDash val="solid"/>
          </a:ln>
        </p:spPr>
        <p:txBody>
          <a:bodyPr/>
          <a:lstStyle/>
          <a:p>
            <a:endParaRPr lang="en-IN"/>
          </a:p>
        </p:txBody>
      </p:sp>
      <p:sp>
        <p:nvSpPr>
          <p:cNvPr id="19" name="Text 15"/>
          <p:cNvSpPr txBox="1"/>
          <p:nvPr/>
        </p:nvSpPr>
        <p:spPr>
          <a:xfrm>
            <a:off x="685800" y="4370832"/>
            <a:ext cx="329184" cy="329184"/>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20" name="Text 16"/>
          <p:cNvSpPr txBox="1"/>
          <p:nvPr/>
        </p:nvSpPr>
        <p:spPr>
          <a:xfrm>
            <a:off x="685800" y="4754880"/>
            <a:ext cx="1874520" cy="310896"/>
          </a:xfrm>
          <a:prstGeom prst="rect">
            <a:avLst/>
          </a:prstGeom>
          <a:noFill/>
          <a:ln/>
        </p:spPr>
        <p:txBody>
          <a:bodyPr wrap="square" lIns="18288" tIns="0" rIns="18288" bIns="0" rtlCol="0" anchor="t"/>
          <a:lstStyle/>
          <a:p>
            <a:pPr marL="0" indent="0">
              <a:buNone/>
            </a:pPr>
            <a:r>
              <a:rPr lang="en-US" sz="1150" b="1" dirty="0">
                <a:solidFill>
                  <a:srgbClr val="7A1F1A"/>
                </a:solidFill>
                <a:latin typeface="Cambria" pitchFamily="34" charset="0"/>
                <a:ea typeface="Cambria" pitchFamily="34" charset="-122"/>
                <a:cs typeface="Cambria" pitchFamily="34" charset="-120"/>
              </a:rPr>
              <a:t>Tier 1: Asset Functions</a:t>
            </a:r>
            <a:endParaRPr lang="en-US" sz="1150" dirty="0"/>
          </a:p>
        </p:txBody>
      </p:sp>
      <p:sp>
        <p:nvSpPr>
          <p:cNvPr id="21" name="Text 17"/>
          <p:cNvSpPr txBox="1"/>
          <p:nvPr/>
        </p:nvSpPr>
        <p:spPr>
          <a:xfrm>
            <a:off x="685800" y="5100000"/>
            <a:ext cx="1874520" cy="411480"/>
          </a:xfrm>
          <a:prstGeom prst="rect">
            <a:avLst/>
          </a:prstGeom>
          <a:noFill/>
          <a:ln/>
        </p:spPr>
        <p:txBody>
          <a:bodyPr wrap="square" lIns="0" tIns="0" rIns="0" bIns="0" rtlCol="0" anchor="t"/>
          <a:lstStyle/>
          <a:p>
            <a:pPr marL="0" indent="0">
              <a:buNone/>
            </a:pPr>
            <a:r>
              <a:rPr lang="en-US" sz="950" dirty="0">
                <a:solidFill>
                  <a:srgbClr val="5A5347"/>
                </a:solidFill>
                <a:latin typeface="Cambria" pitchFamily="34" charset="0"/>
                <a:ea typeface="Cambria" pitchFamily="34" charset="-122"/>
                <a:cs typeface="Cambria" pitchFamily="34" charset="-120"/>
              </a:rPr>
              <a:t>Defines operating envelope (e.g. deliver 450 m³/hr at 65 bar).</a:t>
            </a:r>
            <a:endParaRPr lang="en-US" sz="950" dirty="0"/>
          </a:p>
        </p:txBody>
      </p:sp>
      <p:sp>
        <p:nvSpPr>
          <p:cNvPr id="22" name="Shape 18"/>
          <p:cNvSpPr/>
          <p:nvPr/>
        </p:nvSpPr>
        <p:spPr>
          <a:xfrm>
            <a:off x="2798064" y="4251960"/>
            <a:ext cx="2148840" cy="1234440"/>
          </a:xfrm>
          <a:prstGeom prst="rect">
            <a:avLst/>
          </a:prstGeom>
          <a:solidFill>
            <a:srgbClr val="EFE4CD"/>
          </a:solidFill>
          <a:ln w="12700">
            <a:solidFill>
              <a:srgbClr val="C9B48F"/>
            </a:solidFill>
            <a:prstDash val="solid"/>
          </a:ln>
        </p:spPr>
        <p:txBody>
          <a:bodyPr/>
          <a:lstStyle/>
          <a:p>
            <a:endParaRPr lang="en-IN"/>
          </a:p>
        </p:txBody>
      </p:sp>
      <p:sp>
        <p:nvSpPr>
          <p:cNvPr id="23" name="Shape 19"/>
          <p:cNvSpPr/>
          <p:nvPr/>
        </p:nvSpPr>
        <p:spPr>
          <a:xfrm>
            <a:off x="2935224" y="4370832"/>
            <a:ext cx="329184" cy="329184"/>
          </a:xfrm>
          <a:prstGeom prst="ellipse">
            <a:avLst/>
          </a:prstGeom>
          <a:solidFill>
            <a:srgbClr val="EFDCCF"/>
          </a:solidFill>
          <a:ln w="15875">
            <a:solidFill>
              <a:srgbClr val="7A1F1A"/>
            </a:solidFill>
            <a:prstDash val="solid"/>
          </a:ln>
        </p:spPr>
        <p:txBody>
          <a:bodyPr/>
          <a:lstStyle/>
          <a:p>
            <a:endParaRPr lang="en-IN"/>
          </a:p>
        </p:txBody>
      </p:sp>
      <p:sp>
        <p:nvSpPr>
          <p:cNvPr id="24" name="Text 20"/>
          <p:cNvSpPr txBox="1"/>
          <p:nvPr/>
        </p:nvSpPr>
        <p:spPr>
          <a:xfrm>
            <a:off x="2935224" y="4370832"/>
            <a:ext cx="329184" cy="329184"/>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5" name="Text 21"/>
          <p:cNvSpPr txBox="1"/>
          <p:nvPr/>
        </p:nvSpPr>
        <p:spPr>
          <a:xfrm>
            <a:off x="2935224" y="4754880"/>
            <a:ext cx="1874520" cy="310896"/>
          </a:xfrm>
          <a:prstGeom prst="rect">
            <a:avLst/>
          </a:prstGeom>
          <a:noFill/>
          <a:ln/>
        </p:spPr>
        <p:txBody>
          <a:bodyPr wrap="square" lIns="18288" tIns="0" rIns="18288" bIns="0" rtlCol="0" anchor="t"/>
          <a:lstStyle/>
          <a:p>
            <a:pPr marL="0" indent="0">
              <a:buNone/>
            </a:pPr>
            <a:r>
              <a:rPr lang="en-US" sz="1150" b="1" dirty="0">
                <a:solidFill>
                  <a:srgbClr val="7A1F1A"/>
                </a:solidFill>
                <a:latin typeface="Cambria" pitchFamily="34" charset="0"/>
                <a:ea typeface="Cambria" pitchFamily="34" charset="-122"/>
                <a:cs typeface="Cambria" pitchFamily="34" charset="-120"/>
              </a:rPr>
              <a:t>Tier 2: Failure Modes</a:t>
            </a:r>
            <a:endParaRPr lang="en-US" sz="1150" dirty="0"/>
          </a:p>
        </p:txBody>
      </p:sp>
      <p:sp>
        <p:nvSpPr>
          <p:cNvPr id="26" name="Text 22"/>
          <p:cNvSpPr txBox="1"/>
          <p:nvPr/>
        </p:nvSpPr>
        <p:spPr>
          <a:xfrm>
            <a:off x="2935224" y="5100000"/>
            <a:ext cx="1874520" cy="411480"/>
          </a:xfrm>
          <a:prstGeom prst="rect">
            <a:avLst/>
          </a:prstGeom>
          <a:noFill/>
          <a:ln/>
        </p:spPr>
        <p:txBody>
          <a:bodyPr wrap="square" lIns="0" tIns="0" rIns="0" bIns="0" rtlCol="0" anchor="t"/>
          <a:lstStyle/>
          <a:p>
            <a:pPr marL="0" indent="0">
              <a:buNone/>
            </a:pPr>
            <a:r>
              <a:rPr lang="en-US" sz="950" dirty="0">
                <a:solidFill>
                  <a:srgbClr val="5A5347"/>
                </a:solidFill>
                <a:latin typeface="Cambria" pitchFamily="34" charset="0"/>
                <a:ea typeface="Cambria" pitchFamily="34" charset="-122"/>
                <a:cs typeface="Cambria" pitchFamily="34" charset="-120"/>
              </a:rPr>
              <a:t>Total loss of flow, internal recirculation, or containment breach.</a:t>
            </a:r>
            <a:endParaRPr lang="en-US" sz="950" dirty="0"/>
          </a:p>
        </p:txBody>
      </p:sp>
      <p:sp>
        <p:nvSpPr>
          <p:cNvPr id="27" name="Shape 23"/>
          <p:cNvSpPr/>
          <p:nvPr/>
        </p:nvSpPr>
        <p:spPr>
          <a:xfrm>
            <a:off x="5047488" y="4251960"/>
            <a:ext cx="2148840" cy="1234440"/>
          </a:xfrm>
          <a:prstGeom prst="rect">
            <a:avLst/>
          </a:prstGeom>
          <a:solidFill>
            <a:srgbClr val="EFE4CD"/>
          </a:solidFill>
          <a:ln w="12700">
            <a:solidFill>
              <a:srgbClr val="C9B48F"/>
            </a:solidFill>
            <a:prstDash val="solid"/>
          </a:ln>
        </p:spPr>
        <p:txBody>
          <a:bodyPr/>
          <a:lstStyle/>
          <a:p>
            <a:endParaRPr lang="en-IN"/>
          </a:p>
        </p:txBody>
      </p:sp>
      <p:sp>
        <p:nvSpPr>
          <p:cNvPr id="28" name="Shape 24"/>
          <p:cNvSpPr/>
          <p:nvPr/>
        </p:nvSpPr>
        <p:spPr>
          <a:xfrm>
            <a:off x="5184648" y="4370832"/>
            <a:ext cx="329184" cy="329184"/>
          </a:xfrm>
          <a:prstGeom prst="ellipse">
            <a:avLst/>
          </a:prstGeom>
          <a:solidFill>
            <a:srgbClr val="EFDCCF"/>
          </a:solidFill>
          <a:ln w="15875">
            <a:solidFill>
              <a:srgbClr val="7A1F1A"/>
            </a:solidFill>
            <a:prstDash val="solid"/>
          </a:ln>
        </p:spPr>
        <p:txBody>
          <a:bodyPr/>
          <a:lstStyle/>
          <a:p>
            <a:endParaRPr lang="en-IN"/>
          </a:p>
        </p:txBody>
      </p:sp>
      <p:sp>
        <p:nvSpPr>
          <p:cNvPr id="29" name="Text 25"/>
          <p:cNvSpPr txBox="1"/>
          <p:nvPr/>
        </p:nvSpPr>
        <p:spPr>
          <a:xfrm>
            <a:off x="5184648" y="4370832"/>
            <a:ext cx="329184" cy="329184"/>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30" name="Text 26"/>
          <p:cNvSpPr txBox="1"/>
          <p:nvPr/>
        </p:nvSpPr>
        <p:spPr>
          <a:xfrm>
            <a:off x="5080000" y="4754880"/>
            <a:ext cx="2080000" cy="310896"/>
          </a:xfrm>
          <a:prstGeom prst="rect">
            <a:avLst/>
          </a:prstGeom>
          <a:noFill/>
          <a:ln/>
        </p:spPr>
        <p:txBody>
          <a:bodyPr wrap="square" lIns="0" tIns="0" rIns="0" bIns="0" rtlCol="0" anchor="t"/>
          <a:lstStyle/>
          <a:p>
            <a:pPr marL="0" indent="0">
              <a:buNone/>
            </a:pPr>
            <a:r>
              <a:rPr lang="en-US" sz="1100" b="1" dirty="0">
                <a:solidFill>
                  <a:srgbClr val="7A1F1A"/>
                </a:solidFill>
                <a:latin typeface="Cambria" pitchFamily="34" charset="0"/>
                <a:ea typeface="Cambria" pitchFamily="34" charset="-122"/>
                <a:cs typeface="Cambria" pitchFamily="34" charset="-120"/>
              </a:rPr>
              <a:t>Tier 3: Damage Mechanisms</a:t>
            </a:r>
            <a:endParaRPr lang="en-US" sz="1150" dirty="0"/>
          </a:p>
        </p:txBody>
      </p:sp>
      <p:sp>
        <p:nvSpPr>
          <p:cNvPr id="31" name="Text 27"/>
          <p:cNvSpPr txBox="1"/>
          <p:nvPr/>
        </p:nvSpPr>
        <p:spPr>
          <a:xfrm>
            <a:off x="5184648" y="5100000"/>
            <a:ext cx="1874520" cy="411480"/>
          </a:xfrm>
          <a:prstGeom prst="rect">
            <a:avLst/>
          </a:prstGeom>
          <a:noFill/>
          <a:ln/>
        </p:spPr>
        <p:txBody>
          <a:bodyPr wrap="square" lIns="0" tIns="0" rIns="0" bIns="0" rtlCol="0" anchor="t"/>
          <a:lstStyle/>
          <a:p>
            <a:pPr marL="0" indent="0">
              <a:buNone/>
            </a:pPr>
            <a:r>
              <a:rPr lang="en-US" sz="950" dirty="0">
                <a:solidFill>
                  <a:srgbClr val="5A5347"/>
                </a:solidFill>
                <a:latin typeface="Cambria" pitchFamily="34" charset="0"/>
                <a:ea typeface="Cambria" pitchFamily="34" charset="-122"/>
                <a:cs typeface="Cambria" pitchFamily="34" charset="-120"/>
              </a:rPr>
              <a:t>Root physical degradation: cavitation erosion, acid corrosion, fatigue.</a:t>
            </a:r>
            <a:endParaRPr lang="en-US" sz="950" dirty="0"/>
          </a:p>
        </p:txBody>
      </p:sp>
      <p:sp>
        <p:nvSpPr>
          <p:cNvPr id="32" name="Shape 28"/>
          <p:cNvSpPr/>
          <p:nvPr/>
        </p:nvSpPr>
        <p:spPr>
          <a:xfrm>
            <a:off x="7296912" y="4251960"/>
            <a:ext cx="2148840" cy="1234440"/>
          </a:xfrm>
          <a:prstGeom prst="rect">
            <a:avLst/>
          </a:prstGeom>
          <a:solidFill>
            <a:srgbClr val="EFE4CD"/>
          </a:solidFill>
          <a:ln w="12700">
            <a:solidFill>
              <a:srgbClr val="C9B48F"/>
            </a:solidFill>
            <a:prstDash val="solid"/>
          </a:ln>
        </p:spPr>
        <p:txBody>
          <a:bodyPr/>
          <a:lstStyle/>
          <a:p>
            <a:endParaRPr lang="en-IN"/>
          </a:p>
        </p:txBody>
      </p:sp>
      <p:sp>
        <p:nvSpPr>
          <p:cNvPr id="33" name="Shape 29"/>
          <p:cNvSpPr/>
          <p:nvPr/>
        </p:nvSpPr>
        <p:spPr>
          <a:xfrm>
            <a:off x="7434072" y="4370832"/>
            <a:ext cx="329184" cy="329184"/>
          </a:xfrm>
          <a:prstGeom prst="ellipse">
            <a:avLst/>
          </a:prstGeom>
          <a:solidFill>
            <a:srgbClr val="EFDCCF"/>
          </a:solidFill>
          <a:ln w="15875">
            <a:solidFill>
              <a:srgbClr val="7A1F1A"/>
            </a:solidFill>
            <a:prstDash val="solid"/>
          </a:ln>
        </p:spPr>
        <p:txBody>
          <a:bodyPr/>
          <a:lstStyle/>
          <a:p>
            <a:endParaRPr lang="en-IN"/>
          </a:p>
        </p:txBody>
      </p:sp>
      <p:sp>
        <p:nvSpPr>
          <p:cNvPr id="34" name="Text 30"/>
          <p:cNvSpPr txBox="1"/>
          <p:nvPr/>
        </p:nvSpPr>
        <p:spPr>
          <a:xfrm>
            <a:off x="7434072" y="4370832"/>
            <a:ext cx="329184" cy="329184"/>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4</a:t>
            </a:r>
            <a:endParaRPr lang="en-US" sz="1200" dirty="0"/>
          </a:p>
        </p:txBody>
      </p:sp>
      <p:sp>
        <p:nvSpPr>
          <p:cNvPr id="35" name="Text 31"/>
          <p:cNvSpPr txBox="1"/>
          <p:nvPr/>
        </p:nvSpPr>
        <p:spPr>
          <a:xfrm>
            <a:off x="7434072" y="4754880"/>
            <a:ext cx="1874520" cy="310896"/>
          </a:xfrm>
          <a:prstGeom prst="rect">
            <a:avLst/>
          </a:prstGeom>
          <a:noFill/>
          <a:ln/>
        </p:spPr>
        <p:txBody>
          <a:bodyPr wrap="square" lIns="18288" tIns="0" rIns="18288" bIns="0" rtlCol="0" anchor="t"/>
          <a:lstStyle/>
          <a:p>
            <a:pPr marL="0" indent="0">
              <a:buNone/>
            </a:pPr>
            <a:r>
              <a:rPr lang="en-US" sz="1150" b="1" dirty="0">
                <a:solidFill>
                  <a:srgbClr val="7A1F1A"/>
                </a:solidFill>
                <a:latin typeface="Cambria" pitchFamily="34" charset="0"/>
                <a:ea typeface="Cambria" pitchFamily="34" charset="-122"/>
                <a:cs typeface="Cambria" pitchFamily="34" charset="-120"/>
              </a:rPr>
              <a:t>Tier 4: Telemetry &amp; CML</a:t>
            </a:r>
            <a:endParaRPr lang="en-US" sz="1150" dirty="0"/>
          </a:p>
        </p:txBody>
      </p:sp>
      <p:sp>
        <p:nvSpPr>
          <p:cNvPr id="36" name="Text 32"/>
          <p:cNvSpPr txBox="1"/>
          <p:nvPr/>
        </p:nvSpPr>
        <p:spPr>
          <a:xfrm>
            <a:off x="7434072" y="5100000"/>
            <a:ext cx="1874520" cy="411480"/>
          </a:xfrm>
          <a:prstGeom prst="rect">
            <a:avLst/>
          </a:prstGeom>
          <a:noFill/>
          <a:ln/>
        </p:spPr>
        <p:txBody>
          <a:bodyPr wrap="square" lIns="0" tIns="0" rIns="0" bIns="0" rtlCol="0" anchor="t"/>
          <a:lstStyle/>
          <a:p>
            <a:pPr marL="0" indent="0">
              <a:buNone/>
            </a:pPr>
            <a:r>
              <a:rPr lang="en-US" sz="950" dirty="0">
                <a:solidFill>
                  <a:srgbClr val="5A5347"/>
                </a:solidFill>
                <a:latin typeface="Cambria" pitchFamily="34" charset="0"/>
                <a:ea typeface="Cambria" pitchFamily="34" charset="-122"/>
                <a:cs typeface="Cambria" pitchFamily="34" charset="-120"/>
              </a:rPr>
              <a:t>DCS spectra (1X/2X vibration) and UT thickness readings.</a:t>
            </a:r>
            <a:endParaRPr lang="en-US" sz="950" dirty="0"/>
          </a:p>
        </p:txBody>
      </p:sp>
      <p:sp>
        <p:nvSpPr>
          <p:cNvPr id="37" name="Shape 33"/>
          <p:cNvSpPr/>
          <p:nvPr/>
        </p:nvSpPr>
        <p:spPr>
          <a:xfrm>
            <a:off x="9546336" y="4251960"/>
            <a:ext cx="2148840" cy="1234440"/>
          </a:xfrm>
          <a:prstGeom prst="rect">
            <a:avLst/>
          </a:prstGeom>
          <a:solidFill>
            <a:srgbClr val="EFE4CD"/>
          </a:solidFill>
          <a:ln w="12700">
            <a:solidFill>
              <a:srgbClr val="C9B48F"/>
            </a:solidFill>
            <a:prstDash val="solid"/>
          </a:ln>
        </p:spPr>
        <p:txBody>
          <a:bodyPr/>
          <a:lstStyle/>
          <a:p>
            <a:endParaRPr lang="en-IN"/>
          </a:p>
        </p:txBody>
      </p:sp>
      <p:sp>
        <p:nvSpPr>
          <p:cNvPr id="38" name="Shape 34"/>
          <p:cNvSpPr/>
          <p:nvPr/>
        </p:nvSpPr>
        <p:spPr>
          <a:xfrm>
            <a:off x="9683496" y="4370832"/>
            <a:ext cx="329184" cy="329184"/>
          </a:xfrm>
          <a:prstGeom prst="ellipse">
            <a:avLst/>
          </a:prstGeom>
          <a:solidFill>
            <a:srgbClr val="EFDCCF"/>
          </a:solidFill>
          <a:ln w="15875">
            <a:solidFill>
              <a:srgbClr val="7A1F1A"/>
            </a:solidFill>
            <a:prstDash val="solid"/>
          </a:ln>
        </p:spPr>
        <p:txBody>
          <a:bodyPr/>
          <a:lstStyle/>
          <a:p>
            <a:endParaRPr lang="en-IN"/>
          </a:p>
        </p:txBody>
      </p:sp>
      <p:sp>
        <p:nvSpPr>
          <p:cNvPr id="39" name="Text 35"/>
          <p:cNvSpPr txBox="1"/>
          <p:nvPr/>
        </p:nvSpPr>
        <p:spPr>
          <a:xfrm>
            <a:off x="9683496" y="4370832"/>
            <a:ext cx="329184" cy="329184"/>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5</a:t>
            </a:r>
            <a:endParaRPr lang="en-US" sz="1200" dirty="0"/>
          </a:p>
        </p:txBody>
      </p:sp>
      <p:sp>
        <p:nvSpPr>
          <p:cNvPr id="40" name="Text 36"/>
          <p:cNvSpPr txBox="1"/>
          <p:nvPr/>
        </p:nvSpPr>
        <p:spPr>
          <a:xfrm>
            <a:off x="9683496" y="4754880"/>
            <a:ext cx="1874520" cy="310896"/>
          </a:xfrm>
          <a:prstGeom prst="rect">
            <a:avLst/>
          </a:prstGeom>
          <a:noFill/>
          <a:ln/>
        </p:spPr>
        <p:txBody>
          <a:bodyPr wrap="square" lIns="18288" tIns="0" rIns="18288" bIns="0" rtlCol="0" anchor="t"/>
          <a:lstStyle/>
          <a:p>
            <a:pPr marL="0" indent="0">
              <a:buNone/>
            </a:pPr>
            <a:r>
              <a:rPr lang="en-US" sz="1150" b="1" dirty="0">
                <a:solidFill>
                  <a:srgbClr val="7A1F1A"/>
                </a:solidFill>
                <a:latin typeface="Cambria" pitchFamily="34" charset="0"/>
                <a:ea typeface="Cambria" pitchFamily="34" charset="-122"/>
                <a:cs typeface="Cambria" pitchFamily="34" charset="-120"/>
              </a:rPr>
              <a:t>Tier 5: Maintenance Tasks</a:t>
            </a:r>
            <a:endParaRPr lang="en-US" sz="1150" dirty="0"/>
          </a:p>
        </p:txBody>
      </p:sp>
      <p:sp>
        <p:nvSpPr>
          <p:cNvPr id="41" name="Text 37"/>
          <p:cNvSpPr txBox="1"/>
          <p:nvPr/>
        </p:nvSpPr>
        <p:spPr>
          <a:xfrm>
            <a:off x="9683496" y="5100000"/>
            <a:ext cx="1874520" cy="411480"/>
          </a:xfrm>
          <a:prstGeom prst="rect">
            <a:avLst/>
          </a:prstGeom>
          <a:noFill/>
          <a:ln/>
        </p:spPr>
        <p:txBody>
          <a:bodyPr wrap="square" lIns="0" tIns="0" rIns="0" bIns="0" rtlCol="0" anchor="t"/>
          <a:lstStyle/>
          <a:p>
            <a:pPr marL="0" indent="0">
              <a:buNone/>
            </a:pPr>
            <a:r>
              <a:rPr lang="en-US" sz="950" dirty="0">
                <a:solidFill>
                  <a:srgbClr val="5A5347"/>
                </a:solidFill>
                <a:latin typeface="Cambria" pitchFamily="34" charset="0"/>
                <a:ea typeface="Cambria" pitchFamily="34" charset="-122"/>
                <a:cs typeface="Cambria" pitchFamily="34" charset="-120"/>
              </a:rPr>
              <a:t>Impeller overhaul, chemical wash injection automation.</a:t>
            </a:r>
            <a:endParaRPr lang="en-US" sz="950" dirty="0"/>
          </a:p>
        </p:txBody>
      </p:sp>
      <p:sp>
        <p:nvSpPr>
          <p:cNvPr id="42" name="Shape 38"/>
          <p:cNvSpPr/>
          <p:nvPr/>
        </p:nvSpPr>
        <p:spPr>
          <a:xfrm>
            <a:off x="548640" y="5623560"/>
            <a:ext cx="11091672" cy="594360"/>
          </a:xfrm>
          <a:prstGeom prst="rect">
            <a:avLst/>
          </a:prstGeom>
          <a:solidFill>
            <a:srgbClr val="EFDCCF"/>
          </a:solidFill>
          <a:ln w="12700">
            <a:solidFill>
              <a:srgbClr val="A03B30"/>
            </a:solidFill>
            <a:prstDash val="solid"/>
          </a:ln>
        </p:spPr>
        <p:txBody>
          <a:bodyPr/>
          <a:lstStyle/>
          <a:p>
            <a:endParaRPr lang="en-IN"/>
          </a:p>
        </p:txBody>
      </p:sp>
      <p:sp>
        <p:nvSpPr>
          <p:cNvPr id="43" name="Text 39"/>
          <p:cNvSpPr txBox="1"/>
          <p:nvPr/>
        </p:nvSpPr>
        <p:spPr>
          <a:xfrm>
            <a:off x="777240" y="5623560"/>
            <a:ext cx="10607040" cy="594360"/>
          </a:xfrm>
          <a:prstGeom prst="rect">
            <a:avLst/>
          </a:prstGeom>
          <a:noFill/>
          <a:ln/>
        </p:spPr>
        <p:txBody>
          <a:bodyPr wrap="square" lIns="0" tIns="0" rIns="0" bIns="0" rtlCol="0" anchor="ctr"/>
          <a:lstStyle/>
          <a:p>
            <a:pPr marL="0" indent="0">
              <a:buNone/>
            </a:pPr>
            <a:r>
              <a:rPr lang="en-US" sz="1300" b="1" dirty="0">
                <a:solidFill>
                  <a:srgbClr val="1C1712"/>
                </a:solidFill>
                <a:latin typeface="Cambria" pitchFamily="34" charset="0"/>
                <a:ea typeface="Cambria" pitchFamily="34" charset="-122"/>
                <a:cs typeface="Cambria" pitchFamily="34" charset="-120"/>
              </a:rPr>
              <a:t>Core Engineering Rule:  </a:t>
            </a:r>
            <a:r>
              <a:rPr lang="en-US" sz="1300" dirty="0">
                <a:solidFill>
                  <a:srgbClr val="2C261E"/>
                </a:solidFill>
                <a:latin typeface="Cambria" pitchFamily="34" charset="0"/>
                <a:ea typeface="Cambria" pitchFamily="34" charset="-122"/>
                <a:cs typeface="Cambria" pitchFamily="34" charset="-120"/>
              </a:rPr>
              <a:t>Every CMMS maintenance task must tie directly to an active Tier 3 damage mechanism and a measurable Tier 4 telemetry stream.</a:t>
            </a:r>
            <a:endParaRPr lang="en-US" sz="1250" dirty="0"/>
          </a:p>
        </p:txBody>
      </p:sp>
      <p:pic>
        <p:nvPicPr>
          <p:cNvPr id="49" name="Picture 48">
            <a:extLst>
              <a:ext uri="{FF2B5EF4-FFF2-40B4-BE49-F238E27FC236}">
                <a16:creationId xmlns:a16="http://schemas.microsoft.com/office/drawing/2014/main" id="{9D70B9F2-5E84-0D05-523D-E1A8D63393FE}"/>
              </a:ext>
            </a:extLst>
          </p:cNvPr>
          <p:cNvPicPr>
            <a:picLocks noChangeAspect="1"/>
          </p:cNvPicPr>
          <p:nvPr/>
        </p:nvPicPr>
        <p:blipFill>
          <a:blip r:embed="rId4"/>
          <a:stretch>
            <a:fillRect/>
          </a:stretch>
        </p:blipFill>
        <p:spPr>
          <a:xfrm>
            <a:off x="2477400" y="2200000"/>
            <a:ext cx="7237200" cy="1850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6">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04 — QRO CORE METHODOLOGY</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Consequence of Failure (COF): Financial Quantification</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Dissecting the 5 cost drivers in the worked $235,188 case study.</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39</a:t>
            </a:r>
            <a:r>
              <a:rPr sz="900">
                <a:solidFill>
                  <a:srgbClr val="8A8477"/>
                </a:solidFill>
                <a:latin typeface="Courier New"/>
              </a:rPr>
              <a:t> / 80</a:t>
            </a:r>
            <a:endParaRPr lang="en-US" sz="900" dirty="0"/>
          </a:p>
        </p:txBody>
      </p:sp>
      <p:sp>
        <p:nvSpPr>
          <p:cNvPr id="13" name="Shape 10"/>
          <p:cNvSpPr/>
          <p:nvPr/>
        </p:nvSpPr>
        <p:spPr>
          <a:xfrm>
            <a:off x="548640" y="1783080"/>
            <a:ext cx="3840480" cy="4434840"/>
          </a:xfrm>
          <a:prstGeom prst="rect">
            <a:avLst/>
          </a:prstGeom>
          <a:solidFill>
            <a:srgbClr val="EFDCCF"/>
          </a:solidFill>
          <a:ln w="12700">
            <a:solidFill>
              <a:srgbClr val="A03B30"/>
            </a:solidFill>
            <a:prstDash val="solid"/>
          </a:ln>
        </p:spPr>
        <p:txBody>
          <a:bodyPr/>
          <a:lstStyle/>
          <a:p>
            <a:endParaRPr lang="en-IN"/>
          </a:p>
        </p:txBody>
      </p:sp>
      <p:sp>
        <p:nvSpPr>
          <p:cNvPr id="14" name="Text 11"/>
          <p:cNvSpPr txBox="1"/>
          <p:nvPr/>
        </p:nvSpPr>
        <p:spPr>
          <a:xfrm>
            <a:off x="749808" y="1965960"/>
            <a:ext cx="347472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TOTAL MONETIZED CONSEQUENCE</a:t>
            </a:r>
            <a:endParaRPr lang="en-US" sz="950" dirty="0"/>
          </a:p>
        </p:txBody>
      </p:sp>
      <p:sp>
        <p:nvSpPr>
          <p:cNvPr id="15" name="Text 12"/>
          <p:cNvSpPr txBox="1"/>
          <p:nvPr/>
        </p:nvSpPr>
        <p:spPr>
          <a:xfrm>
            <a:off x="749808" y="2240280"/>
            <a:ext cx="3474720" cy="731520"/>
          </a:xfrm>
          <a:prstGeom prst="rect">
            <a:avLst/>
          </a:prstGeom>
          <a:noFill/>
          <a:ln/>
        </p:spPr>
        <p:txBody>
          <a:bodyPr wrap="square" lIns="0" tIns="0" rIns="0" bIns="0" rtlCol="0" anchor="t"/>
          <a:lstStyle/>
          <a:p>
            <a:pPr marL="0" indent="0">
              <a:buNone/>
            </a:pPr>
            <a:r>
              <a:rPr lang="en-US" sz="4000" b="1" dirty="0">
                <a:solidFill>
                  <a:srgbClr val="7A1F1A"/>
                </a:solidFill>
                <a:latin typeface="Cambria" pitchFamily="34" charset="0"/>
                <a:ea typeface="Cambria" pitchFamily="34" charset="-122"/>
                <a:cs typeface="Cambria" pitchFamily="34" charset="-120"/>
              </a:rPr>
              <a:t>$ 235,188</a:t>
            </a:r>
            <a:endParaRPr lang="en-US" sz="4000" dirty="0"/>
          </a:p>
        </p:txBody>
      </p:sp>
      <p:sp>
        <p:nvSpPr>
          <p:cNvPr id="16" name="Shape 13"/>
          <p:cNvSpPr/>
          <p:nvPr/>
        </p:nvSpPr>
        <p:spPr>
          <a:xfrm>
            <a:off x="749808" y="3063240"/>
            <a:ext cx="3438144" cy="0"/>
          </a:xfrm>
          <a:prstGeom prst="line">
            <a:avLst/>
          </a:prstGeom>
          <a:noFill/>
          <a:ln w="9525">
            <a:solidFill>
              <a:srgbClr val="A03B30"/>
            </a:solidFill>
            <a:prstDash val="solid"/>
          </a:ln>
        </p:spPr>
        <p:txBody>
          <a:bodyPr/>
          <a:lstStyle/>
          <a:p>
            <a:endParaRPr lang="en-IN"/>
          </a:p>
        </p:txBody>
      </p:sp>
      <p:sp>
        <p:nvSpPr>
          <p:cNvPr id="17" name="Text 14"/>
          <p:cNvSpPr txBox="1"/>
          <p:nvPr/>
        </p:nvSpPr>
        <p:spPr>
          <a:xfrm>
            <a:off x="749808" y="3246120"/>
            <a:ext cx="3438144" cy="27432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Lost Production Margin</a:t>
            </a:r>
            <a:endParaRPr lang="en-US" sz="1250" dirty="0"/>
          </a:p>
        </p:txBody>
      </p:sp>
      <p:sp>
        <p:nvSpPr>
          <p:cNvPr id="18" name="Text 15"/>
          <p:cNvSpPr txBox="1"/>
          <p:nvPr/>
        </p:nvSpPr>
        <p:spPr>
          <a:xfrm>
            <a:off x="749808" y="3520440"/>
            <a:ext cx="3438144" cy="320040"/>
          </a:xfrm>
          <a:prstGeom prst="rect">
            <a:avLst/>
          </a:prstGeom>
          <a:noFill/>
          <a:ln/>
        </p:spPr>
        <p:txBody>
          <a:bodyPr wrap="square" lIns="0" tIns="0" rIns="0" bIns="0" rtlCol="0" anchor="t"/>
          <a:lstStyle/>
          <a:p>
            <a:pPr marL="0" indent="0">
              <a:buNone/>
            </a:pPr>
            <a:r>
              <a:rPr lang="en-US" sz="1400" b="1" dirty="0">
                <a:solidFill>
                  <a:srgbClr val="7A1F1A"/>
                </a:solidFill>
                <a:latin typeface="Courier New" pitchFamily="34" charset="0"/>
                <a:ea typeface="Courier New" pitchFamily="34" charset="-122"/>
                <a:cs typeface="Courier New" pitchFamily="34" charset="-120"/>
              </a:rPr>
              <a:t>$234,375  </a:t>
            </a:r>
            <a:r>
              <a:rPr lang="en-US" sz="1100" dirty="0">
                <a:solidFill>
                  <a:srgbClr val="5A5347"/>
                </a:solidFill>
                <a:latin typeface="Cambria" pitchFamily="34" charset="0"/>
                <a:ea typeface="Cambria" pitchFamily="34" charset="-122"/>
                <a:cs typeface="Cambria" pitchFamily="34" charset="-120"/>
              </a:rPr>
              <a:t>(99.7%)</a:t>
            </a:r>
            <a:endParaRPr lang="en-US" sz="1250" dirty="0"/>
          </a:p>
        </p:txBody>
      </p:sp>
      <p:sp>
        <p:nvSpPr>
          <p:cNvPr id="19" name="Shape 16"/>
          <p:cNvSpPr/>
          <p:nvPr/>
        </p:nvSpPr>
        <p:spPr>
          <a:xfrm>
            <a:off x="749808" y="3995928"/>
            <a:ext cx="3438144" cy="0"/>
          </a:xfrm>
          <a:prstGeom prst="line">
            <a:avLst/>
          </a:prstGeom>
          <a:noFill/>
          <a:ln w="6350">
            <a:solidFill>
              <a:srgbClr val="C9B48F"/>
            </a:solidFill>
            <a:prstDash val="solid"/>
          </a:ln>
        </p:spPr>
        <p:txBody>
          <a:bodyPr/>
          <a:lstStyle/>
          <a:p>
            <a:endParaRPr lang="en-IN"/>
          </a:p>
        </p:txBody>
      </p:sp>
      <p:sp>
        <p:nvSpPr>
          <p:cNvPr id="20" name="Text 17"/>
          <p:cNvSpPr txBox="1"/>
          <p:nvPr/>
        </p:nvSpPr>
        <p:spPr>
          <a:xfrm>
            <a:off x="749808" y="4178808"/>
            <a:ext cx="3438144" cy="27432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Hardware Replacement Parts</a:t>
            </a:r>
            <a:endParaRPr lang="en-US" sz="1250" dirty="0"/>
          </a:p>
        </p:txBody>
      </p:sp>
      <p:sp>
        <p:nvSpPr>
          <p:cNvPr id="21" name="Text 18"/>
          <p:cNvSpPr txBox="1"/>
          <p:nvPr/>
        </p:nvSpPr>
        <p:spPr>
          <a:xfrm>
            <a:off x="749808" y="4453128"/>
            <a:ext cx="3438144" cy="320040"/>
          </a:xfrm>
          <a:prstGeom prst="rect">
            <a:avLst/>
          </a:prstGeom>
          <a:noFill/>
          <a:ln/>
        </p:spPr>
        <p:txBody>
          <a:bodyPr wrap="square" lIns="0" tIns="0" rIns="0" bIns="0" rtlCol="0" anchor="t"/>
          <a:lstStyle/>
          <a:p>
            <a:pPr marL="0" indent="0">
              <a:buNone/>
            </a:pPr>
            <a:r>
              <a:rPr lang="en-US" sz="1400" b="1" dirty="0">
                <a:solidFill>
                  <a:srgbClr val="7A1F1A"/>
                </a:solidFill>
                <a:latin typeface="Courier New" pitchFamily="34" charset="0"/>
                <a:ea typeface="Courier New" pitchFamily="34" charset="-122"/>
                <a:cs typeface="Courier New" pitchFamily="34" charset="-120"/>
              </a:rPr>
              <a:t>$813  </a:t>
            </a:r>
            <a:r>
              <a:rPr lang="en-US" sz="1100" dirty="0">
                <a:solidFill>
                  <a:srgbClr val="5A5347"/>
                </a:solidFill>
                <a:latin typeface="Cambria" pitchFamily="34" charset="0"/>
                <a:ea typeface="Cambria" pitchFamily="34" charset="-122"/>
                <a:cs typeface="Cambria" pitchFamily="34" charset="-120"/>
              </a:rPr>
              <a:t>(0.3%)</a:t>
            </a:r>
            <a:endParaRPr lang="en-US" sz="1250" dirty="0"/>
          </a:p>
        </p:txBody>
      </p:sp>
      <p:sp>
        <p:nvSpPr>
          <p:cNvPr id="22" name="Shape 19"/>
          <p:cNvSpPr/>
          <p:nvPr/>
        </p:nvSpPr>
        <p:spPr>
          <a:xfrm>
            <a:off x="749808" y="4928616"/>
            <a:ext cx="3438144" cy="0"/>
          </a:xfrm>
          <a:prstGeom prst="line">
            <a:avLst/>
          </a:prstGeom>
          <a:noFill/>
          <a:ln w="6350">
            <a:solidFill>
              <a:srgbClr val="C9B48F"/>
            </a:solidFill>
            <a:prstDash val="solid"/>
          </a:ln>
        </p:spPr>
        <p:txBody>
          <a:bodyPr/>
          <a:lstStyle/>
          <a:p>
            <a:endParaRPr lang="en-IN"/>
          </a:p>
        </p:txBody>
      </p:sp>
      <p:sp>
        <p:nvSpPr>
          <p:cNvPr id="23" name="Text 20"/>
          <p:cNvSpPr txBox="1"/>
          <p:nvPr/>
        </p:nvSpPr>
        <p:spPr>
          <a:xfrm>
            <a:off x="749808" y="5111496"/>
            <a:ext cx="3438144" cy="274320"/>
          </a:xfrm>
          <a:prstGeom prst="rect">
            <a:avLst/>
          </a:prstGeom>
          <a:noFill/>
          <a:ln/>
        </p:spPr>
        <p:txBody>
          <a:bodyPr wrap="square" lIns="0" tIns="0" rIns="0" bIns="0" rtlCol="0" anchor="t"/>
          <a:lstStyle/>
          <a:p>
            <a:pPr marL="0" indent="0">
              <a:buNone/>
            </a:pPr>
            <a:r>
              <a:rPr lang="en-US" sz="1250" b="1" dirty="0">
                <a:solidFill>
                  <a:srgbClr val="1C1712"/>
                </a:solidFill>
                <a:latin typeface="Cambria" pitchFamily="34" charset="0"/>
                <a:ea typeface="Cambria" pitchFamily="34" charset="-122"/>
                <a:cs typeface="Cambria" pitchFamily="34" charset="-120"/>
              </a:rPr>
              <a:t>Safety &amp; Environmental (HSE)</a:t>
            </a:r>
            <a:endParaRPr lang="en-US" sz="1250" dirty="0"/>
          </a:p>
        </p:txBody>
      </p:sp>
      <p:sp>
        <p:nvSpPr>
          <p:cNvPr id="24" name="Text 21"/>
          <p:cNvSpPr txBox="1"/>
          <p:nvPr/>
        </p:nvSpPr>
        <p:spPr>
          <a:xfrm>
            <a:off x="749808" y="5385816"/>
            <a:ext cx="3438144" cy="320040"/>
          </a:xfrm>
          <a:prstGeom prst="rect">
            <a:avLst/>
          </a:prstGeom>
          <a:noFill/>
          <a:ln/>
        </p:spPr>
        <p:txBody>
          <a:bodyPr wrap="square" lIns="0" tIns="0" rIns="0" bIns="0" rtlCol="0" anchor="t"/>
          <a:lstStyle/>
          <a:p>
            <a:pPr marL="0" indent="0">
              <a:buNone/>
            </a:pPr>
            <a:r>
              <a:rPr lang="en-US" sz="1400" b="1" dirty="0">
                <a:solidFill>
                  <a:srgbClr val="7A1F1A"/>
                </a:solidFill>
                <a:latin typeface="Courier New" pitchFamily="34" charset="0"/>
                <a:ea typeface="Courier New" pitchFamily="34" charset="-122"/>
                <a:cs typeface="Courier New" pitchFamily="34" charset="-120"/>
              </a:rPr>
              <a:t>$0  </a:t>
            </a:r>
            <a:r>
              <a:rPr lang="en-US" sz="1100" dirty="0">
                <a:solidFill>
                  <a:srgbClr val="5A5347"/>
                </a:solidFill>
                <a:latin typeface="Cambria" pitchFamily="34" charset="0"/>
                <a:ea typeface="Cambria" pitchFamily="34" charset="-122"/>
                <a:cs typeface="Cambria" pitchFamily="34" charset="-120"/>
              </a:rPr>
              <a:t>(No breach)</a:t>
            </a:r>
            <a:endParaRPr lang="en-US" sz="1250" dirty="0"/>
          </a:p>
        </p:txBody>
      </p:sp>
      <p:sp>
        <p:nvSpPr>
          <p:cNvPr id="25" name="Shape 22"/>
          <p:cNvSpPr/>
          <p:nvPr/>
        </p:nvSpPr>
        <p:spPr>
          <a:xfrm>
            <a:off x="4526280" y="1783080"/>
            <a:ext cx="7114032" cy="4434840"/>
          </a:xfrm>
          <a:prstGeom prst="rect">
            <a:avLst/>
          </a:prstGeom>
          <a:solidFill>
            <a:srgbClr val="FFFFFF"/>
          </a:solidFill>
          <a:ln w="12700">
            <a:solidFill>
              <a:srgbClr val="A68C5E"/>
            </a:solidFill>
            <a:prstDash val="solid"/>
          </a:ln>
        </p:spPr>
        <p:txBody>
          <a:bodyPr/>
          <a:lstStyle/>
          <a:p>
            <a:endParaRPr lang="en-IN"/>
          </a:p>
        </p:txBody>
      </p:sp>
      <p:sp>
        <p:nvSpPr>
          <p:cNvPr id="26" name="Text 23"/>
          <p:cNvSpPr txBox="1"/>
          <p:nvPr/>
        </p:nvSpPr>
        <p:spPr>
          <a:xfrm>
            <a:off x="4709160" y="1901952"/>
            <a:ext cx="6748272"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NEWTON COF ASSESSMENT — TOTAL $235,188</a:t>
            </a:r>
            <a:endParaRPr lang="en-US" sz="850" dirty="0"/>
          </a:p>
        </p:txBody>
      </p:sp>
      <p:sp>
        <p:nvSpPr>
          <p:cNvPr id="27" name="Shape 24"/>
          <p:cNvSpPr/>
          <p:nvPr/>
        </p:nvSpPr>
        <p:spPr>
          <a:xfrm>
            <a:off x="4709160" y="2148840"/>
            <a:ext cx="6748272" cy="0"/>
          </a:xfrm>
          <a:prstGeom prst="line">
            <a:avLst/>
          </a:prstGeom>
          <a:noFill/>
          <a:ln w="9525">
            <a:solidFill>
              <a:srgbClr val="C9B48F"/>
            </a:solidFill>
            <a:prstDash val="solid"/>
          </a:ln>
        </p:spPr>
        <p:txBody>
          <a:bodyPr/>
          <a:lstStyle/>
          <a:p>
            <a:endParaRPr lang="en-IN"/>
          </a:p>
        </p:txBody>
      </p:sp>
      <p:pic>
        <p:nvPicPr>
          <p:cNvPr id="28" name="Image 1" descr="Newton CoF Assessment — Total $235,188"/>
          <p:cNvPicPr>
            <a:picLocks noChangeAspect="1"/>
          </p:cNvPicPr>
          <p:nvPr/>
        </p:nvPicPr>
        <p:blipFill>
          <a:blip r:embed="rId4"/>
          <a:stretch>
            <a:fillRect/>
          </a:stretch>
        </p:blipFill>
        <p:spPr>
          <a:xfrm>
            <a:off x="4690872" y="2786534"/>
            <a:ext cx="6784848" cy="275711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04 — QRO CORE METHODOLOGY</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Pillar 2: Lifetime Variability Curve (LVC) Architecture</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Stochastic degradation modeling with dynamic Bayesian confidence envelopes.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40</a:t>
            </a:r>
            <a:r>
              <a:rPr sz="900">
                <a:solidFill>
                  <a:srgbClr val="8A8477"/>
                </a:solidFill>
                <a:latin typeface="Courier New"/>
              </a:rPr>
              <a:t> / 80</a:t>
            </a:r>
            <a:endParaRPr lang="en-US" sz="900" dirty="0"/>
          </a:p>
        </p:txBody>
      </p:sp>
      <p:sp>
        <p:nvSpPr>
          <p:cNvPr id="13" name="Shape 10"/>
          <p:cNvSpPr/>
          <p:nvPr/>
        </p:nvSpPr>
        <p:spPr>
          <a:xfrm>
            <a:off x="548640" y="1783080"/>
            <a:ext cx="640080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603504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LVC CONCEPT: THINNING UNCERTAINTY &amp; POF DERIVATION</a:t>
            </a:r>
            <a:endParaRPr lang="en-US" sz="850" dirty="0"/>
          </a:p>
        </p:txBody>
      </p:sp>
      <p:sp>
        <p:nvSpPr>
          <p:cNvPr id="15" name="Shape 12"/>
          <p:cNvSpPr/>
          <p:nvPr/>
        </p:nvSpPr>
        <p:spPr>
          <a:xfrm>
            <a:off x="731520" y="2148840"/>
            <a:ext cx="6035040" cy="0"/>
          </a:xfrm>
          <a:prstGeom prst="line">
            <a:avLst/>
          </a:prstGeom>
          <a:noFill/>
          <a:ln w="9525">
            <a:solidFill>
              <a:srgbClr val="C9B48F"/>
            </a:solidFill>
            <a:prstDash val="solid"/>
          </a:ln>
        </p:spPr>
        <p:txBody>
          <a:bodyPr/>
          <a:lstStyle/>
          <a:p>
            <a:endParaRPr lang="en-IN"/>
          </a:p>
        </p:txBody>
      </p:sp>
      <p:sp>
        <p:nvSpPr>
          <p:cNvPr id="17" name="Shape 13"/>
          <p:cNvSpPr/>
          <p:nvPr/>
        </p:nvSpPr>
        <p:spPr>
          <a:xfrm>
            <a:off x="7086600" y="1783080"/>
            <a:ext cx="4553712" cy="1234440"/>
          </a:xfrm>
          <a:prstGeom prst="rect">
            <a:avLst/>
          </a:prstGeom>
          <a:solidFill>
            <a:srgbClr val="EFDCCF"/>
          </a:solidFill>
          <a:ln w="12700">
            <a:solidFill>
              <a:srgbClr val="A03B30"/>
            </a:solidFill>
            <a:prstDash val="solid"/>
          </a:ln>
        </p:spPr>
        <p:txBody>
          <a:bodyPr/>
          <a:lstStyle/>
          <a:p>
            <a:endParaRPr lang="en-IN"/>
          </a:p>
        </p:txBody>
      </p:sp>
      <p:sp>
        <p:nvSpPr>
          <p:cNvPr id="18" name="Text 14"/>
          <p:cNvSpPr txBox="1"/>
          <p:nvPr/>
        </p:nvSpPr>
        <p:spPr>
          <a:xfrm>
            <a:off x="7315200" y="1783080"/>
            <a:ext cx="4114800" cy="1234440"/>
          </a:xfrm>
          <a:prstGeom prst="rect">
            <a:avLst/>
          </a:prstGeom>
          <a:noFill/>
          <a:ln/>
        </p:spPr>
        <p:txBody>
          <a:bodyPr wrap="square" lIns="0" tIns="0" rIns="0" bIns="0" rtlCol="0" anchor="ctr"/>
          <a:lstStyle/>
          <a:p>
            <a:pPr marL="0" indent="0">
              <a:buNone/>
            </a:pPr>
            <a:r>
              <a:rPr lang="en-US" sz="1300" b="1" dirty="0">
                <a:solidFill>
                  <a:srgbClr val="1C1712"/>
                </a:solidFill>
                <a:latin typeface="Cambria" pitchFamily="34" charset="0"/>
                <a:ea typeface="Cambria" pitchFamily="34" charset="-122"/>
                <a:cs typeface="Cambria" pitchFamily="34" charset="-120"/>
              </a:rPr>
              <a:t>LVC Principle:  </a:t>
            </a:r>
            <a:r>
              <a:rPr lang="en-US" sz="1250" dirty="0">
                <a:solidFill>
                  <a:srgbClr val="2C261E"/>
                </a:solidFill>
                <a:latin typeface="Cambria" pitchFamily="34" charset="0"/>
                <a:ea typeface="Cambria" pitchFamily="34" charset="-122"/>
                <a:cs typeface="Cambria" pitchFamily="34" charset="-120"/>
              </a:rPr>
              <a:t>As UT readings arrive, the uncertainty band narrows, dynamically updating the POF S-curve and shifting the true MTTF.</a:t>
            </a:r>
            <a:endParaRPr lang="en-US" sz="1250" dirty="0"/>
          </a:p>
        </p:txBody>
      </p:sp>
      <p:sp>
        <p:nvSpPr>
          <p:cNvPr id="19" name="Shape 15"/>
          <p:cNvSpPr/>
          <p:nvPr/>
        </p:nvSpPr>
        <p:spPr>
          <a:xfrm>
            <a:off x="7086600" y="3154680"/>
            <a:ext cx="4553712" cy="3063240"/>
          </a:xfrm>
          <a:prstGeom prst="rect">
            <a:avLst/>
          </a:prstGeom>
          <a:solidFill>
            <a:srgbClr val="FBF4E4"/>
          </a:solidFill>
          <a:ln w="12700">
            <a:solidFill>
              <a:srgbClr val="C9B48F"/>
            </a:solidFill>
            <a:prstDash val="solid"/>
          </a:ln>
        </p:spPr>
        <p:txBody>
          <a:bodyPr/>
          <a:lstStyle/>
          <a:p>
            <a:endParaRPr lang="en-IN"/>
          </a:p>
        </p:txBody>
      </p:sp>
      <p:sp>
        <p:nvSpPr>
          <p:cNvPr id="20" name="Text 16"/>
          <p:cNvSpPr txBox="1"/>
          <p:nvPr/>
        </p:nvSpPr>
        <p:spPr>
          <a:xfrm>
            <a:off x="7315200" y="3291840"/>
            <a:ext cx="420624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MECHANICS &amp; BAYESIAN UPDATING</a:t>
            </a:r>
            <a:endParaRPr lang="en-US" sz="950" dirty="0"/>
          </a:p>
        </p:txBody>
      </p:sp>
      <p:sp>
        <p:nvSpPr>
          <p:cNvPr id="21" name="Shape 17"/>
          <p:cNvSpPr/>
          <p:nvPr/>
        </p:nvSpPr>
        <p:spPr>
          <a:xfrm>
            <a:off x="7315200" y="3657600"/>
            <a:ext cx="329184" cy="329184"/>
          </a:xfrm>
          <a:prstGeom prst="ellipse">
            <a:avLst/>
          </a:prstGeom>
          <a:solidFill>
            <a:srgbClr val="EFDCCF"/>
          </a:solidFill>
          <a:ln w="15875">
            <a:solidFill>
              <a:srgbClr val="7A1F1A"/>
            </a:solidFill>
            <a:prstDash val="solid"/>
          </a:ln>
        </p:spPr>
        <p:txBody>
          <a:bodyPr/>
          <a:lstStyle/>
          <a:p>
            <a:endParaRPr lang="en-IN"/>
          </a:p>
        </p:txBody>
      </p:sp>
      <p:sp>
        <p:nvSpPr>
          <p:cNvPr id="22" name="Text 18"/>
          <p:cNvSpPr txBox="1"/>
          <p:nvPr/>
        </p:nvSpPr>
        <p:spPr>
          <a:xfrm>
            <a:off x="7315200" y="3657600"/>
            <a:ext cx="329184" cy="329184"/>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23" name="Text 19"/>
          <p:cNvSpPr txBox="1"/>
          <p:nvPr/>
        </p:nvSpPr>
        <p:spPr>
          <a:xfrm>
            <a:off x="7772400" y="3639312"/>
            <a:ext cx="3749040" cy="822960"/>
          </a:xfrm>
          <a:prstGeom prst="rect">
            <a:avLst/>
          </a:prstGeom>
          <a:noFill/>
          <a:ln/>
        </p:spPr>
        <p:txBody>
          <a:bodyPr wrap="square" lIns="0" tIns="0" rIns="0" bIns="0" rtlCol="0" anchor="t"/>
          <a:lstStyle/>
          <a:p>
            <a:pPr marL="0" indent="0">
              <a:buNone/>
            </a:pPr>
            <a:r>
              <a:rPr lang="en-US" sz="1200" b="1" dirty="0">
                <a:solidFill>
                  <a:srgbClr val="7A1F1A"/>
                </a:solidFill>
                <a:latin typeface="Cambria" pitchFamily="34" charset="0"/>
                <a:ea typeface="Cambria" pitchFamily="34" charset="-122"/>
                <a:cs typeface="Cambria" pitchFamily="34" charset="-120"/>
              </a:rPr>
              <a:t>Expanding Uncertainty Cone:</a:t>
            </a:r>
            <a:r>
              <a:rPr lang="en-US" sz="1200" dirty="0">
                <a:solidFill>
                  <a:srgbClr val="2C261E"/>
                </a:solidFill>
                <a:latin typeface="Cambria" pitchFamily="34" charset="0"/>
                <a:ea typeface="Cambria" pitchFamily="34" charset="-122"/>
                <a:cs typeface="Cambria" pitchFamily="34" charset="-120"/>
              </a:rPr>
              <a:t> Degradation uncertainty naturally expands with forward time if no new telemetry is gathered.</a:t>
            </a:r>
            <a:endParaRPr lang="en-US" sz="1200" dirty="0"/>
          </a:p>
        </p:txBody>
      </p:sp>
      <p:sp>
        <p:nvSpPr>
          <p:cNvPr id="24" name="Shape 20"/>
          <p:cNvSpPr/>
          <p:nvPr/>
        </p:nvSpPr>
        <p:spPr>
          <a:xfrm>
            <a:off x="7315200" y="4526280"/>
            <a:ext cx="329184" cy="329184"/>
          </a:xfrm>
          <a:prstGeom prst="ellipse">
            <a:avLst/>
          </a:prstGeom>
          <a:solidFill>
            <a:srgbClr val="EFDCCF"/>
          </a:solidFill>
          <a:ln w="15875">
            <a:solidFill>
              <a:srgbClr val="7A1F1A"/>
            </a:solidFill>
            <a:prstDash val="solid"/>
          </a:ln>
        </p:spPr>
        <p:txBody>
          <a:bodyPr/>
          <a:lstStyle/>
          <a:p>
            <a:endParaRPr lang="en-IN"/>
          </a:p>
        </p:txBody>
      </p:sp>
      <p:sp>
        <p:nvSpPr>
          <p:cNvPr id="25" name="Text 21"/>
          <p:cNvSpPr txBox="1"/>
          <p:nvPr/>
        </p:nvSpPr>
        <p:spPr>
          <a:xfrm>
            <a:off x="7315200" y="4526280"/>
            <a:ext cx="329184" cy="329184"/>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6" name="Text 22"/>
          <p:cNvSpPr txBox="1"/>
          <p:nvPr/>
        </p:nvSpPr>
        <p:spPr>
          <a:xfrm>
            <a:off x="7772400" y="4507992"/>
            <a:ext cx="3749040" cy="822960"/>
          </a:xfrm>
          <a:prstGeom prst="rect">
            <a:avLst/>
          </a:prstGeom>
          <a:noFill/>
          <a:ln/>
        </p:spPr>
        <p:txBody>
          <a:bodyPr wrap="square" lIns="0" tIns="0" rIns="0" bIns="0" rtlCol="0" anchor="t"/>
          <a:lstStyle/>
          <a:p>
            <a:pPr marL="0" indent="0">
              <a:buNone/>
            </a:pPr>
            <a:r>
              <a:rPr lang="en-US" sz="1200" b="1" dirty="0">
                <a:solidFill>
                  <a:srgbClr val="7A1F1A"/>
                </a:solidFill>
                <a:latin typeface="Cambria" pitchFamily="34" charset="0"/>
                <a:ea typeface="Cambria" pitchFamily="34" charset="-122"/>
                <a:cs typeface="Cambria" pitchFamily="34" charset="-120"/>
              </a:rPr>
              <a:t>Retirement Limit Intersection:</a:t>
            </a:r>
            <a:r>
              <a:rPr lang="en-US" sz="1200" dirty="0">
                <a:solidFill>
                  <a:srgbClr val="2C261E"/>
                </a:solidFill>
                <a:latin typeface="Cambria" pitchFamily="34" charset="0"/>
                <a:ea typeface="Cambria" pitchFamily="34" charset="-122"/>
                <a:cs typeface="Cambria" pitchFamily="34" charset="-120"/>
              </a:rPr>
              <a:t> Date where the lower confidence bound intersects t_crit = 0.19 in defines earliest risk breach.</a:t>
            </a:r>
            <a:endParaRPr lang="en-US" sz="1200" dirty="0"/>
          </a:p>
        </p:txBody>
      </p:sp>
      <p:sp>
        <p:nvSpPr>
          <p:cNvPr id="27" name="Shape 23"/>
          <p:cNvSpPr/>
          <p:nvPr/>
        </p:nvSpPr>
        <p:spPr>
          <a:xfrm>
            <a:off x="7315200" y="5394960"/>
            <a:ext cx="329184" cy="329184"/>
          </a:xfrm>
          <a:prstGeom prst="ellipse">
            <a:avLst/>
          </a:prstGeom>
          <a:solidFill>
            <a:srgbClr val="EFDCCF"/>
          </a:solidFill>
          <a:ln w="15875">
            <a:solidFill>
              <a:srgbClr val="7A1F1A"/>
            </a:solidFill>
            <a:prstDash val="solid"/>
          </a:ln>
        </p:spPr>
        <p:txBody>
          <a:bodyPr/>
          <a:lstStyle/>
          <a:p>
            <a:endParaRPr lang="en-IN"/>
          </a:p>
        </p:txBody>
      </p:sp>
      <p:sp>
        <p:nvSpPr>
          <p:cNvPr id="28" name="Text 24"/>
          <p:cNvSpPr txBox="1"/>
          <p:nvPr/>
        </p:nvSpPr>
        <p:spPr>
          <a:xfrm>
            <a:off x="7315200" y="5394960"/>
            <a:ext cx="329184" cy="329184"/>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29" name="Text 25"/>
          <p:cNvSpPr txBox="1"/>
          <p:nvPr/>
        </p:nvSpPr>
        <p:spPr>
          <a:xfrm>
            <a:off x="7772400" y="5376672"/>
            <a:ext cx="3749040" cy="822960"/>
          </a:xfrm>
          <a:prstGeom prst="rect">
            <a:avLst/>
          </a:prstGeom>
          <a:noFill/>
          <a:ln/>
        </p:spPr>
        <p:txBody>
          <a:bodyPr wrap="square" lIns="0" tIns="0" rIns="0" bIns="0" rtlCol="0" anchor="t"/>
          <a:lstStyle/>
          <a:p>
            <a:pPr marL="0" indent="0">
              <a:buNone/>
            </a:pPr>
            <a:r>
              <a:rPr lang="en-US" sz="1200" b="1" dirty="0">
                <a:solidFill>
                  <a:srgbClr val="7A1F1A"/>
                </a:solidFill>
                <a:latin typeface="Cambria" pitchFamily="34" charset="0"/>
                <a:ea typeface="Cambria" pitchFamily="34" charset="-122"/>
                <a:cs typeface="Cambria" pitchFamily="34" charset="-120"/>
              </a:rPr>
              <a:t>Bayesian Contraction:</a:t>
            </a:r>
            <a:r>
              <a:rPr lang="en-US" sz="1200" dirty="0">
                <a:solidFill>
                  <a:srgbClr val="2C261E"/>
                </a:solidFill>
                <a:latin typeface="Cambria" pitchFamily="34" charset="0"/>
                <a:ea typeface="Cambria" pitchFamily="34" charset="-122"/>
                <a:cs typeface="Cambria" pitchFamily="34" charset="-120"/>
              </a:rPr>
              <a:t> Each new thickness measurement collapses the distribution variance, moving MTTF out by years.</a:t>
            </a:r>
            <a:endParaRPr lang="en-US" sz="1200" dirty="0"/>
          </a:p>
        </p:txBody>
      </p:sp>
      <p:pic>
        <p:nvPicPr>
          <p:cNvPr id="31" name="Picture 30">
            <a:extLst>
              <a:ext uri="{FF2B5EF4-FFF2-40B4-BE49-F238E27FC236}">
                <a16:creationId xmlns:a16="http://schemas.microsoft.com/office/drawing/2014/main" id="{ED907C59-ED9D-0067-6C42-17D92596A6F6}"/>
              </a:ext>
            </a:extLst>
          </p:cNvPr>
          <p:cNvPicPr>
            <a:picLocks noChangeAspect="1"/>
          </p:cNvPicPr>
          <p:nvPr/>
        </p:nvPicPr>
        <p:blipFill>
          <a:blip r:embed="rId4"/>
          <a:stretch>
            <a:fillRect/>
          </a:stretch>
        </p:blipFill>
        <p:spPr>
          <a:xfrm>
            <a:off x="548640" y="2286001"/>
            <a:ext cx="6035040" cy="3675889"/>
          </a:xfrm>
          <a:prstGeom prst="rect">
            <a:avLst/>
          </a:prstGeom>
        </p:spPr>
      </p:pic>
      <p:sp>
        <p:nvSpPr>
          <p:cNvPr id="16" name="Rectangle 15">
            <a:extLst>
              <a:ext uri="{FF2B5EF4-FFF2-40B4-BE49-F238E27FC236}">
                <a16:creationId xmlns:a16="http://schemas.microsoft.com/office/drawing/2014/main" id="{9ABCA99F-4CFA-3CAA-5EB5-573CD2C61978}"/>
              </a:ext>
            </a:extLst>
          </p:cNvPr>
          <p:cNvSpPr/>
          <p:nvPr/>
        </p:nvSpPr>
        <p:spPr>
          <a:xfrm>
            <a:off x="5663381" y="5594555"/>
            <a:ext cx="920299" cy="29418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8">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04 — QRO CORE METHODOLOGY</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LVC Case Studies: CML Thinning Data Evolution</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Observing MTTF extension as additional ultrasonic data points are recorded.</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41</a:t>
            </a:r>
            <a:r>
              <a:rPr sz="900">
                <a:solidFill>
                  <a:srgbClr val="8A8477"/>
                </a:solidFill>
                <a:latin typeface="Courier New"/>
              </a:rPr>
              <a:t> / 80</a:t>
            </a:r>
            <a:endParaRPr lang="en-US" sz="900" dirty="0"/>
          </a:p>
        </p:txBody>
      </p:sp>
      <p:sp>
        <p:nvSpPr>
          <p:cNvPr id="13" name="Shape 10"/>
          <p:cNvSpPr/>
          <p:nvPr/>
        </p:nvSpPr>
        <p:spPr>
          <a:xfrm>
            <a:off x="548640" y="1783080"/>
            <a:ext cx="3547872" cy="44348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938528"/>
            <a:ext cx="3090672"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1. Baseline</a:t>
            </a:r>
            <a:endParaRPr lang="en-US" sz="1500" dirty="0"/>
          </a:p>
        </p:txBody>
      </p:sp>
      <p:sp>
        <p:nvSpPr>
          <p:cNvPr id="15" name="Shape 12"/>
          <p:cNvSpPr/>
          <p:nvPr/>
        </p:nvSpPr>
        <p:spPr>
          <a:xfrm>
            <a:off x="777240" y="2286000"/>
            <a:ext cx="3090672" cy="365760"/>
          </a:xfrm>
          <a:prstGeom prst="rect">
            <a:avLst/>
          </a:prstGeom>
          <a:solidFill>
            <a:srgbClr val="DDE7D6"/>
          </a:solidFill>
          <a:ln w="12700">
            <a:solidFill>
              <a:srgbClr val="2F6B3A"/>
            </a:solidFill>
            <a:prstDash val="solid"/>
          </a:ln>
        </p:spPr>
        <p:txBody>
          <a:bodyPr/>
          <a:lstStyle/>
          <a:p>
            <a:endParaRPr lang="en-IN"/>
          </a:p>
        </p:txBody>
      </p:sp>
      <p:sp>
        <p:nvSpPr>
          <p:cNvPr id="16" name="Text 13"/>
          <p:cNvSpPr txBox="1"/>
          <p:nvPr/>
        </p:nvSpPr>
        <p:spPr>
          <a:xfrm>
            <a:off x="777240" y="2286000"/>
            <a:ext cx="3090672" cy="365760"/>
          </a:xfrm>
          <a:prstGeom prst="rect">
            <a:avLst/>
          </a:prstGeom>
          <a:noFill/>
          <a:ln/>
        </p:spPr>
        <p:txBody>
          <a:bodyPr wrap="square" lIns="0" tIns="0" rIns="0" bIns="0" rtlCol="0" anchor="ctr"/>
          <a:lstStyle/>
          <a:p>
            <a:pPr marL="0" indent="0" algn="ctr">
              <a:buNone/>
            </a:pPr>
            <a:r>
              <a:rPr lang="en-US" sz="1150" b="1" dirty="0">
                <a:solidFill>
                  <a:srgbClr val="2F6B3A"/>
                </a:solidFill>
                <a:latin typeface="Courier New" pitchFamily="34" charset="0"/>
                <a:ea typeface="Courier New" pitchFamily="34" charset="-122"/>
                <a:cs typeface="Courier New" pitchFamily="34" charset="-120"/>
              </a:rPr>
              <a:t>MTTF: 2035-09-08</a:t>
            </a:r>
            <a:endParaRPr lang="en-US" sz="1150" dirty="0"/>
          </a:p>
        </p:txBody>
      </p:sp>
      <p:sp>
        <p:nvSpPr>
          <p:cNvPr id="17" name="Shape 14"/>
          <p:cNvSpPr/>
          <p:nvPr/>
        </p:nvSpPr>
        <p:spPr>
          <a:xfrm>
            <a:off x="777240" y="2743200"/>
            <a:ext cx="3090672" cy="1965960"/>
          </a:xfrm>
          <a:prstGeom prst="rect">
            <a:avLst/>
          </a:prstGeom>
          <a:solidFill>
            <a:srgbClr val="FFFFFF"/>
          </a:solidFill>
          <a:ln w="9525">
            <a:solidFill>
              <a:srgbClr val="C9B48F"/>
            </a:solidFill>
            <a:prstDash val="solid"/>
          </a:ln>
        </p:spPr>
        <p:txBody>
          <a:bodyPr/>
          <a:lstStyle/>
          <a:p>
            <a:endParaRPr lang="en-IN"/>
          </a:p>
        </p:txBody>
      </p:sp>
      <p:pic>
        <p:nvPicPr>
          <p:cNvPr id="18" name="Image 1" descr="rc/r_lvc1"/>
          <p:cNvPicPr>
            <a:picLocks noChangeAspect="1"/>
          </p:cNvPicPr>
          <p:nvPr/>
        </p:nvPicPr>
        <p:blipFill>
          <a:blip r:embed="rId4"/>
          <a:stretch>
            <a:fillRect/>
          </a:stretch>
        </p:blipFill>
        <p:spPr>
          <a:xfrm>
            <a:off x="1241616" y="2798064"/>
            <a:ext cx="2161921" cy="1856232"/>
          </a:xfrm>
          <a:prstGeom prst="rect">
            <a:avLst/>
          </a:prstGeom>
        </p:spPr>
      </p:pic>
      <p:sp>
        <p:nvSpPr>
          <p:cNvPr id="19" name="Shape 15"/>
          <p:cNvSpPr/>
          <p:nvPr/>
        </p:nvSpPr>
        <p:spPr>
          <a:xfrm>
            <a:off x="777240" y="4846320"/>
            <a:ext cx="3090672" cy="0"/>
          </a:xfrm>
          <a:prstGeom prst="line">
            <a:avLst/>
          </a:prstGeom>
          <a:noFill/>
          <a:ln w="9525">
            <a:solidFill>
              <a:srgbClr val="C9B48F"/>
            </a:solidFill>
            <a:prstDash val="solid"/>
          </a:ln>
        </p:spPr>
        <p:txBody>
          <a:bodyPr/>
          <a:lstStyle/>
          <a:p>
            <a:endParaRPr lang="en-IN"/>
          </a:p>
        </p:txBody>
      </p:sp>
      <p:sp>
        <p:nvSpPr>
          <p:cNvPr id="20" name="Text 16"/>
          <p:cNvSpPr txBox="1"/>
          <p:nvPr/>
        </p:nvSpPr>
        <p:spPr>
          <a:xfrm>
            <a:off x="777240" y="4956048"/>
            <a:ext cx="3090672" cy="118872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Wide initial uncertainty band from nominal wall and one baseline UT point.</a:t>
            </a:r>
            <a:endParaRPr lang="en-US" sz="1250" dirty="0"/>
          </a:p>
        </p:txBody>
      </p:sp>
      <p:sp>
        <p:nvSpPr>
          <p:cNvPr id="21" name="Shape 17"/>
          <p:cNvSpPr/>
          <p:nvPr/>
        </p:nvSpPr>
        <p:spPr>
          <a:xfrm>
            <a:off x="4320540" y="1783080"/>
            <a:ext cx="3547872" cy="4434840"/>
          </a:xfrm>
          <a:prstGeom prst="rect">
            <a:avLst/>
          </a:prstGeom>
          <a:solidFill>
            <a:srgbClr val="FBF4E4"/>
          </a:solidFill>
          <a:ln w="12700">
            <a:solidFill>
              <a:srgbClr val="C9B48F"/>
            </a:solidFill>
            <a:prstDash val="solid"/>
          </a:ln>
        </p:spPr>
        <p:txBody>
          <a:bodyPr/>
          <a:lstStyle/>
          <a:p>
            <a:endParaRPr lang="en-IN"/>
          </a:p>
        </p:txBody>
      </p:sp>
      <p:sp>
        <p:nvSpPr>
          <p:cNvPr id="22" name="Text 18"/>
          <p:cNvSpPr txBox="1"/>
          <p:nvPr/>
        </p:nvSpPr>
        <p:spPr>
          <a:xfrm>
            <a:off x="4549140" y="1938528"/>
            <a:ext cx="3090672"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2. New Reading</a:t>
            </a:r>
            <a:endParaRPr lang="en-US" sz="1500" dirty="0"/>
          </a:p>
        </p:txBody>
      </p:sp>
      <p:sp>
        <p:nvSpPr>
          <p:cNvPr id="23" name="Shape 19"/>
          <p:cNvSpPr/>
          <p:nvPr/>
        </p:nvSpPr>
        <p:spPr>
          <a:xfrm>
            <a:off x="4549140" y="2286000"/>
            <a:ext cx="3090672" cy="365760"/>
          </a:xfrm>
          <a:prstGeom prst="rect">
            <a:avLst/>
          </a:prstGeom>
          <a:solidFill>
            <a:srgbClr val="DDE7D6"/>
          </a:solidFill>
          <a:ln w="12700">
            <a:solidFill>
              <a:srgbClr val="2F6B3A"/>
            </a:solidFill>
            <a:prstDash val="solid"/>
          </a:ln>
        </p:spPr>
        <p:txBody>
          <a:bodyPr/>
          <a:lstStyle/>
          <a:p>
            <a:endParaRPr lang="en-IN"/>
          </a:p>
        </p:txBody>
      </p:sp>
      <p:sp>
        <p:nvSpPr>
          <p:cNvPr id="24" name="Text 20"/>
          <p:cNvSpPr txBox="1"/>
          <p:nvPr/>
        </p:nvSpPr>
        <p:spPr>
          <a:xfrm>
            <a:off x="4549140" y="2286000"/>
            <a:ext cx="3090672" cy="365760"/>
          </a:xfrm>
          <a:prstGeom prst="rect">
            <a:avLst/>
          </a:prstGeom>
          <a:noFill/>
          <a:ln/>
        </p:spPr>
        <p:txBody>
          <a:bodyPr wrap="square" lIns="0" tIns="0" rIns="0" bIns="0" rtlCol="0" anchor="ctr"/>
          <a:lstStyle/>
          <a:p>
            <a:pPr marL="0" indent="0" algn="ctr">
              <a:buNone/>
            </a:pPr>
            <a:r>
              <a:rPr lang="en-US" sz="1150" b="1" dirty="0">
                <a:solidFill>
                  <a:srgbClr val="2F6B3A"/>
                </a:solidFill>
                <a:latin typeface="Courier New" pitchFamily="34" charset="0"/>
                <a:ea typeface="Courier New" pitchFamily="34" charset="-122"/>
                <a:cs typeface="Courier New" pitchFamily="34" charset="-120"/>
              </a:rPr>
              <a:t>MTTF: 2058-02-20</a:t>
            </a:r>
            <a:endParaRPr lang="en-US" sz="1150" dirty="0"/>
          </a:p>
        </p:txBody>
      </p:sp>
      <p:sp>
        <p:nvSpPr>
          <p:cNvPr id="25" name="Shape 21"/>
          <p:cNvSpPr/>
          <p:nvPr/>
        </p:nvSpPr>
        <p:spPr>
          <a:xfrm>
            <a:off x="4549140" y="2743200"/>
            <a:ext cx="3090672" cy="1965960"/>
          </a:xfrm>
          <a:prstGeom prst="rect">
            <a:avLst/>
          </a:prstGeom>
          <a:solidFill>
            <a:srgbClr val="FFFFFF"/>
          </a:solidFill>
          <a:ln w="9525">
            <a:solidFill>
              <a:srgbClr val="C9B48F"/>
            </a:solidFill>
            <a:prstDash val="solid"/>
          </a:ln>
        </p:spPr>
        <p:txBody>
          <a:bodyPr/>
          <a:lstStyle/>
          <a:p>
            <a:endParaRPr lang="en-IN"/>
          </a:p>
        </p:txBody>
      </p:sp>
      <p:pic>
        <p:nvPicPr>
          <p:cNvPr id="26" name="Image 2" descr="rc/r_lvc2"/>
          <p:cNvPicPr>
            <a:picLocks noChangeAspect="1"/>
          </p:cNvPicPr>
          <p:nvPr/>
        </p:nvPicPr>
        <p:blipFill>
          <a:blip r:embed="rId5"/>
          <a:stretch>
            <a:fillRect/>
          </a:stretch>
        </p:blipFill>
        <p:spPr>
          <a:xfrm>
            <a:off x="5047005" y="2798064"/>
            <a:ext cx="2094941" cy="1856232"/>
          </a:xfrm>
          <a:prstGeom prst="rect">
            <a:avLst/>
          </a:prstGeom>
        </p:spPr>
      </p:pic>
      <p:sp>
        <p:nvSpPr>
          <p:cNvPr id="27" name="Shape 22"/>
          <p:cNvSpPr/>
          <p:nvPr/>
        </p:nvSpPr>
        <p:spPr>
          <a:xfrm>
            <a:off x="4549140" y="4846320"/>
            <a:ext cx="3090672" cy="0"/>
          </a:xfrm>
          <a:prstGeom prst="line">
            <a:avLst/>
          </a:prstGeom>
          <a:noFill/>
          <a:ln w="9525">
            <a:solidFill>
              <a:srgbClr val="C9B48F"/>
            </a:solidFill>
            <a:prstDash val="solid"/>
          </a:ln>
        </p:spPr>
        <p:txBody>
          <a:bodyPr/>
          <a:lstStyle/>
          <a:p>
            <a:endParaRPr lang="en-IN"/>
          </a:p>
        </p:txBody>
      </p:sp>
      <p:sp>
        <p:nvSpPr>
          <p:cNvPr id="28" name="Text 23"/>
          <p:cNvSpPr txBox="1"/>
          <p:nvPr/>
        </p:nvSpPr>
        <p:spPr>
          <a:xfrm>
            <a:off x="4549140" y="4956048"/>
            <a:ext cx="3090672" cy="118872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Slope recalibrates; uncertainty contracts, extending safe operating life.</a:t>
            </a:r>
            <a:endParaRPr lang="en-US" sz="1250" dirty="0"/>
          </a:p>
        </p:txBody>
      </p:sp>
      <p:sp>
        <p:nvSpPr>
          <p:cNvPr id="29" name="Shape 24"/>
          <p:cNvSpPr/>
          <p:nvPr/>
        </p:nvSpPr>
        <p:spPr>
          <a:xfrm>
            <a:off x="8092440" y="1783080"/>
            <a:ext cx="3547872" cy="4434840"/>
          </a:xfrm>
          <a:prstGeom prst="rect">
            <a:avLst/>
          </a:prstGeom>
          <a:solidFill>
            <a:srgbClr val="FBF4E4"/>
          </a:solidFill>
          <a:ln w="12700">
            <a:solidFill>
              <a:srgbClr val="C9B48F"/>
            </a:solidFill>
            <a:prstDash val="solid"/>
          </a:ln>
        </p:spPr>
        <p:txBody>
          <a:bodyPr/>
          <a:lstStyle/>
          <a:p>
            <a:endParaRPr lang="en-IN"/>
          </a:p>
        </p:txBody>
      </p:sp>
      <p:sp>
        <p:nvSpPr>
          <p:cNvPr id="30" name="Text 25"/>
          <p:cNvSpPr txBox="1"/>
          <p:nvPr/>
        </p:nvSpPr>
        <p:spPr>
          <a:xfrm>
            <a:off x="8321040" y="1938528"/>
            <a:ext cx="3090672"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3. Confirmed Mild</a:t>
            </a:r>
            <a:endParaRPr lang="en-US" sz="1500" dirty="0"/>
          </a:p>
        </p:txBody>
      </p:sp>
      <p:sp>
        <p:nvSpPr>
          <p:cNvPr id="31" name="Shape 26"/>
          <p:cNvSpPr/>
          <p:nvPr/>
        </p:nvSpPr>
        <p:spPr>
          <a:xfrm>
            <a:off x="8321040" y="2286000"/>
            <a:ext cx="3090672" cy="365760"/>
          </a:xfrm>
          <a:prstGeom prst="rect">
            <a:avLst/>
          </a:prstGeom>
          <a:solidFill>
            <a:srgbClr val="DDE7D6"/>
          </a:solidFill>
          <a:ln w="12700">
            <a:solidFill>
              <a:srgbClr val="2F6B3A"/>
            </a:solidFill>
            <a:prstDash val="solid"/>
          </a:ln>
        </p:spPr>
        <p:txBody>
          <a:bodyPr/>
          <a:lstStyle/>
          <a:p>
            <a:endParaRPr lang="en-IN"/>
          </a:p>
        </p:txBody>
      </p:sp>
      <p:sp>
        <p:nvSpPr>
          <p:cNvPr id="32" name="Text 27"/>
          <p:cNvSpPr txBox="1"/>
          <p:nvPr/>
        </p:nvSpPr>
        <p:spPr>
          <a:xfrm>
            <a:off x="8321040" y="2286000"/>
            <a:ext cx="3090672" cy="365760"/>
          </a:xfrm>
          <a:prstGeom prst="rect">
            <a:avLst/>
          </a:prstGeom>
          <a:noFill/>
          <a:ln/>
        </p:spPr>
        <p:txBody>
          <a:bodyPr wrap="square" lIns="0" tIns="0" rIns="0" bIns="0" rtlCol="0" anchor="ctr"/>
          <a:lstStyle/>
          <a:p>
            <a:pPr marL="0" indent="0" algn="ctr">
              <a:buNone/>
            </a:pPr>
            <a:r>
              <a:rPr lang="en-US" sz="1150" b="1" dirty="0">
                <a:solidFill>
                  <a:srgbClr val="2F6B3A"/>
                </a:solidFill>
                <a:latin typeface="Courier New" pitchFamily="34" charset="0"/>
                <a:ea typeface="Courier New" pitchFamily="34" charset="-122"/>
                <a:cs typeface="Courier New" pitchFamily="34" charset="-120"/>
              </a:rPr>
              <a:t>MTTF: 2054-11-18</a:t>
            </a:r>
            <a:endParaRPr lang="en-US" sz="1150" dirty="0"/>
          </a:p>
        </p:txBody>
      </p:sp>
      <p:sp>
        <p:nvSpPr>
          <p:cNvPr id="33" name="Shape 28"/>
          <p:cNvSpPr/>
          <p:nvPr/>
        </p:nvSpPr>
        <p:spPr>
          <a:xfrm>
            <a:off x="8321040" y="2743200"/>
            <a:ext cx="3090672" cy="1965960"/>
          </a:xfrm>
          <a:prstGeom prst="rect">
            <a:avLst/>
          </a:prstGeom>
          <a:solidFill>
            <a:srgbClr val="FFFFFF"/>
          </a:solidFill>
          <a:ln w="9525">
            <a:solidFill>
              <a:srgbClr val="C9B48F"/>
            </a:solidFill>
            <a:prstDash val="solid"/>
          </a:ln>
        </p:spPr>
        <p:txBody>
          <a:bodyPr/>
          <a:lstStyle/>
          <a:p>
            <a:endParaRPr lang="en-IN"/>
          </a:p>
        </p:txBody>
      </p:sp>
      <p:pic>
        <p:nvPicPr>
          <p:cNvPr id="34" name="Image 3" descr="rc/r_lvc3"/>
          <p:cNvPicPr>
            <a:picLocks noChangeAspect="1"/>
          </p:cNvPicPr>
          <p:nvPr/>
        </p:nvPicPr>
        <p:blipFill>
          <a:blip r:embed="rId6"/>
          <a:stretch>
            <a:fillRect/>
          </a:stretch>
        </p:blipFill>
        <p:spPr>
          <a:xfrm>
            <a:off x="8771199" y="2798064"/>
            <a:ext cx="2190354" cy="1856232"/>
          </a:xfrm>
          <a:prstGeom prst="rect">
            <a:avLst/>
          </a:prstGeom>
        </p:spPr>
      </p:pic>
      <p:sp>
        <p:nvSpPr>
          <p:cNvPr id="35" name="Shape 29"/>
          <p:cNvSpPr/>
          <p:nvPr/>
        </p:nvSpPr>
        <p:spPr>
          <a:xfrm>
            <a:off x="8321040" y="4846320"/>
            <a:ext cx="3090672" cy="0"/>
          </a:xfrm>
          <a:prstGeom prst="line">
            <a:avLst/>
          </a:prstGeom>
          <a:noFill/>
          <a:ln w="9525">
            <a:solidFill>
              <a:srgbClr val="C9B48F"/>
            </a:solidFill>
            <a:prstDash val="solid"/>
          </a:ln>
        </p:spPr>
        <p:txBody>
          <a:bodyPr/>
          <a:lstStyle/>
          <a:p>
            <a:endParaRPr lang="en-IN"/>
          </a:p>
        </p:txBody>
      </p:sp>
      <p:sp>
        <p:nvSpPr>
          <p:cNvPr id="36" name="Text 30"/>
          <p:cNvSpPr txBox="1"/>
          <p:nvPr/>
        </p:nvSpPr>
        <p:spPr>
          <a:xfrm>
            <a:off x="8321040" y="4956048"/>
            <a:ext cx="3090672" cy="118872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Corrosion confirmed milder than design, safely deferring turnaround entry.</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04 — QRO CORE METHODOLOGY</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Comparative Benchmark: API 581 RBI vs. QRO Dynamic POF</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Contrasting tabulated generic damage factors against dynamic telemetry modeling.</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42</a:t>
            </a:r>
            <a:r>
              <a:rPr sz="900">
                <a:solidFill>
                  <a:srgbClr val="8A8477"/>
                </a:solidFill>
                <a:latin typeface="Courier New"/>
              </a:rPr>
              <a:t> / 80</a:t>
            </a:r>
            <a:endParaRPr lang="en-US" sz="900" dirty="0"/>
          </a:p>
        </p:txBody>
      </p:sp>
      <p:sp>
        <p:nvSpPr>
          <p:cNvPr id="13" name="Shape 10"/>
          <p:cNvSpPr/>
          <p:nvPr/>
        </p:nvSpPr>
        <p:spPr>
          <a:xfrm>
            <a:off x="548640" y="1783080"/>
            <a:ext cx="580644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44068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API 581 VS. QRO POF &amp; HAZARD RATE (MTTF 2086)</a:t>
            </a:r>
            <a:endParaRPr lang="en-US" sz="850" dirty="0"/>
          </a:p>
        </p:txBody>
      </p:sp>
      <p:sp>
        <p:nvSpPr>
          <p:cNvPr id="15" name="Shape 12"/>
          <p:cNvSpPr/>
          <p:nvPr/>
        </p:nvSpPr>
        <p:spPr>
          <a:xfrm>
            <a:off x="731520" y="2148840"/>
            <a:ext cx="5440680" cy="0"/>
          </a:xfrm>
          <a:prstGeom prst="line">
            <a:avLst/>
          </a:prstGeom>
          <a:noFill/>
          <a:ln w="9525">
            <a:solidFill>
              <a:srgbClr val="C9B48F"/>
            </a:solidFill>
            <a:prstDash val="solid"/>
          </a:ln>
        </p:spPr>
        <p:txBody>
          <a:bodyPr/>
          <a:lstStyle/>
          <a:p>
            <a:endParaRPr lang="en-IN"/>
          </a:p>
        </p:txBody>
      </p:sp>
      <p:sp>
        <p:nvSpPr>
          <p:cNvPr id="17" name="Shape 13"/>
          <p:cNvSpPr/>
          <p:nvPr/>
        </p:nvSpPr>
        <p:spPr>
          <a:xfrm>
            <a:off x="6537960" y="1783080"/>
            <a:ext cx="5102352" cy="2121408"/>
          </a:xfrm>
          <a:prstGeom prst="rect">
            <a:avLst/>
          </a:prstGeom>
          <a:solidFill>
            <a:srgbClr val="DCE6EC"/>
          </a:solidFill>
          <a:ln w="12700">
            <a:solidFill>
              <a:srgbClr val="1A4A6E"/>
            </a:solidFill>
            <a:prstDash val="solid"/>
          </a:ln>
        </p:spPr>
        <p:txBody>
          <a:bodyPr/>
          <a:lstStyle/>
          <a:p>
            <a:endParaRPr lang="en-IN"/>
          </a:p>
        </p:txBody>
      </p:sp>
      <p:sp>
        <p:nvSpPr>
          <p:cNvPr id="18" name="Text 14"/>
          <p:cNvSpPr txBox="1"/>
          <p:nvPr/>
        </p:nvSpPr>
        <p:spPr>
          <a:xfrm>
            <a:off x="6766560" y="1938528"/>
            <a:ext cx="4754880" cy="219456"/>
          </a:xfrm>
          <a:prstGeom prst="rect">
            <a:avLst/>
          </a:prstGeom>
          <a:noFill/>
          <a:ln/>
        </p:spPr>
        <p:txBody>
          <a:bodyPr wrap="square" lIns="0" tIns="0" rIns="0" bIns="0" rtlCol="0" anchor="t"/>
          <a:lstStyle/>
          <a:p>
            <a:pPr marL="0" indent="0">
              <a:buNone/>
            </a:pPr>
            <a:r>
              <a:rPr lang="en-US" sz="950" b="1" kern="0" spc="150" dirty="0">
                <a:solidFill>
                  <a:srgbClr val="1A4A6E"/>
                </a:solidFill>
                <a:latin typeface="Courier New" pitchFamily="34" charset="0"/>
                <a:ea typeface="Courier New" pitchFamily="34" charset="-122"/>
                <a:cs typeface="Courier New" pitchFamily="34" charset="-120"/>
              </a:rPr>
              <a:t>API 581 SEMI-QUANTITATIVE RBI</a:t>
            </a:r>
            <a:endParaRPr lang="en-US" sz="950" dirty="0"/>
          </a:p>
        </p:txBody>
      </p:sp>
      <p:sp>
        <p:nvSpPr>
          <p:cNvPr id="19" name="Text 15"/>
          <p:cNvSpPr txBox="1"/>
          <p:nvPr/>
        </p:nvSpPr>
        <p:spPr>
          <a:xfrm>
            <a:off x="6766560" y="2267712"/>
            <a:ext cx="4663440" cy="1554480"/>
          </a:xfrm>
          <a:prstGeom prst="rect">
            <a:avLst/>
          </a:prstGeom>
          <a:noFill/>
          <a:ln/>
        </p:spPr>
        <p:txBody>
          <a:bodyPr wrap="square" lIns="0" tIns="0" rIns="0" bIns="0" rtlCol="0" anchor="t"/>
          <a:lstStyle/>
          <a:p>
            <a:pPr marL="190500" indent="-190500">
              <a:spcAft>
                <a:spcPts val="700"/>
              </a:spcAft>
              <a:buSzPct val="100000"/>
              <a:buChar char="▪"/>
            </a:pPr>
            <a:r>
              <a:rPr lang="en-US" sz="1200" b="1" dirty="0">
                <a:solidFill>
                  <a:srgbClr val="1A4A6E"/>
                </a:solidFill>
                <a:latin typeface="Cambria" pitchFamily="34" charset="0"/>
                <a:ea typeface="Cambria" pitchFamily="34" charset="-122"/>
                <a:cs typeface="Cambria" pitchFamily="34" charset="-120"/>
              </a:rPr>
              <a:t>Tabulated Damage Factors:</a:t>
            </a:r>
            <a:r>
              <a:rPr lang="en-US" sz="1200" dirty="0">
                <a:solidFill>
                  <a:srgbClr val="2C261E"/>
                </a:solidFill>
                <a:latin typeface="Cambria" pitchFamily="34" charset="0"/>
                <a:ea typeface="Cambria" pitchFamily="34" charset="-122"/>
                <a:cs typeface="Cambria" pitchFamily="34" charset="-120"/>
              </a:rPr>
              <a:t> Pre-canned generic look-up tables of historical averages.</a:t>
            </a:r>
            <a:endParaRPr lang="en-US" sz="1200" dirty="0"/>
          </a:p>
          <a:p>
            <a:pPr marL="190500" indent="-190500">
              <a:spcAft>
                <a:spcPts val="700"/>
              </a:spcAft>
              <a:buSzPct val="100000"/>
              <a:buChar char="▪"/>
            </a:pPr>
            <a:r>
              <a:rPr lang="en-US" sz="1200" b="1" dirty="0">
                <a:solidFill>
                  <a:srgbClr val="1A4A6E"/>
                </a:solidFill>
                <a:latin typeface="Cambria" pitchFamily="34" charset="0"/>
                <a:ea typeface="Cambria" pitchFamily="34" charset="-122"/>
                <a:cs typeface="Cambria" pitchFamily="34" charset="-120"/>
              </a:rPr>
              <a:t>Step-Wise Risk Jumps:</a:t>
            </a:r>
            <a:r>
              <a:rPr lang="en-US" sz="1200" dirty="0">
                <a:solidFill>
                  <a:srgbClr val="2C261E"/>
                </a:solidFill>
                <a:latin typeface="Cambria" pitchFamily="34" charset="0"/>
                <a:ea typeface="Cambria" pitchFamily="34" charset="-122"/>
                <a:cs typeface="Cambria" pitchFamily="34" charset="-120"/>
              </a:rPr>
              <a:t> Risk stays flat, then jumps abruptly when an inspection interval expires.</a:t>
            </a:r>
            <a:endParaRPr lang="en-US" sz="1200" dirty="0"/>
          </a:p>
          <a:p>
            <a:pPr marL="190500" indent="-190500">
              <a:spcAft>
                <a:spcPts val="700"/>
              </a:spcAft>
              <a:buSzPct val="100000"/>
              <a:buChar char="▪"/>
            </a:pPr>
            <a:r>
              <a:rPr lang="en-US" sz="1200" b="1" dirty="0">
                <a:solidFill>
                  <a:srgbClr val="1A4A6E"/>
                </a:solidFill>
                <a:latin typeface="Cambria" pitchFamily="34" charset="0"/>
                <a:ea typeface="Cambria" pitchFamily="34" charset="-122"/>
                <a:cs typeface="Cambria" pitchFamily="34" charset="-120"/>
              </a:rPr>
              <a:t>Conservative Over-Inspection:</a:t>
            </a:r>
            <a:r>
              <a:rPr lang="en-US" sz="1200" dirty="0">
                <a:solidFill>
                  <a:srgbClr val="2C261E"/>
                </a:solidFill>
                <a:latin typeface="Cambria" pitchFamily="34" charset="0"/>
                <a:ea typeface="Cambria" pitchFamily="34" charset="-122"/>
                <a:cs typeface="Cambria" pitchFamily="34" charset="-120"/>
              </a:rPr>
              <a:t> Forces unnecessary turnaround inspections on benign circuits.</a:t>
            </a:r>
            <a:endParaRPr lang="en-US" sz="1200" dirty="0"/>
          </a:p>
        </p:txBody>
      </p:sp>
      <p:sp>
        <p:nvSpPr>
          <p:cNvPr id="20" name="Shape 16"/>
          <p:cNvSpPr/>
          <p:nvPr/>
        </p:nvSpPr>
        <p:spPr>
          <a:xfrm>
            <a:off x="6537960" y="4069080"/>
            <a:ext cx="5102352" cy="2148840"/>
          </a:xfrm>
          <a:prstGeom prst="rect">
            <a:avLst/>
          </a:prstGeom>
          <a:solidFill>
            <a:srgbClr val="EFDCCF"/>
          </a:solidFill>
          <a:ln w="12700">
            <a:solidFill>
              <a:srgbClr val="A03B30"/>
            </a:solidFill>
            <a:prstDash val="solid"/>
          </a:ln>
        </p:spPr>
        <p:txBody>
          <a:bodyPr/>
          <a:lstStyle/>
          <a:p>
            <a:endParaRPr lang="en-IN"/>
          </a:p>
        </p:txBody>
      </p:sp>
      <p:sp>
        <p:nvSpPr>
          <p:cNvPr id="21" name="Text 17"/>
          <p:cNvSpPr txBox="1"/>
          <p:nvPr/>
        </p:nvSpPr>
        <p:spPr>
          <a:xfrm>
            <a:off x="6766560" y="4224528"/>
            <a:ext cx="475488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QRO DYNAMIC TELEMETRY MODELING</a:t>
            </a:r>
            <a:endParaRPr lang="en-US" sz="950" dirty="0"/>
          </a:p>
        </p:txBody>
      </p:sp>
      <p:sp>
        <p:nvSpPr>
          <p:cNvPr id="22" name="Text 18"/>
          <p:cNvSpPr txBox="1"/>
          <p:nvPr/>
        </p:nvSpPr>
        <p:spPr>
          <a:xfrm>
            <a:off x="6766560" y="4553712"/>
            <a:ext cx="4663440" cy="1554480"/>
          </a:xfrm>
          <a:prstGeom prst="rect">
            <a:avLst/>
          </a:prstGeom>
          <a:noFill/>
          <a:ln/>
        </p:spPr>
        <p:txBody>
          <a:bodyPr wrap="square" lIns="0" tIns="0" rIns="0" bIns="0" rtlCol="0" anchor="t"/>
          <a:lstStyle/>
          <a:p>
            <a:pPr marL="190500" indent="-190500">
              <a:spcAft>
                <a:spcPts val="700"/>
              </a:spcAft>
              <a:buSzPct val="100000"/>
              <a:buChar char="▪"/>
            </a:pPr>
            <a:r>
              <a:rPr lang="en-US" sz="1200" b="1" dirty="0">
                <a:solidFill>
                  <a:srgbClr val="1C1712"/>
                </a:solidFill>
                <a:latin typeface="Cambria" pitchFamily="34" charset="0"/>
                <a:ea typeface="Cambria" pitchFamily="34" charset="-122"/>
                <a:cs typeface="Cambria" pitchFamily="34" charset="-120"/>
              </a:rPr>
              <a:t>Purely Empirical &amp; Statistical:</a:t>
            </a:r>
            <a:r>
              <a:rPr lang="en-US" sz="1200" dirty="0">
                <a:solidFill>
                  <a:srgbClr val="2C261E"/>
                </a:solidFill>
                <a:latin typeface="Cambria" pitchFamily="34" charset="0"/>
                <a:ea typeface="Cambria" pitchFamily="34" charset="-122"/>
                <a:cs typeface="Cambria" pitchFamily="34" charset="-120"/>
              </a:rPr>
              <a:t> Derives degradation parameters from live telemetry &amp; CMMS history.</a:t>
            </a:r>
            <a:endParaRPr lang="en-US" sz="1200" dirty="0"/>
          </a:p>
          <a:p>
            <a:pPr marL="190500" indent="-190500">
              <a:spcAft>
                <a:spcPts val="700"/>
              </a:spcAft>
              <a:buSzPct val="100000"/>
              <a:buChar char="▪"/>
            </a:pPr>
            <a:r>
              <a:rPr lang="en-US" sz="1200" b="1" dirty="0">
                <a:solidFill>
                  <a:srgbClr val="1C1712"/>
                </a:solidFill>
                <a:latin typeface="Cambria" pitchFamily="34" charset="0"/>
                <a:ea typeface="Cambria" pitchFamily="34" charset="-122"/>
                <a:cs typeface="Cambria" pitchFamily="34" charset="-120"/>
              </a:rPr>
              <a:t>Continuous Smooth Curves:</a:t>
            </a:r>
            <a:r>
              <a:rPr lang="en-US" sz="1200" dirty="0">
                <a:solidFill>
                  <a:srgbClr val="2C261E"/>
                </a:solidFill>
                <a:latin typeface="Cambria" pitchFamily="34" charset="0"/>
                <a:ea typeface="Cambria" pitchFamily="34" charset="-122"/>
                <a:cs typeface="Cambria" pitchFamily="34" charset="-120"/>
              </a:rPr>
              <a:t> Generates smooth POF curves reflecting real operating hours.</a:t>
            </a:r>
            <a:endParaRPr lang="en-US" sz="1200" dirty="0"/>
          </a:p>
          <a:p>
            <a:pPr marL="190500" indent="-190500">
              <a:spcAft>
                <a:spcPts val="700"/>
              </a:spcAft>
              <a:buSzPct val="100000"/>
              <a:buChar char="▪"/>
            </a:pPr>
            <a:r>
              <a:rPr lang="en-US" sz="1200" b="1" dirty="0">
                <a:solidFill>
                  <a:srgbClr val="1C1712"/>
                </a:solidFill>
                <a:latin typeface="Cambria" pitchFamily="34" charset="0"/>
                <a:ea typeface="Cambria" pitchFamily="34" charset="-122"/>
                <a:cs typeface="Cambria" pitchFamily="34" charset="-120"/>
              </a:rPr>
              <a:t>Operational Responsiveness:</a:t>
            </a:r>
            <a:r>
              <a:rPr lang="en-US" sz="1200" dirty="0">
                <a:solidFill>
                  <a:srgbClr val="2C261E"/>
                </a:solidFill>
                <a:latin typeface="Cambria" pitchFamily="34" charset="0"/>
                <a:ea typeface="Cambria" pitchFamily="34" charset="-122"/>
                <a:cs typeface="Cambria" pitchFamily="34" charset="-120"/>
              </a:rPr>
              <a:t> Immediately captures inhibitor dosing &amp; feedstock changes.</a:t>
            </a:r>
            <a:endParaRPr lang="en-US" sz="1200" dirty="0"/>
          </a:p>
        </p:txBody>
      </p:sp>
      <p:pic>
        <p:nvPicPr>
          <p:cNvPr id="24" name="Picture 23">
            <a:extLst>
              <a:ext uri="{FF2B5EF4-FFF2-40B4-BE49-F238E27FC236}">
                <a16:creationId xmlns:a16="http://schemas.microsoft.com/office/drawing/2014/main" id="{F0D3A931-13F5-D9EA-9AD9-365DD7764339}"/>
              </a:ext>
            </a:extLst>
          </p:cNvPr>
          <p:cNvPicPr>
            <a:picLocks noChangeAspect="1"/>
          </p:cNvPicPr>
          <p:nvPr/>
        </p:nvPicPr>
        <p:blipFill>
          <a:blip r:embed="rId4"/>
          <a:stretch>
            <a:fillRect/>
          </a:stretch>
        </p:blipFill>
        <p:spPr>
          <a:xfrm>
            <a:off x="731520" y="2225294"/>
            <a:ext cx="5358994" cy="378815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04 — QRO CORE METHODOLOGY</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LVC for Condition Monitoring: Vibration RMS Velocity</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Transforming vibration spectra into stochastic P-F interval forecasts.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43</a:t>
            </a:r>
            <a:r>
              <a:rPr sz="900">
                <a:solidFill>
                  <a:srgbClr val="8A8477"/>
                </a:solidFill>
                <a:latin typeface="Courier New"/>
              </a:rPr>
              <a:t> / 80</a:t>
            </a:r>
            <a:endParaRPr lang="en-US" sz="900" dirty="0"/>
          </a:p>
        </p:txBody>
      </p:sp>
      <p:sp>
        <p:nvSpPr>
          <p:cNvPr id="13" name="Shape 10"/>
          <p:cNvSpPr/>
          <p:nvPr/>
        </p:nvSpPr>
        <p:spPr>
          <a:xfrm>
            <a:off x="548640" y="1783080"/>
            <a:ext cx="640080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29384"/>
            <a:ext cx="603504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REAL LVC: VIBRATION RMS VELOCITY VS. TRIP LIMIT</a:t>
            </a:r>
            <a:endParaRPr lang="en-US" sz="850" dirty="0"/>
          </a:p>
        </p:txBody>
      </p:sp>
      <p:sp>
        <p:nvSpPr>
          <p:cNvPr id="15" name="Shape 12"/>
          <p:cNvSpPr/>
          <p:nvPr/>
        </p:nvSpPr>
        <p:spPr>
          <a:xfrm>
            <a:off x="731520" y="2148840"/>
            <a:ext cx="6035040" cy="0"/>
          </a:xfrm>
          <a:prstGeom prst="line">
            <a:avLst/>
          </a:prstGeom>
          <a:noFill/>
          <a:ln w="9525">
            <a:solidFill>
              <a:srgbClr val="C9B48F"/>
            </a:solidFill>
            <a:prstDash val="solid"/>
          </a:ln>
        </p:spPr>
        <p:txBody>
          <a:bodyPr/>
          <a:lstStyle/>
          <a:p>
            <a:endParaRPr lang="en-IN"/>
          </a:p>
        </p:txBody>
      </p:sp>
      <p:sp>
        <p:nvSpPr>
          <p:cNvPr id="17" name="Shape 13"/>
          <p:cNvSpPr/>
          <p:nvPr/>
        </p:nvSpPr>
        <p:spPr>
          <a:xfrm>
            <a:off x="7086600" y="1783080"/>
            <a:ext cx="455371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7315200" y="1947672"/>
            <a:ext cx="420624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QUANTIFIED POSITION ON P-F CURVE</a:t>
            </a:r>
            <a:endParaRPr lang="en-US" sz="950" dirty="0"/>
          </a:p>
        </p:txBody>
      </p:sp>
      <p:sp>
        <p:nvSpPr>
          <p:cNvPr id="19" name="Text 15"/>
          <p:cNvSpPr txBox="1"/>
          <p:nvPr/>
        </p:nvSpPr>
        <p:spPr>
          <a:xfrm>
            <a:off x="7315200" y="2286000"/>
            <a:ext cx="4114800" cy="91440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Vibration monitoring is frequently treated merely as a high-alarm threshold. QRO transforms vibration into a stochastic degradation curve:</a:t>
            </a:r>
            <a:endParaRPr lang="en-US" sz="1300" dirty="0"/>
          </a:p>
        </p:txBody>
      </p:sp>
      <p:sp>
        <p:nvSpPr>
          <p:cNvPr id="20" name="Shape 16"/>
          <p:cNvSpPr/>
          <p:nvPr/>
        </p:nvSpPr>
        <p:spPr>
          <a:xfrm>
            <a:off x="7315200" y="3383280"/>
            <a:ext cx="347472" cy="347472"/>
          </a:xfrm>
          <a:prstGeom prst="ellipse">
            <a:avLst/>
          </a:prstGeom>
          <a:solidFill>
            <a:srgbClr val="DCE6EC"/>
          </a:solidFill>
          <a:ln w="15875">
            <a:solidFill>
              <a:srgbClr val="1A4A6E"/>
            </a:solidFill>
            <a:prstDash val="solid"/>
          </a:ln>
        </p:spPr>
        <p:txBody>
          <a:bodyPr/>
          <a:lstStyle/>
          <a:p>
            <a:endParaRPr lang="en-IN"/>
          </a:p>
        </p:txBody>
      </p:sp>
      <p:sp>
        <p:nvSpPr>
          <p:cNvPr id="21" name="Text 17"/>
          <p:cNvSpPr txBox="1"/>
          <p:nvPr/>
        </p:nvSpPr>
        <p:spPr>
          <a:xfrm>
            <a:off x="7315200" y="3383280"/>
            <a:ext cx="347472" cy="347472"/>
          </a:xfrm>
          <a:prstGeom prst="rect">
            <a:avLst/>
          </a:prstGeom>
          <a:noFill/>
          <a:ln/>
        </p:spPr>
        <p:txBody>
          <a:bodyPr wrap="square" lIns="0" tIns="0" rIns="0" bIns="0" rtlCol="0" anchor="ctr"/>
          <a:lstStyle/>
          <a:p>
            <a:pPr marL="0" indent="0" algn="ctr">
              <a:buNone/>
            </a:pPr>
            <a:r>
              <a:rPr lang="en-US" sz="1200" b="1" dirty="0">
                <a:solidFill>
                  <a:srgbClr val="1A4A6E"/>
                </a:solidFill>
                <a:latin typeface="Cambria" pitchFamily="34" charset="0"/>
                <a:ea typeface="Cambria" pitchFamily="34" charset="-122"/>
                <a:cs typeface="Cambria" pitchFamily="34" charset="-120"/>
              </a:rPr>
              <a:t>1</a:t>
            </a:r>
            <a:endParaRPr lang="en-US" sz="1200" dirty="0"/>
          </a:p>
        </p:txBody>
      </p:sp>
      <p:sp>
        <p:nvSpPr>
          <p:cNvPr id="22" name="Text 18"/>
          <p:cNvSpPr txBox="1"/>
          <p:nvPr/>
        </p:nvSpPr>
        <p:spPr>
          <a:xfrm>
            <a:off x="7818120" y="3364992"/>
            <a:ext cx="3703320" cy="868680"/>
          </a:xfrm>
          <a:prstGeom prst="rect">
            <a:avLst/>
          </a:prstGeom>
          <a:noFill/>
          <a:ln/>
        </p:spPr>
        <p:txBody>
          <a:bodyPr wrap="square" lIns="0" tIns="0" rIns="0" bIns="0" rtlCol="0" anchor="t"/>
          <a:lstStyle/>
          <a:p>
            <a:pPr marL="0" indent="0">
              <a:buNone/>
            </a:pPr>
            <a:r>
              <a:rPr lang="en-US" sz="1250" b="1" dirty="0">
                <a:solidFill>
                  <a:srgbClr val="1A4A6E"/>
                </a:solidFill>
                <a:latin typeface="Cambria" pitchFamily="34" charset="0"/>
                <a:ea typeface="Cambria" pitchFamily="34" charset="-122"/>
                <a:cs typeface="Cambria" pitchFamily="34" charset="-120"/>
              </a:rPr>
              <a:t>Trend Analysis:</a:t>
            </a:r>
            <a:r>
              <a:rPr lang="en-US" sz="1250" dirty="0">
                <a:solidFill>
                  <a:srgbClr val="2C261E"/>
                </a:solidFill>
                <a:latin typeface="Cambria" pitchFamily="34" charset="0"/>
                <a:ea typeface="Cambria" pitchFamily="34" charset="-122"/>
                <a:cs typeface="Cambria" pitchFamily="34" charset="-120"/>
              </a:rPr>
              <a:t> Projects bands of uncertainty through overall velocity (in/s RMS) readings.</a:t>
            </a:r>
            <a:endParaRPr lang="en-US" sz="1250" dirty="0"/>
          </a:p>
        </p:txBody>
      </p:sp>
      <p:sp>
        <p:nvSpPr>
          <p:cNvPr id="23" name="Shape 19"/>
          <p:cNvSpPr/>
          <p:nvPr/>
        </p:nvSpPr>
        <p:spPr>
          <a:xfrm>
            <a:off x="7315200" y="4315968"/>
            <a:ext cx="347472" cy="347472"/>
          </a:xfrm>
          <a:prstGeom prst="ellipse">
            <a:avLst/>
          </a:prstGeom>
          <a:solidFill>
            <a:srgbClr val="DCE6EC"/>
          </a:solidFill>
          <a:ln w="15875">
            <a:solidFill>
              <a:srgbClr val="1A4A6E"/>
            </a:solidFill>
            <a:prstDash val="solid"/>
          </a:ln>
        </p:spPr>
        <p:txBody>
          <a:bodyPr/>
          <a:lstStyle/>
          <a:p>
            <a:endParaRPr lang="en-IN"/>
          </a:p>
        </p:txBody>
      </p:sp>
      <p:sp>
        <p:nvSpPr>
          <p:cNvPr id="24" name="Text 20"/>
          <p:cNvSpPr txBox="1"/>
          <p:nvPr/>
        </p:nvSpPr>
        <p:spPr>
          <a:xfrm>
            <a:off x="7315200" y="4315968"/>
            <a:ext cx="347472" cy="347472"/>
          </a:xfrm>
          <a:prstGeom prst="rect">
            <a:avLst/>
          </a:prstGeom>
          <a:noFill/>
          <a:ln/>
        </p:spPr>
        <p:txBody>
          <a:bodyPr wrap="square" lIns="0" tIns="0" rIns="0" bIns="0" rtlCol="0" anchor="ctr"/>
          <a:lstStyle/>
          <a:p>
            <a:pPr marL="0" indent="0" algn="ctr">
              <a:buNone/>
            </a:pPr>
            <a:r>
              <a:rPr lang="en-US" sz="1200" b="1" dirty="0">
                <a:solidFill>
                  <a:srgbClr val="1A4A6E"/>
                </a:solidFill>
                <a:latin typeface="Cambria" pitchFamily="34" charset="0"/>
                <a:ea typeface="Cambria" pitchFamily="34" charset="-122"/>
                <a:cs typeface="Cambria" pitchFamily="34" charset="-120"/>
              </a:rPr>
              <a:t>2</a:t>
            </a:r>
            <a:endParaRPr lang="en-US" sz="1200" dirty="0"/>
          </a:p>
        </p:txBody>
      </p:sp>
      <p:sp>
        <p:nvSpPr>
          <p:cNvPr id="25" name="Text 21"/>
          <p:cNvSpPr txBox="1"/>
          <p:nvPr/>
        </p:nvSpPr>
        <p:spPr>
          <a:xfrm>
            <a:off x="7818120" y="4297680"/>
            <a:ext cx="3703320" cy="868680"/>
          </a:xfrm>
          <a:prstGeom prst="rect">
            <a:avLst/>
          </a:prstGeom>
          <a:noFill/>
          <a:ln/>
        </p:spPr>
        <p:txBody>
          <a:bodyPr wrap="square" lIns="0" tIns="0" rIns="0" bIns="0" rtlCol="0" anchor="t"/>
          <a:lstStyle/>
          <a:p>
            <a:pPr marL="0" indent="0">
              <a:buNone/>
            </a:pPr>
            <a:r>
              <a:rPr lang="en-US" sz="1250" b="1" dirty="0">
                <a:solidFill>
                  <a:srgbClr val="1A4A6E"/>
                </a:solidFill>
                <a:latin typeface="Cambria" pitchFamily="34" charset="0"/>
                <a:ea typeface="Cambria" pitchFamily="34" charset="-122"/>
                <a:cs typeface="Cambria" pitchFamily="34" charset="-120"/>
              </a:rPr>
              <a:t>Failure History Integration:</a:t>
            </a:r>
            <a:r>
              <a:rPr lang="en-US" sz="1250" dirty="0">
                <a:solidFill>
                  <a:srgbClr val="2C261E"/>
                </a:solidFill>
                <a:latin typeface="Cambria" pitchFamily="34" charset="0"/>
                <a:ea typeface="Cambria" pitchFamily="34" charset="-122"/>
                <a:cs typeface="Cambria" pitchFamily="34" charset="-120"/>
              </a:rPr>
              <a:t> Blends current telemetry with historical bearing life distributions.</a:t>
            </a:r>
            <a:endParaRPr lang="en-US" sz="1250" dirty="0"/>
          </a:p>
        </p:txBody>
      </p:sp>
      <p:sp>
        <p:nvSpPr>
          <p:cNvPr id="26" name="Shape 22"/>
          <p:cNvSpPr/>
          <p:nvPr/>
        </p:nvSpPr>
        <p:spPr>
          <a:xfrm>
            <a:off x="7315200" y="5248656"/>
            <a:ext cx="347472" cy="347472"/>
          </a:xfrm>
          <a:prstGeom prst="ellipse">
            <a:avLst/>
          </a:prstGeom>
          <a:solidFill>
            <a:srgbClr val="DCE6EC"/>
          </a:solidFill>
          <a:ln w="15875">
            <a:solidFill>
              <a:srgbClr val="1A4A6E"/>
            </a:solidFill>
            <a:prstDash val="solid"/>
          </a:ln>
        </p:spPr>
        <p:txBody>
          <a:bodyPr/>
          <a:lstStyle/>
          <a:p>
            <a:endParaRPr lang="en-IN"/>
          </a:p>
        </p:txBody>
      </p:sp>
      <p:sp>
        <p:nvSpPr>
          <p:cNvPr id="27" name="Text 23"/>
          <p:cNvSpPr txBox="1"/>
          <p:nvPr/>
        </p:nvSpPr>
        <p:spPr>
          <a:xfrm>
            <a:off x="7315200" y="5248656"/>
            <a:ext cx="347472" cy="347472"/>
          </a:xfrm>
          <a:prstGeom prst="rect">
            <a:avLst/>
          </a:prstGeom>
          <a:noFill/>
          <a:ln/>
        </p:spPr>
        <p:txBody>
          <a:bodyPr wrap="square" lIns="0" tIns="0" rIns="0" bIns="0" rtlCol="0" anchor="ctr"/>
          <a:lstStyle/>
          <a:p>
            <a:pPr marL="0" indent="0" algn="ctr">
              <a:buNone/>
            </a:pPr>
            <a:r>
              <a:rPr lang="en-US" sz="1200" b="1" dirty="0">
                <a:solidFill>
                  <a:srgbClr val="1A4A6E"/>
                </a:solidFill>
                <a:latin typeface="Cambria" pitchFamily="34" charset="0"/>
                <a:ea typeface="Cambria" pitchFamily="34" charset="-122"/>
                <a:cs typeface="Cambria" pitchFamily="34" charset="-120"/>
              </a:rPr>
              <a:t>3</a:t>
            </a:r>
            <a:endParaRPr lang="en-US" sz="1200" dirty="0"/>
          </a:p>
        </p:txBody>
      </p:sp>
      <p:sp>
        <p:nvSpPr>
          <p:cNvPr id="28" name="Text 24"/>
          <p:cNvSpPr txBox="1"/>
          <p:nvPr/>
        </p:nvSpPr>
        <p:spPr>
          <a:xfrm>
            <a:off x="7818120" y="5230368"/>
            <a:ext cx="3703320" cy="868680"/>
          </a:xfrm>
          <a:prstGeom prst="rect">
            <a:avLst/>
          </a:prstGeom>
          <a:noFill/>
          <a:ln/>
        </p:spPr>
        <p:txBody>
          <a:bodyPr wrap="square" lIns="0" tIns="0" rIns="0" bIns="0" rtlCol="0" anchor="t"/>
          <a:lstStyle/>
          <a:p>
            <a:pPr marL="0" indent="0">
              <a:buNone/>
            </a:pPr>
            <a:r>
              <a:rPr lang="en-US" sz="1250" b="1" dirty="0">
                <a:solidFill>
                  <a:srgbClr val="1A4A6E"/>
                </a:solidFill>
                <a:latin typeface="Cambria" pitchFamily="34" charset="0"/>
                <a:ea typeface="Cambria" pitchFamily="34" charset="-122"/>
                <a:cs typeface="Cambria" pitchFamily="34" charset="-120"/>
              </a:rPr>
              <a:t>Critical Value Breach:</a:t>
            </a:r>
            <a:r>
              <a:rPr lang="en-US" sz="1250" dirty="0">
                <a:solidFill>
                  <a:srgbClr val="2C261E"/>
                </a:solidFill>
                <a:latin typeface="Cambria" pitchFamily="34" charset="0"/>
                <a:ea typeface="Cambria" pitchFamily="34" charset="-122"/>
                <a:cs typeface="Cambria" pitchFamily="34" charset="-120"/>
              </a:rPr>
              <a:t> Predicts the exact calendar date when vibration crosses trip thresholds (e.g. 0.18 in/s).</a:t>
            </a:r>
            <a:endParaRPr lang="en-US" sz="1250" dirty="0"/>
          </a:p>
        </p:txBody>
      </p:sp>
      <p:pic>
        <p:nvPicPr>
          <p:cNvPr id="30" name="Picture 29">
            <a:extLst>
              <a:ext uri="{FF2B5EF4-FFF2-40B4-BE49-F238E27FC236}">
                <a16:creationId xmlns:a16="http://schemas.microsoft.com/office/drawing/2014/main" id="{C53605F5-DA2F-C509-9DE9-204EC03E5E02}"/>
              </a:ext>
            </a:extLst>
          </p:cNvPr>
          <p:cNvPicPr>
            <a:picLocks noChangeAspect="1"/>
          </p:cNvPicPr>
          <p:nvPr/>
        </p:nvPicPr>
        <p:blipFill>
          <a:blip r:embed="rId4"/>
          <a:stretch>
            <a:fillRect/>
          </a:stretch>
        </p:blipFill>
        <p:spPr>
          <a:xfrm>
            <a:off x="975360" y="2057400"/>
            <a:ext cx="5293360" cy="406908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1">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04 — QRO CORE METHODOLOGY</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LVC for Process Telemetry (U-Factor) &amp; Creep Rupture</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Ingesting thermal coefficients and Larson-Miller creep parameters.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44</a:t>
            </a:r>
            <a:r>
              <a:rPr sz="900">
                <a:solidFill>
                  <a:srgbClr val="8A8477"/>
                </a:solidFill>
                <a:latin typeface="Courier New"/>
              </a:rPr>
              <a:t> / 80</a:t>
            </a:r>
            <a:endParaRPr lang="en-US" sz="900" dirty="0"/>
          </a:p>
        </p:txBody>
      </p:sp>
      <p:sp>
        <p:nvSpPr>
          <p:cNvPr id="13" name="Shape 10"/>
          <p:cNvSpPr/>
          <p:nvPr/>
        </p:nvSpPr>
        <p:spPr>
          <a:xfrm>
            <a:off x="548640" y="1783080"/>
            <a:ext cx="5431536" cy="4434840"/>
          </a:xfrm>
          <a:prstGeom prst="rect">
            <a:avLst/>
          </a:prstGeom>
          <a:solidFill>
            <a:srgbClr val="DCE6EC"/>
          </a:solidFill>
          <a:ln w="12700">
            <a:solidFill>
              <a:srgbClr val="1A4A6E"/>
            </a:solidFill>
            <a:prstDash val="solid"/>
          </a:ln>
        </p:spPr>
        <p:txBody>
          <a:bodyPr/>
          <a:lstStyle/>
          <a:p>
            <a:endParaRPr lang="en-IN"/>
          </a:p>
        </p:txBody>
      </p:sp>
      <p:sp>
        <p:nvSpPr>
          <p:cNvPr id="14" name="Shape 11"/>
          <p:cNvSpPr/>
          <p:nvPr/>
        </p:nvSpPr>
        <p:spPr>
          <a:xfrm>
            <a:off x="777240" y="2011680"/>
            <a:ext cx="548640" cy="548640"/>
          </a:xfrm>
          <a:prstGeom prst="ellipse">
            <a:avLst/>
          </a:prstGeom>
          <a:solidFill>
            <a:srgbClr val="F4EBD7"/>
          </a:solidFill>
          <a:ln w="15875">
            <a:solidFill>
              <a:srgbClr val="1A4A6E"/>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914400" y="2148840"/>
            <a:ext cx="274320" cy="274320"/>
          </a:xfrm>
          <a:prstGeom prst="rect">
            <a:avLst/>
          </a:prstGeom>
        </p:spPr>
      </p:pic>
      <p:sp>
        <p:nvSpPr>
          <p:cNvPr id="16" name="Text 12"/>
          <p:cNvSpPr txBox="1"/>
          <p:nvPr/>
        </p:nvSpPr>
        <p:spPr>
          <a:xfrm>
            <a:off x="1463040" y="2103120"/>
            <a:ext cx="4480560" cy="310896"/>
          </a:xfrm>
          <a:prstGeom prst="rect">
            <a:avLst/>
          </a:prstGeom>
          <a:noFill/>
          <a:ln/>
        </p:spPr>
        <p:txBody>
          <a:bodyPr wrap="square" lIns="0" tIns="0" rIns="0" bIns="0" rtlCol="0" anchor="t"/>
          <a:lstStyle/>
          <a:p>
            <a:pPr marL="0" indent="0">
              <a:buNone/>
            </a:pPr>
            <a:r>
              <a:rPr lang="en-US" sz="1600" b="1" dirty="0">
                <a:solidFill>
                  <a:srgbClr val="1A4A6E"/>
                </a:solidFill>
                <a:latin typeface="Cambria" pitchFamily="34" charset="0"/>
                <a:ea typeface="Cambria" pitchFamily="34" charset="-122"/>
                <a:cs typeface="Cambria" pitchFamily="34" charset="-120"/>
              </a:rPr>
              <a:t>Heat Exchanger U-Factor Tracking</a:t>
            </a:r>
            <a:endParaRPr lang="en-US" sz="1600" dirty="0"/>
          </a:p>
        </p:txBody>
      </p:sp>
      <p:sp>
        <p:nvSpPr>
          <p:cNvPr id="17" name="Text 13"/>
          <p:cNvSpPr txBox="1"/>
          <p:nvPr/>
        </p:nvSpPr>
        <p:spPr>
          <a:xfrm>
            <a:off x="777240" y="2834640"/>
            <a:ext cx="4937760" cy="54864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Process sensors (temperatures, mass flows) compute the overall heat transfer coefficient U:</a:t>
            </a:r>
            <a:endParaRPr lang="en-US" sz="1350" dirty="0"/>
          </a:p>
        </p:txBody>
      </p:sp>
      <p:sp>
        <p:nvSpPr>
          <p:cNvPr id="18" name="Shape 14"/>
          <p:cNvSpPr/>
          <p:nvPr/>
        </p:nvSpPr>
        <p:spPr>
          <a:xfrm>
            <a:off x="777240" y="3383280"/>
            <a:ext cx="4974336" cy="777240"/>
          </a:xfrm>
          <a:prstGeom prst="rect">
            <a:avLst/>
          </a:prstGeom>
          <a:solidFill>
            <a:srgbClr val="F4EBD7"/>
          </a:solidFill>
          <a:ln w="12700">
            <a:solidFill>
              <a:srgbClr val="C9B48F"/>
            </a:solidFill>
            <a:prstDash val="solid"/>
          </a:ln>
        </p:spPr>
        <p:txBody>
          <a:bodyPr/>
          <a:lstStyle/>
          <a:p>
            <a:endParaRPr lang="en-IN"/>
          </a:p>
        </p:txBody>
      </p:sp>
      <p:pic>
        <p:nvPicPr>
          <p:cNvPr id="19" name="Image 2" descr="Formula"/>
          <p:cNvPicPr>
            <a:picLocks noChangeAspect="1"/>
          </p:cNvPicPr>
          <p:nvPr/>
        </p:nvPicPr>
        <p:blipFill>
          <a:blip r:embed="rId5"/>
          <a:stretch>
            <a:fillRect/>
          </a:stretch>
        </p:blipFill>
        <p:spPr>
          <a:xfrm>
            <a:off x="1277860" y="3448360"/>
            <a:ext cx="3973097" cy="647081"/>
          </a:xfrm>
          <a:prstGeom prst="rect">
            <a:avLst/>
          </a:prstGeom>
        </p:spPr>
      </p:pic>
      <p:sp>
        <p:nvSpPr>
          <p:cNvPr id="20" name="Text 15"/>
          <p:cNvSpPr txBox="1"/>
          <p:nvPr/>
        </p:nvSpPr>
        <p:spPr>
          <a:xfrm>
            <a:off x="777240" y="4343400"/>
            <a:ext cx="4937760" cy="128016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Filters out flow fluctuations to isolate true thermal fouling decay, forecasting when bundle cleaning yields net fuel savings.</a:t>
            </a:r>
            <a:endParaRPr lang="en-US" sz="1350" dirty="0"/>
          </a:p>
        </p:txBody>
      </p:sp>
      <p:sp>
        <p:nvSpPr>
          <p:cNvPr id="21" name="Shape 16"/>
          <p:cNvSpPr/>
          <p:nvPr/>
        </p:nvSpPr>
        <p:spPr>
          <a:xfrm>
            <a:off x="6208776" y="1783080"/>
            <a:ext cx="5431536" cy="4434840"/>
          </a:xfrm>
          <a:prstGeom prst="rect">
            <a:avLst/>
          </a:prstGeom>
          <a:solidFill>
            <a:srgbClr val="EFDCCF"/>
          </a:solidFill>
          <a:ln w="12700">
            <a:solidFill>
              <a:srgbClr val="A03B30"/>
            </a:solidFill>
            <a:prstDash val="solid"/>
          </a:ln>
        </p:spPr>
        <p:txBody>
          <a:bodyPr/>
          <a:lstStyle/>
          <a:p>
            <a:endParaRPr lang="en-IN"/>
          </a:p>
        </p:txBody>
      </p:sp>
      <p:sp>
        <p:nvSpPr>
          <p:cNvPr id="22" name="Shape 17"/>
          <p:cNvSpPr/>
          <p:nvPr/>
        </p:nvSpPr>
        <p:spPr>
          <a:xfrm>
            <a:off x="6437376" y="2011680"/>
            <a:ext cx="548640" cy="548640"/>
          </a:xfrm>
          <a:prstGeom prst="ellipse">
            <a:avLst/>
          </a:prstGeom>
          <a:solidFill>
            <a:srgbClr val="F4EBD7"/>
          </a:solidFill>
          <a:ln w="15875">
            <a:solidFill>
              <a:srgbClr val="7A1F1A"/>
            </a:solidFill>
            <a:prstDash val="solid"/>
          </a:ln>
        </p:spPr>
        <p:txBody>
          <a:bodyPr/>
          <a:lstStyle/>
          <a:p>
            <a:endParaRPr lang="en-IN"/>
          </a:p>
        </p:txBody>
      </p:sp>
      <p:pic>
        <p:nvPicPr>
          <p:cNvPr id="23" name="Image 3" descr="preencoded.png"/>
          <p:cNvPicPr>
            <a:picLocks noChangeAspect="1"/>
          </p:cNvPicPr>
          <p:nvPr/>
        </p:nvPicPr>
        <p:blipFill>
          <a:blip r:embed="rId6"/>
          <a:stretch>
            <a:fillRect/>
          </a:stretch>
        </p:blipFill>
        <p:spPr>
          <a:xfrm>
            <a:off x="6574536" y="2148840"/>
            <a:ext cx="274320" cy="274320"/>
          </a:xfrm>
          <a:prstGeom prst="rect">
            <a:avLst/>
          </a:prstGeom>
        </p:spPr>
      </p:pic>
      <p:sp>
        <p:nvSpPr>
          <p:cNvPr id="24" name="Text 18"/>
          <p:cNvSpPr txBox="1"/>
          <p:nvPr/>
        </p:nvSpPr>
        <p:spPr>
          <a:xfrm>
            <a:off x="7123176" y="2103120"/>
            <a:ext cx="4480560" cy="310896"/>
          </a:xfrm>
          <a:prstGeom prst="rect">
            <a:avLst/>
          </a:prstGeom>
          <a:noFill/>
          <a:ln/>
        </p:spPr>
        <p:txBody>
          <a:bodyPr wrap="square" lIns="0" tIns="0" rIns="0" bIns="0" rtlCol="0" anchor="t"/>
          <a:lstStyle/>
          <a:p>
            <a:pPr marL="0" indent="0">
              <a:buNone/>
            </a:pPr>
            <a:r>
              <a:rPr lang="en-US" sz="1600" b="1" dirty="0">
                <a:solidFill>
                  <a:srgbClr val="7A1F1A"/>
                </a:solidFill>
                <a:latin typeface="Cambria" pitchFamily="34" charset="0"/>
                <a:ea typeface="Cambria" pitchFamily="34" charset="-122"/>
                <a:cs typeface="Cambria" pitchFamily="34" charset="-120"/>
              </a:rPr>
              <a:t>High-Temperature Creep Rupture Life</a:t>
            </a:r>
            <a:endParaRPr lang="en-US" sz="1600" dirty="0"/>
          </a:p>
        </p:txBody>
      </p:sp>
      <p:sp>
        <p:nvSpPr>
          <p:cNvPr id="25" name="Text 19"/>
          <p:cNvSpPr txBox="1"/>
          <p:nvPr/>
        </p:nvSpPr>
        <p:spPr>
          <a:xfrm>
            <a:off x="6437376" y="2834640"/>
            <a:ext cx="4937760" cy="54864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For fired-heater tubes and high-pressure steam headers operating above 800°F:</a:t>
            </a:r>
            <a:endParaRPr lang="en-US" sz="1350" dirty="0"/>
          </a:p>
        </p:txBody>
      </p:sp>
      <p:sp>
        <p:nvSpPr>
          <p:cNvPr id="26" name="Text 20"/>
          <p:cNvSpPr txBox="1"/>
          <p:nvPr/>
        </p:nvSpPr>
        <p:spPr>
          <a:xfrm>
            <a:off x="6437376" y="3520440"/>
            <a:ext cx="4937760" cy="2377440"/>
          </a:xfrm>
          <a:prstGeom prst="rect">
            <a:avLst/>
          </a:prstGeom>
          <a:noFill/>
          <a:ln/>
        </p:spPr>
        <p:txBody>
          <a:bodyPr wrap="square" lIns="0" tIns="0" rIns="0" bIns="0" rtlCol="0" anchor="t"/>
          <a:lstStyle/>
          <a:p>
            <a:pPr marL="190500" indent="-190500">
              <a:spcAft>
                <a:spcPts val="1400"/>
              </a:spcAft>
              <a:buSzPct val="100000"/>
              <a:buChar char="▪"/>
            </a:pPr>
            <a:r>
              <a:rPr lang="en-US" sz="1350" b="1" dirty="0">
                <a:solidFill>
                  <a:srgbClr val="7A1F1A"/>
                </a:solidFill>
                <a:latin typeface="Cambria" pitchFamily="34" charset="0"/>
                <a:ea typeface="Cambria" pitchFamily="34" charset="-122"/>
                <a:cs typeface="Cambria" pitchFamily="34" charset="-120"/>
              </a:rPr>
              <a:t>Larson-Miller Parameter:</a:t>
            </a:r>
            <a:r>
              <a:rPr lang="en-US" sz="1350" dirty="0">
                <a:solidFill>
                  <a:srgbClr val="2C261E"/>
                </a:solidFill>
                <a:latin typeface="Cambria" pitchFamily="34" charset="0"/>
                <a:ea typeface="Cambria" pitchFamily="34" charset="-122"/>
                <a:cs typeface="Cambria" pitchFamily="34" charset="-120"/>
              </a:rPr>
              <a:t> Combines metal temperature, pressure stress, and wall thickness into a single life index.</a:t>
            </a:r>
            <a:endParaRPr lang="en-US" sz="1350" dirty="0"/>
          </a:p>
          <a:p>
            <a:pPr marL="190500" indent="-190500">
              <a:spcAft>
                <a:spcPts val="1400"/>
              </a:spcAft>
              <a:buSzPct val="100000"/>
              <a:buChar char="▪"/>
            </a:pPr>
            <a:r>
              <a:rPr lang="en-US" sz="1350" b="1" dirty="0">
                <a:solidFill>
                  <a:srgbClr val="7A1F1A"/>
                </a:solidFill>
                <a:latin typeface="Cambria" pitchFamily="34" charset="0"/>
                <a:ea typeface="Cambria" pitchFamily="34" charset="-122"/>
                <a:cs typeface="Cambria" pitchFamily="34" charset="-120"/>
              </a:rPr>
              <a:t>Excursion Impact:</a:t>
            </a:r>
            <a:r>
              <a:rPr lang="en-US" sz="1350" dirty="0">
                <a:solidFill>
                  <a:srgbClr val="2C261E"/>
                </a:solidFill>
                <a:latin typeface="Cambria" pitchFamily="34" charset="0"/>
                <a:ea typeface="Cambria" pitchFamily="34" charset="-122"/>
                <a:cs typeface="Cambria" pitchFamily="34" charset="-120"/>
              </a:rPr>
              <a:t> Automatically calculates the hours of rupture life consumed by thermal spikes.</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822960" y="1051560"/>
            <a:ext cx="10543032" cy="41148"/>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34440"/>
            <a:ext cx="10543032" cy="274320"/>
          </a:xfrm>
          <a:prstGeom prst="rect">
            <a:avLst/>
          </a:prstGeom>
          <a:noFill/>
        </p:spPr>
        <p:txBody>
          <a:bodyPr wrap="none">
            <a:spAutoFit/>
          </a:bodyPr>
          <a:lstStyle/>
          <a:p>
            <a:pPr>
              <a:defRPr sz="1100" b="1">
                <a:solidFill>
                  <a:srgbClr val="7A1F1A"/>
                </a:solidFill>
                <a:latin typeface="Courier New"/>
              </a:defRPr>
            </a:pPr>
            <a:r>
              <a:t>SPECIAL DISPATCH SECTION IV-B</a:t>
            </a:r>
          </a:p>
        </p:txBody>
      </p:sp>
      <p:sp>
        <p:nvSpPr>
          <p:cNvPr id="5" name="TextBox 4"/>
          <p:cNvSpPr txBox="1"/>
          <p:nvPr/>
        </p:nvSpPr>
        <p:spPr>
          <a:xfrm>
            <a:off x="822960" y="1874520"/>
            <a:ext cx="10543032" cy="548640"/>
          </a:xfrm>
          <a:prstGeom prst="rect">
            <a:avLst/>
          </a:prstGeom>
          <a:noFill/>
        </p:spPr>
        <p:txBody>
          <a:bodyPr wrap="none">
            <a:spAutoFit/>
          </a:bodyPr>
          <a:lstStyle/>
          <a:p>
            <a:pPr>
              <a:defRPr sz="1600" b="1">
                <a:solidFill>
                  <a:srgbClr val="7A1F1A"/>
                </a:solidFill>
                <a:latin typeface="Courier New"/>
              </a:defRPr>
            </a:pPr>
            <a:r>
              <a:t>No. IV-B</a:t>
            </a:r>
          </a:p>
        </p:txBody>
      </p:sp>
      <p:sp>
        <p:nvSpPr>
          <p:cNvPr id="6" name="TextBox 5"/>
          <p:cNvSpPr txBox="1"/>
          <p:nvPr/>
        </p:nvSpPr>
        <p:spPr>
          <a:xfrm>
            <a:off x="2437156" y="3343820"/>
            <a:ext cx="10543032" cy="1325880"/>
          </a:xfrm>
          <a:prstGeom prst="rect">
            <a:avLst/>
          </a:prstGeom>
          <a:noFill/>
        </p:spPr>
        <p:txBody>
          <a:bodyPr wrap="none">
            <a:spAutoFit/>
          </a:bodyPr>
          <a:lstStyle/>
          <a:p>
            <a:pPr>
              <a:defRPr sz="3600" b="1">
                <a:solidFill>
                  <a:srgbClr val="1C1712"/>
                </a:solidFill>
                <a:latin typeface="Cambria"/>
              </a:defRPr>
            </a:pPr>
            <a:r>
              <a:rPr dirty="0"/>
              <a:t>LVC EXAMPLES — CREEP ANALYSIS</a:t>
            </a:r>
          </a:p>
        </p:txBody>
      </p:sp>
      <p:sp>
        <p:nvSpPr>
          <p:cNvPr id="7" name="Rectangle 6"/>
          <p:cNvSpPr/>
          <p:nvPr/>
        </p:nvSpPr>
        <p:spPr>
          <a:xfrm>
            <a:off x="2519265" y="3869601"/>
            <a:ext cx="7235579" cy="45719"/>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80160" y="4086200"/>
            <a:ext cx="9628632" cy="640080"/>
          </a:xfrm>
          <a:prstGeom prst="rect">
            <a:avLst/>
          </a:prstGeom>
          <a:noFill/>
        </p:spPr>
        <p:txBody>
          <a:bodyPr wrap="none">
            <a:spAutoFit/>
          </a:bodyPr>
          <a:lstStyle/>
          <a:p>
            <a:pPr algn="ctr">
              <a:defRPr sz="1600">
                <a:solidFill>
                  <a:srgbClr val="5A5347"/>
                </a:solidFill>
                <a:latin typeface="Cambria"/>
              </a:defRPr>
            </a:pPr>
            <a:r>
              <a:t>Time-Series Telemetry Ingestion, Larson-Miller Formulations &amp; Stochastic Rupture Forecasting</a:t>
            </a:r>
          </a:p>
        </p:txBody>
      </p:sp>
      <p:sp>
        <p:nvSpPr>
          <p:cNvPr id="9" name="Rectangle 8"/>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6446520"/>
            <a:ext cx="8229600" cy="219456"/>
          </a:xfrm>
          <a:prstGeom prst="rect">
            <a:avLst/>
          </a:prstGeom>
          <a:noFill/>
        </p:spPr>
        <p:txBody>
          <a:bodyPr wrap="none">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1" name="TextBox 10"/>
          <p:cNvSpPr txBox="1"/>
          <p:nvPr/>
        </p:nvSpPr>
        <p:spPr>
          <a:xfrm>
            <a:off x="10177272" y="6446520"/>
            <a:ext cx="1463040" cy="219456"/>
          </a:xfrm>
          <a:prstGeom prst="rect">
            <a:avLst/>
          </a:prstGeom>
          <a:noFill/>
        </p:spPr>
        <p:txBody>
          <a:bodyPr wrap="none">
            <a:spAutoFit/>
          </a:bodyPr>
          <a:lstStyle/>
          <a:p>
            <a:pPr algn="r"/>
            <a:r>
              <a:rPr sz="900" b="1">
                <a:solidFill>
                  <a:srgbClr val="7A1F1A"/>
                </a:solidFill>
                <a:latin typeface="Courier New"/>
              </a:rPr>
              <a:t>No. 45</a:t>
            </a:r>
            <a:r>
              <a:rPr sz="900">
                <a:solidFill>
                  <a:srgbClr val="8A8477"/>
                </a:solidFill>
                <a:latin typeface="Courier New"/>
              </a:rPr>
              <a:t> / 80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04 — QRO CORE METHODOLOGY</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Creep Lifetime Variability Curve (LVC)</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Quantifying high-temperature damage accumulation via dynamic Larson-Miller parameters.</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46</a:t>
            </a:r>
            <a:r>
              <a:rPr sz="900">
                <a:solidFill>
                  <a:srgbClr val="8A8477"/>
                </a:solidFill>
                <a:latin typeface="Courier New"/>
              </a:rPr>
              <a:t> / 80</a:t>
            </a:r>
          </a:p>
        </p:txBody>
      </p:sp>
      <p:sp>
        <p:nvSpPr>
          <p:cNvPr id="13" name="Rectangle 12"/>
          <p:cNvSpPr/>
          <p:nvPr/>
        </p:nvSpPr>
        <p:spPr>
          <a:xfrm>
            <a:off x="548640" y="1783080"/>
            <a:ext cx="11091672" cy="115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wrap="square" lIns="228600" tIns="91440" rtlCol="0" anchor="ctr"/>
          <a:lstStyle/>
          <a:p>
            <a:pPr algn="just">
              <a:defRPr sz="1200">
                <a:solidFill>
                  <a:srgbClr val="1C1712"/>
                </a:solidFill>
                <a:latin typeface="Cambria"/>
              </a:defRPr>
            </a:pPr>
            <a:r>
              <a:rPr dirty="0"/>
              <a:t>• </a:t>
            </a:r>
            <a:r>
              <a:rPr b="1" dirty="0">
                <a:solidFill>
                  <a:srgbClr val="7A1F1A"/>
                </a:solidFill>
              </a:rPr>
              <a:t>Quantify lost life</a:t>
            </a:r>
            <a:r>
              <a:rPr dirty="0">
                <a:solidFill>
                  <a:srgbClr val="1C1712"/>
                </a:solidFill>
              </a:rPr>
              <a:t> using time series data (temperature, pressure, thickness) and Larson Miller/Omega formulations.</a:t>
            </a:r>
          </a:p>
          <a:p>
            <a:pPr algn="just">
              <a:defRPr sz="1200">
                <a:solidFill>
                  <a:srgbClr val="1C1712"/>
                </a:solidFill>
                <a:latin typeface="Cambria"/>
              </a:defRPr>
            </a:pPr>
            <a:r>
              <a:rPr dirty="0"/>
              <a:t>• </a:t>
            </a:r>
            <a:r>
              <a:rPr b="1" dirty="0">
                <a:solidFill>
                  <a:srgbClr val="7A1F1A"/>
                </a:solidFill>
              </a:rPr>
              <a:t>Statistically estimate</a:t>
            </a:r>
            <a:r>
              <a:rPr dirty="0">
                <a:solidFill>
                  <a:srgbClr val="1C1712"/>
                </a:solidFill>
              </a:rPr>
              <a:t> operating condition distributions, including excursion likelihood &amp; duration across plant lifecycle.</a:t>
            </a:r>
          </a:p>
          <a:p>
            <a:pPr algn="just">
              <a:defRPr sz="1200">
                <a:solidFill>
                  <a:srgbClr val="1C1712"/>
                </a:solidFill>
                <a:latin typeface="Cambria"/>
              </a:defRPr>
            </a:pPr>
            <a:r>
              <a:rPr dirty="0"/>
              <a:t>• </a:t>
            </a:r>
            <a:r>
              <a:rPr b="1" dirty="0">
                <a:solidFill>
                  <a:srgbClr val="7A1F1A"/>
                </a:solidFill>
              </a:rPr>
              <a:t>Stochastically project</a:t>
            </a:r>
            <a:r>
              <a:rPr dirty="0">
                <a:solidFill>
                  <a:srgbClr val="1C1712"/>
                </a:solidFill>
              </a:rPr>
              <a:t> expected remaining life, which dynamically updates as new operating telemetry becomes available.</a:t>
            </a:r>
          </a:p>
        </p:txBody>
      </p:sp>
      <p:sp>
        <p:nvSpPr>
          <p:cNvPr id="14" name="Rectangle 13"/>
          <p:cNvSpPr/>
          <p:nvPr/>
        </p:nvSpPr>
        <p:spPr>
          <a:xfrm>
            <a:off x="548640" y="3030000"/>
            <a:ext cx="11091672" cy="323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8640" y="3100000"/>
            <a:ext cx="10811672" cy="220000"/>
          </a:xfrm>
          <a:prstGeom prst="rect">
            <a:avLst/>
          </a:prstGeom>
          <a:noFill/>
        </p:spPr>
        <p:txBody>
          <a:bodyPr wrap="none" lIns="0" tIns="0">
            <a:spAutoFit/>
          </a:bodyPr>
          <a:lstStyle/>
          <a:p>
            <a:pPr>
              <a:defRPr sz="850" b="1">
                <a:solidFill>
                  <a:srgbClr val="7A1F1A"/>
                </a:solidFill>
                <a:latin typeface="Courier New"/>
              </a:defRPr>
            </a:pPr>
            <a:r>
              <a:t>FIG · CREEP LVC: SENSOR TELEMETRY TO STOCHASTIC WALL THICKNESS &amp; PROBABILITY OF FAILURE</a:t>
            </a:r>
          </a:p>
        </p:txBody>
      </p:sp>
      <p:sp>
        <p:nvSpPr>
          <p:cNvPr id="16" name="Rectangle 15"/>
          <p:cNvSpPr/>
          <p:nvPr/>
        </p:nvSpPr>
        <p:spPr>
          <a:xfrm>
            <a:off x="688640" y="3330000"/>
            <a:ext cx="10811672"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reep_lvc_diagram.png"/>
          <p:cNvPicPr>
            <a:picLocks noChangeAspect="1"/>
          </p:cNvPicPr>
          <p:nvPr/>
        </p:nvPicPr>
        <p:blipFill>
          <a:blip r:embed="rId3"/>
          <a:stretch>
            <a:fillRect/>
          </a:stretch>
        </p:blipFill>
        <p:spPr>
          <a:xfrm>
            <a:off x="650000" y="3350000"/>
            <a:ext cx="10890000" cy="2800000"/>
          </a:xfrm>
          <a:prstGeom prst="rect">
            <a:avLst/>
          </a:prstGeom>
        </p:spPr>
      </p:pic>
      <p:sp>
        <p:nvSpPr>
          <p:cNvPr id="18" name="Rectangle 17">
            <a:extLst>
              <a:ext uri="{FF2B5EF4-FFF2-40B4-BE49-F238E27FC236}">
                <a16:creationId xmlns:a16="http://schemas.microsoft.com/office/drawing/2014/main" id="{40193CAA-C578-4E54-0246-DE8AB6A7DD10}"/>
              </a:ext>
            </a:extLst>
          </p:cNvPr>
          <p:cNvSpPr/>
          <p:nvPr/>
        </p:nvSpPr>
        <p:spPr>
          <a:xfrm>
            <a:off x="6548284" y="3350000"/>
            <a:ext cx="4100051" cy="264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2">
    <p:bg>
      <p:bgPr>
        <a:solidFill>
          <a:srgbClr val="F4EBD7"/>
        </a:solidFill>
        <a:effectLst/>
      </p:bgPr>
    </p:bg>
    <p:spTree>
      <p:nvGrpSpPr>
        <p:cNvPr id="1" name=""/>
        <p:cNvGrpSpPr/>
        <p:nvPr/>
      </p:nvGrpSpPr>
      <p:grpSpPr>
        <a:xfrm>
          <a:off x="0" y="0"/>
          <a:ext cx="0" cy="0"/>
          <a:chOff x="0" y="0"/>
          <a:chExt cx="0" cy="0"/>
        </a:xfrm>
      </p:grpSpPr>
      <p:pic>
        <p:nvPicPr>
          <p:cNvPr id="2" name="Image 0" descr="assets/bg_section.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22960" y="1051560"/>
            <a:ext cx="10543032" cy="41148"/>
          </a:xfrm>
          <a:prstGeom prst="rect">
            <a:avLst/>
          </a:prstGeom>
          <a:solidFill>
            <a:srgbClr val="1C1712"/>
          </a:solidFill>
          <a:ln w="12700">
            <a:solidFill>
              <a:srgbClr val="333333"/>
            </a:solidFill>
            <a:prstDash val="solid"/>
          </a:ln>
        </p:spPr>
        <p:txBody>
          <a:bodyPr/>
          <a:lstStyle/>
          <a:p>
            <a:endParaRPr lang="en-IN"/>
          </a:p>
        </p:txBody>
      </p:sp>
      <p:sp>
        <p:nvSpPr>
          <p:cNvPr id="4" name="Shape 1"/>
          <p:cNvSpPr/>
          <p:nvPr/>
        </p:nvSpPr>
        <p:spPr>
          <a:xfrm>
            <a:off x="822960" y="1133856"/>
            <a:ext cx="10543032" cy="0"/>
          </a:xfrm>
          <a:prstGeom prst="line">
            <a:avLst/>
          </a:prstGeom>
          <a:noFill/>
          <a:ln w="12700">
            <a:solidFill>
              <a:srgbClr val="1C1712"/>
            </a:solidFill>
            <a:prstDash val="solid"/>
          </a:ln>
        </p:spPr>
        <p:txBody>
          <a:bodyPr/>
          <a:lstStyle/>
          <a:p>
            <a:endParaRPr lang="en-IN"/>
          </a:p>
        </p:txBody>
      </p:sp>
      <p:sp>
        <p:nvSpPr>
          <p:cNvPr id="5" name="Text 2"/>
          <p:cNvSpPr txBox="1"/>
          <p:nvPr/>
        </p:nvSpPr>
        <p:spPr>
          <a:xfrm>
            <a:off x="822960" y="1234440"/>
            <a:ext cx="10543032" cy="274320"/>
          </a:xfrm>
          <a:prstGeom prst="rect">
            <a:avLst/>
          </a:prstGeom>
          <a:noFill/>
          <a:ln/>
        </p:spPr>
        <p:txBody>
          <a:bodyPr wrap="square" lIns="0" tIns="0" rIns="0" bIns="0" rtlCol="0" anchor="t"/>
          <a:lstStyle/>
          <a:p>
            <a:pPr marL="0" indent="0" algn="ctr">
              <a:buNone/>
            </a:pPr>
            <a:r>
              <a:rPr lang="en-US" sz="1200" b="1" kern="0" spc="300" dirty="0">
                <a:solidFill>
                  <a:srgbClr val="7A1F1A"/>
                </a:solidFill>
                <a:latin typeface="Courier New" pitchFamily="34" charset="0"/>
                <a:ea typeface="Courier New" pitchFamily="34" charset="-122"/>
                <a:cs typeface="Courier New" pitchFamily="34" charset="-120"/>
              </a:rPr>
              <a:t>SPECIAL DISPATCH SECTION V</a:t>
            </a:r>
            <a:endParaRPr lang="en-US" sz="1200" dirty="0"/>
          </a:p>
        </p:txBody>
      </p:sp>
      <p:sp>
        <p:nvSpPr>
          <p:cNvPr id="6" name="Text 3"/>
          <p:cNvSpPr txBox="1"/>
          <p:nvPr/>
        </p:nvSpPr>
        <p:spPr>
          <a:xfrm>
            <a:off x="822960" y="1874520"/>
            <a:ext cx="10543032" cy="548640"/>
          </a:xfrm>
          <a:prstGeom prst="rect">
            <a:avLst/>
          </a:prstGeom>
          <a:noFill/>
          <a:ln/>
        </p:spPr>
        <p:txBody>
          <a:bodyPr wrap="square" lIns="0" tIns="0" rIns="0" bIns="0" rtlCol="0" anchor="t"/>
          <a:lstStyle/>
          <a:p>
            <a:pPr marL="0" indent="0" algn="ctr">
              <a:buNone/>
            </a:pPr>
            <a:r>
              <a:rPr lang="en-US" sz="1500" kern="0" spc="200" dirty="0">
                <a:solidFill>
                  <a:srgbClr val="8A8477"/>
                </a:solidFill>
                <a:latin typeface="Courier New" pitchFamily="34" charset="0"/>
                <a:ea typeface="Courier New" pitchFamily="34" charset="-122"/>
                <a:cs typeface="Courier New" pitchFamily="34" charset="-120"/>
              </a:rPr>
              <a:t>No. V</a:t>
            </a:r>
            <a:endParaRPr lang="en-US" sz="1500" dirty="0"/>
          </a:p>
        </p:txBody>
      </p:sp>
      <p:sp>
        <p:nvSpPr>
          <p:cNvPr id="7" name="Text 4"/>
          <p:cNvSpPr txBox="1"/>
          <p:nvPr/>
        </p:nvSpPr>
        <p:spPr>
          <a:xfrm>
            <a:off x="822960" y="2286000"/>
            <a:ext cx="10543032" cy="1325880"/>
          </a:xfrm>
          <a:prstGeom prst="rect">
            <a:avLst/>
          </a:prstGeom>
          <a:noFill/>
          <a:ln/>
        </p:spPr>
        <p:txBody>
          <a:bodyPr wrap="square" lIns="0" tIns="0" rIns="0" bIns="0" rtlCol="0" anchor="ctr">
            <a:normAutofit/>
          </a:bodyPr>
          <a:lstStyle/>
          <a:p>
            <a:pPr marL="0" indent="0" algn="ctr">
              <a:buNone/>
            </a:pPr>
            <a:r>
              <a:rPr lang="en-US" sz="5000" b="1" dirty="0">
                <a:solidFill>
                  <a:srgbClr val="1C1712"/>
                </a:solidFill>
                <a:latin typeface="Cambria" pitchFamily="34" charset="0"/>
                <a:ea typeface="Cambria" pitchFamily="34" charset="-122"/>
                <a:cs typeface="Cambria" pitchFamily="34" charset="-120"/>
              </a:rPr>
              <a:t>Asset &amp; System Availability Forecasting</a:t>
            </a:r>
            <a:endParaRPr lang="en-US" sz="5000" dirty="0"/>
          </a:p>
        </p:txBody>
      </p:sp>
      <p:sp>
        <p:nvSpPr>
          <p:cNvPr id="8" name="Shape 5"/>
          <p:cNvSpPr/>
          <p:nvPr/>
        </p:nvSpPr>
        <p:spPr>
          <a:xfrm>
            <a:off x="3108960" y="3703320"/>
            <a:ext cx="5971032" cy="0"/>
          </a:xfrm>
          <a:prstGeom prst="line">
            <a:avLst/>
          </a:prstGeom>
          <a:noFill/>
          <a:ln w="19050">
            <a:solidFill>
              <a:srgbClr val="7A1F1A"/>
            </a:solidFill>
            <a:prstDash val="solid"/>
          </a:ln>
        </p:spPr>
        <p:txBody>
          <a:bodyPr/>
          <a:lstStyle/>
          <a:p>
            <a:endParaRPr lang="en-IN"/>
          </a:p>
        </p:txBody>
      </p:sp>
      <p:sp>
        <p:nvSpPr>
          <p:cNvPr id="9" name="Text 6"/>
          <p:cNvSpPr txBox="1"/>
          <p:nvPr/>
        </p:nvSpPr>
        <p:spPr>
          <a:xfrm>
            <a:off x="1280160" y="3886200"/>
            <a:ext cx="9628632" cy="640080"/>
          </a:xfrm>
          <a:prstGeom prst="rect">
            <a:avLst/>
          </a:prstGeom>
          <a:noFill/>
          <a:ln/>
        </p:spPr>
        <p:txBody>
          <a:bodyPr wrap="square" lIns="0" tIns="0" rIns="0" bIns="0" rtlCol="0" anchor="t"/>
          <a:lstStyle/>
          <a:p>
            <a:pPr marL="0" indent="0" algn="ctr">
              <a:buNone/>
            </a:pPr>
            <a:r>
              <a:rPr lang="en-US" sz="1600" i="1" dirty="0">
                <a:solidFill>
                  <a:srgbClr val="5A5347"/>
                </a:solidFill>
                <a:latin typeface="Cambria" pitchFamily="34" charset="0"/>
                <a:ea typeface="Cambria" pitchFamily="34" charset="-122"/>
                <a:cs typeface="Cambria" pitchFamily="34" charset="-120"/>
              </a:rPr>
              <a:t>Fixed &amp; Rotating Equipment Multi-Failure Modeling, Boundaries &amp; Markov Chains</a:t>
            </a:r>
            <a:endParaRPr lang="en-US" sz="1600" dirty="0"/>
          </a:p>
        </p:txBody>
      </p:sp>
      <p:sp>
        <p:nvSpPr>
          <p:cNvPr id="10" name="Shape 7"/>
          <p:cNvSpPr/>
          <p:nvPr/>
        </p:nvSpPr>
        <p:spPr>
          <a:xfrm>
            <a:off x="2938424" y="4709160"/>
            <a:ext cx="1399032" cy="274320"/>
          </a:xfrm>
          <a:prstGeom prst="rect">
            <a:avLst/>
          </a:prstGeom>
          <a:solidFill>
            <a:srgbClr val="EFDCCF"/>
          </a:solidFill>
          <a:ln w="12700">
            <a:solidFill>
              <a:srgbClr val="7A1F1A"/>
            </a:solidFill>
            <a:prstDash val="solid"/>
          </a:ln>
        </p:spPr>
        <p:txBody>
          <a:bodyPr/>
          <a:lstStyle/>
          <a:p>
            <a:endParaRPr lang="en-IN"/>
          </a:p>
        </p:txBody>
      </p:sp>
      <p:sp>
        <p:nvSpPr>
          <p:cNvPr id="11" name="Text 8"/>
          <p:cNvSpPr txBox="1"/>
          <p:nvPr/>
        </p:nvSpPr>
        <p:spPr>
          <a:xfrm>
            <a:off x="2938424" y="4709160"/>
            <a:ext cx="1399032"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EXCHANGER MODES</a:t>
            </a:r>
            <a:endParaRPr lang="en-US" sz="900" dirty="0"/>
          </a:p>
        </p:txBody>
      </p:sp>
      <p:sp>
        <p:nvSpPr>
          <p:cNvPr id="12" name="Shape 9"/>
          <p:cNvSpPr/>
          <p:nvPr/>
        </p:nvSpPr>
        <p:spPr>
          <a:xfrm>
            <a:off x="4502048" y="4709160"/>
            <a:ext cx="1698955" cy="274320"/>
          </a:xfrm>
          <a:prstGeom prst="rect">
            <a:avLst/>
          </a:prstGeom>
          <a:solidFill>
            <a:srgbClr val="EFDCCF"/>
          </a:solidFill>
          <a:ln w="12700">
            <a:solidFill>
              <a:srgbClr val="7A1F1A"/>
            </a:solidFill>
            <a:prstDash val="solid"/>
          </a:ln>
        </p:spPr>
        <p:txBody>
          <a:bodyPr/>
          <a:lstStyle/>
          <a:p>
            <a:endParaRPr lang="en-IN"/>
          </a:p>
        </p:txBody>
      </p:sp>
      <p:sp>
        <p:nvSpPr>
          <p:cNvPr id="13" name="Text 10"/>
          <p:cNvSpPr txBox="1"/>
          <p:nvPr/>
        </p:nvSpPr>
        <p:spPr>
          <a:xfrm>
            <a:off x="4502048" y="4709160"/>
            <a:ext cx="1698955"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PUMP SUB-ASSEMBLIES</a:t>
            </a:r>
            <a:endParaRPr lang="en-US" sz="900" dirty="0"/>
          </a:p>
        </p:txBody>
      </p:sp>
      <p:sp>
        <p:nvSpPr>
          <p:cNvPr id="14" name="Shape 11"/>
          <p:cNvSpPr/>
          <p:nvPr/>
        </p:nvSpPr>
        <p:spPr>
          <a:xfrm>
            <a:off x="6365596" y="4709160"/>
            <a:ext cx="1474013" cy="274320"/>
          </a:xfrm>
          <a:prstGeom prst="rect">
            <a:avLst/>
          </a:prstGeom>
          <a:solidFill>
            <a:srgbClr val="EFDCCF"/>
          </a:solidFill>
          <a:ln w="12700">
            <a:solidFill>
              <a:srgbClr val="7A1F1A"/>
            </a:solidFill>
            <a:prstDash val="solid"/>
          </a:ln>
        </p:spPr>
        <p:txBody>
          <a:bodyPr/>
          <a:lstStyle/>
          <a:p>
            <a:endParaRPr lang="en-IN"/>
          </a:p>
        </p:txBody>
      </p:sp>
      <p:sp>
        <p:nvSpPr>
          <p:cNvPr id="15" name="Text 12"/>
          <p:cNvSpPr txBox="1"/>
          <p:nvPr/>
        </p:nvSpPr>
        <p:spPr>
          <a:xfrm>
            <a:off x="6365596" y="4709160"/>
            <a:ext cx="1474013"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COMPONENTIZATION</a:t>
            </a:r>
            <a:endParaRPr lang="en-US" sz="900" dirty="0"/>
          </a:p>
        </p:txBody>
      </p:sp>
      <p:sp>
        <p:nvSpPr>
          <p:cNvPr id="16" name="Shape 13"/>
          <p:cNvSpPr/>
          <p:nvPr/>
        </p:nvSpPr>
        <p:spPr>
          <a:xfrm>
            <a:off x="8004200" y="4709160"/>
            <a:ext cx="1249070" cy="274320"/>
          </a:xfrm>
          <a:prstGeom prst="rect">
            <a:avLst/>
          </a:prstGeom>
          <a:solidFill>
            <a:srgbClr val="EFDCCF"/>
          </a:solidFill>
          <a:ln w="12700">
            <a:solidFill>
              <a:srgbClr val="7A1F1A"/>
            </a:solidFill>
            <a:prstDash val="solid"/>
          </a:ln>
        </p:spPr>
        <p:txBody>
          <a:bodyPr/>
          <a:lstStyle/>
          <a:p>
            <a:endParaRPr lang="en-IN"/>
          </a:p>
        </p:txBody>
      </p:sp>
      <p:sp>
        <p:nvSpPr>
          <p:cNvPr id="17" name="Text 14"/>
          <p:cNvSpPr txBox="1"/>
          <p:nvPr/>
        </p:nvSpPr>
        <p:spPr>
          <a:xfrm>
            <a:off x="8004200" y="4709160"/>
            <a:ext cx="124907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MARKOV CHAINS</a:t>
            </a:r>
            <a:endParaRPr lang="en-US" sz="900" dirty="0"/>
          </a:p>
        </p:txBody>
      </p:sp>
      <p:sp>
        <p:nvSpPr>
          <p:cNvPr id="18" name="Shape 15"/>
          <p:cNvSpPr/>
          <p:nvPr/>
        </p:nvSpPr>
        <p:spPr>
          <a:xfrm>
            <a:off x="822960" y="5440680"/>
            <a:ext cx="10543032" cy="41148"/>
          </a:xfrm>
          <a:prstGeom prst="rect">
            <a:avLst/>
          </a:prstGeom>
          <a:solidFill>
            <a:srgbClr val="1C1712"/>
          </a:solidFill>
          <a:ln w="12700">
            <a:solidFill>
              <a:srgbClr val="333333"/>
            </a:solidFill>
            <a:prstDash val="solid"/>
          </a:ln>
        </p:spPr>
        <p:txBody>
          <a:bodyPr/>
          <a:lstStyle/>
          <a:p>
            <a:endParaRPr lang="en-IN"/>
          </a:p>
        </p:txBody>
      </p:sp>
      <p:sp>
        <p:nvSpPr>
          <p:cNvPr id="19" name="Shape 16"/>
          <p:cNvSpPr/>
          <p:nvPr/>
        </p:nvSpPr>
        <p:spPr>
          <a:xfrm>
            <a:off x="822960" y="5522976"/>
            <a:ext cx="10543032" cy="0"/>
          </a:xfrm>
          <a:prstGeom prst="line">
            <a:avLst/>
          </a:prstGeom>
          <a:noFill/>
          <a:ln w="12700">
            <a:solidFill>
              <a:srgbClr val="1C1712"/>
            </a:solidFill>
            <a:prstDash val="solid"/>
          </a:ln>
        </p:spPr>
        <p:txBody>
          <a:bodyPr/>
          <a:lstStyle/>
          <a:p>
            <a:endParaRPr lang="en-IN"/>
          </a:p>
        </p:txBody>
      </p:sp>
      <p:sp>
        <p:nvSpPr>
          <p:cNvPr id="20" name="Shape 1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21" name="Text 1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22" name="Text 1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47</a:t>
            </a:r>
            <a:r>
              <a:rPr sz="900">
                <a:solidFill>
                  <a:srgbClr val="8A8477"/>
                </a:solidFill>
                <a:latin typeface="Courier New"/>
              </a:rPr>
              <a:t> / 80</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3">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05 — AVAILABILITY FORECASTING</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Fixed Equipment: Heat Exchanger Multi-Failure</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Concurrent modeling of internal thinning, cracking, and fouling.</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48</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HEAT EXCHANGER: THINNING, CRACKING &amp; FOULING LVCS</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pic>
        <p:nvPicPr>
          <p:cNvPr id="16" name="Image 1" descr="Heat Exchanger: Thinning, Cracking &amp; Fouling LVCs"/>
          <p:cNvPicPr>
            <a:picLocks noChangeAspect="1"/>
          </p:cNvPicPr>
          <p:nvPr/>
        </p:nvPicPr>
        <p:blipFill>
          <a:blip r:embed="rId4"/>
          <a:stretch>
            <a:fillRect/>
          </a:stretch>
        </p:blipFill>
        <p:spPr>
          <a:xfrm>
            <a:off x="713232" y="2838819"/>
            <a:ext cx="5660136" cy="2652546"/>
          </a:xfrm>
          <a:prstGeom prst="rect">
            <a:avLst/>
          </a:prstGeom>
        </p:spPr>
      </p:pic>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THREE CONCURRENT DAMAGE MECHANISMS</a:t>
            </a:r>
            <a:endParaRPr lang="en-US" sz="950" dirty="0"/>
          </a:p>
        </p:txBody>
      </p:sp>
      <p:sp>
        <p:nvSpPr>
          <p:cNvPr id="19" name="Shape 15"/>
          <p:cNvSpPr/>
          <p:nvPr/>
        </p:nvSpPr>
        <p:spPr>
          <a:xfrm>
            <a:off x="6949440" y="2423160"/>
            <a:ext cx="512064" cy="512064"/>
          </a:xfrm>
          <a:prstGeom prst="ellipse">
            <a:avLst/>
          </a:prstGeom>
          <a:solidFill>
            <a:srgbClr val="DCE6EC"/>
          </a:solidFill>
          <a:ln w="15875">
            <a:solidFill>
              <a:srgbClr val="1A4A6E"/>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7077456" y="2551176"/>
            <a:ext cx="256032" cy="256032"/>
          </a:xfrm>
          <a:prstGeom prst="rect">
            <a:avLst/>
          </a:prstGeom>
        </p:spPr>
      </p:pic>
      <p:sp>
        <p:nvSpPr>
          <p:cNvPr id="21" name="Text 16"/>
          <p:cNvSpPr txBox="1"/>
          <p:nvPr/>
        </p:nvSpPr>
        <p:spPr>
          <a:xfrm>
            <a:off x="7635240" y="2404872"/>
            <a:ext cx="3931920" cy="292608"/>
          </a:xfrm>
          <a:prstGeom prst="rect">
            <a:avLst/>
          </a:prstGeom>
          <a:noFill/>
          <a:ln/>
        </p:spPr>
        <p:txBody>
          <a:bodyPr wrap="square" lIns="0" tIns="0" rIns="0" bIns="0" rtlCol="0" anchor="t"/>
          <a:lstStyle/>
          <a:p>
            <a:pPr marL="0" indent="0">
              <a:buNone/>
            </a:pPr>
            <a:r>
              <a:rPr lang="en-US" sz="1450" b="1" dirty="0">
                <a:solidFill>
                  <a:srgbClr val="1A4A6E"/>
                </a:solidFill>
                <a:latin typeface="Cambria" pitchFamily="34" charset="0"/>
                <a:ea typeface="Cambria" pitchFamily="34" charset="-122"/>
                <a:cs typeface="Cambria" pitchFamily="34" charset="-120"/>
              </a:rPr>
              <a:t>1. Internal Thinning</a:t>
            </a:r>
            <a:endParaRPr lang="en-US" sz="1450" dirty="0"/>
          </a:p>
        </p:txBody>
      </p:sp>
      <p:sp>
        <p:nvSpPr>
          <p:cNvPr id="22" name="Text 17"/>
          <p:cNvSpPr txBox="1"/>
          <p:nvPr/>
        </p:nvSpPr>
        <p:spPr>
          <a:xfrm>
            <a:off x="7635240" y="2715768"/>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Ultrasonic CMLs track shell course and channel-head wall loss caused by acid corrosion and CO₂ attack.</a:t>
            </a:r>
            <a:endParaRPr lang="en-US" sz="1250" dirty="0"/>
          </a:p>
        </p:txBody>
      </p:sp>
      <p:sp>
        <p:nvSpPr>
          <p:cNvPr id="23" name="Shape 18"/>
          <p:cNvSpPr/>
          <p:nvPr/>
        </p:nvSpPr>
        <p:spPr>
          <a:xfrm>
            <a:off x="6949440" y="3657600"/>
            <a:ext cx="512064" cy="512064"/>
          </a:xfrm>
          <a:prstGeom prst="ellipse">
            <a:avLst/>
          </a:prstGeom>
          <a:solidFill>
            <a:srgbClr val="EFDCCF"/>
          </a:solidFill>
          <a:ln w="15875">
            <a:solidFill>
              <a:srgbClr val="7A1F1A"/>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7077456" y="3785616"/>
            <a:ext cx="256032" cy="256032"/>
          </a:xfrm>
          <a:prstGeom prst="rect">
            <a:avLst/>
          </a:prstGeom>
        </p:spPr>
      </p:pic>
      <p:sp>
        <p:nvSpPr>
          <p:cNvPr id="25" name="Text 19"/>
          <p:cNvSpPr txBox="1"/>
          <p:nvPr/>
        </p:nvSpPr>
        <p:spPr>
          <a:xfrm>
            <a:off x="7635240" y="3639312"/>
            <a:ext cx="3931920" cy="292608"/>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2. Environmental Cracking</a:t>
            </a:r>
            <a:endParaRPr lang="en-US" sz="1450" dirty="0"/>
          </a:p>
        </p:txBody>
      </p:sp>
      <p:sp>
        <p:nvSpPr>
          <p:cNvPr id="26" name="Text 20"/>
          <p:cNvSpPr txBox="1"/>
          <p:nvPr/>
        </p:nvSpPr>
        <p:spPr>
          <a:xfrm>
            <a:off x="7635240" y="3950208"/>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Stress corrosion cracking (SCC) and tube-to-tubesheet joint fatigue driven by thermal cycling.</a:t>
            </a:r>
            <a:endParaRPr lang="en-US" sz="1250" dirty="0"/>
          </a:p>
        </p:txBody>
      </p:sp>
      <p:sp>
        <p:nvSpPr>
          <p:cNvPr id="27" name="Shape 21"/>
          <p:cNvSpPr/>
          <p:nvPr/>
        </p:nvSpPr>
        <p:spPr>
          <a:xfrm>
            <a:off x="6949440" y="4892040"/>
            <a:ext cx="512064" cy="512064"/>
          </a:xfrm>
          <a:prstGeom prst="ellipse">
            <a:avLst/>
          </a:prstGeom>
          <a:solidFill>
            <a:srgbClr val="EDE2C4"/>
          </a:solidFill>
          <a:ln w="15875">
            <a:solidFill>
              <a:srgbClr val="9A6A12"/>
            </a:solidFill>
            <a:prstDash val="solid"/>
          </a:ln>
        </p:spPr>
        <p:txBody>
          <a:bodyPr/>
          <a:lstStyle/>
          <a:p>
            <a:endParaRPr lang="en-IN"/>
          </a:p>
        </p:txBody>
      </p:sp>
      <p:pic>
        <p:nvPicPr>
          <p:cNvPr id="28" name="Image 4" descr="preencoded.png"/>
          <p:cNvPicPr>
            <a:picLocks noChangeAspect="1"/>
          </p:cNvPicPr>
          <p:nvPr/>
        </p:nvPicPr>
        <p:blipFill>
          <a:blip r:embed="rId7"/>
          <a:stretch>
            <a:fillRect/>
          </a:stretch>
        </p:blipFill>
        <p:spPr>
          <a:xfrm>
            <a:off x="7077456" y="5020056"/>
            <a:ext cx="256032" cy="256032"/>
          </a:xfrm>
          <a:prstGeom prst="rect">
            <a:avLst/>
          </a:prstGeom>
        </p:spPr>
      </p:pic>
      <p:sp>
        <p:nvSpPr>
          <p:cNvPr id="29" name="Text 22"/>
          <p:cNvSpPr txBox="1"/>
          <p:nvPr/>
        </p:nvSpPr>
        <p:spPr>
          <a:xfrm>
            <a:off x="7635240" y="4873752"/>
            <a:ext cx="3931920" cy="292608"/>
          </a:xfrm>
          <a:prstGeom prst="rect">
            <a:avLst/>
          </a:prstGeom>
          <a:noFill/>
          <a:ln/>
        </p:spPr>
        <p:txBody>
          <a:bodyPr wrap="square" lIns="0" tIns="0" rIns="0" bIns="0" rtlCol="0" anchor="t"/>
          <a:lstStyle/>
          <a:p>
            <a:pPr marL="0" indent="0">
              <a:buNone/>
            </a:pPr>
            <a:r>
              <a:rPr lang="en-US" sz="1450" b="1" dirty="0">
                <a:solidFill>
                  <a:srgbClr val="9A6A12"/>
                </a:solidFill>
                <a:latin typeface="Cambria" pitchFamily="34" charset="0"/>
                <a:ea typeface="Cambria" pitchFamily="34" charset="-122"/>
                <a:cs typeface="Cambria" pitchFamily="34" charset="-120"/>
              </a:rPr>
              <a:t>3. Process Fouling</a:t>
            </a:r>
            <a:endParaRPr lang="en-US" sz="1450" dirty="0"/>
          </a:p>
        </p:txBody>
      </p:sp>
      <p:sp>
        <p:nvSpPr>
          <p:cNvPr id="30" name="Text 23"/>
          <p:cNvSpPr txBox="1"/>
          <p:nvPr/>
        </p:nvSpPr>
        <p:spPr>
          <a:xfrm>
            <a:off x="7635240" y="5184648"/>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Thermal U-factor degradation caused by crude deposition, restricting heat transfer.</a:t>
            </a:r>
            <a:endParaRPr lang="en-US" sz="1250" dirty="0"/>
          </a:p>
        </p:txBody>
      </p:sp>
      <p:sp>
        <p:nvSpPr>
          <p:cNvPr id="31" name="Rectangle 30">
            <a:extLst>
              <a:ext uri="{FF2B5EF4-FFF2-40B4-BE49-F238E27FC236}">
                <a16:creationId xmlns:a16="http://schemas.microsoft.com/office/drawing/2014/main" id="{36F66400-82FF-D824-6987-9705E2679BAF}"/>
              </a:ext>
            </a:extLst>
          </p:cNvPr>
          <p:cNvSpPr/>
          <p:nvPr/>
        </p:nvSpPr>
        <p:spPr>
          <a:xfrm>
            <a:off x="3687097" y="3048000"/>
            <a:ext cx="2667983" cy="73761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05 — AVAILABILITY FORECASTING</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Heat Exchanger Multi-Failure: Asset Risk &amp; Availability Results</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Synthesizing concurrent thinning, cracking, and fouling into monetized risk trajectories.</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49</a:t>
            </a:r>
            <a:r>
              <a:rPr sz="900">
                <a:solidFill>
                  <a:srgbClr val="8A8477"/>
                </a:solidFill>
                <a:latin typeface="Courier New"/>
              </a:rPr>
              <a:t> / 80</a:t>
            </a:r>
          </a:p>
        </p:txBody>
      </p:sp>
      <p:sp>
        <p:nvSpPr>
          <p:cNvPr id="13" name="Rounded Rectangle 12"/>
          <p:cNvSpPr/>
          <p:nvPr/>
        </p:nvSpPr>
        <p:spPr>
          <a:xfrm>
            <a:off x="548640" y="1783080"/>
            <a:ext cx="2140000" cy="1000000"/>
          </a:xfrm>
          <a:prstGeom prst="round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5347"/>
                </a:solidFill>
                <a:latin typeface="Courier New"/>
              </a:defRPr>
            </a:pPr>
            <a:r>
              <a:t>Availability</a:t>
            </a:r>
          </a:p>
          <a:p>
            <a:pPr algn="ctr">
              <a:defRPr sz="1500" b="1">
                <a:solidFill>
                  <a:srgbClr val="7A1F1A"/>
                </a:solidFill>
                <a:latin typeface="Cambria"/>
              </a:defRPr>
            </a:pPr>
            <a:r>
              <a:t>99.68 %</a:t>
            </a:r>
          </a:p>
          <a:p>
            <a:pPr algn="ctr">
              <a:defRPr sz="850">
                <a:solidFill>
                  <a:srgbClr val="8A8477"/>
                </a:solidFill>
                <a:latin typeface="Cambria"/>
              </a:defRPr>
            </a:pPr>
            <a:r>
              <a:t>5-Year Average</a:t>
            </a:r>
          </a:p>
        </p:txBody>
      </p:sp>
      <p:sp>
        <p:nvSpPr>
          <p:cNvPr id="14" name="Rounded Rectangle 13"/>
          <p:cNvSpPr/>
          <p:nvPr/>
        </p:nvSpPr>
        <p:spPr>
          <a:xfrm>
            <a:off x="2785640" y="1783080"/>
            <a:ext cx="2140000" cy="1000000"/>
          </a:xfrm>
          <a:prstGeom prst="round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5347"/>
                </a:solidFill>
                <a:latin typeface="Courier New"/>
              </a:defRPr>
            </a:pPr>
            <a:r>
              <a:t>Predicted Outages</a:t>
            </a:r>
          </a:p>
          <a:p>
            <a:pPr algn="ctr">
              <a:defRPr sz="1500" b="1">
                <a:solidFill>
                  <a:srgbClr val="7A1F1A"/>
                </a:solidFill>
                <a:latin typeface="Cambria"/>
              </a:defRPr>
            </a:pPr>
            <a:r>
              <a:t>9.0 Events</a:t>
            </a:r>
          </a:p>
          <a:p>
            <a:pPr algn="ctr">
              <a:defRPr sz="850">
                <a:solidFill>
                  <a:srgbClr val="8A8477"/>
                </a:solidFill>
                <a:latin typeface="Cambria"/>
              </a:defRPr>
            </a:pPr>
            <a:r>
              <a:t>Unplanned Trips</a:t>
            </a:r>
          </a:p>
        </p:txBody>
      </p:sp>
      <p:sp>
        <p:nvSpPr>
          <p:cNvPr id="15" name="Rounded Rectangle 14"/>
          <p:cNvSpPr/>
          <p:nvPr/>
        </p:nvSpPr>
        <p:spPr>
          <a:xfrm>
            <a:off x="5022640" y="1783080"/>
            <a:ext cx="2140000" cy="1000000"/>
          </a:xfrm>
          <a:prstGeom prst="round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5347"/>
                </a:solidFill>
                <a:latin typeface="Courier New"/>
              </a:defRPr>
            </a:pPr>
            <a:r>
              <a:t>Downtime</a:t>
            </a:r>
          </a:p>
          <a:p>
            <a:pPr algn="ctr">
              <a:defRPr sz="1500" b="1">
                <a:solidFill>
                  <a:srgbClr val="7A1F1A"/>
                </a:solidFill>
                <a:latin typeface="Cambria"/>
              </a:defRPr>
            </a:pPr>
            <a:r>
              <a:t>7.2 Days</a:t>
            </a:r>
          </a:p>
          <a:p>
            <a:pPr algn="ctr">
              <a:defRPr sz="850">
                <a:solidFill>
                  <a:srgbClr val="8A8477"/>
                </a:solidFill>
                <a:latin typeface="Cambria"/>
              </a:defRPr>
            </a:pPr>
            <a:r>
              <a:t>Unplanned</a:t>
            </a:r>
          </a:p>
        </p:txBody>
      </p:sp>
      <p:sp>
        <p:nvSpPr>
          <p:cNvPr id="16" name="Rounded Rectangle 15"/>
          <p:cNvSpPr/>
          <p:nvPr/>
        </p:nvSpPr>
        <p:spPr>
          <a:xfrm>
            <a:off x="7259640" y="1783080"/>
            <a:ext cx="2140000" cy="1000000"/>
          </a:xfrm>
          <a:prstGeom prst="round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5347"/>
                </a:solidFill>
                <a:latin typeface="Courier New"/>
              </a:defRPr>
            </a:pPr>
            <a:r>
              <a:t>Breach Date</a:t>
            </a:r>
          </a:p>
          <a:p>
            <a:pPr algn="ctr">
              <a:defRPr sz="1500" b="1">
                <a:solidFill>
                  <a:srgbClr val="7A1F1A"/>
                </a:solidFill>
                <a:latin typeface="Cambria"/>
              </a:defRPr>
            </a:pPr>
            <a:r>
              <a:t>11/25/2018</a:t>
            </a:r>
          </a:p>
          <a:p>
            <a:pPr algn="ctr">
              <a:defRPr sz="850">
                <a:solidFill>
                  <a:srgbClr val="8A8477"/>
                </a:solidFill>
                <a:latin typeface="Cambria"/>
              </a:defRPr>
            </a:pPr>
            <a:r>
              <a:t>Economic Ceilings</a:t>
            </a:r>
          </a:p>
        </p:txBody>
      </p:sp>
      <p:sp>
        <p:nvSpPr>
          <p:cNvPr id="17" name="Rounded Rectangle 16"/>
          <p:cNvSpPr/>
          <p:nvPr/>
        </p:nvSpPr>
        <p:spPr>
          <a:xfrm>
            <a:off x="9496640" y="1783080"/>
            <a:ext cx="2140000" cy="1000000"/>
          </a:xfrm>
          <a:prstGeom prst="round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5A5347"/>
                </a:solidFill>
                <a:latin typeface="Courier New"/>
              </a:defRPr>
            </a:pPr>
            <a:r>
              <a:t>Planned Maintenance</a:t>
            </a:r>
          </a:p>
          <a:p>
            <a:pPr algn="ctr">
              <a:defRPr sz="1500" b="1">
                <a:solidFill>
                  <a:srgbClr val="7A1F1A"/>
                </a:solidFill>
                <a:latin typeface="Cambria"/>
              </a:defRPr>
            </a:pPr>
            <a:r>
              <a:t>$11,533</a:t>
            </a:r>
          </a:p>
          <a:p>
            <a:pPr algn="ctr">
              <a:defRPr sz="850">
                <a:solidFill>
                  <a:srgbClr val="8A8477"/>
                </a:solidFill>
                <a:latin typeface="Cambria"/>
              </a:defRPr>
            </a:pPr>
            <a:r>
              <a:t>Budgeted Tasks</a:t>
            </a:r>
          </a:p>
        </p:txBody>
      </p:sp>
      <p:sp>
        <p:nvSpPr>
          <p:cNvPr id="18" name="Rectangle 17"/>
          <p:cNvSpPr/>
          <p:nvPr/>
        </p:nvSpPr>
        <p:spPr>
          <a:xfrm>
            <a:off x="548640" y="2900000"/>
            <a:ext cx="5450000" cy="330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8640" y="2970000"/>
            <a:ext cx="5170000" cy="220000"/>
          </a:xfrm>
          <a:prstGeom prst="rect">
            <a:avLst/>
          </a:prstGeom>
          <a:noFill/>
        </p:spPr>
        <p:txBody>
          <a:bodyPr wrap="none" lIns="0" tIns="0">
            <a:spAutoFit/>
          </a:bodyPr>
          <a:lstStyle/>
          <a:p>
            <a:pPr>
              <a:defRPr sz="850" b="1">
                <a:solidFill>
                  <a:srgbClr val="7A1F1A"/>
                </a:solidFill>
                <a:latin typeface="Courier New"/>
              </a:defRPr>
            </a:pPr>
            <a:r>
              <a:t>FIG · ASSET RISK OVER TIME (ACCUMULATOR-01)</a:t>
            </a:r>
          </a:p>
        </p:txBody>
      </p:sp>
      <p:sp>
        <p:nvSpPr>
          <p:cNvPr id="20" name="Rectangle 19"/>
          <p:cNvSpPr/>
          <p:nvPr/>
        </p:nvSpPr>
        <p:spPr>
          <a:xfrm>
            <a:off x="688640" y="3200000"/>
            <a:ext cx="517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exchanger_risk_over_time.png"/>
          <p:cNvPicPr>
            <a:picLocks noChangeAspect="1"/>
          </p:cNvPicPr>
          <p:nvPr/>
        </p:nvPicPr>
        <p:blipFill>
          <a:blip r:embed="rId3"/>
          <a:stretch>
            <a:fillRect/>
          </a:stretch>
        </p:blipFill>
        <p:spPr>
          <a:xfrm>
            <a:off x="650000" y="3260000"/>
            <a:ext cx="5250000" cy="2860000"/>
          </a:xfrm>
          <a:prstGeom prst="rect">
            <a:avLst/>
          </a:prstGeom>
        </p:spPr>
      </p:pic>
      <p:sp>
        <p:nvSpPr>
          <p:cNvPr id="22" name="Rectangle 21"/>
          <p:cNvSpPr/>
          <p:nvPr/>
        </p:nvSpPr>
        <p:spPr>
          <a:xfrm>
            <a:off x="6190312" y="2900000"/>
            <a:ext cx="5450000" cy="330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0312" y="2970000"/>
            <a:ext cx="5170000" cy="220000"/>
          </a:xfrm>
          <a:prstGeom prst="rect">
            <a:avLst/>
          </a:prstGeom>
          <a:noFill/>
        </p:spPr>
        <p:txBody>
          <a:bodyPr wrap="none" lIns="0" tIns="0">
            <a:spAutoFit/>
          </a:bodyPr>
          <a:lstStyle/>
          <a:p>
            <a:pPr>
              <a:defRPr sz="850" b="1">
                <a:solidFill>
                  <a:srgbClr val="7A1F1A"/>
                </a:solidFill>
                <a:latin typeface="Courier New"/>
              </a:defRPr>
            </a:pPr>
            <a:r>
              <a:t>FIG · ASSET AVAILABILITY OVER TIME &amp; RESULTS</a:t>
            </a:r>
          </a:p>
        </p:txBody>
      </p:sp>
      <p:sp>
        <p:nvSpPr>
          <p:cNvPr id="24" name="Rectangle 23"/>
          <p:cNvSpPr/>
          <p:nvPr/>
        </p:nvSpPr>
        <p:spPr>
          <a:xfrm>
            <a:off x="6330312" y="3200000"/>
            <a:ext cx="517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exchanger_avail_results.png"/>
          <p:cNvPicPr>
            <a:picLocks noChangeAspect="1"/>
          </p:cNvPicPr>
          <p:nvPr/>
        </p:nvPicPr>
        <p:blipFill>
          <a:blip r:embed="rId4"/>
          <a:stretch>
            <a:fillRect/>
          </a:stretch>
        </p:blipFill>
        <p:spPr>
          <a:xfrm>
            <a:off x="6290312" y="3260000"/>
            <a:ext cx="5250000" cy="2860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05 — AVAILABILITY FORECASTING</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Heat Exchanger Case Study Results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Synthesizing failure mechanisms into an asset-level availability forecast.</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50</a:t>
            </a:r>
            <a:r>
              <a:rPr sz="900">
                <a:solidFill>
                  <a:srgbClr val="8A8477"/>
                </a:solidFill>
                <a:latin typeface="Courier New"/>
              </a:rPr>
              <a:t> / 80</a:t>
            </a:r>
            <a:endParaRPr lang="en-US" sz="900" dirty="0"/>
          </a:p>
        </p:txBody>
      </p:sp>
      <p:sp>
        <p:nvSpPr>
          <p:cNvPr id="13" name="Shape 10"/>
          <p:cNvSpPr/>
          <p:nvPr/>
        </p:nvSpPr>
        <p:spPr>
          <a:xfrm>
            <a:off x="548640" y="1783080"/>
            <a:ext cx="3547872" cy="2148840"/>
          </a:xfrm>
          <a:prstGeom prst="rect">
            <a:avLst/>
          </a:prstGeom>
          <a:solidFill>
            <a:srgbClr val="DDE7D6"/>
          </a:solidFill>
          <a:ln w="12700">
            <a:solidFill>
              <a:srgbClr val="2F6B3A"/>
            </a:solidFill>
            <a:prstDash val="solid"/>
          </a:ln>
        </p:spPr>
        <p:txBody>
          <a:bodyPr/>
          <a:lstStyle/>
          <a:p>
            <a:endParaRPr lang="en-IN"/>
          </a:p>
        </p:txBody>
      </p:sp>
      <p:sp>
        <p:nvSpPr>
          <p:cNvPr id="14" name="Text 11"/>
          <p:cNvSpPr txBox="1"/>
          <p:nvPr/>
        </p:nvSpPr>
        <p:spPr>
          <a:xfrm>
            <a:off x="548640" y="2057400"/>
            <a:ext cx="3547872" cy="777240"/>
          </a:xfrm>
          <a:prstGeom prst="rect">
            <a:avLst/>
          </a:prstGeom>
          <a:noFill/>
          <a:ln/>
        </p:spPr>
        <p:txBody>
          <a:bodyPr wrap="square" lIns="0" tIns="0" rIns="0" bIns="0" rtlCol="0" anchor="t"/>
          <a:lstStyle/>
          <a:p>
            <a:pPr marL="0" indent="0" algn="ctr">
              <a:buNone/>
            </a:pPr>
            <a:r>
              <a:rPr lang="en-US" sz="4000" b="1" dirty="0">
                <a:solidFill>
                  <a:srgbClr val="2F6B3A"/>
                </a:solidFill>
                <a:latin typeface="Cambria" pitchFamily="34" charset="0"/>
                <a:ea typeface="Cambria" pitchFamily="34" charset="-122"/>
                <a:cs typeface="Cambria" pitchFamily="34" charset="-120"/>
              </a:rPr>
              <a:t>99.68 %</a:t>
            </a:r>
            <a:endParaRPr lang="en-US" sz="4000" dirty="0"/>
          </a:p>
        </p:txBody>
      </p:sp>
      <p:sp>
        <p:nvSpPr>
          <p:cNvPr id="15" name="Text 12"/>
          <p:cNvSpPr txBox="1"/>
          <p:nvPr/>
        </p:nvSpPr>
        <p:spPr>
          <a:xfrm>
            <a:off x="548640" y="2880360"/>
            <a:ext cx="3547872" cy="320040"/>
          </a:xfrm>
          <a:prstGeom prst="rect">
            <a:avLst/>
          </a:prstGeom>
          <a:noFill/>
          <a:ln/>
        </p:spPr>
        <p:txBody>
          <a:bodyPr wrap="square" lIns="0" tIns="0" rIns="0" bIns="0" rtlCol="0" anchor="t"/>
          <a:lstStyle/>
          <a:p>
            <a:pPr marL="0" indent="0" algn="ctr">
              <a:buNone/>
            </a:pPr>
            <a:r>
              <a:rPr lang="en-US" sz="1600" b="1" dirty="0">
                <a:solidFill>
                  <a:srgbClr val="1C1712"/>
                </a:solidFill>
                <a:latin typeface="Cambria" pitchFamily="34" charset="0"/>
                <a:ea typeface="Cambria" pitchFamily="34" charset="-122"/>
                <a:cs typeface="Cambria" pitchFamily="34" charset="-120"/>
              </a:rPr>
              <a:t>Availability</a:t>
            </a:r>
            <a:endParaRPr lang="en-US" sz="1600" dirty="0"/>
          </a:p>
        </p:txBody>
      </p:sp>
      <p:sp>
        <p:nvSpPr>
          <p:cNvPr id="16" name="Text 13"/>
          <p:cNvSpPr txBox="1"/>
          <p:nvPr/>
        </p:nvSpPr>
        <p:spPr>
          <a:xfrm>
            <a:off x="548640" y="3246120"/>
            <a:ext cx="3547872" cy="457200"/>
          </a:xfrm>
          <a:prstGeom prst="rect">
            <a:avLst/>
          </a:prstGeom>
          <a:noFill/>
          <a:ln/>
        </p:spPr>
        <p:txBody>
          <a:bodyPr wrap="square" lIns="0" tIns="0" rIns="0" bIns="0" rtlCol="0" anchor="t"/>
          <a:lstStyle/>
          <a:p>
            <a:pPr marL="0" indent="0" algn="ctr">
              <a:buNone/>
            </a:pPr>
            <a:r>
              <a:rPr lang="en-US" sz="1200" i="1" dirty="0">
                <a:solidFill>
                  <a:srgbClr val="5A5347"/>
                </a:solidFill>
                <a:latin typeface="Cambria" pitchFamily="34" charset="0"/>
                <a:ea typeface="Cambria" pitchFamily="34" charset="-122"/>
                <a:cs typeface="Cambria" pitchFamily="34" charset="-120"/>
              </a:rPr>
              <a:t>5-Year Operating Cycle</a:t>
            </a:r>
            <a:endParaRPr lang="en-US" sz="1200" dirty="0"/>
          </a:p>
        </p:txBody>
      </p:sp>
      <p:sp>
        <p:nvSpPr>
          <p:cNvPr id="17" name="Shape 14"/>
          <p:cNvSpPr/>
          <p:nvPr/>
        </p:nvSpPr>
        <p:spPr>
          <a:xfrm>
            <a:off x="4242816" y="1783080"/>
            <a:ext cx="3547872" cy="2148840"/>
          </a:xfrm>
          <a:prstGeom prst="rect">
            <a:avLst/>
          </a:prstGeom>
          <a:solidFill>
            <a:srgbClr val="EDE2C4"/>
          </a:solidFill>
          <a:ln w="12700">
            <a:solidFill>
              <a:srgbClr val="9A6A12"/>
            </a:solidFill>
            <a:prstDash val="solid"/>
          </a:ln>
        </p:spPr>
        <p:txBody>
          <a:bodyPr/>
          <a:lstStyle/>
          <a:p>
            <a:endParaRPr lang="en-IN"/>
          </a:p>
        </p:txBody>
      </p:sp>
      <p:sp>
        <p:nvSpPr>
          <p:cNvPr id="18" name="Text 15"/>
          <p:cNvSpPr txBox="1"/>
          <p:nvPr/>
        </p:nvSpPr>
        <p:spPr>
          <a:xfrm>
            <a:off x="4242816" y="2057400"/>
            <a:ext cx="3547872" cy="777240"/>
          </a:xfrm>
          <a:prstGeom prst="rect">
            <a:avLst/>
          </a:prstGeom>
          <a:noFill/>
          <a:ln/>
        </p:spPr>
        <p:txBody>
          <a:bodyPr wrap="square" lIns="0" tIns="0" rIns="0" bIns="0" rtlCol="0" anchor="t"/>
          <a:lstStyle/>
          <a:p>
            <a:pPr marL="0" indent="0" algn="ctr">
              <a:buNone/>
            </a:pPr>
            <a:r>
              <a:rPr lang="en-US" sz="4000" b="1" dirty="0">
                <a:solidFill>
                  <a:srgbClr val="9A6A12"/>
                </a:solidFill>
                <a:latin typeface="Cambria" pitchFamily="34" charset="0"/>
                <a:ea typeface="Cambria" pitchFamily="34" charset="-122"/>
                <a:cs typeface="Cambria" pitchFamily="34" charset="-120"/>
              </a:rPr>
              <a:t>9.0 Events</a:t>
            </a:r>
            <a:endParaRPr lang="en-US" sz="4000" dirty="0"/>
          </a:p>
        </p:txBody>
      </p:sp>
      <p:sp>
        <p:nvSpPr>
          <p:cNvPr id="19" name="Text 16"/>
          <p:cNvSpPr txBox="1"/>
          <p:nvPr/>
        </p:nvSpPr>
        <p:spPr>
          <a:xfrm>
            <a:off x="4242816" y="2880360"/>
            <a:ext cx="3547872" cy="320040"/>
          </a:xfrm>
          <a:prstGeom prst="rect">
            <a:avLst/>
          </a:prstGeom>
          <a:noFill/>
          <a:ln/>
        </p:spPr>
        <p:txBody>
          <a:bodyPr wrap="square" lIns="0" tIns="0" rIns="0" bIns="0" rtlCol="0" anchor="t"/>
          <a:lstStyle/>
          <a:p>
            <a:pPr marL="0" indent="0" algn="ctr">
              <a:buNone/>
            </a:pPr>
            <a:r>
              <a:rPr lang="en-US" sz="1600" b="1" dirty="0">
                <a:solidFill>
                  <a:srgbClr val="1C1712"/>
                </a:solidFill>
                <a:latin typeface="Cambria" pitchFamily="34" charset="0"/>
                <a:ea typeface="Cambria" pitchFamily="34" charset="-122"/>
                <a:cs typeface="Cambria" pitchFamily="34" charset="-120"/>
              </a:rPr>
              <a:t>Predicted Trips</a:t>
            </a:r>
            <a:endParaRPr lang="en-US" sz="1600" dirty="0"/>
          </a:p>
        </p:txBody>
      </p:sp>
      <p:sp>
        <p:nvSpPr>
          <p:cNvPr id="20" name="Text 17"/>
          <p:cNvSpPr txBox="1"/>
          <p:nvPr/>
        </p:nvSpPr>
        <p:spPr>
          <a:xfrm>
            <a:off x="4242816" y="3246120"/>
            <a:ext cx="3547872" cy="457200"/>
          </a:xfrm>
          <a:prstGeom prst="rect">
            <a:avLst/>
          </a:prstGeom>
          <a:noFill/>
          <a:ln/>
        </p:spPr>
        <p:txBody>
          <a:bodyPr wrap="square" lIns="0" tIns="0" rIns="0" bIns="0" rtlCol="0" anchor="t"/>
          <a:lstStyle/>
          <a:p>
            <a:pPr marL="0" indent="0" algn="ctr">
              <a:buNone/>
            </a:pPr>
            <a:r>
              <a:rPr lang="en-US" sz="1200" i="1" dirty="0">
                <a:solidFill>
                  <a:srgbClr val="5A5347"/>
                </a:solidFill>
                <a:latin typeface="Cambria" pitchFamily="34" charset="0"/>
                <a:ea typeface="Cambria" pitchFamily="34" charset="-122"/>
                <a:cs typeface="Cambria" pitchFamily="34" charset="-120"/>
              </a:rPr>
              <a:t>Pinhole Leaks / Minor Outages</a:t>
            </a:r>
            <a:endParaRPr lang="en-US" sz="1200" dirty="0"/>
          </a:p>
        </p:txBody>
      </p:sp>
      <p:sp>
        <p:nvSpPr>
          <p:cNvPr id="21" name="Shape 18"/>
          <p:cNvSpPr/>
          <p:nvPr/>
        </p:nvSpPr>
        <p:spPr>
          <a:xfrm>
            <a:off x="7936992" y="1783080"/>
            <a:ext cx="3547872" cy="2148840"/>
          </a:xfrm>
          <a:prstGeom prst="rect">
            <a:avLst/>
          </a:prstGeom>
          <a:solidFill>
            <a:srgbClr val="EFDCCF"/>
          </a:solidFill>
          <a:ln w="12700">
            <a:solidFill>
              <a:srgbClr val="7A1F1A"/>
            </a:solidFill>
            <a:prstDash val="solid"/>
          </a:ln>
        </p:spPr>
        <p:txBody>
          <a:bodyPr/>
          <a:lstStyle/>
          <a:p>
            <a:endParaRPr lang="en-IN"/>
          </a:p>
        </p:txBody>
      </p:sp>
      <p:sp>
        <p:nvSpPr>
          <p:cNvPr id="22" name="Text 19"/>
          <p:cNvSpPr txBox="1"/>
          <p:nvPr/>
        </p:nvSpPr>
        <p:spPr>
          <a:xfrm>
            <a:off x="7936992" y="2057400"/>
            <a:ext cx="3547872" cy="777240"/>
          </a:xfrm>
          <a:prstGeom prst="rect">
            <a:avLst/>
          </a:prstGeom>
          <a:noFill/>
          <a:ln/>
        </p:spPr>
        <p:txBody>
          <a:bodyPr wrap="square" lIns="0" tIns="0" rIns="0" bIns="0" rtlCol="0" anchor="t"/>
          <a:lstStyle/>
          <a:p>
            <a:pPr marL="0" indent="0" algn="ctr">
              <a:buNone/>
            </a:pPr>
            <a:r>
              <a:rPr lang="en-US" sz="4000" b="1" dirty="0">
                <a:solidFill>
                  <a:srgbClr val="7A1F1A"/>
                </a:solidFill>
                <a:latin typeface="Cambria" pitchFamily="34" charset="0"/>
                <a:ea typeface="Cambria" pitchFamily="34" charset="-122"/>
                <a:cs typeface="Cambria" pitchFamily="34" charset="-120"/>
              </a:rPr>
              <a:t>7.2 Days</a:t>
            </a:r>
            <a:endParaRPr lang="en-US" sz="4000" dirty="0"/>
          </a:p>
        </p:txBody>
      </p:sp>
      <p:sp>
        <p:nvSpPr>
          <p:cNvPr id="23" name="Text 20"/>
          <p:cNvSpPr txBox="1"/>
          <p:nvPr/>
        </p:nvSpPr>
        <p:spPr>
          <a:xfrm>
            <a:off x="7936992" y="2880360"/>
            <a:ext cx="3547872" cy="320040"/>
          </a:xfrm>
          <a:prstGeom prst="rect">
            <a:avLst/>
          </a:prstGeom>
          <a:noFill/>
          <a:ln/>
        </p:spPr>
        <p:txBody>
          <a:bodyPr wrap="square" lIns="0" tIns="0" rIns="0" bIns="0" rtlCol="0" anchor="t"/>
          <a:lstStyle/>
          <a:p>
            <a:pPr marL="0" indent="0" algn="ctr">
              <a:buNone/>
            </a:pPr>
            <a:r>
              <a:rPr lang="en-US" sz="1600" b="1" dirty="0">
                <a:solidFill>
                  <a:srgbClr val="1C1712"/>
                </a:solidFill>
                <a:latin typeface="Cambria" pitchFamily="34" charset="0"/>
                <a:ea typeface="Cambria" pitchFamily="34" charset="-122"/>
                <a:cs typeface="Cambria" pitchFamily="34" charset="-120"/>
              </a:rPr>
              <a:t>Cumulative Outage</a:t>
            </a:r>
            <a:endParaRPr lang="en-US" sz="1600" dirty="0"/>
          </a:p>
        </p:txBody>
      </p:sp>
      <p:sp>
        <p:nvSpPr>
          <p:cNvPr id="24" name="Text 21"/>
          <p:cNvSpPr txBox="1"/>
          <p:nvPr/>
        </p:nvSpPr>
        <p:spPr>
          <a:xfrm>
            <a:off x="7936992" y="3246120"/>
            <a:ext cx="3547872" cy="457200"/>
          </a:xfrm>
          <a:prstGeom prst="rect">
            <a:avLst/>
          </a:prstGeom>
          <a:noFill/>
          <a:ln/>
        </p:spPr>
        <p:txBody>
          <a:bodyPr wrap="square" lIns="0" tIns="0" rIns="0" bIns="0" rtlCol="0" anchor="t"/>
          <a:lstStyle/>
          <a:p>
            <a:pPr marL="0" indent="0" algn="ctr">
              <a:buNone/>
            </a:pPr>
            <a:r>
              <a:rPr lang="en-US" sz="1200" i="1" dirty="0">
                <a:solidFill>
                  <a:srgbClr val="5A5347"/>
                </a:solidFill>
                <a:latin typeface="Cambria" pitchFamily="34" charset="0"/>
                <a:ea typeface="Cambria" pitchFamily="34" charset="-122"/>
                <a:cs typeface="Cambria" pitchFamily="34" charset="-120"/>
              </a:rPr>
              <a:t>Over 5 Operating Years</a:t>
            </a:r>
            <a:endParaRPr lang="en-US" sz="1200" dirty="0"/>
          </a:p>
        </p:txBody>
      </p:sp>
      <p:sp>
        <p:nvSpPr>
          <p:cNvPr id="25" name="Shape 22"/>
          <p:cNvSpPr/>
          <p:nvPr/>
        </p:nvSpPr>
        <p:spPr>
          <a:xfrm>
            <a:off x="3566160" y="4114800"/>
            <a:ext cx="5056632" cy="2103120"/>
          </a:xfrm>
          <a:prstGeom prst="rect">
            <a:avLst/>
          </a:prstGeom>
          <a:solidFill>
            <a:srgbClr val="FBF4E4"/>
          </a:solidFill>
          <a:ln w="12700">
            <a:solidFill>
              <a:srgbClr val="C9B48F"/>
            </a:solidFill>
            <a:prstDash val="solid"/>
          </a:ln>
        </p:spPr>
        <p:txBody>
          <a:bodyPr/>
          <a:lstStyle/>
          <a:p>
            <a:endParaRPr lang="en-IN"/>
          </a:p>
        </p:txBody>
      </p:sp>
      <p:sp>
        <p:nvSpPr>
          <p:cNvPr id="26" name="Text 23"/>
          <p:cNvSpPr txBox="1"/>
          <p:nvPr/>
        </p:nvSpPr>
        <p:spPr>
          <a:xfrm>
            <a:off x="3767328" y="4251960"/>
            <a:ext cx="4654296"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EXCHANGER AVAILABILITY GAUGE</a:t>
            </a:r>
            <a:endParaRPr lang="en-US" sz="850" dirty="0"/>
          </a:p>
        </p:txBody>
      </p:sp>
      <p:sp>
        <p:nvSpPr>
          <p:cNvPr id="27" name="Shape 24"/>
          <p:cNvSpPr/>
          <p:nvPr/>
        </p:nvSpPr>
        <p:spPr>
          <a:xfrm>
            <a:off x="3767328" y="4498848"/>
            <a:ext cx="4654296" cy="0"/>
          </a:xfrm>
          <a:prstGeom prst="line">
            <a:avLst/>
          </a:prstGeom>
          <a:noFill/>
          <a:ln w="9525">
            <a:solidFill>
              <a:srgbClr val="C9B48F"/>
            </a:solidFill>
            <a:prstDash val="solid"/>
          </a:ln>
        </p:spPr>
        <p:txBody>
          <a:bodyPr/>
          <a:lstStyle/>
          <a:p>
            <a:endParaRPr lang="en-IN"/>
          </a:p>
        </p:txBody>
      </p:sp>
      <p:pic>
        <p:nvPicPr>
          <p:cNvPr id="28" name="Image 1" descr="s44_0"/>
          <p:cNvPicPr>
            <a:picLocks noChangeAspect="1"/>
          </p:cNvPicPr>
          <p:nvPr/>
        </p:nvPicPr>
        <p:blipFill>
          <a:blip r:embed="rId4"/>
          <a:stretch>
            <a:fillRect/>
          </a:stretch>
        </p:blipFill>
        <p:spPr>
          <a:xfrm>
            <a:off x="4858592" y="4590288"/>
            <a:ext cx="2471768" cy="1481328"/>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5">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9331" y="9331"/>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05 — AVAILABILITY FORECASTING</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Rotating Equipment: Centrifugal Pump Multi-Failure</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Sub-assembly interactions and cumulative asset risk trajectories.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51</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CENTRIFUGAL PUMP ANALYSIS — QRO P&amp;ID</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SUB-ASSEMBLY FAILURE MECHANISMS</a:t>
            </a:r>
            <a:endParaRPr lang="en-US" sz="950" dirty="0"/>
          </a:p>
        </p:txBody>
      </p:sp>
      <p:sp>
        <p:nvSpPr>
          <p:cNvPr id="19" name="Shape 15"/>
          <p:cNvSpPr/>
          <p:nvPr/>
        </p:nvSpPr>
        <p:spPr>
          <a:xfrm>
            <a:off x="6949440" y="2395728"/>
            <a:ext cx="128016" cy="640080"/>
          </a:xfrm>
          <a:prstGeom prst="rect">
            <a:avLst/>
          </a:prstGeom>
          <a:solidFill>
            <a:srgbClr val="7A1F1A"/>
          </a:solidFill>
          <a:ln w="12700">
            <a:solidFill>
              <a:srgbClr val="333333"/>
            </a:solidFill>
            <a:prstDash val="solid"/>
          </a:ln>
        </p:spPr>
        <p:txBody>
          <a:bodyPr/>
          <a:lstStyle/>
          <a:p>
            <a:endParaRPr lang="en-IN"/>
          </a:p>
        </p:txBody>
      </p:sp>
      <p:sp>
        <p:nvSpPr>
          <p:cNvPr id="20" name="Text 16"/>
          <p:cNvSpPr txBox="1"/>
          <p:nvPr/>
        </p:nvSpPr>
        <p:spPr>
          <a:xfrm>
            <a:off x="7223760" y="2377440"/>
            <a:ext cx="4206240" cy="292608"/>
          </a:xfrm>
          <a:prstGeom prst="rect">
            <a:avLst/>
          </a:prstGeom>
          <a:noFill/>
          <a:ln/>
        </p:spPr>
        <p:txBody>
          <a:bodyPr wrap="square" lIns="0" tIns="0" rIns="0" bIns="0" rtlCol="0" anchor="t"/>
          <a:lstStyle/>
          <a:p>
            <a:pPr marL="0" indent="0">
              <a:buNone/>
            </a:pPr>
            <a:r>
              <a:rPr lang="en-US" sz="1400" b="1" dirty="0">
                <a:solidFill>
                  <a:srgbClr val="7A1F1A"/>
                </a:solidFill>
                <a:latin typeface="Cambria" pitchFamily="34" charset="0"/>
                <a:ea typeface="Cambria" pitchFamily="34" charset="-122"/>
                <a:cs typeface="Cambria" pitchFamily="34" charset="-120"/>
              </a:rPr>
              <a:t>Mechanical Seals</a:t>
            </a:r>
            <a:endParaRPr lang="en-US" sz="1400" dirty="0"/>
          </a:p>
        </p:txBody>
      </p:sp>
      <p:sp>
        <p:nvSpPr>
          <p:cNvPr id="21" name="Text 17"/>
          <p:cNvSpPr txBox="1"/>
          <p:nvPr/>
        </p:nvSpPr>
        <p:spPr>
          <a:xfrm>
            <a:off x="7223760" y="2670048"/>
            <a:ext cx="4206240" cy="5486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Face wear, flush contamination, and dry-run trips.</a:t>
            </a:r>
            <a:endParaRPr lang="en-US" sz="1250" dirty="0"/>
          </a:p>
        </p:txBody>
      </p:sp>
      <p:sp>
        <p:nvSpPr>
          <p:cNvPr id="22" name="Shape 18"/>
          <p:cNvSpPr/>
          <p:nvPr/>
        </p:nvSpPr>
        <p:spPr>
          <a:xfrm>
            <a:off x="6949440" y="3328416"/>
            <a:ext cx="128016" cy="640080"/>
          </a:xfrm>
          <a:prstGeom prst="rect">
            <a:avLst/>
          </a:prstGeom>
          <a:solidFill>
            <a:srgbClr val="9A6A12"/>
          </a:solidFill>
          <a:ln w="12700">
            <a:solidFill>
              <a:srgbClr val="333333"/>
            </a:solidFill>
            <a:prstDash val="solid"/>
          </a:ln>
        </p:spPr>
        <p:txBody>
          <a:bodyPr/>
          <a:lstStyle/>
          <a:p>
            <a:endParaRPr lang="en-IN"/>
          </a:p>
        </p:txBody>
      </p:sp>
      <p:sp>
        <p:nvSpPr>
          <p:cNvPr id="23" name="Text 19"/>
          <p:cNvSpPr txBox="1"/>
          <p:nvPr/>
        </p:nvSpPr>
        <p:spPr>
          <a:xfrm>
            <a:off x="7223760" y="3310128"/>
            <a:ext cx="4206240" cy="292608"/>
          </a:xfrm>
          <a:prstGeom prst="rect">
            <a:avLst/>
          </a:prstGeom>
          <a:noFill/>
          <a:ln/>
        </p:spPr>
        <p:txBody>
          <a:bodyPr wrap="square" lIns="0" tIns="0" rIns="0" bIns="0" rtlCol="0" anchor="t"/>
          <a:lstStyle/>
          <a:p>
            <a:pPr marL="0" indent="0">
              <a:buNone/>
            </a:pPr>
            <a:r>
              <a:rPr lang="en-US" sz="1400" b="1" dirty="0">
                <a:solidFill>
                  <a:srgbClr val="9A6A12"/>
                </a:solidFill>
                <a:latin typeface="Cambria" pitchFamily="34" charset="0"/>
                <a:ea typeface="Cambria" pitchFamily="34" charset="-122"/>
                <a:cs typeface="Cambria" pitchFamily="34" charset="-120"/>
              </a:rPr>
              <a:t>Radial &amp; Thrust Bearings</a:t>
            </a:r>
            <a:endParaRPr lang="en-US" sz="1400" dirty="0"/>
          </a:p>
        </p:txBody>
      </p:sp>
      <p:sp>
        <p:nvSpPr>
          <p:cNvPr id="24" name="Text 20"/>
          <p:cNvSpPr txBox="1"/>
          <p:nvPr/>
        </p:nvSpPr>
        <p:spPr>
          <a:xfrm>
            <a:off x="7223760" y="3602736"/>
            <a:ext cx="4206240" cy="5486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Fatigue spalling and lubrication breakdown.</a:t>
            </a:r>
            <a:endParaRPr lang="en-US" sz="1250" dirty="0"/>
          </a:p>
        </p:txBody>
      </p:sp>
      <p:sp>
        <p:nvSpPr>
          <p:cNvPr id="25" name="Shape 21"/>
          <p:cNvSpPr/>
          <p:nvPr/>
        </p:nvSpPr>
        <p:spPr>
          <a:xfrm>
            <a:off x="6949440" y="4261104"/>
            <a:ext cx="128016" cy="640080"/>
          </a:xfrm>
          <a:prstGeom prst="rect">
            <a:avLst/>
          </a:prstGeom>
          <a:solidFill>
            <a:srgbClr val="1A4A6E"/>
          </a:solidFill>
          <a:ln w="12700">
            <a:solidFill>
              <a:srgbClr val="333333"/>
            </a:solidFill>
            <a:prstDash val="solid"/>
          </a:ln>
        </p:spPr>
        <p:txBody>
          <a:bodyPr/>
          <a:lstStyle/>
          <a:p>
            <a:endParaRPr lang="en-IN"/>
          </a:p>
        </p:txBody>
      </p:sp>
      <p:sp>
        <p:nvSpPr>
          <p:cNvPr id="26" name="Text 22"/>
          <p:cNvSpPr txBox="1"/>
          <p:nvPr/>
        </p:nvSpPr>
        <p:spPr>
          <a:xfrm>
            <a:off x="7223760" y="4242816"/>
            <a:ext cx="4206240" cy="292608"/>
          </a:xfrm>
          <a:prstGeom prst="rect">
            <a:avLst/>
          </a:prstGeom>
          <a:noFill/>
          <a:ln/>
        </p:spPr>
        <p:txBody>
          <a:bodyPr wrap="square" lIns="0" tIns="0" rIns="0" bIns="0" rtlCol="0" anchor="t"/>
          <a:lstStyle/>
          <a:p>
            <a:pPr marL="0" indent="0">
              <a:buNone/>
            </a:pPr>
            <a:r>
              <a:rPr lang="en-US" sz="1400" b="1" dirty="0">
                <a:solidFill>
                  <a:srgbClr val="1A4A6E"/>
                </a:solidFill>
                <a:latin typeface="Cambria" pitchFamily="34" charset="0"/>
                <a:ea typeface="Cambria" pitchFamily="34" charset="-122"/>
                <a:cs typeface="Cambria" pitchFamily="34" charset="-120"/>
              </a:rPr>
              <a:t>Impeller &amp; Wear Rings</a:t>
            </a:r>
            <a:endParaRPr lang="en-US" sz="1400" dirty="0"/>
          </a:p>
        </p:txBody>
      </p:sp>
      <p:sp>
        <p:nvSpPr>
          <p:cNvPr id="27" name="Text 23"/>
          <p:cNvSpPr txBox="1"/>
          <p:nvPr/>
        </p:nvSpPr>
        <p:spPr>
          <a:xfrm>
            <a:off x="7223760" y="4535424"/>
            <a:ext cx="4206240" cy="5486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Erosive slurry thinning and cavitation pitting.</a:t>
            </a:r>
            <a:endParaRPr lang="en-US" sz="1250" dirty="0"/>
          </a:p>
        </p:txBody>
      </p:sp>
      <p:sp>
        <p:nvSpPr>
          <p:cNvPr id="28" name="Shape 24"/>
          <p:cNvSpPr/>
          <p:nvPr/>
        </p:nvSpPr>
        <p:spPr>
          <a:xfrm>
            <a:off x="6949440" y="5193792"/>
            <a:ext cx="128016" cy="640080"/>
          </a:xfrm>
          <a:prstGeom prst="rect">
            <a:avLst/>
          </a:prstGeom>
          <a:solidFill>
            <a:srgbClr val="2F6B3A"/>
          </a:solidFill>
          <a:ln w="12700">
            <a:solidFill>
              <a:srgbClr val="333333"/>
            </a:solidFill>
            <a:prstDash val="solid"/>
          </a:ln>
        </p:spPr>
        <p:txBody>
          <a:bodyPr/>
          <a:lstStyle/>
          <a:p>
            <a:endParaRPr lang="en-IN"/>
          </a:p>
        </p:txBody>
      </p:sp>
      <p:sp>
        <p:nvSpPr>
          <p:cNvPr id="29" name="Text 25"/>
          <p:cNvSpPr txBox="1"/>
          <p:nvPr/>
        </p:nvSpPr>
        <p:spPr>
          <a:xfrm>
            <a:off x="7223760" y="5175504"/>
            <a:ext cx="4206240" cy="292608"/>
          </a:xfrm>
          <a:prstGeom prst="rect">
            <a:avLst/>
          </a:prstGeom>
          <a:noFill/>
          <a:ln/>
        </p:spPr>
        <p:txBody>
          <a:bodyPr wrap="square" lIns="0" tIns="0" rIns="0" bIns="0" rtlCol="0" anchor="t"/>
          <a:lstStyle/>
          <a:p>
            <a:pPr marL="0" indent="0">
              <a:buNone/>
            </a:pPr>
            <a:r>
              <a:rPr lang="en-US" sz="1400" b="1" dirty="0">
                <a:solidFill>
                  <a:srgbClr val="2F6B3A"/>
                </a:solidFill>
                <a:latin typeface="Cambria" pitchFamily="34" charset="0"/>
                <a:ea typeface="Cambria" pitchFamily="34" charset="-122"/>
                <a:cs typeface="Cambria" pitchFamily="34" charset="-120"/>
              </a:rPr>
              <a:t>Casing &amp; Flanges</a:t>
            </a:r>
            <a:endParaRPr lang="en-US" sz="1400" dirty="0"/>
          </a:p>
        </p:txBody>
      </p:sp>
      <p:sp>
        <p:nvSpPr>
          <p:cNvPr id="30" name="Text 26"/>
          <p:cNvSpPr txBox="1"/>
          <p:nvPr/>
        </p:nvSpPr>
        <p:spPr>
          <a:xfrm>
            <a:off x="7223760" y="5468112"/>
            <a:ext cx="4206240" cy="5486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High consequence of failure due to catastrophic loss of containment.</a:t>
            </a:r>
            <a:endParaRPr lang="en-US" sz="1250" dirty="0"/>
          </a:p>
        </p:txBody>
      </p:sp>
      <p:pic>
        <p:nvPicPr>
          <p:cNvPr id="31" name="Picture 30" descr="centrifugal_pid_cleaned.png"/>
          <p:cNvPicPr>
            <a:picLocks noChangeAspect="1"/>
          </p:cNvPicPr>
          <p:nvPr/>
        </p:nvPicPr>
        <p:blipFill>
          <a:blip r:embed="rId4"/>
          <a:stretch>
            <a:fillRect/>
          </a:stretch>
        </p:blipFill>
        <p:spPr>
          <a:xfrm>
            <a:off x="720840" y="2233192"/>
            <a:ext cx="5817120" cy="3900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05 — AVAILABILITY FORECASTING</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Centrifugal Pump: Cumulative Risk &amp; Availability Trajectory</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Multi-component reliability synthesis across mechanical seals, bearings, and impellers.</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52</a:t>
            </a:r>
            <a:r>
              <a:rPr sz="900">
                <a:solidFill>
                  <a:srgbClr val="8A8477"/>
                </a:solidFill>
                <a:latin typeface="Courier New"/>
              </a:rPr>
              <a:t> / 80</a:t>
            </a:r>
          </a:p>
        </p:txBody>
      </p:sp>
      <p:sp>
        <p:nvSpPr>
          <p:cNvPr id="13" name="Rectangle 12"/>
          <p:cNvSpPr/>
          <p:nvPr/>
        </p:nvSpPr>
        <p:spPr>
          <a:xfrm>
            <a:off x="548640" y="1783080"/>
            <a:ext cx="11091672" cy="100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wrap="square" lIns="228600" tIns="109728" rtlCol="0" anchor="ctr"/>
          <a:lstStyle/>
          <a:p>
            <a:pPr algn="just">
              <a:defRPr sz="1250" b="1">
                <a:solidFill>
                  <a:srgbClr val="7A1F1A"/>
                </a:solidFill>
                <a:latin typeface="Cambria"/>
              </a:defRPr>
            </a:pPr>
            <a:r>
              <a:rPr dirty="0"/>
              <a:t>Rotating Equipment Availability Synthesis: </a:t>
            </a:r>
            <a:r>
              <a:rPr b="0" dirty="0">
                <a:solidFill>
                  <a:srgbClr val="1C1712"/>
                </a:solidFill>
              </a:rPr>
              <a:t>Dynamic risk curves combine mechanical seal face wear, bearing fatigue spalling, and casing loss-of-containment into an integrated plant availability model with verified financial threshold dates.</a:t>
            </a:r>
          </a:p>
        </p:txBody>
      </p:sp>
      <p:sp>
        <p:nvSpPr>
          <p:cNvPr id="14" name="Rectangle 13"/>
          <p:cNvSpPr/>
          <p:nvPr/>
        </p:nvSpPr>
        <p:spPr>
          <a:xfrm>
            <a:off x="548640" y="2900000"/>
            <a:ext cx="5450000" cy="335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8640" y="2970000"/>
            <a:ext cx="5170000" cy="220000"/>
          </a:xfrm>
          <a:prstGeom prst="rect">
            <a:avLst/>
          </a:prstGeom>
          <a:noFill/>
        </p:spPr>
        <p:txBody>
          <a:bodyPr wrap="none" lIns="0" tIns="0">
            <a:spAutoFit/>
          </a:bodyPr>
          <a:lstStyle/>
          <a:p>
            <a:pPr>
              <a:defRPr sz="850" b="1">
                <a:solidFill>
                  <a:srgbClr val="7A1F1A"/>
                </a:solidFill>
                <a:latin typeface="Courier New"/>
              </a:defRPr>
            </a:pPr>
            <a:r>
              <a:t>FIG · CENTRIFUGAL PUMP ASSET RISK OVER TIME</a:t>
            </a:r>
          </a:p>
        </p:txBody>
      </p:sp>
      <p:sp>
        <p:nvSpPr>
          <p:cNvPr id="16" name="Rectangle 15"/>
          <p:cNvSpPr/>
          <p:nvPr/>
        </p:nvSpPr>
        <p:spPr>
          <a:xfrm>
            <a:off x="688640" y="3200000"/>
            <a:ext cx="517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pump_risk_over_time.png"/>
          <p:cNvPicPr>
            <a:picLocks noChangeAspect="1"/>
          </p:cNvPicPr>
          <p:nvPr/>
        </p:nvPicPr>
        <p:blipFill>
          <a:blip r:embed="rId3"/>
          <a:stretch>
            <a:fillRect/>
          </a:stretch>
        </p:blipFill>
        <p:spPr>
          <a:xfrm>
            <a:off x="650000" y="3260000"/>
            <a:ext cx="5250000" cy="2910000"/>
          </a:xfrm>
          <a:prstGeom prst="rect">
            <a:avLst/>
          </a:prstGeom>
        </p:spPr>
      </p:pic>
      <p:sp>
        <p:nvSpPr>
          <p:cNvPr id="18" name="Rectangle 17"/>
          <p:cNvSpPr/>
          <p:nvPr/>
        </p:nvSpPr>
        <p:spPr>
          <a:xfrm>
            <a:off x="6190312" y="2900000"/>
            <a:ext cx="5450000" cy="335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0312" y="2970000"/>
            <a:ext cx="5170000" cy="220000"/>
          </a:xfrm>
          <a:prstGeom prst="rect">
            <a:avLst/>
          </a:prstGeom>
          <a:noFill/>
        </p:spPr>
        <p:txBody>
          <a:bodyPr wrap="none" lIns="0" tIns="0">
            <a:spAutoFit/>
          </a:bodyPr>
          <a:lstStyle/>
          <a:p>
            <a:pPr>
              <a:defRPr sz="850" b="1">
                <a:solidFill>
                  <a:srgbClr val="7A1F1A"/>
                </a:solidFill>
                <a:latin typeface="Courier New"/>
              </a:defRPr>
            </a:pPr>
            <a:r>
              <a:t>FIG · CENTRIFUGAL PUMP ASSET AVAILABILITY OVER TIME &amp; RESULTS</a:t>
            </a:r>
          </a:p>
        </p:txBody>
      </p:sp>
      <p:sp>
        <p:nvSpPr>
          <p:cNvPr id="20" name="Rectangle 19"/>
          <p:cNvSpPr/>
          <p:nvPr/>
        </p:nvSpPr>
        <p:spPr>
          <a:xfrm>
            <a:off x="6330312" y="3200000"/>
            <a:ext cx="517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pump_avail_results.png"/>
          <p:cNvPicPr>
            <a:picLocks noChangeAspect="1"/>
          </p:cNvPicPr>
          <p:nvPr/>
        </p:nvPicPr>
        <p:blipFill>
          <a:blip r:embed="rId4"/>
          <a:stretch>
            <a:fillRect/>
          </a:stretch>
        </p:blipFill>
        <p:spPr>
          <a:xfrm>
            <a:off x="6290312" y="3260000"/>
            <a:ext cx="5250000" cy="2910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6">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05 — AVAILABILITY FORECASTING</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Asset Risk Analysis: 6 Core Deliverables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operational outputs generated by an Asset Risk Analysis project.</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53</a:t>
            </a:r>
            <a:r>
              <a:rPr sz="900">
                <a:solidFill>
                  <a:srgbClr val="8A8477"/>
                </a:solidFill>
                <a:latin typeface="Courier New"/>
              </a:rPr>
              <a:t> / 80</a:t>
            </a:r>
            <a:endParaRPr lang="en-US" sz="900" dirty="0"/>
          </a:p>
        </p:txBody>
      </p:sp>
      <p:sp>
        <p:nvSpPr>
          <p:cNvPr id="13" name="Shape 10"/>
          <p:cNvSpPr/>
          <p:nvPr/>
        </p:nvSpPr>
        <p:spPr>
          <a:xfrm>
            <a:off x="548640" y="1783080"/>
            <a:ext cx="3547872" cy="2103120"/>
          </a:xfrm>
          <a:prstGeom prst="rect">
            <a:avLst/>
          </a:prstGeom>
          <a:solidFill>
            <a:srgbClr val="FBF4E4"/>
          </a:solidFill>
          <a:ln w="12700">
            <a:solidFill>
              <a:srgbClr val="C9B48F"/>
            </a:solidFill>
            <a:prstDash val="solid"/>
          </a:ln>
        </p:spPr>
        <p:txBody>
          <a:bodyPr/>
          <a:lstStyle/>
          <a:p>
            <a:endParaRPr lang="en-IN"/>
          </a:p>
        </p:txBody>
      </p:sp>
      <p:sp>
        <p:nvSpPr>
          <p:cNvPr id="14" name="Shape 11"/>
          <p:cNvSpPr/>
          <p:nvPr/>
        </p:nvSpPr>
        <p:spPr>
          <a:xfrm>
            <a:off x="804672" y="2039112"/>
            <a:ext cx="566928" cy="566928"/>
          </a:xfrm>
          <a:prstGeom prst="ellipse">
            <a:avLst/>
          </a:prstGeom>
          <a:solidFill>
            <a:srgbClr val="EFDCCF"/>
          </a:solidFill>
          <a:ln w="15875">
            <a:solidFill>
              <a:srgbClr val="7A1F1A"/>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946404" y="2180844"/>
            <a:ext cx="283464" cy="283464"/>
          </a:xfrm>
          <a:prstGeom prst="rect">
            <a:avLst/>
          </a:prstGeom>
        </p:spPr>
      </p:pic>
      <p:sp>
        <p:nvSpPr>
          <p:cNvPr id="16" name="Text 12"/>
          <p:cNvSpPr txBox="1"/>
          <p:nvPr/>
        </p:nvSpPr>
        <p:spPr>
          <a:xfrm>
            <a:off x="804672" y="2743200"/>
            <a:ext cx="3035808" cy="365760"/>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1. Availability %</a:t>
            </a:r>
            <a:endParaRPr lang="en-US" sz="1600" dirty="0"/>
          </a:p>
        </p:txBody>
      </p:sp>
      <p:sp>
        <p:nvSpPr>
          <p:cNvPr id="17" name="Text 13"/>
          <p:cNvSpPr txBox="1"/>
          <p:nvPr/>
        </p:nvSpPr>
        <p:spPr>
          <a:xfrm>
            <a:off x="804672" y="3108960"/>
            <a:ext cx="3035808" cy="68580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Predicts exact system uptime across 1, 3, and 5-year horizons.</a:t>
            </a:r>
            <a:endParaRPr lang="en-US" sz="1250" dirty="0"/>
          </a:p>
        </p:txBody>
      </p:sp>
      <p:sp>
        <p:nvSpPr>
          <p:cNvPr id="18" name="Shape 14"/>
          <p:cNvSpPr/>
          <p:nvPr/>
        </p:nvSpPr>
        <p:spPr>
          <a:xfrm>
            <a:off x="4320540" y="1783080"/>
            <a:ext cx="3547872" cy="2103120"/>
          </a:xfrm>
          <a:prstGeom prst="rect">
            <a:avLst/>
          </a:prstGeom>
          <a:solidFill>
            <a:srgbClr val="FBF4E4"/>
          </a:solidFill>
          <a:ln w="12700">
            <a:solidFill>
              <a:srgbClr val="C9B48F"/>
            </a:solidFill>
            <a:prstDash val="solid"/>
          </a:ln>
        </p:spPr>
        <p:txBody>
          <a:bodyPr/>
          <a:lstStyle/>
          <a:p>
            <a:endParaRPr lang="en-IN"/>
          </a:p>
        </p:txBody>
      </p:sp>
      <p:sp>
        <p:nvSpPr>
          <p:cNvPr id="19" name="Shape 15"/>
          <p:cNvSpPr/>
          <p:nvPr/>
        </p:nvSpPr>
        <p:spPr>
          <a:xfrm>
            <a:off x="4576572" y="2039112"/>
            <a:ext cx="566928" cy="566928"/>
          </a:xfrm>
          <a:prstGeom prst="ellipse">
            <a:avLst/>
          </a:prstGeom>
          <a:solidFill>
            <a:srgbClr val="DCE6EC"/>
          </a:solidFill>
          <a:ln w="15875">
            <a:solidFill>
              <a:srgbClr val="1A4A6E"/>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4718304" y="2180844"/>
            <a:ext cx="283464" cy="283464"/>
          </a:xfrm>
          <a:prstGeom prst="rect">
            <a:avLst/>
          </a:prstGeom>
        </p:spPr>
      </p:pic>
      <p:sp>
        <p:nvSpPr>
          <p:cNvPr id="21" name="Text 16"/>
          <p:cNvSpPr txBox="1"/>
          <p:nvPr/>
        </p:nvSpPr>
        <p:spPr>
          <a:xfrm>
            <a:off x="4576572" y="2743200"/>
            <a:ext cx="3035808" cy="365760"/>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2. Predicted Failures</a:t>
            </a:r>
            <a:endParaRPr lang="en-US" sz="1600" dirty="0"/>
          </a:p>
        </p:txBody>
      </p:sp>
      <p:sp>
        <p:nvSpPr>
          <p:cNvPr id="22" name="Text 17"/>
          <p:cNvSpPr txBox="1"/>
          <p:nvPr/>
        </p:nvSpPr>
        <p:spPr>
          <a:xfrm>
            <a:off x="4576572" y="3108960"/>
            <a:ext cx="3035808" cy="68580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Generates integer count of expected equipment trip events.</a:t>
            </a:r>
            <a:endParaRPr lang="en-US" sz="1250" dirty="0"/>
          </a:p>
        </p:txBody>
      </p:sp>
      <p:sp>
        <p:nvSpPr>
          <p:cNvPr id="23" name="Shape 18"/>
          <p:cNvSpPr/>
          <p:nvPr/>
        </p:nvSpPr>
        <p:spPr>
          <a:xfrm>
            <a:off x="8092440" y="1783080"/>
            <a:ext cx="3547872" cy="2103120"/>
          </a:xfrm>
          <a:prstGeom prst="rect">
            <a:avLst/>
          </a:prstGeom>
          <a:solidFill>
            <a:srgbClr val="FBF4E4"/>
          </a:solidFill>
          <a:ln w="12700">
            <a:solidFill>
              <a:srgbClr val="C9B48F"/>
            </a:solidFill>
            <a:prstDash val="solid"/>
          </a:ln>
        </p:spPr>
        <p:txBody>
          <a:bodyPr/>
          <a:lstStyle/>
          <a:p>
            <a:endParaRPr lang="en-IN"/>
          </a:p>
        </p:txBody>
      </p:sp>
      <p:sp>
        <p:nvSpPr>
          <p:cNvPr id="24" name="Shape 19"/>
          <p:cNvSpPr/>
          <p:nvPr/>
        </p:nvSpPr>
        <p:spPr>
          <a:xfrm>
            <a:off x="8348472" y="2039112"/>
            <a:ext cx="566928" cy="566928"/>
          </a:xfrm>
          <a:prstGeom prst="ellipse">
            <a:avLst/>
          </a:prstGeom>
          <a:solidFill>
            <a:srgbClr val="EDE2C4"/>
          </a:solidFill>
          <a:ln w="15875">
            <a:solidFill>
              <a:srgbClr val="9A6A12"/>
            </a:solidFill>
            <a:prstDash val="solid"/>
          </a:ln>
        </p:spPr>
        <p:txBody>
          <a:bodyPr/>
          <a:lstStyle/>
          <a:p>
            <a:endParaRPr lang="en-IN"/>
          </a:p>
        </p:txBody>
      </p:sp>
      <p:pic>
        <p:nvPicPr>
          <p:cNvPr id="25" name="Image 3" descr="preencoded.png"/>
          <p:cNvPicPr>
            <a:picLocks noChangeAspect="1"/>
          </p:cNvPicPr>
          <p:nvPr/>
        </p:nvPicPr>
        <p:blipFill>
          <a:blip r:embed="rId6"/>
          <a:stretch>
            <a:fillRect/>
          </a:stretch>
        </p:blipFill>
        <p:spPr>
          <a:xfrm>
            <a:off x="8490204" y="2180844"/>
            <a:ext cx="283464" cy="283464"/>
          </a:xfrm>
          <a:prstGeom prst="rect">
            <a:avLst/>
          </a:prstGeom>
        </p:spPr>
      </p:pic>
      <p:sp>
        <p:nvSpPr>
          <p:cNvPr id="26" name="Text 20"/>
          <p:cNvSpPr txBox="1"/>
          <p:nvPr/>
        </p:nvSpPr>
        <p:spPr>
          <a:xfrm>
            <a:off x="8348472" y="2743200"/>
            <a:ext cx="3035808" cy="365760"/>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3. Planned vs Unplanned</a:t>
            </a:r>
            <a:endParaRPr lang="en-US" sz="1600" dirty="0"/>
          </a:p>
        </p:txBody>
      </p:sp>
      <p:sp>
        <p:nvSpPr>
          <p:cNvPr id="27" name="Text 21"/>
          <p:cNvSpPr txBox="1"/>
          <p:nvPr/>
        </p:nvSpPr>
        <p:spPr>
          <a:xfrm>
            <a:off x="8348472" y="3108960"/>
            <a:ext cx="3035808" cy="68580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Itemizes planned PM outage hours vs. emergency trip downtime.</a:t>
            </a:r>
            <a:endParaRPr lang="en-US" sz="1250" dirty="0"/>
          </a:p>
        </p:txBody>
      </p:sp>
      <p:sp>
        <p:nvSpPr>
          <p:cNvPr id="28" name="Shape 22"/>
          <p:cNvSpPr/>
          <p:nvPr/>
        </p:nvSpPr>
        <p:spPr>
          <a:xfrm>
            <a:off x="548640" y="4069080"/>
            <a:ext cx="3547872" cy="2103120"/>
          </a:xfrm>
          <a:prstGeom prst="rect">
            <a:avLst/>
          </a:prstGeom>
          <a:solidFill>
            <a:srgbClr val="FBF4E4"/>
          </a:solidFill>
          <a:ln w="12700">
            <a:solidFill>
              <a:srgbClr val="C9B48F"/>
            </a:solidFill>
            <a:prstDash val="solid"/>
          </a:ln>
        </p:spPr>
        <p:txBody>
          <a:bodyPr/>
          <a:lstStyle/>
          <a:p>
            <a:endParaRPr lang="en-IN"/>
          </a:p>
        </p:txBody>
      </p:sp>
      <p:sp>
        <p:nvSpPr>
          <p:cNvPr id="29" name="Shape 23"/>
          <p:cNvSpPr/>
          <p:nvPr/>
        </p:nvSpPr>
        <p:spPr>
          <a:xfrm>
            <a:off x="804672" y="4325112"/>
            <a:ext cx="566928" cy="566928"/>
          </a:xfrm>
          <a:prstGeom prst="ellipse">
            <a:avLst/>
          </a:prstGeom>
          <a:solidFill>
            <a:srgbClr val="DDE7D6"/>
          </a:solidFill>
          <a:ln w="15875">
            <a:solidFill>
              <a:srgbClr val="2F6B3A"/>
            </a:solidFill>
            <a:prstDash val="solid"/>
          </a:ln>
        </p:spPr>
        <p:txBody>
          <a:bodyPr/>
          <a:lstStyle/>
          <a:p>
            <a:endParaRPr lang="en-IN"/>
          </a:p>
        </p:txBody>
      </p:sp>
      <p:pic>
        <p:nvPicPr>
          <p:cNvPr id="30" name="Image 4" descr="preencoded.png"/>
          <p:cNvPicPr>
            <a:picLocks noChangeAspect="1"/>
          </p:cNvPicPr>
          <p:nvPr/>
        </p:nvPicPr>
        <p:blipFill>
          <a:blip r:embed="rId7"/>
          <a:stretch>
            <a:fillRect/>
          </a:stretch>
        </p:blipFill>
        <p:spPr>
          <a:xfrm>
            <a:off x="946404" y="4466844"/>
            <a:ext cx="283464" cy="283464"/>
          </a:xfrm>
          <a:prstGeom prst="rect">
            <a:avLst/>
          </a:prstGeom>
        </p:spPr>
      </p:pic>
      <p:sp>
        <p:nvSpPr>
          <p:cNvPr id="31" name="Text 24"/>
          <p:cNvSpPr txBox="1"/>
          <p:nvPr/>
        </p:nvSpPr>
        <p:spPr>
          <a:xfrm>
            <a:off x="804672" y="5029200"/>
            <a:ext cx="3035808" cy="365760"/>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4. Risk Breach Dates</a:t>
            </a:r>
            <a:endParaRPr lang="en-US" sz="1600" dirty="0"/>
          </a:p>
        </p:txBody>
      </p:sp>
      <p:sp>
        <p:nvSpPr>
          <p:cNvPr id="32" name="Text 25"/>
          <p:cNvSpPr txBox="1"/>
          <p:nvPr/>
        </p:nvSpPr>
        <p:spPr>
          <a:xfrm>
            <a:off x="804672" y="5394960"/>
            <a:ext cx="3035808" cy="68580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Identifies calendar dates when risk breaches corporate thresholds.</a:t>
            </a:r>
            <a:endParaRPr lang="en-US" sz="1250" dirty="0"/>
          </a:p>
        </p:txBody>
      </p:sp>
      <p:sp>
        <p:nvSpPr>
          <p:cNvPr id="33" name="Shape 26"/>
          <p:cNvSpPr/>
          <p:nvPr/>
        </p:nvSpPr>
        <p:spPr>
          <a:xfrm>
            <a:off x="4320540" y="4069080"/>
            <a:ext cx="3547872" cy="2103120"/>
          </a:xfrm>
          <a:prstGeom prst="rect">
            <a:avLst/>
          </a:prstGeom>
          <a:solidFill>
            <a:srgbClr val="FBF4E4"/>
          </a:solidFill>
          <a:ln w="12700">
            <a:solidFill>
              <a:srgbClr val="C9B48F"/>
            </a:solidFill>
            <a:prstDash val="solid"/>
          </a:ln>
        </p:spPr>
        <p:txBody>
          <a:bodyPr/>
          <a:lstStyle/>
          <a:p>
            <a:endParaRPr lang="en-IN"/>
          </a:p>
        </p:txBody>
      </p:sp>
      <p:sp>
        <p:nvSpPr>
          <p:cNvPr id="34" name="Shape 27"/>
          <p:cNvSpPr/>
          <p:nvPr/>
        </p:nvSpPr>
        <p:spPr>
          <a:xfrm>
            <a:off x="4576572" y="4325112"/>
            <a:ext cx="566928" cy="566928"/>
          </a:xfrm>
          <a:prstGeom prst="ellipse">
            <a:avLst/>
          </a:prstGeom>
          <a:solidFill>
            <a:srgbClr val="EFDCCF"/>
          </a:solidFill>
          <a:ln w="15875">
            <a:solidFill>
              <a:srgbClr val="7A1F1A"/>
            </a:solidFill>
            <a:prstDash val="solid"/>
          </a:ln>
        </p:spPr>
        <p:txBody>
          <a:bodyPr/>
          <a:lstStyle/>
          <a:p>
            <a:endParaRPr lang="en-IN"/>
          </a:p>
        </p:txBody>
      </p:sp>
      <p:pic>
        <p:nvPicPr>
          <p:cNvPr id="35" name="Image 5" descr="preencoded.png"/>
          <p:cNvPicPr>
            <a:picLocks noChangeAspect="1"/>
          </p:cNvPicPr>
          <p:nvPr/>
        </p:nvPicPr>
        <p:blipFill>
          <a:blip r:embed="rId8"/>
          <a:stretch>
            <a:fillRect/>
          </a:stretch>
        </p:blipFill>
        <p:spPr>
          <a:xfrm>
            <a:off x="4718304" y="4466844"/>
            <a:ext cx="283464" cy="283464"/>
          </a:xfrm>
          <a:prstGeom prst="rect">
            <a:avLst/>
          </a:prstGeom>
        </p:spPr>
      </p:pic>
      <p:sp>
        <p:nvSpPr>
          <p:cNvPr id="36" name="Text 28"/>
          <p:cNvSpPr txBox="1"/>
          <p:nvPr/>
        </p:nvSpPr>
        <p:spPr>
          <a:xfrm>
            <a:off x="4576572" y="5029200"/>
            <a:ext cx="3035808" cy="365760"/>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5. Maintenance Spend</a:t>
            </a:r>
            <a:endParaRPr lang="en-US" sz="1600" dirty="0"/>
          </a:p>
        </p:txBody>
      </p:sp>
      <p:sp>
        <p:nvSpPr>
          <p:cNvPr id="37" name="Text 29"/>
          <p:cNvSpPr txBox="1"/>
          <p:nvPr/>
        </p:nvSpPr>
        <p:spPr>
          <a:xfrm>
            <a:off x="4576572" y="5394960"/>
            <a:ext cx="3035808" cy="68580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Forecasts itemized budgets for labor, parts, and scaffolding.</a:t>
            </a:r>
            <a:endParaRPr lang="en-US" sz="1250" dirty="0"/>
          </a:p>
        </p:txBody>
      </p:sp>
      <p:sp>
        <p:nvSpPr>
          <p:cNvPr id="38" name="Shape 30"/>
          <p:cNvSpPr/>
          <p:nvPr/>
        </p:nvSpPr>
        <p:spPr>
          <a:xfrm>
            <a:off x="8092440" y="4069080"/>
            <a:ext cx="3547872" cy="2103120"/>
          </a:xfrm>
          <a:prstGeom prst="rect">
            <a:avLst/>
          </a:prstGeom>
          <a:solidFill>
            <a:srgbClr val="FBF4E4"/>
          </a:solidFill>
          <a:ln w="12700">
            <a:solidFill>
              <a:srgbClr val="C9B48F"/>
            </a:solidFill>
            <a:prstDash val="solid"/>
          </a:ln>
        </p:spPr>
        <p:txBody>
          <a:bodyPr/>
          <a:lstStyle/>
          <a:p>
            <a:endParaRPr lang="en-IN"/>
          </a:p>
        </p:txBody>
      </p:sp>
      <p:sp>
        <p:nvSpPr>
          <p:cNvPr id="39" name="Shape 31"/>
          <p:cNvSpPr/>
          <p:nvPr/>
        </p:nvSpPr>
        <p:spPr>
          <a:xfrm>
            <a:off x="8348472" y="4325112"/>
            <a:ext cx="566928" cy="566928"/>
          </a:xfrm>
          <a:prstGeom prst="ellipse">
            <a:avLst/>
          </a:prstGeom>
          <a:solidFill>
            <a:srgbClr val="DCE6EC"/>
          </a:solidFill>
          <a:ln w="15875">
            <a:solidFill>
              <a:srgbClr val="1A4A6E"/>
            </a:solidFill>
            <a:prstDash val="solid"/>
          </a:ln>
        </p:spPr>
        <p:txBody>
          <a:bodyPr/>
          <a:lstStyle/>
          <a:p>
            <a:endParaRPr lang="en-IN"/>
          </a:p>
        </p:txBody>
      </p:sp>
      <p:pic>
        <p:nvPicPr>
          <p:cNvPr id="40" name="Image 6" descr="preencoded.png"/>
          <p:cNvPicPr>
            <a:picLocks noChangeAspect="1"/>
          </p:cNvPicPr>
          <p:nvPr/>
        </p:nvPicPr>
        <p:blipFill>
          <a:blip r:embed="rId9"/>
          <a:stretch>
            <a:fillRect/>
          </a:stretch>
        </p:blipFill>
        <p:spPr>
          <a:xfrm>
            <a:off x="8490204" y="4466844"/>
            <a:ext cx="283464" cy="283464"/>
          </a:xfrm>
          <a:prstGeom prst="rect">
            <a:avLst/>
          </a:prstGeom>
        </p:spPr>
      </p:pic>
      <p:sp>
        <p:nvSpPr>
          <p:cNvPr id="41" name="Text 32"/>
          <p:cNvSpPr txBox="1"/>
          <p:nvPr/>
        </p:nvSpPr>
        <p:spPr>
          <a:xfrm>
            <a:off x="8348472" y="5029200"/>
            <a:ext cx="3035808" cy="365760"/>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6. Availability Curves</a:t>
            </a:r>
            <a:endParaRPr lang="en-US" sz="1600" dirty="0"/>
          </a:p>
        </p:txBody>
      </p:sp>
      <p:sp>
        <p:nvSpPr>
          <p:cNvPr id="42" name="Text 33"/>
          <p:cNvSpPr txBox="1"/>
          <p:nvPr/>
        </p:nvSpPr>
        <p:spPr>
          <a:xfrm>
            <a:off x="8348472" y="5394960"/>
            <a:ext cx="3035808" cy="68580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Visualizes operable probability curves across all time steps.</a:t>
            </a:r>
            <a:endParaRPr lang="en-US" sz="12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9331"/>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05 — AVAILABILITY FORECASTING</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Asset Risk Analysis (ARA) Results: Core Operational Deliverables</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Quantified uptime metrics, trip frequency, and scheduled vs. unscheduled maintenance hours.</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54</a:t>
            </a:r>
            <a:r>
              <a:rPr sz="900">
                <a:solidFill>
                  <a:srgbClr val="8A8477"/>
                </a:solidFill>
                <a:latin typeface="Courier New"/>
              </a:rPr>
              <a:t> / 80</a:t>
            </a:r>
          </a:p>
        </p:txBody>
      </p:sp>
      <p:sp>
        <p:nvSpPr>
          <p:cNvPr id="13" name="Rectangle 12"/>
          <p:cNvSpPr/>
          <p:nvPr/>
        </p:nvSpPr>
        <p:spPr>
          <a:xfrm>
            <a:off x="548640" y="1783080"/>
            <a:ext cx="5600000" cy="448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8640" y="1853080"/>
            <a:ext cx="5320000" cy="220000"/>
          </a:xfrm>
          <a:prstGeom prst="rect">
            <a:avLst/>
          </a:prstGeom>
          <a:noFill/>
        </p:spPr>
        <p:txBody>
          <a:bodyPr wrap="none" lIns="0" tIns="0">
            <a:spAutoFit/>
          </a:bodyPr>
          <a:lstStyle/>
          <a:p>
            <a:pPr>
              <a:defRPr sz="850" b="1">
                <a:solidFill>
                  <a:srgbClr val="7A1F1A"/>
                </a:solidFill>
                <a:latin typeface="Courier New"/>
              </a:defRPr>
            </a:pPr>
            <a:r>
              <a:t>FIG · NEWTON ARA SOFTWARE INTERFACE</a:t>
            </a:r>
          </a:p>
        </p:txBody>
      </p:sp>
      <p:sp>
        <p:nvSpPr>
          <p:cNvPr id="15" name="Rectangle 14"/>
          <p:cNvSpPr/>
          <p:nvPr/>
        </p:nvSpPr>
        <p:spPr>
          <a:xfrm>
            <a:off x="688640" y="2083080"/>
            <a:ext cx="532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ara_results_ui.png"/>
          <p:cNvPicPr>
            <a:picLocks noChangeAspect="1"/>
          </p:cNvPicPr>
          <p:nvPr/>
        </p:nvPicPr>
        <p:blipFill>
          <a:blip r:embed="rId3"/>
          <a:stretch>
            <a:fillRect/>
          </a:stretch>
        </p:blipFill>
        <p:spPr>
          <a:xfrm>
            <a:off x="650000" y="2200000"/>
            <a:ext cx="5400000" cy="3900000"/>
          </a:xfrm>
          <a:prstGeom prst="rect">
            <a:avLst/>
          </a:prstGeom>
        </p:spPr>
      </p:pic>
      <p:sp>
        <p:nvSpPr>
          <p:cNvPr id="17" name="Rectangle 16"/>
          <p:cNvSpPr/>
          <p:nvPr/>
        </p:nvSpPr>
        <p:spPr>
          <a:xfrm>
            <a:off x="6300000" y="1783080"/>
            <a:ext cx="5340312" cy="448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just">
              <a:defRPr sz="1150">
                <a:solidFill>
                  <a:srgbClr val="1C1712"/>
                </a:solidFill>
                <a:latin typeface="Cambria"/>
              </a:defRPr>
            </a:pPr>
            <a:r>
              <a:rPr dirty="0"/>
              <a:t>• </a:t>
            </a:r>
            <a:r>
              <a:rPr b="1" dirty="0">
                <a:solidFill>
                  <a:srgbClr val="7A1F1A"/>
                </a:solidFill>
              </a:rPr>
              <a:t>Availability: </a:t>
            </a:r>
            <a:r>
              <a:rPr dirty="0">
                <a:solidFill>
                  <a:srgbClr val="1C1712"/>
                </a:solidFill>
              </a:rPr>
              <a:t>Average availability projected across the defined operational timeframe.</a:t>
            </a:r>
          </a:p>
          <a:p>
            <a:pPr algn="just">
              <a:spcBef>
                <a:spcPts val="800"/>
              </a:spcBef>
              <a:defRPr sz="1150">
                <a:solidFill>
                  <a:srgbClr val="1C1712"/>
                </a:solidFill>
                <a:latin typeface="Cambria"/>
              </a:defRPr>
            </a:pPr>
            <a:r>
              <a:rPr dirty="0"/>
              <a:t>• </a:t>
            </a:r>
            <a:r>
              <a:rPr b="1" dirty="0">
                <a:solidFill>
                  <a:srgbClr val="7A1F1A"/>
                </a:solidFill>
              </a:rPr>
              <a:t>Predicted Unplanned Events: </a:t>
            </a:r>
            <a:r>
              <a:rPr dirty="0">
                <a:solidFill>
                  <a:srgbClr val="1C1712"/>
                </a:solidFill>
              </a:rPr>
              <a:t>Stochastically calculated count of expected trip and outage events.</a:t>
            </a:r>
          </a:p>
          <a:p>
            <a:pPr algn="just">
              <a:spcBef>
                <a:spcPts val="800"/>
              </a:spcBef>
              <a:defRPr sz="1150">
                <a:solidFill>
                  <a:srgbClr val="1C1712"/>
                </a:solidFill>
                <a:latin typeface="Cambria"/>
              </a:defRPr>
            </a:pPr>
            <a:r>
              <a:rPr dirty="0"/>
              <a:t>• </a:t>
            </a:r>
            <a:r>
              <a:rPr b="1" dirty="0">
                <a:solidFill>
                  <a:srgbClr val="7A1F1A"/>
                </a:solidFill>
              </a:rPr>
              <a:t>Downtime Breakdown: </a:t>
            </a:r>
            <a:r>
              <a:rPr dirty="0">
                <a:solidFill>
                  <a:srgbClr val="1C1712"/>
                </a:solidFill>
              </a:rPr>
              <a:t>Quantifies planned PM outage hours vs. unscheduled emergency trip downtime.</a:t>
            </a:r>
          </a:p>
          <a:p>
            <a:pPr algn="just">
              <a:spcBef>
                <a:spcPts val="800"/>
              </a:spcBef>
              <a:defRPr sz="1150">
                <a:solidFill>
                  <a:srgbClr val="1C1712"/>
                </a:solidFill>
                <a:latin typeface="Cambria"/>
              </a:defRPr>
            </a:pPr>
            <a:r>
              <a:rPr dirty="0"/>
              <a:t>• </a:t>
            </a:r>
            <a:r>
              <a:rPr b="1" dirty="0">
                <a:solidFill>
                  <a:srgbClr val="7A1F1A"/>
                </a:solidFill>
              </a:rPr>
              <a:t>Asset Risk Threshold Breach Dates: </a:t>
            </a:r>
            <a:r>
              <a:rPr dirty="0">
                <a:solidFill>
                  <a:srgbClr val="1C1712"/>
                </a:solidFill>
              </a:rPr>
              <a:t>Exact calendar dates when monetized risk crosses corporate HSE or Economic ceilings.</a:t>
            </a:r>
          </a:p>
          <a:p>
            <a:pPr algn="just">
              <a:spcBef>
                <a:spcPts val="800"/>
              </a:spcBef>
              <a:defRPr sz="1150">
                <a:solidFill>
                  <a:srgbClr val="1C1712"/>
                </a:solidFill>
                <a:latin typeface="Cambria"/>
              </a:defRPr>
            </a:pPr>
            <a:r>
              <a:rPr dirty="0"/>
              <a:t>• </a:t>
            </a:r>
            <a:r>
              <a:rPr b="1" dirty="0">
                <a:solidFill>
                  <a:srgbClr val="7A1F1A"/>
                </a:solidFill>
              </a:rPr>
              <a:t>Planned Maintenance ($): </a:t>
            </a:r>
            <a:r>
              <a:rPr dirty="0">
                <a:solidFill>
                  <a:srgbClr val="1C1712"/>
                </a:solidFill>
              </a:rPr>
              <a:t>Monetized budget for PM tasks, turnaround interventions, and spare parts.</a:t>
            </a:r>
          </a:p>
          <a:p>
            <a:pPr algn="just">
              <a:spcBef>
                <a:spcPts val="800"/>
              </a:spcBef>
              <a:defRPr sz="1150">
                <a:solidFill>
                  <a:srgbClr val="1C1712"/>
                </a:solidFill>
                <a:latin typeface="Cambria"/>
              </a:defRPr>
            </a:pPr>
            <a:r>
              <a:rPr dirty="0"/>
              <a:t>• </a:t>
            </a:r>
            <a:r>
              <a:rPr b="1" dirty="0">
                <a:solidFill>
                  <a:srgbClr val="7A1F1A"/>
                </a:solidFill>
              </a:rPr>
              <a:t>Asset Probability of Being Available: </a:t>
            </a:r>
            <a:r>
              <a:rPr dirty="0">
                <a:solidFill>
                  <a:srgbClr val="1C1712"/>
                </a:solidFill>
              </a:rPr>
              <a:t>Continuous operable probability curves mapped across all operating intervals.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18662"/>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05 — AVAILABILITY FORECASTING</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Asset Risk Analysis (ARA) Results: Risk &amp; POF Trajectories</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Multi-category monetized risk breakdowns and component failure probabilities.</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55</a:t>
            </a:r>
            <a:r>
              <a:rPr sz="900">
                <a:solidFill>
                  <a:srgbClr val="8A8477"/>
                </a:solidFill>
                <a:latin typeface="Courier New"/>
              </a:rPr>
              <a:t> / 80</a:t>
            </a:r>
          </a:p>
        </p:txBody>
      </p:sp>
      <p:sp>
        <p:nvSpPr>
          <p:cNvPr id="13" name="Rectangle 12"/>
          <p:cNvSpPr/>
          <p:nvPr/>
        </p:nvSpPr>
        <p:spPr>
          <a:xfrm>
            <a:off x="548640" y="1783080"/>
            <a:ext cx="5600000" cy="448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8640" y="1853080"/>
            <a:ext cx="5320000" cy="220000"/>
          </a:xfrm>
          <a:prstGeom prst="rect">
            <a:avLst/>
          </a:prstGeom>
          <a:noFill/>
        </p:spPr>
        <p:txBody>
          <a:bodyPr wrap="none" lIns="0" tIns="0">
            <a:spAutoFit/>
          </a:bodyPr>
          <a:lstStyle/>
          <a:p>
            <a:pPr>
              <a:defRPr sz="850" b="1">
                <a:solidFill>
                  <a:srgbClr val="7A1F1A"/>
                </a:solidFill>
                <a:latin typeface="Courier New"/>
              </a:defRPr>
            </a:pPr>
            <a:r>
              <a:t>FIG · MONETIZED RISK AND POF CURVES</a:t>
            </a:r>
          </a:p>
        </p:txBody>
      </p:sp>
      <p:sp>
        <p:nvSpPr>
          <p:cNvPr id="15" name="Rectangle 14"/>
          <p:cNvSpPr/>
          <p:nvPr/>
        </p:nvSpPr>
        <p:spPr>
          <a:xfrm>
            <a:off x="688640" y="2083080"/>
            <a:ext cx="532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ara_risk_pof_ui.png"/>
          <p:cNvPicPr>
            <a:picLocks noChangeAspect="1"/>
          </p:cNvPicPr>
          <p:nvPr/>
        </p:nvPicPr>
        <p:blipFill>
          <a:blip r:embed="rId3"/>
          <a:stretch>
            <a:fillRect/>
          </a:stretch>
        </p:blipFill>
        <p:spPr>
          <a:xfrm>
            <a:off x="650000" y="2200000"/>
            <a:ext cx="5400000" cy="3900000"/>
          </a:xfrm>
          <a:prstGeom prst="rect">
            <a:avLst/>
          </a:prstGeom>
        </p:spPr>
      </p:pic>
      <p:sp>
        <p:nvSpPr>
          <p:cNvPr id="17" name="Rectangle 16"/>
          <p:cNvSpPr/>
          <p:nvPr/>
        </p:nvSpPr>
        <p:spPr>
          <a:xfrm>
            <a:off x="6300000" y="1783080"/>
            <a:ext cx="5340312" cy="448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just">
              <a:defRPr sz="1150">
                <a:solidFill>
                  <a:srgbClr val="1C1712"/>
                </a:solidFill>
                <a:latin typeface="Cambria"/>
              </a:defRPr>
            </a:pPr>
            <a:r>
              <a:rPr dirty="0"/>
              <a:t>• </a:t>
            </a:r>
            <a:r>
              <a:rPr b="1" dirty="0">
                <a:solidFill>
                  <a:srgbClr val="7A1F1A"/>
                </a:solidFill>
              </a:rPr>
              <a:t>Risk Over Time: </a:t>
            </a:r>
            <a:r>
              <a:rPr dirty="0">
                <a:solidFill>
                  <a:srgbClr val="1C1712"/>
                </a:solidFill>
              </a:rPr>
              <a:t>Displays unmitigated vs. mitigated risk trajectories across plant lifecycle.</a:t>
            </a:r>
          </a:p>
          <a:p>
            <a:pPr algn="just">
              <a:spcBef>
                <a:spcPts val="800"/>
              </a:spcBef>
              <a:defRPr sz="1150">
                <a:solidFill>
                  <a:srgbClr val="1C1712"/>
                </a:solidFill>
                <a:latin typeface="Cambria"/>
              </a:defRPr>
            </a:pPr>
            <a:r>
              <a:rPr dirty="0"/>
              <a:t>• </a:t>
            </a:r>
            <a:r>
              <a:rPr b="1" dirty="0">
                <a:solidFill>
                  <a:srgbClr val="7A1F1A"/>
                </a:solidFill>
              </a:rPr>
              <a:t>Breakdown by Category: </a:t>
            </a:r>
            <a:r>
              <a:rPr dirty="0">
                <a:solidFill>
                  <a:srgbClr val="1C1712"/>
                </a:solidFill>
              </a:rPr>
              <a:t>Separates total dollar risk into Economic, HSE, Lost Production, and Repair/Replace cost drivers.</a:t>
            </a:r>
          </a:p>
          <a:p>
            <a:pPr algn="just">
              <a:spcBef>
                <a:spcPts val="800"/>
              </a:spcBef>
              <a:defRPr sz="1150">
                <a:solidFill>
                  <a:srgbClr val="1C1712"/>
                </a:solidFill>
                <a:latin typeface="Cambria"/>
              </a:defRPr>
            </a:pPr>
            <a:r>
              <a:rPr dirty="0"/>
              <a:t>• </a:t>
            </a:r>
            <a:r>
              <a:rPr b="1" dirty="0">
                <a:solidFill>
                  <a:srgbClr val="7A1F1A"/>
                </a:solidFill>
              </a:rPr>
              <a:t>Breakdown by Component: </a:t>
            </a:r>
            <a:r>
              <a:rPr dirty="0">
                <a:solidFill>
                  <a:srgbClr val="1C1712"/>
                </a:solidFill>
              </a:rPr>
              <a:t>Identifies the specific sub-assembly (e.g. impellers vs. mechanical seals) driving the steepest slope.</a:t>
            </a:r>
          </a:p>
          <a:p>
            <a:pPr algn="just">
              <a:spcBef>
                <a:spcPts val="800"/>
              </a:spcBef>
              <a:defRPr sz="1150">
                <a:solidFill>
                  <a:srgbClr val="1C1712"/>
                </a:solidFill>
                <a:latin typeface="Cambria"/>
              </a:defRPr>
            </a:pPr>
            <a:r>
              <a:rPr dirty="0"/>
              <a:t>• </a:t>
            </a:r>
            <a:r>
              <a:rPr b="1" dirty="0">
                <a:solidFill>
                  <a:srgbClr val="7A1F1A"/>
                </a:solidFill>
              </a:rPr>
              <a:t>Component Results: </a:t>
            </a:r>
            <a:r>
              <a:rPr dirty="0">
                <a:solidFill>
                  <a:srgbClr val="1C1712"/>
                </a:solidFill>
              </a:rPr>
              <a:t>Tabulates Probability of Failure Today alongside consequence severity.</a:t>
            </a:r>
          </a:p>
          <a:p>
            <a:pPr algn="just">
              <a:spcBef>
                <a:spcPts val="800"/>
              </a:spcBef>
              <a:defRPr sz="1150">
                <a:solidFill>
                  <a:srgbClr val="1C1712"/>
                </a:solidFill>
                <a:latin typeface="Cambria"/>
              </a:defRPr>
            </a:pPr>
            <a:r>
              <a:rPr dirty="0"/>
              <a:t>• </a:t>
            </a:r>
            <a:r>
              <a:rPr b="1" dirty="0">
                <a:solidFill>
                  <a:srgbClr val="7A1F1A"/>
                </a:solidFill>
              </a:rPr>
              <a:t>Predicted Failure Dates: </a:t>
            </a:r>
            <a:r>
              <a:rPr dirty="0">
                <a:solidFill>
                  <a:srgbClr val="1C1712"/>
                </a:solidFill>
              </a:rPr>
              <a:t>Determines the precise date of functional breach based on degradation confidence limits.</a:t>
            </a:r>
          </a:p>
          <a:p>
            <a:pPr algn="just">
              <a:spcBef>
                <a:spcPts val="800"/>
              </a:spcBef>
              <a:defRPr sz="1150">
                <a:solidFill>
                  <a:srgbClr val="1C1712"/>
                </a:solidFill>
                <a:latin typeface="Cambria"/>
              </a:defRPr>
            </a:pPr>
            <a:r>
              <a:rPr dirty="0"/>
              <a:t>• </a:t>
            </a:r>
            <a:r>
              <a:rPr b="1" dirty="0">
                <a:solidFill>
                  <a:srgbClr val="7A1F1A"/>
                </a:solidFill>
              </a:rPr>
              <a:t>Probability of Failure Over Time: </a:t>
            </a:r>
            <a:r>
              <a:rPr dirty="0">
                <a:solidFill>
                  <a:srgbClr val="1C1712"/>
                </a:solidFill>
              </a:rPr>
              <a:t>Dynamic POF projection with flexibility to toggle into annualized Events/Year frequency.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05 — AVAILABILITY FORECASTING</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Lifetime Variability Curve (LVC) &amp; Ranked CML List</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Prioritizing critical condition monitoring locations by predicted failure dates.</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56</a:t>
            </a:r>
            <a:r>
              <a:rPr sz="900">
                <a:solidFill>
                  <a:srgbClr val="8A8477"/>
                </a:solidFill>
                <a:latin typeface="Courier New"/>
              </a:rPr>
              <a:t> / 80</a:t>
            </a:r>
          </a:p>
        </p:txBody>
      </p:sp>
      <p:sp>
        <p:nvSpPr>
          <p:cNvPr id="13" name="Rectangle 12"/>
          <p:cNvSpPr/>
          <p:nvPr/>
        </p:nvSpPr>
        <p:spPr>
          <a:xfrm>
            <a:off x="548640" y="1783080"/>
            <a:ext cx="5600000" cy="448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8640" y="1853080"/>
            <a:ext cx="5320000" cy="220000"/>
          </a:xfrm>
          <a:prstGeom prst="rect">
            <a:avLst/>
          </a:prstGeom>
          <a:noFill/>
        </p:spPr>
        <p:txBody>
          <a:bodyPr wrap="none" lIns="0" tIns="0">
            <a:spAutoFit/>
          </a:bodyPr>
          <a:lstStyle/>
          <a:p>
            <a:pPr>
              <a:defRPr sz="850" b="1">
                <a:solidFill>
                  <a:srgbClr val="7A1F1A"/>
                </a:solidFill>
                <a:latin typeface="Courier New"/>
              </a:defRPr>
            </a:pPr>
            <a:r>
              <a:t>FIG · LVC DEGRADATION ENVELOPE &amp; RANKED CML LIST</a:t>
            </a:r>
          </a:p>
        </p:txBody>
      </p:sp>
      <p:sp>
        <p:nvSpPr>
          <p:cNvPr id="15" name="Rectangle 14"/>
          <p:cNvSpPr/>
          <p:nvPr/>
        </p:nvSpPr>
        <p:spPr>
          <a:xfrm>
            <a:off x="688640" y="2083080"/>
            <a:ext cx="532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vc_ranked_cml_ui.png"/>
          <p:cNvPicPr>
            <a:picLocks noChangeAspect="1"/>
          </p:cNvPicPr>
          <p:nvPr/>
        </p:nvPicPr>
        <p:blipFill>
          <a:blip r:embed="rId3"/>
          <a:stretch>
            <a:fillRect/>
          </a:stretch>
        </p:blipFill>
        <p:spPr>
          <a:xfrm>
            <a:off x="650000" y="2200000"/>
            <a:ext cx="5400000" cy="3900000"/>
          </a:xfrm>
          <a:prstGeom prst="rect">
            <a:avLst/>
          </a:prstGeom>
        </p:spPr>
      </p:pic>
      <p:sp>
        <p:nvSpPr>
          <p:cNvPr id="17" name="Rectangle 16"/>
          <p:cNvSpPr/>
          <p:nvPr/>
        </p:nvSpPr>
        <p:spPr>
          <a:xfrm>
            <a:off x="6300000" y="1783080"/>
            <a:ext cx="5340312" cy="448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just">
              <a:defRPr sz="1150">
                <a:solidFill>
                  <a:srgbClr val="1C1712"/>
                </a:solidFill>
                <a:latin typeface="Cambria"/>
              </a:defRPr>
            </a:pPr>
            <a:r>
              <a:rPr dirty="0"/>
              <a:t>• </a:t>
            </a:r>
            <a:r>
              <a:rPr b="1" dirty="0">
                <a:solidFill>
                  <a:srgbClr val="7A1F1A"/>
                </a:solidFill>
              </a:rPr>
              <a:t>Lifetime Variability Curve (LVC): </a:t>
            </a:r>
            <a:r>
              <a:rPr dirty="0">
                <a:solidFill>
                  <a:srgbClr val="1C1712"/>
                </a:solidFill>
              </a:rPr>
              <a:t>Projects degradation paths surrounded by dynamic Bayesian confidence envelopes, synthesizing historical inspection thickness data.</a:t>
            </a:r>
          </a:p>
          <a:p>
            <a:pPr algn="just">
              <a:spcBef>
                <a:spcPts val="800"/>
              </a:spcBef>
              <a:defRPr sz="1150">
                <a:solidFill>
                  <a:srgbClr val="1C1712"/>
                </a:solidFill>
                <a:latin typeface="Cambria"/>
              </a:defRPr>
            </a:pPr>
            <a:r>
              <a:rPr dirty="0"/>
              <a:t>• </a:t>
            </a:r>
            <a:r>
              <a:rPr b="1" dirty="0">
                <a:solidFill>
                  <a:srgbClr val="7A1F1A"/>
                </a:solidFill>
              </a:rPr>
              <a:t>Continuous Updating: </a:t>
            </a:r>
            <a:r>
              <a:rPr dirty="0">
                <a:solidFill>
                  <a:srgbClr val="1C1712"/>
                </a:solidFill>
              </a:rPr>
              <a:t>Every new UT thickness gauge or sensor telemetry point dynamically recalculates the remaining wall thickness projection.</a:t>
            </a:r>
          </a:p>
          <a:p>
            <a:pPr algn="just">
              <a:spcBef>
                <a:spcPts val="800"/>
              </a:spcBef>
              <a:defRPr sz="1150">
                <a:solidFill>
                  <a:srgbClr val="1C1712"/>
                </a:solidFill>
                <a:latin typeface="Cambria"/>
              </a:defRPr>
            </a:pPr>
            <a:r>
              <a:rPr dirty="0"/>
              <a:t>• </a:t>
            </a:r>
            <a:r>
              <a:rPr b="1" dirty="0">
                <a:solidFill>
                  <a:srgbClr val="7A1F1A"/>
                </a:solidFill>
              </a:rPr>
              <a:t>Ranked CML List: </a:t>
            </a:r>
            <a:r>
              <a:rPr dirty="0">
                <a:solidFill>
                  <a:srgbClr val="1C1712"/>
                </a:solidFill>
              </a:rPr>
              <a:t>Automatically prioritizes all monitored points across the asset, ranked strictly by Predicted Failure Date.</a:t>
            </a:r>
          </a:p>
          <a:p>
            <a:pPr algn="just">
              <a:spcBef>
                <a:spcPts val="800"/>
              </a:spcBef>
              <a:defRPr sz="1150">
                <a:solidFill>
                  <a:srgbClr val="1C1712"/>
                </a:solidFill>
                <a:latin typeface="Cambria"/>
              </a:defRPr>
            </a:pPr>
            <a:r>
              <a:rPr dirty="0"/>
              <a:t>• </a:t>
            </a:r>
            <a:r>
              <a:rPr b="1" dirty="0">
                <a:solidFill>
                  <a:srgbClr val="7A1F1A"/>
                </a:solidFill>
              </a:rPr>
              <a:t>Cross-Failure Mode Synthesis: </a:t>
            </a:r>
            <a:r>
              <a:rPr dirty="0">
                <a:solidFill>
                  <a:srgbClr val="1C1712"/>
                </a:solidFill>
              </a:rPr>
              <a:t>Unifies internal thinning, localized pitting, and environmental cracking into a single prioritized inspection schedule.</a:t>
            </a:r>
          </a:p>
          <a:p>
            <a:pPr algn="just">
              <a:spcBef>
                <a:spcPts val="800"/>
              </a:spcBef>
              <a:defRPr sz="1150">
                <a:solidFill>
                  <a:srgbClr val="1C1712"/>
                </a:solidFill>
                <a:latin typeface="Cambria"/>
              </a:defRPr>
            </a:pPr>
            <a:r>
              <a:rPr dirty="0"/>
              <a:t>• </a:t>
            </a:r>
            <a:r>
              <a:rPr b="1" dirty="0">
                <a:solidFill>
                  <a:srgbClr val="7A1F1A"/>
                </a:solidFill>
              </a:rPr>
              <a:t>Actionable Targeting: </a:t>
            </a:r>
            <a:r>
              <a:rPr dirty="0">
                <a:solidFill>
                  <a:srgbClr val="1C1712"/>
                </a:solidFill>
              </a:rPr>
              <a:t>Eliminates random blanket inspections by guiding NDT technicians directly to the most critical locations before risk threshold breach.</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7">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05 — AVAILABILITY FORECASTING</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Asset Boundaries &amp; Componentization Guidelines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Rules governing when to break an industrial asset into discrete sub-components.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57</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49808" y="1920240"/>
            <a:ext cx="5586984" cy="219456"/>
          </a:xfrm>
          <a:prstGeom prst="rect">
            <a:avLst/>
          </a:prstGeom>
          <a:noFill/>
          <a:ln/>
        </p:spPr>
        <p:txBody>
          <a:bodyPr wrap="square" lIns="0" tIns="0" rIns="0" bIns="0" rtlCol="0" anchor="t"/>
          <a:lstStyle/>
          <a:p>
            <a:pPr marL="0" indent="0">
              <a:buNone/>
            </a:pPr>
            <a:r>
              <a:rPr lang="en-US" sz="850" b="1" kern="0" spc="150" dirty="0">
                <a:solidFill>
                  <a:srgbClr val="5A5347"/>
                </a:solidFill>
                <a:latin typeface="Courier New" pitchFamily="34" charset="0"/>
                <a:ea typeface="Courier New" pitchFamily="34" charset="-122"/>
                <a:cs typeface="Courier New" pitchFamily="34" charset="-120"/>
              </a:rPr>
              <a:t>FIG · 3 CRITERIA FOR COMPONENTIZATION</a:t>
            </a:r>
            <a:endParaRPr lang="en-US" sz="850" dirty="0"/>
          </a:p>
        </p:txBody>
      </p:sp>
      <p:sp>
        <p:nvSpPr>
          <p:cNvPr id="15" name="Shape 12"/>
          <p:cNvSpPr/>
          <p:nvPr/>
        </p:nvSpPr>
        <p:spPr>
          <a:xfrm>
            <a:off x="749808" y="2167128"/>
            <a:ext cx="5586984" cy="0"/>
          </a:xfrm>
          <a:prstGeom prst="line">
            <a:avLst/>
          </a:prstGeom>
          <a:noFill/>
          <a:ln w="9525">
            <a:solidFill>
              <a:srgbClr val="C9B48F"/>
            </a:solidFill>
            <a:prstDash val="solid"/>
          </a:ln>
        </p:spPr>
        <p:txBody>
          <a:bodyPr/>
          <a:lstStyle/>
          <a:p>
            <a:endParaRPr lang="en-IN"/>
          </a:p>
        </p:txBody>
      </p:sp>
      <p:pic>
        <p:nvPicPr>
          <p:cNvPr id="16" name="Image 1" descr="s47_0"/>
          <p:cNvPicPr>
            <a:picLocks noChangeAspect="1"/>
          </p:cNvPicPr>
          <p:nvPr/>
        </p:nvPicPr>
        <p:blipFill>
          <a:blip r:embed="rId4"/>
          <a:stretch>
            <a:fillRect/>
          </a:stretch>
        </p:blipFill>
        <p:spPr>
          <a:xfrm>
            <a:off x="749808" y="3007664"/>
            <a:ext cx="5586984" cy="2314856"/>
          </a:xfrm>
          <a:prstGeom prst="rect">
            <a:avLst/>
          </a:prstGeom>
        </p:spPr>
      </p:pic>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THREE CRITERIA FOR COMPONENTIZATION</a:t>
            </a:r>
            <a:endParaRPr lang="en-US" sz="950" dirty="0"/>
          </a:p>
        </p:txBody>
      </p:sp>
      <p:sp>
        <p:nvSpPr>
          <p:cNvPr id="19" name="Shape 15"/>
          <p:cNvSpPr/>
          <p:nvPr/>
        </p:nvSpPr>
        <p:spPr>
          <a:xfrm>
            <a:off x="6949440" y="2468880"/>
            <a:ext cx="402336" cy="402336"/>
          </a:xfrm>
          <a:prstGeom prst="ellipse">
            <a:avLst/>
          </a:prstGeom>
          <a:solidFill>
            <a:srgbClr val="EFDCCF"/>
          </a:solidFill>
          <a:ln w="15875">
            <a:solidFill>
              <a:srgbClr val="7A1F1A"/>
            </a:solidFill>
            <a:prstDash val="solid"/>
          </a:ln>
        </p:spPr>
        <p:txBody>
          <a:bodyPr/>
          <a:lstStyle/>
          <a:p>
            <a:endParaRPr lang="en-IN"/>
          </a:p>
        </p:txBody>
      </p:sp>
      <p:sp>
        <p:nvSpPr>
          <p:cNvPr id="20" name="Text 16"/>
          <p:cNvSpPr txBox="1"/>
          <p:nvPr/>
        </p:nvSpPr>
        <p:spPr>
          <a:xfrm>
            <a:off x="6949440" y="2468880"/>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21" name="Text 17"/>
          <p:cNvSpPr txBox="1"/>
          <p:nvPr/>
        </p:nvSpPr>
        <p:spPr>
          <a:xfrm>
            <a:off x="7543800" y="2450592"/>
            <a:ext cx="3977640" cy="310896"/>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Significantly Different Risk</a:t>
            </a:r>
            <a:endParaRPr lang="en-US" sz="1450" dirty="0"/>
          </a:p>
        </p:txBody>
      </p:sp>
      <p:sp>
        <p:nvSpPr>
          <p:cNvPr id="22" name="Text 18"/>
          <p:cNvSpPr txBox="1"/>
          <p:nvPr/>
        </p:nvSpPr>
        <p:spPr>
          <a:xfrm>
            <a:off x="7543800" y="2779776"/>
            <a:ext cx="393192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Sub-elements exhibit vastly divergent POF or COF profiles (e.g. cheap seal leak vs. catastrophic casing rupture).</a:t>
            </a:r>
            <a:endParaRPr lang="en-US" sz="1250" dirty="0"/>
          </a:p>
        </p:txBody>
      </p:sp>
      <p:sp>
        <p:nvSpPr>
          <p:cNvPr id="23" name="Shape 19"/>
          <p:cNvSpPr/>
          <p:nvPr/>
        </p:nvSpPr>
        <p:spPr>
          <a:xfrm>
            <a:off x="6949440" y="3703320"/>
            <a:ext cx="402336" cy="402336"/>
          </a:xfrm>
          <a:prstGeom prst="ellipse">
            <a:avLst/>
          </a:prstGeom>
          <a:solidFill>
            <a:srgbClr val="EFDCCF"/>
          </a:solidFill>
          <a:ln w="15875">
            <a:solidFill>
              <a:srgbClr val="7A1F1A"/>
            </a:solidFill>
            <a:prstDash val="solid"/>
          </a:ln>
        </p:spPr>
        <p:txBody>
          <a:bodyPr/>
          <a:lstStyle/>
          <a:p>
            <a:endParaRPr lang="en-IN"/>
          </a:p>
        </p:txBody>
      </p:sp>
      <p:sp>
        <p:nvSpPr>
          <p:cNvPr id="24" name="Text 20"/>
          <p:cNvSpPr txBox="1"/>
          <p:nvPr/>
        </p:nvSpPr>
        <p:spPr>
          <a:xfrm>
            <a:off x="6949440" y="3703320"/>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5" name="Text 21"/>
          <p:cNvSpPr txBox="1"/>
          <p:nvPr/>
        </p:nvSpPr>
        <p:spPr>
          <a:xfrm>
            <a:off x="7543800" y="3685032"/>
            <a:ext cx="3977640" cy="310896"/>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Telemetry Availability</a:t>
            </a:r>
            <a:endParaRPr lang="en-US" sz="1450" dirty="0"/>
          </a:p>
        </p:txBody>
      </p:sp>
      <p:sp>
        <p:nvSpPr>
          <p:cNvPr id="26" name="Text 22"/>
          <p:cNvSpPr txBox="1"/>
          <p:nvPr/>
        </p:nvSpPr>
        <p:spPr>
          <a:xfrm>
            <a:off x="7543800" y="4014216"/>
            <a:ext cx="393192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Dedicated inspection data or sensor feeds exist to substantiate an independent model.</a:t>
            </a:r>
            <a:endParaRPr lang="en-US" sz="1250" dirty="0"/>
          </a:p>
        </p:txBody>
      </p:sp>
      <p:sp>
        <p:nvSpPr>
          <p:cNvPr id="27" name="Shape 23"/>
          <p:cNvSpPr/>
          <p:nvPr/>
        </p:nvSpPr>
        <p:spPr>
          <a:xfrm>
            <a:off x="6949440" y="4937760"/>
            <a:ext cx="402336" cy="402336"/>
          </a:xfrm>
          <a:prstGeom prst="ellipse">
            <a:avLst/>
          </a:prstGeom>
          <a:solidFill>
            <a:srgbClr val="EFDCCF"/>
          </a:solidFill>
          <a:ln w="15875">
            <a:solidFill>
              <a:srgbClr val="7A1F1A"/>
            </a:solidFill>
            <a:prstDash val="solid"/>
          </a:ln>
        </p:spPr>
        <p:txBody>
          <a:bodyPr/>
          <a:lstStyle/>
          <a:p>
            <a:endParaRPr lang="en-IN"/>
          </a:p>
        </p:txBody>
      </p:sp>
      <p:sp>
        <p:nvSpPr>
          <p:cNvPr id="28" name="Text 24"/>
          <p:cNvSpPr txBox="1"/>
          <p:nvPr/>
        </p:nvSpPr>
        <p:spPr>
          <a:xfrm>
            <a:off x="6949440" y="4937760"/>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29" name="Text 25"/>
          <p:cNvSpPr txBox="1"/>
          <p:nvPr/>
        </p:nvSpPr>
        <p:spPr>
          <a:xfrm>
            <a:off x="7543800" y="4919472"/>
            <a:ext cx="3977640" cy="310896"/>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Independent Maintainability</a:t>
            </a:r>
            <a:endParaRPr lang="en-US" sz="1450" dirty="0"/>
          </a:p>
        </p:txBody>
      </p:sp>
      <p:sp>
        <p:nvSpPr>
          <p:cNvPr id="30" name="Text 26"/>
          <p:cNvSpPr txBox="1"/>
          <p:nvPr/>
        </p:nvSpPr>
        <p:spPr>
          <a:xfrm>
            <a:off x="7543800" y="5248656"/>
            <a:ext cx="393192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The component can be rebuilt or replaced in the field without scrapping the parent asset.</a:t>
            </a:r>
            <a:endParaRPr lang="en-US" sz="12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8">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05 — AVAILABILITY FORECASTING</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t>Instantaneous Availability — QRO</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t>Continuous-time Markov chains incorporating dynamic LVC curves and planned maintenance.</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58</a:t>
            </a:r>
            <a:r>
              <a:rPr sz="900">
                <a:solidFill>
                  <a:srgbClr val="8A8477"/>
                </a:solidFill>
                <a:latin typeface="Courier New"/>
              </a:rPr>
              <a:t> / 80</a:t>
            </a:r>
            <a:endParaRPr lang="en-US" sz="900" dirty="0"/>
          </a:p>
        </p:txBody>
      </p:sp>
      <p:sp>
        <p:nvSpPr>
          <p:cNvPr id="13" name="Rectangle 12"/>
          <p:cNvSpPr/>
          <p:nvPr/>
        </p:nvSpPr>
        <p:spPr>
          <a:xfrm>
            <a:off x="548640" y="1783080"/>
            <a:ext cx="11091672" cy="115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wrap="square" lIns="228600" tIns="91440" rtlCol="0" anchor="ctr"/>
          <a:lstStyle/>
          <a:p>
            <a:pPr algn="just">
              <a:defRPr sz="1200">
                <a:solidFill>
                  <a:srgbClr val="1C1712"/>
                </a:solidFill>
                <a:latin typeface="Cambria"/>
              </a:defRPr>
            </a:pPr>
            <a:r>
              <a:rPr dirty="0"/>
              <a:t>• </a:t>
            </a:r>
            <a:r>
              <a:rPr b="1" dirty="0">
                <a:solidFill>
                  <a:srgbClr val="7A1F1A"/>
                </a:solidFill>
              </a:rPr>
              <a:t>Probability of availability at any point in time.</a:t>
            </a:r>
          </a:p>
          <a:p>
            <a:pPr algn="just">
              <a:defRPr sz="1200">
                <a:solidFill>
                  <a:srgbClr val="1C1712"/>
                </a:solidFill>
                <a:latin typeface="Cambria"/>
              </a:defRPr>
            </a:pPr>
            <a:r>
              <a:rPr dirty="0"/>
              <a:t>• </a:t>
            </a:r>
            <a:r>
              <a:rPr b="0" dirty="0">
                <a:solidFill>
                  <a:srgbClr val="1C1712"/>
                </a:solidFill>
              </a:rPr>
              <a:t>Calculated for each individual asset and system across entire operational envelopes.</a:t>
            </a:r>
          </a:p>
          <a:p>
            <a:pPr algn="just">
              <a:defRPr sz="1200">
                <a:solidFill>
                  <a:srgbClr val="1C1712"/>
                </a:solidFill>
                <a:latin typeface="Cambria"/>
              </a:defRPr>
            </a:pPr>
            <a:r>
              <a:rPr dirty="0"/>
              <a:t>• </a:t>
            </a:r>
            <a:r>
              <a:rPr b="1" dirty="0">
                <a:solidFill>
                  <a:srgbClr val="7A1F1A"/>
                </a:solidFill>
              </a:rPr>
              <a:t>Uses a Markov chain, incorporating LVC results as well as planned maintenance tasks.</a:t>
            </a:r>
          </a:p>
        </p:txBody>
      </p:sp>
      <p:sp>
        <p:nvSpPr>
          <p:cNvPr id="14" name="Rectangle 13"/>
          <p:cNvSpPr/>
          <p:nvPr/>
        </p:nvSpPr>
        <p:spPr>
          <a:xfrm>
            <a:off x="548640" y="3030000"/>
            <a:ext cx="11091672" cy="323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8640" y="3100000"/>
            <a:ext cx="10811672" cy="220000"/>
          </a:xfrm>
          <a:prstGeom prst="rect">
            <a:avLst/>
          </a:prstGeom>
          <a:noFill/>
        </p:spPr>
        <p:txBody>
          <a:bodyPr wrap="none" lIns="0" tIns="0">
            <a:spAutoFit/>
          </a:bodyPr>
          <a:lstStyle/>
          <a:p>
            <a:pPr>
              <a:defRPr sz="850" b="1">
                <a:solidFill>
                  <a:srgbClr val="7A1F1A"/>
                </a:solidFill>
                <a:latin typeface="Courier New"/>
              </a:defRPr>
            </a:pPr>
            <a:r>
              <a:t>FIG · MARKOV CHAIN SIMULATION &amp; INSTANTANEOUS AVAILABILITY A(t)</a:t>
            </a:r>
          </a:p>
        </p:txBody>
      </p:sp>
      <p:sp>
        <p:nvSpPr>
          <p:cNvPr id="16" name="Rectangle 15"/>
          <p:cNvSpPr/>
          <p:nvPr/>
        </p:nvSpPr>
        <p:spPr>
          <a:xfrm>
            <a:off x="688640" y="3330000"/>
            <a:ext cx="10811672"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markov_cleaned.png"/>
          <p:cNvPicPr>
            <a:picLocks noChangeAspect="1"/>
          </p:cNvPicPr>
          <p:nvPr/>
        </p:nvPicPr>
        <p:blipFill>
          <a:blip r:embed="rId4"/>
          <a:stretch>
            <a:fillRect/>
          </a:stretch>
        </p:blipFill>
        <p:spPr>
          <a:xfrm>
            <a:off x="650000" y="3350000"/>
            <a:ext cx="10890000" cy="2800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49">
    <p:bg>
      <p:bgPr>
        <a:solidFill>
          <a:srgbClr val="F4EBD7"/>
        </a:solidFill>
        <a:effectLst/>
      </p:bgPr>
    </p:bg>
    <p:spTree>
      <p:nvGrpSpPr>
        <p:cNvPr id="1" name=""/>
        <p:cNvGrpSpPr/>
        <p:nvPr/>
      </p:nvGrpSpPr>
      <p:grpSpPr>
        <a:xfrm>
          <a:off x="0" y="0"/>
          <a:ext cx="0" cy="0"/>
          <a:chOff x="0" y="0"/>
          <a:chExt cx="0" cy="0"/>
        </a:xfrm>
      </p:grpSpPr>
      <p:pic>
        <p:nvPicPr>
          <p:cNvPr id="2" name="Image 0" descr="assets/bg_section.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22960" y="1051560"/>
            <a:ext cx="10543032" cy="41148"/>
          </a:xfrm>
          <a:prstGeom prst="rect">
            <a:avLst/>
          </a:prstGeom>
          <a:solidFill>
            <a:srgbClr val="1C1712"/>
          </a:solidFill>
          <a:ln w="12700">
            <a:solidFill>
              <a:srgbClr val="333333"/>
            </a:solidFill>
            <a:prstDash val="solid"/>
          </a:ln>
        </p:spPr>
        <p:txBody>
          <a:bodyPr/>
          <a:lstStyle/>
          <a:p>
            <a:endParaRPr lang="en-IN"/>
          </a:p>
        </p:txBody>
      </p:sp>
      <p:sp>
        <p:nvSpPr>
          <p:cNvPr id="4" name="Shape 1"/>
          <p:cNvSpPr/>
          <p:nvPr/>
        </p:nvSpPr>
        <p:spPr>
          <a:xfrm>
            <a:off x="822960" y="1133856"/>
            <a:ext cx="10543032" cy="0"/>
          </a:xfrm>
          <a:prstGeom prst="line">
            <a:avLst/>
          </a:prstGeom>
          <a:noFill/>
          <a:ln w="12700">
            <a:solidFill>
              <a:srgbClr val="1C1712"/>
            </a:solidFill>
            <a:prstDash val="solid"/>
          </a:ln>
        </p:spPr>
        <p:txBody>
          <a:bodyPr/>
          <a:lstStyle/>
          <a:p>
            <a:endParaRPr lang="en-IN"/>
          </a:p>
        </p:txBody>
      </p:sp>
      <p:sp>
        <p:nvSpPr>
          <p:cNvPr id="5" name="Text 2"/>
          <p:cNvSpPr txBox="1"/>
          <p:nvPr/>
        </p:nvSpPr>
        <p:spPr>
          <a:xfrm>
            <a:off x="822960" y="1234440"/>
            <a:ext cx="10543032" cy="274320"/>
          </a:xfrm>
          <a:prstGeom prst="rect">
            <a:avLst/>
          </a:prstGeom>
          <a:noFill/>
          <a:ln/>
        </p:spPr>
        <p:txBody>
          <a:bodyPr wrap="square" lIns="0" tIns="0" rIns="0" bIns="0" rtlCol="0" anchor="t"/>
          <a:lstStyle/>
          <a:p>
            <a:pPr marL="0" indent="0" algn="ctr">
              <a:buNone/>
            </a:pPr>
            <a:r>
              <a:rPr lang="en-US" sz="1200" b="1" kern="0" spc="300" dirty="0">
                <a:solidFill>
                  <a:srgbClr val="7A1F1A"/>
                </a:solidFill>
                <a:latin typeface="Courier New" pitchFamily="34" charset="0"/>
                <a:ea typeface="Courier New" pitchFamily="34" charset="-122"/>
                <a:cs typeface="Courier New" pitchFamily="34" charset="-120"/>
              </a:rPr>
              <a:t>SPECIAL DISPATCH SECTION VI</a:t>
            </a:r>
            <a:endParaRPr lang="en-US" sz="1200" dirty="0"/>
          </a:p>
        </p:txBody>
      </p:sp>
      <p:sp>
        <p:nvSpPr>
          <p:cNvPr id="6" name="Text 3"/>
          <p:cNvSpPr txBox="1"/>
          <p:nvPr/>
        </p:nvSpPr>
        <p:spPr>
          <a:xfrm>
            <a:off x="822960" y="1874520"/>
            <a:ext cx="10543032" cy="548640"/>
          </a:xfrm>
          <a:prstGeom prst="rect">
            <a:avLst/>
          </a:prstGeom>
          <a:noFill/>
          <a:ln/>
        </p:spPr>
        <p:txBody>
          <a:bodyPr wrap="square" lIns="0" tIns="0" rIns="0" bIns="0" rtlCol="0" anchor="t"/>
          <a:lstStyle/>
          <a:p>
            <a:pPr marL="0" indent="0" algn="ctr">
              <a:buNone/>
            </a:pPr>
            <a:r>
              <a:rPr lang="en-US" sz="1500" kern="0" spc="200" dirty="0">
                <a:solidFill>
                  <a:srgbClr val="8A8477"/>
                </a:solidFill>
                <a:latin typeface="Courier New" pitchFamily="34" charset="0"/>
                <a:ea typeface="Courier New" pitchFamily="34" charset="-122"/>
                <a:cs typeface="Courier New" pitchFamily="34" charset="-120"/>
              </a:rPr>
              <a:t>No. VI</a:t>
            </a:r>
            <a:endParaRPr lang="en-US" sz="1500" dirty="0"/>
          </a:p>
        </p:txBody>
      </p:sp>
      <p:sp>
        <p:nvSpPr>
          <p:cNvPr id="7" name="Text 4"/>
          <p:cNvSpPr txBox="1"/>
          <p:nvPr/>
        </p:nvSpPr>
        <p:spPr>
          <a:xfrm>
            <a:off x="822960" y="2286000"/>
            <a:ext cx="10543032" cy="1325880"/>
          </a:xfrm>
          <a:prstGeom prst="rect">
            <a:avLst/>
          </a:prstGeom>
          <a:noFill/>
          <a:ln/>
        </p:spPr>
        <p:txBody>
          <a:bodyPr wrap="square" lIns="0" tIns="0" rIns="0" bIns="0" rtlCol="0" anchor="ctr">
            <a:normAutofit/>
          </a:bodyPr>
          <a:lstStyle/>
          <a:p>
            <a:pPr marL="0" indent="0" algn="ctr">
              <a:buNone/>
            </a:pPr>
            <a:r>
              <a:rPr lang="en-US" sz="5000" b="1" dirty="0">
                <a:solidFill>
                  <a:srgbClr val="1C1712"/>
                </a:solidFill>
                <a:latin typeface="Cambria" pitchFamily="34" charset="0"/>
                <a:ea typeface="Cambria" pitchFamily="34" charset="-122"/>
                <a:cs typeface="Cambria" pitchFamily="34" charset="-120"/>
              </a:rPr>
              <a:t>Task Optimization &amp; Decision Science</a:t>
            </a:r>
            <a:endParaRPr lang="en-US" sz="5000" dirty="0"/>
          </a:p>
        </p:txBody>
      </p:sp>
      <p:sp>
        <p:nvSpPr>
          <p:cNvPr id="8" name="Shape 5"/>
          <p:cNvSpPr/>
          <p:nvPr/>
        </p:nvSpPr>
        <p:spPr>
          <a:xfrm>
            <a:off x="3108960" y="3703320"/>
            <a:ext cx="5971032" cy="0"/>
          </a:xfrm>
          <a:prstGeom prst="line">
            <a:avLst/>
          </a:prstGeom>
          <a:noFill/>
          <a:ln w="19050">
            <a:solidFill>
              <a:srgbClr val="7A1F1A"/>
            </a:solidFill>
            <a:prstDash val="solid"/>
          </a:ln>
        </p:spPr>
        <p:txBody>
          <a:bodyPr/>
          <a:lstStyle/>
          <a:p>
            <a:endParaRPr lang="en-IN"/>
          </a:p>
        </p:txBody>
      </p:sp>
      <p:sp>
        <p:nvSpPr>
          <p:cNvPr id="9" name="Text 6"/>
          <p:cNvSpPr txBox="1"/>
          <p:nvPr/>
        </p:nvSpPr>
        <p:spPr>
          <a:xfrm>
            <a:off x="1280160" y="3886200"/>
            <a:ext cx="9628632" cy="640080"/>
          </a:xfrm>
          <a:prstGeom prst="rect">
            <a:avLst/>
          </a:prstGeom>
          <a:noFill/>
          <a:ln/>
        </p:spPr>
        <p:txBody>
          <a:bodyPr wrap="square" lIns="0" tIns="0" rIns="0" bIns="0" rtlCol="0" anchor="t"/>
          <a:lstStyle/>
          <a:p>
            <a:pPr marL="0" indent="0" algn="ctr">
              <a:buNone/>
            </a:pPr>
            <a:r>
              <a:rPr lang="en-US" sz="1600" i="1" dirty="0">
                <a:solidFill>
                  <a:srgbClr val="5A5347"/>
                </a:solidFill>
                <a:latin typeface="Cambria" pitchFamily="34" charset="0"/>
                <a:ea typeface="Cambria" pitchFamily="34" charset="-122"/>
                <a:cs typeface="Cambria" pitchFamily="34" charset="-120"/>
              </a:rPr>
              <a:t>Corrective Mechanics, Digital Twin What-Ifs, Benefit-Cost Ratio &amp; QTE</a:t>
            </a:r>
            <a:endParaRPr lang="en-US" sz="1600" dirty="0"/>
          </a:p>
        </p:txBody>
      </p:sp>
      <p:sp>
        <p:nvSpPr>
          <p:cNvPr id="10" name="Shape 7"/>
          <p:cNvSpPr/>
          <p:nvPr/>
        </p:nvSpPr>
        <p:spPr>
          <a:xfrm>
            <a:off x="3388309" y="4709160"/>
            <a:ext cx="1399032" cy="274320"/>
          </a:xfrm>
          <a:prstGeom prst="rect">
            <a:avLst/>
          </a:prstGeom>
          <a:solidFill>
            <a:srgbClr val="EFDCCF"/>
          </a:solidFill>
          <a:ln w="12700">
            <a:solidFill>
              <a:srgbClr val="7A1F1A"/>
            </a:solidFill>
            <a:prstDash val="solid"/>
          </a:ln>
        </p:spPr>
        <p:txBody>
          <a:bodyPr/>
          <a:lstStyle/>
          <a:p>
            <a:endParaRPr lang="en-IN"/>
          </a:p>
        </p:txBody>
      </p:sp>
      <p:sp>
        <p:nvSpPr>
          <p:cNvPr id="11" name="Text 8"/>
          <p:cNvSpPr txBox="1"/>
          <p:nvPr/>
        </p:nvSpPr>
        <p:spPr>
          <a:xfrm>
            <a:off x="3388309" y="4709160"/>
            <a:ext cx="1399032"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TASK CATEGORIES</a:t>
            </a:r>
            <a:endParaRPr lang="en-US" sz="900" dirty="0"/>
          </a:p>
        </p:txBody>
      </p:sp>
      <p:sp>
        <p:nvSpPr>
          <p:cNvPr id="12" name="Shape 9"/>
          <p:cNvSpPr/>
          <p:nvPr/>
        </p:nvSpPr>
        <p:spPr>
          <a:xfrm>
            <a:off x="4951933" y="4709160"/>
            <a:ext cx="1474013" cy="274320"/>
          </a:xfrm>
          <a:prstGeom prst="rect">
            <a:avLst/>
          </a:prstGeom>
          <a:solidFill>
            <a:srgbClr val="EFDCCF"/>
          </a:solidFill>
          <a:ln w="12700">
            <a:solidFill>
              <a:srgbClr val="7A1F1A"/>
            </a:solidFill>
            <a:prstDash val="solid"/>
          </a:ln>
        </p:spPr>
        <p:txBody>
          <a:bodyPr/>
          <a:lstStyle/>
          <a:p>
            <a:endParaRPr lang="en-IN"/>
          </a:p>
        </p:txBody>
      </p:sp>
      <p:sp>
        <p:nvSpPr>
          <p:cNvPr id="13" name="Text 10"/>
          <p:cNvSpPr txBox="1"/>
          <p:nvPr/>
        </p:nvSpPr>
        <p:spPr>
          <a:xfrm>
            <a:off x="4951933" y="4709160"/>
            <a:ext cx="1474013"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LIFE RESTORATION</a:t>
            </a:r>
            <a:endParaRPr lang="en-US" sz="900" dirty="0"/>
          </a:p>
        </p:txBody>
      </p:sp>
      <p:sp>
        <p:nvSpPr>
          <p:cNvPr id="14" name="Shape 11"/>
          <p:cNvSpPr/>
          <p:nvPr/>
        </p:nvSpPr>
        <p:spPr>
          <a:xfrm>
            <a:off x="6590538" y="4709160"/>
            <a:ext cx="499262" cy="274320"/>
          </a:xfrm>
          <a:prstGeom prst="rect">
            <a:avLst/>
          </a:prstGeom>
          <a:solidFill>
            <a:srgbClr val="EFDCCF"/>
          </a:solidFill>
          <a:ln w="12700">
            <a:solidFill>
              <a:srgbClr val="7A1F1A"/>
            </a:solidFill>
            <a:prstDash val="solid"/>
          </a:ln>
        </p:spPr>
        <p:txBody>
          <a:bodyPr/>
          <a:lstStyle/>
          <a:p>
            <a:endParaRPr lang="en-IN"/>
          </a:p>
        </p:txBody>
      </p:sp>
      <p:sp>
        <p:nvSpPr>
          <p:cNvPr id="15" name="Text 12"/>
          <p:cNvSpPr txBox="1"/>
          <p:nvPr/>
        </p:nvSpPr>
        <p:spPr>
          <a:xfrm>
            <a:off x="6590538" y="4709160"/>
            <a:ext cx="499262"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BCR</a:t>
            </a:r>
            <a:endParaRPr lang="en-US" sz="900" dirty="0"/>
          </a:p>
        </p:txBody>
      </p:sp>
      <p:sp>
        <p:nvSpPr>
          <p:cNvPr id="16" name="Shape 13"/>
          <p:cNvSpPr/>
          <p:nvPr/>
        </p:nvSpPr>
        <p:spPr>
          <a:xfrm>
            <a:off x="7254392" y="4709160"/>
            <a:ext cx="1548994" cy="274320"/>
          </a:xfrm>
          <a:prstGeom prst="rect">
            <a:avLst/>
          </a:prstGeom>
          <a:solidFill>
            <a:srgbClr val="EFDCCF"/>
          </a:solidFill>
          <a:ln w="12700">
            <a:solidFill>
              <a:srgbClr val="7A1F1A"/>
            </a:solidFill>
            <a:prstDash val="solid"/>
          </a:ln>
        </p:spPr>
        <p:txBody>
          <a:bodyPr/>
          <a:lstStyle/>
          <a:p>
            <a:endParaRPr lang="en-IN"/>
          </a:p>
        </p:txBody>
      </p:sp>
      <p:sp>
        <p:nvSpPr>
          <p:cNvPr id="17" name="Text 14"/>
          <p:cNvSpPr txBox="1"/>
          <p:nvPr/>
        </p:nvSpPr>
        <p:spPr>
          <a:xfrm>
            <a:off x="7254392" y="4709160"/>
            <a:ext cx="1548994"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QTE EFFECTIVENESS</a:t>
            </a:r>
            <a:endParaRPr lang="en-US" sz="900" dirty="0"/>
          </a:p>
        </p:txBody>
      </p:sp>
      <p:sp>
        <p:nvSpPr>
          <p:cNvPr id="18" name="Shape 15"/>
          <p:cNvSpPr/>
          <p:nvPr/>
        </p:nvSpPr>
        <p:spPr>
          <a:xfrm>
            <a:off x="822960" y="5440680"/>
            <a:ext cx="10543032" cy="41148"/>
          </a:xfrm>
          <a:prstGeom prst="rect">
            <a:avLst/>
          </a:prstGeom>
          <a:solidFill>
            <a:srgbClr val="1C1712"/>
          </a:solidFill>
          <a:ln w="12700">
            <a:solidFill>
              <a:srgbClr val="333333"/>
            </a:solidFill>
            <a:prstDash val="solid"/>
          </a:ln>
        </p:spPr>
        <p:txBody>
          <a:bodyPr/>
          <a:lstStyle/>
          <a:p>
            <a:endParaRPr lang="en-IN"/>
          </a:p>
        </p:txBody>
      </p:sp>
      <p:sp>
        <p:nvSpPr>
          <p:cNvPr id="19" name="Shape 16"/>
          <p:cNvSpPr/>
          <p:nvPr/>
        </p:nvSpPr>
        <p:spPr>
          <a:xfrm>
            <a:off x="822960" y="5522976"/>
            <a:ext cx="10543032" cy="0"/>
          </a:xfrm>
          <a:prstGeom prst="line">
            <a:avLst/>
          </a:prstGeom>
          <a:noFill/>
          <a:ln w="12700">
            <a:solidFill>
              <a:srgbClr val="1C1712"/>
            </a:solidFill>
            <a:prstDash val="solid"/>
          </a:ln>
        </p:spPr>
        <p:txBody>
          <a:bodyPr/>
          <a:lstStyle/>
          <a:p>
            <a:endParaRPr lang="en-IN"/>
          </a:p>
        </p:txBody>
      </p:sp>
      <p:sp>
        <p:nvSpPr>
          <p:cNvPr id="20" name="Shape 1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21" name="Text 1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22" name="Text 1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59</a:t>
            </a:r>
            <a:r>
              <a:rPr sz="900">
                <a:solidFill>
                  <a:srgbClr val="8A8477"/>
                </a:solidFill>
                <a:latin typeface="Courier New"/>
              </a:rPr>
              <a:t> / 80</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0">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06 — TASK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Maintenance Task Categorization &amp; Simulated Effects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four operational task categories recognized within QRO engines.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60</a:t>
            </a:r>
            <a:r>
              <a:rPr sz="900">
                <a:solidFill>
                  <a:srgbClr val="8A8477"/>
                </a:solidFill>
                <a:latin typeface="Courier New"/>
              </a:rPr>
              <a:t> / 80</a:t>
            </a:r>
            <a:endParaRPr lang="en-US" sz="900" dirty="0"/>
          </a:p>
        </p:txBody>
      </p:sp>
      <p:sp>
        <p:nvSpPr>
          <p:cNvPr id="13" name="Shape 10"/>
          <p:cNvSpPr/>
          <p:nvPr/>
        </p:nvSpPr>
        <p:spPr>
          <a:xfrm>
            <a:off x="548640" y="1783080"/>
            <a:ext cx="2688336" cy="4434840"/>
          </a:xfrm>
          <a:prstGeom prst="rect">
            <a:avLst/>
          </a:prstGeom>
          <a:solidFill>
            <a:srgbClr val="FBF4E4"/>
          </a:solidFill>
          <a:ln w="12700">
            <a:solidFill>
              <a:srgbClr val="C9B48F"/>
            </a:solidFill>
            <a:prstDash val="solid"/>
          </a:ln>
        </p:spPr>
        <p:txBody>
          <a:bodyPr/>
          <a:lstStyle/>
          <a:p>
            <a:endParaRPr lang="en-IN"/>
          </a:p>
        </p:txBody>
      </p:sp>
      <p:sp>
        <p:nvSpPr>
          <p:cNvPr id="14" name="Shape 11"/>
          <p:cNvSpPr/>
          <p:nvPr/>
        </p:nvSpPr>
        <p:spPr>
          <a:xfrm>
            <a:off x="1572768" y="2057400"/>
            <a:ext cx="640080" cy="640080"/>
          </a:xfrm>
          <a:prstGeom prst="ellipse">
            <a:avLst/>
          </a:prstGeom>
          <a:solidFill>
            <a:srgbClr val="DCE6EC"/>
          </a:solidFill>
          <a:ln w="15875">
            <a:solidFill>
              <a:srgbClr val="1A4A6E"/>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1732788" y="2217420"/>
            <a:ext cx="320040" cy="320040"/>
          </a:xfrm>
          <a:prstGeom prst="rect">
            <a:avLst/>
          </a:prstGeom>
        </p:spPr>
      </p:pic>
      <p:sp>
        <p:nvSpPr>
          <p:cNvPr id="16" name="Text 12"/>
          <p:cNvSpPr txBox="1"/>
          <p:nvPr/>
        </p:nvSpPr>
        <p:spPr>
          <a:xfrm>
            <a:off x="548640" y="2880360"/>
            <a:ext cx="2688336" cy="365760"/>
          </a:xfrm>
          <a:prstGeom prst="rect">
            <a:avLst/>
          </a:prstGeom>
          <a:noFill/>
          <a:ln/>
        </p:spPr>
        <p:txBody>
          <a:bodyPr wrap="square" lIns="0" tIns="0" rIns="0" bIns="0" rtlCol="0" anchor="t"/>
          <a:lstStyle/>
          <a:p>
            <a:pPr marL="0" indent="0" algn="ctr">
              <a:buNone/>
            </a:pPr>
            <a:r>
              <a:rPr lang="en-US" sz="1550" b="1" dirty="0">
                <a:solidFill>
                  <a:srgbClr val="1A4A6E"/>
                </a:solidFill>
                <a:latin typeface="Cambria" pitchFamily="34" charset="0"/>
                <a:ea typeface="Cambria" pitchFamily="34" charset="-122"/>
                <a:cs typeface="Cambria" pitchFamily="34" charset="-120"/>
              </a:rPr>
              <a:t>Predictive Tasks</a:t>
            </a:r>
            <a:endParaRPr lang="en-US" sz="1550" dirty="0"/>
          </a:p>
        </p:txBody>
      </p:sp>
      <p:sp>
        <p:nvSpPr>
          <p:cNvPr id="17" name="Shape 13"/>
          <p:cNvSpPr/>
          <p:nvPr/>
        </p:nvSpPr>
        <p:spPr>
          <a:xfrm>
            <a:off x="822960" y="3291840"/>
            <a:ext cx="2139696" cy="0"/>
          </a:xfrm>
          <a:prstGeom prst="line">
            <a:avLst/>
          </a:prstGeom>
          <a:noFill/>
          <a:ln w="9525">
            <a:solidFill>
              <a:srgbClr val="C9B48F"/>
            </a:solidFill>
            <a:prstDash val="solid"/>
          </a:ln>
        </p:spPr>
        <p:txBody>
          <a:bodyPr/>
          <a:lstStyle/>
          <a:p>
            <a:endParaRPr lang="en-IN"/>
          </a:p>
        </p:txBody>
      </p:sp>
      <p:sp>
        <p:nvSpPr>
          <p:cNvPr id="18" name="Text 14"/>
          <p:cNvSpPr txBox="1"/>
          <p:nvPr/>
        </p:nvSpPr>
        <p:spPr>
          <a:xfrm>
            <a:off x="822960" y="3429000"/>
            <a:ext cx="2185416" cy="2560320"/>
          </a:xfrm>
          <a:prstGeom prst="rect">
            <a:avLst/>
          </a:prstGeom>
          <a:noFill/>
          <a:ln/>
        </p:spPr>
        <p:txBody>
          <a:bodyPr wrap="square" lIns="0" tIns="0" rIns="0" bIns="0" rtlCol="0" anchor="t"/>
          <a:lstStyle/>
          <a:p>
            <a:pPr marL="190500" indent="-190500">
              <a:spcAft>
                <a:spcPts val="1000"/>
              </a:spcAft>
              <a:buSzPct val="100000"/>
              <a:buChar char="•"/>
            </a:pPr>
            <a:r>
              <a:rPr lang="en-US" sz="1250" dirty="0">
                <a:solidFill>
                  <a:srgbClr val="2C261E"/>
                </a:solidFill>
                <a:latin typeface="Cambria" pitchFamily="34" charset="0"/>
                <a:ea typeface="Cambria" pitchFamily="34" charset="-122"/>
                <a:cs typeface="Cambria" pitchFamily="34" charset="-120"/>
              </a:rPr>
              <a:t>UT readings, vibration spectra, and oil analysis.</a:t>
            </a:r>
            <a:endParaRPr lang="en-US" sz="1250" dirty="0"/>
          </a:p>
          <a:p>
            <a:pPr marL="190500" indent="-190500">
              <a:spcAft>
                <a:spcPts val="1000"/>
              </a:spcAft>
              <a:buSzPct val="100000"/>
              <a:buChar char="•"/>
            </a:pPr>
            <a:r>
              <a:rPr lang="en-US" sz="1250" dirty="0">
                <a:solidFill>
                  <a:srgbClr val="2C261E"/>
                </a:solidFill>
                <a:latin typeface="Cambria" pitchFamily="34" charset="0"/>
                <a:ea typeface="Cambria" pitchFamily="34" charset="-122"/>
                <a:cs typeface="Cambria" pitchFamily="34" charset="-120"/>
              </a:rPr>
              <a:t>Reduces degradation uncertainty and rolls back POF.</a:t>
            </a:r>
            <a:endParaRPr lang="en-US" sz="1250" dirty="0"/>
          </a:p>
        </p:txBody>
      </p:sp>
      <p:sp>
        <p:nvSpPr>
          <p:cNvPr id="19" name="Shape 15"/>
          <p:cNvSpPr/>
          <p:nvPr/>
        </p:nvSpPr>
        <p:spPr>
          <a:xfrm>
            <a:off x="3374136" y="1783080"/>
            <a:ext cx="2688336" cy="4434840"/>
          </a:xfrm>
          <a:prstGeom prst="rect">
            <a:avLst/>
          </a:prstGeom>
          <a:solidFill>
            <a:srgbClr val="FBF4E4"/>
          </a:solidFill>
          <a:ln w="12700">
            <a:solidFill>
              <a:srgbClr val="C9B48F"/>
            </a:solidFill>
            <a:prstDash val="solid"/>
          </a:ln>
        </p:spPr>
        <p:txBody>
          <a:bodyPr/>
          <a:lstStyle/>
          <a:p>
            <a:endParaRPr lang="en-IN"/>
          </a:p>
        </p:txBody>
      </p:sp>
      <p:sp>
        <p:nvSpPr>
          <p:cNvPr id="20" name="Shape 16"/>
          <p:cNvSpPr/>
          <p:nvPr/>
        </p:nvSpPr>
        <p:spPr>
          <a:xfrm>
            <a:off x="4398264" y="2057400"/>
            <a:ext cx="640080" cy="640080"/>
          </a:xfrm>
          <a:prstGeom prst="ellipse">
            <a:avLst/>
          </a:prstGeom>
          <a:solidFill>
            <a:srgbClr val="DDE7D6"/>
          </a:solidFill>
          <a:ln w="15875">
            <a:solidFill>
              <a:srgbClr val="2F6B3A"/>
            </a:solidFill>
            <a:prstDash val="solid"/>
          </a:ln>
        </p:spPr>
        <p:txBody>
          <a:bodyPr/>
          <a:lstStyle/>
          <a:p>
            <a:endParaRPr lang="en-IN"/>
          </a:p>
        </p:txBody>
      </p:sp>
      <p:pic>
        <p:nvPicPr>
          <p:cNvPr id="21" name="Image 2" descr="preencoded.png"/>
          <p:cNvPicPr>
            <a:picLocks noChangeAspect="1"/>
          </p:cNvPicPr>
          <p:nvPr/>
        </p:nvPicPr>
        <p:blipFill>
          <a:blip r:embed="rId5"/>
          <a:stretch>
            <a:fillRect/>
          </a:stretch>
        </p:blipFill>
        <p:spPr>
          <a:xfrm>
            <a:off x="4558284" y="2217420"/>
            <a:ext cx="320040" cy="320040"/>
          </a:xfrm>
          <a:prstGeom prst="rect">
            <a:avLst/>
          </a:prstGeom>
        </p:spPr>
      </p:pic>
      <p:sp>
        <p:nvSpPr>
          <p:cNvPr id="22" name="Text 17"/>
          <p:cNvSpPr txBox="1"/>
          <p:nvPr/>
        </p:nvSpPr>
        <p:spPr>
          <a:xfrm>
            <a:off x="3374136" y="2880360"/>
            <a:ext cx="2688336" cy="365760"/>
          </a:xfrm>
          <a:prstGeom prst="rect">
            <a:avLst/>
          </a:prstGeom>
          <a:noFill/>
          <a:ln/>
        </p:spPr>
        <p:txBody>
          <a:bodyPr wrap="square" lIns="0" tIns="0" rIns="0" bIns="0" rtlCol="0" anchor="t"/>
          <a:lstStyle/>
          <a:p>
            <a:pPr marL="0" indent="0" algn="ctr">
              <a:buNone/>
            </a:pPr>
            <a:r>
              <a:rPr lang="en-US" sz="1550" b="1" dirty="0">
                <a:solidFill>
                  <a:srgbClr val="2F6B3A"/>
                </a:solidFill>
                <a:latin typeface="Cambria" pitchFamily="34" charset="0"/>
                <a:ea typeface="Cambria" pitchFamily="34" charset="-122"/>
                <a:cs typeface="Cambria" pitchFamily="34" charset="-120"/>
              </a:rPr>
              <a:t>Preventive Tasks</a:t>
            </a:r>
            <a:endParaRPr lang="en-US" sz="1550" dirty="0"/>
          </a:p>
        </p:txBody>
      </p:sp>
      <p:sp>
        <p:nvSpPr>
          <p:cNvPr id="23" name="Shape 18"/>
          <p:cNvSpPr/>
          <p:nvPr/>
        </p:nvSpPr>
        <p:spPr>
          <a:xfrm>
            <a:off x="3648456" y="3291840"/>
            <a:ext cx="2139696" cy="0"/>
          </a:xfrm>
          <a:prstGeom prst="line">
            <a:avLst/>
          </a:prstGeom>
          <a:noFill/>
          <a:ln w="9525">
            <a:solidFill>
              <a:srgbClr val="C9B48F"/>
            </a:solidFill>
            <a:prstDash val="solid"/>
          </a:ln>
        </p:spPr>
        <p:txBody>
          <a:bodyPr/>
          <a:lstStyle/>
          <a:p>
            <a:endParaRPr lang="en-IN"/>
          </a:p>
        </p:txBody>
      </p:sp>
      <p:sp>
        <p:nvSpPr>
          <p:cNvPr id="24" name="Text 19"/>
          <p:cNvSpPr txBox="1"/>
          <p:nvPr/>
        </p:nvSpPr>
        <p:spPr>
          <a:xfrm>
            <a:off x="3648456" y="3429000"/>
            <a:ext cx="2185416" cy="2560320"/>
          </a:xfrm>
          <a:prstGeom prst="rect">
            <a:avLst/>
          </a:prstGeom>
          <a:noFill/>
          <a:ln/>
        </p:spPr>
        <p:txBody>
          <a:bodyPr wrap="square" lIns="0" tIns="0" rIns="0" bIns="0" rtlCol="0" anchor="t"/>
          <a:lstStyle/>
          <a:p>
            <a:pPr marL="190500" indent="-190500">
              <a:spcAft>
                <a:spcPts val="1000"/>
              </a:spcAft>
              <a:buSzPct val="100000"/>
              <a:buChar char="•"/>
            </a:pPr>
            <a:r>
              <a:rPr lang="en-US" sz="1250" dirty="0">
                <a:solidFill>
                  <a:srgbClr val="2C261E"/>
                </a:solidFill>
                <a:latin typeface="Cambria" pitchFamily="34" charset="0"/>
                <a:ea typeface="Cambria" pitchFamily="34" charset="-122"/>
                <a:cs typeface="Cambria" pitchFamily="34" charset="-120"/>
              </a:rPr>
              <a:t>Lubrication, filter replacement, and calibration.</a:t>
            </a:r>
            <a:endParaRPr lang="en-US" sz="1250" dirty="0"/>
          </a:p>
          <a:p>
            <a:pPr marL="190500" indent="-190500">
              <a:spcAft>
                <a:spcPts val="1000"/>
              </a:spcAft>
              <a:buSzPct val="100000"/>
              <a:buChar char="•"/>
            </a:pPr>
            <a:r>
              <a:rPr lang="en-US" sz="1250" dirty="0">
                <a:solidFill>
                  <a:srgbClr val="2C261E"/>
                </a:solidFill>
                <a:latin typeface="Cambria" pitchFamily="34" charset="0"/>
                <a:ea typeface="Cambria" pitchFamily="34" charset="-122"/>
                <a:cs typeface="Cambria" pitchFamily="34" charset="-120"/>
              </a:rPr>
              <a:t>Tracked for direct labor spend and scheduled downtime.</a:t>
            </a:r>
            <a:endParaRPr lang="en-US" sz="1250" dirty="0"/>
          </a:p>
        </p:txBody>
      </p:sp>
      <p:sp>
        <p:nvSpPr>
          <p:cNvPr id="25" name="Shape 20"/>
          <p:cNvSpPr/>
          <p:nvPr/>
        </p:nvSpPr>
        <p:spPr>
          <a:xfrm>
            <a:off x="6199632" y="1783080"/>
            <a:ext cx="2688336" cy="4434840"/>
          </a:xfrm>
          <a:prstGeom prst="rect">
            <a:avLst/>
          </a:prstGeom>
          <a:solidFill>
            <a:srgbClr val="FBF4E4"/>
          </a:solidFill>
          <a:ln w="12700">
            <a:solidFill>
              <a:srgbClr val="C9B48F"/>
            </a:solidFill>
            <a:prstDash val="solid"/>
          </a:ln>
        </p:spPr>
        <p:txBody>
          <a:bodyPr/>
          <a:lstStyle/>
          <a:p>
            <a:endParaRPr lang="en-IN"/>
          </a:p>
        </p:txBody>
      </p:sp>
      <p:sp>
        <p:nvSpPr>
          <p:cNvPr id="26" name="Shape 21"/>
          <p:cNvSpPr/>
          <p:nvPr/>
        </p:nvSpPr>
        <p:spPr>
          <a:xfrm>
            <a:off x="7223760" y="2057400"/>
            <a:ext cx="640080" cy="640080"/>
          </a:xfrm>
          <a:prstGeom prst="ellipse">
            <a:avLst/>
          </a:prstGeom>
          <a:solidFill>
            <a:srgbClr val="EFDCCF"/>
          </a:solidFill>
          <a:ln w="15875">
            <a:solidFill>
              <a:srgbClr val="7A1F1A"/>
            </a:solidFill>
            <a:prstDash val="solid"/>
          </a:ln>
        </p:spPr>
        <p:txBody>
          <a:bodyPr/>
          <a:lstStyle/>
          <a:p>
            <a:endParaRPr lang="en-IN"/>
          </a:p>
        </p:txBody>
      </p:sp>
      <p:pic>
        <p:nvPicPr>
          <p:cNvPr id="27" name="Image 3" descr="preencoded.png"/>
          <p:cNvPicPr>
            <a:picLocks noChangeAspect="1"/>
          </p:cNvPicPr>
          <p:nvPr/>
        </p:nvPicPr>
        <p:blipFill>
          <a:blip r:embed="rId6"/>
          <a:stretch>
            <a:fillRect/>
          </a:stretch>
        </p:blipFill>
        <p:spPr>
          <a:xfrm>
            <a:off x="7383780" y="2217420"/>
            <a:ext cx="320040" cy="320040"/>
          </a:xfrm>
          <a:prstGeom prst="rect">
            <a:avLst/>
          </a:prstGeom>
        </p:spPr>
      </p:pic>
      <p:sp>
        <p:nvSpPr>
          <p:cNvPr id="28" name="Text 22"/>
          <p:cNvSpPr txBox="1"/>
          <p:nvPr/>
        </p:nvSpPr>
        <p:spPr>
          <a:xfrm>
            <a:off x="6199632" y="2880360"/>
            <a:ext cx="2688336" cy="365760"/>
          </a:xfrm>
          <a:prstGeom prst="rect">
            <a:avLst/>
          </a:prstGeom>
          <a:noFill/>
          <a:ln/>
        </p:spPr>
        <p:txBody>
          <a:bodyPr wrap="square" lIns="0" tIns="0" rIns="0" bIns="0" rtlCol="0" anchor="t"/>
          <a:lstStyle/>
          <a:p>
            <a:pPr marL="0" indent="0" algn="ctr">
              <a:buNone/>
            </a:pPr>
            <a:r>
              <a:rPr lang="en-US" sz="1550" b="1" dirty="0">
                <a:solidFill>
                  <a:srgbClr val="7A1F1A"/>
                </a:solidFill>
                <a:latin typeface="Cambria" pitchFamily="34" charset="0"/>
                <a:ea typeface="Cambria" pitchFamily="34" charset="-122"/>
                <a:cs typeface="Cambria" pitchFamily="34" charset="-120"/>
              </a:rPr>
              <a:t>Corrective Tasks</a:t>
            </a:r>
            <a:endParaRPr lang="en-US" sz="1550" dirty="0"/>
          </a:p>
        </p:txBody>
      </p:sp>
      <p:sp>
        <p:nvSpPr>
          <p:cNvPr id="29" name="Shape 23"/>
          <p:cNvSpPr/>
          <p:nvPr/>
        </p:nvSpPr>
        <p:spPr>
          <a:xfrm>
            <a:off x="6473952" y="3291840"/>
            <a:ext cx="2139696" cy="0"/>
          </a:xfrm>
          <a:prstGeom prst="line">
            <a:avLst/>
          </a:prstGeom>
          <a:noFill/>
          <a:ln w="9525">
            <a:solidFill>
              <a:srgbClr val="C9B48F"/>
            </a:solidFill>
            <a:prstDash val="solid"/>
          </a:ln>
        </p:spPr>
        <p:txBody>
          <a:bodyPr/>
          <a:lstStyle/>
          <a:p>
            <a:endParaRPr lang="en-IN"/>
          </a:p>
        </p:txBody>
      </p:sp>
      <p:sp>
        <p:nvSpPr>
          <p:cNvPr id="30" name="Text 24"/>
          <p:cNvSpPr txBox="1"/>
          <p:nvPr/>
        </p:nvSpPr>
        <p:spPr>
          <a:xfrm>
            <a:off x="6473952" y="3429000"/>
            <a:ext cx="2185416" cy="2560320"/>
          </a:xfrm>
          <a:prstGeom prst="rect">
            <a:avLst/>
          </a:prstGeom>
          <a:noFill/>
          <a:ln/>
        </p:spPr>
        <p:txBody>
          <a:bodyPr wrap="square" lIns="0" tIns="0" rIns="0" bIns="0" rtlCol="0" anchor="t"/>
          <a:lstStyle/>
          <a:p>
            <a:pPr marL="190500" indent="-190500">
              <a:spcAft>
                <a:spcPts val="1000"/>
              </a:spcAft>
              <a:buSzPct val="100000"/>
              <a:buChar char="•"/>
            </a:pPr>
            <a:r>
              <a:rPr lang="en-US" sz="1250" dirty="0">
                <a:solidFill>
                  <a:srgbClr val="2C261E"/>
                </a:solidFill>
                <a:latin typeface="Cambria" pitchFamily="34" charset="0"/>
                <a:ea typeface="Cambria" pitchFamily="34" charset="-122"/>
                <a:cs typeface="Cambria" pitchFamily="34" charset="-120"/>
              </a:rPr>
              <a:t>Overhauls, bundle retubing, and component replacement.</a:t>
            </a:r>
            <a:endParaRPr lang="en-US" sz="1250" dirty="0"/>
          </a:p>
          <a:p>
            <a:pPr marL="190500" indent="-190500">
              <a:spcAft>
                <a:spcPts val="1000"/>
              </a:spcAft>
              <a:buSzPct val="100000"/>
              <a:buChar char="•"/>
            </a:pPr>
            <a:r>
              <a:rPr lang="en-US" sz="1250" dirty="0">
                <a:solidFill>
                  <a:srgbClr val="2C261E"/>
                </a:solidFill>
                <a:latin typeface="Cambria" pitchFamily="34" charset="0"/>
                <a:ea typeface="Cambria" pitchFamily="34" charset="-122"/>
                <a:cs typeface="Cambria" pitchFamily="34" charset="-120"/>
              </a:rPr>
              <a:t>Directly restores operating life and rolls back hazard curve.</a:t>
            </a:r>
            <a:endParaRPr lang="en-US" sz="1250" dirty="0"/>
          </a:p>
        </p:txBody>
      </p:sp>
      <p:sp>
        <p:nvSpPr>
          <p:cNvPr id="31" name="Shape 25"/>
          <p:cNvSpPr/>
          <p:nvPr/>
        </p:nvSpPr>
        <p:spPr>
          <a:xfrm>
            <a:off x="9025128" y="1783080"/>
            <a:ext cx="2688336" cy="4434840"/>
          </a:xfrm>
          <a:prstGeom prst="rect">
            <a:avLst/>
          </a:prstGeom>
          <a:solidFill>
            <a:srgbClr val="FBF4E4"/>
          </a:solidFill>
          <a:ln w="12700">
            <a:solidFill>
              <a:srgbClr val="C9B48F"/>
            </a:solidFill>
            <a:prstDash val="solid"/>
          </a:ln>
        </p:spPr>
        <p:txBody>
          <a:bodyPr/>
          <a:lstStyle/>
          <a:p>
            <a:endParaRPr lang="en-IN"/>
          </a:p>
        </p:txBody>
      </p:sp>
      <p:sp>
        <p:nvSpPr>
          <p:cNvPr id="32" name="Shape 26"/>
          <p:cNvSpPr/>
          <p:nvPr/>
        </p:nvSpPr>
        <p:spPr>
          <a:xfrm>
            <a:off x="10049256" y="2057400"/>
            <a:ext cx="640080" cy="640080"/>
          </a:xfrm>
          <a:prstGeom prst="ellipse">
            <a:avLst/>
          </a:prstGeom>
          <a:solidFill>
            <a:srgbClr val="EDE2C4"/>
          </a:solidFill>
          <a:ln w="15875">
            <a:solidFill>
              <a:srgbClr val="9A6A12"/>
            </a:solidFill>
            <a:prstDash val="solid"/>
          </a:ln>
        </p:spPr>
        <p:txBody>
          <a:bodyPr/>
          <a:lstStyle/>
          <a:p>
            <a:endParaRPr lang="en-IN"/>
          </a:p>
        </p:txBody>
      </p:sp>
      <p:pic>
        <p:nvPicPr>
          <p:cNvPr id="33" name="Image 4" descr="preencoded.png"/>
          <p:cNvPicPr>
            <a:picLocks noChangeAspect="1"/>
          </p:cNvPicPr>
          <p:nvPr/>
        </p:nvPicPr>
        <p:blipFill>
          <a:blip r:embed="rId7"/>
          <a:stretch>
            <a:fillRect/>
          </a:stretch>
        </p:blipFill>
        <p:spPr>
          <a:xfrm>
            <a:off x="10209276" y="2217420"/>
            <a:ext cx="320040" cy="320040"/>
          </a:xfrm>
          <a:prstGeom prst="rect">
            <a:avLst/>
          </a:prstGeom>
        </p:spPr>
      </p:pic>
      <p:sp>
        <p:nvSpPr>
          <p:cNvPr id="34" name="Text 27"/>
          <p:cNvSpPr txBox="1"/>
          <p:nvPr/>
        </p:nvSpPr>
        <p:spPr>
          <a:xfrm>
            <a:off x="9025128" y="2880360"/>
            <a:ext cx="2688336" cy="365760"/>
          </a:xfrm>
          <a:prstGeom prst="rect">
            <a:avLst/>
          </a:prstGeom>
          <a:noFill/>
          <a:ln/>
        </p:spPr>
        <p:txBody>
          <a:bodyPr wrap="square" lIns="0" tIns="0" rIns="0" bIns="0" rtlCol="0" anchor="t"/>
          <a:lstStyle/>
          <a:p>
            <a:pPr marL="0" indent="0" algn="ctr">
              <a:buNone/>
            </a:pPr>
            <a:r>
              <a:rPr lang="en-US" sz="1550" b="1" dirty="0">
                <a:solidFill>
                  <a:srgbClr val="9A6A12"/>
                </a:solidFill>
                <a:latin typeface="Cambria" pitchFamily="34" charset="0"/>
                <a:ea typeface="Cambria" pitchFamily="34" charset="-122"/>
                <a:cs typeface="Cambria" pitchFamily="34" charset="-120"/>
              </a:rPr>
              <a:t>Statutory Tasks</a:t>
            </a:r>
            <a:endParaRPr lang="en-US" sz="1550" dirty="0"/>
          </a:p>
        </p:txBody>
      </p:sp>
      <p:sp>
        <p:nvSpPr>
          <p:cNvPr id="35" name="Shape 28"/>
          <p:cNvSpPr/>
          <p:nvPr/>
        </p:nvSpPr>
        <p:spPr>
          <a:xfrm>
            <a:off x="9299448" y="3291840"/>
            <a:ext cx="2139696" cy="0"/>
          </a:xfrm>
          <a:prstGeom prst="line">
            <a:avLst/>
          </a:prstGeom>
          <a:noFill/>
          <a:ln w="9525">
            <a:solidFill>
              <a:srgbClr val="C9B48F"/>
            </a:solidFill>
            <a:prstDash val="solid"/>
          </a:ln>
        </p:spPr>
        <p:txBody>
          <a:bodyPr/>
          <a:lstStyle/>
          <a:p>
            <a:endParaRPr lang="en-IN"/>
          </a:p>
        </p:txBody>
      </p:sp>
      <p:sp>
        <p:nvSpPr>
          <p:cNvPr id="36" name="Text 29"/>
          <p:cNvSpPr txBox="1"/>
          <p:nvPr/>
        </p:nvSpPr>
        <p:spPr>
          <a:xfrm>
            <a:off x="9299448" y="3429000"/>
            <a:ext cx="2185416" cy="2560320"/>
          </a:xfrm>
          <a:prstGeom prst="rect">
            <a:avLst/>
          </a:prstGeom>
          <a:noFill/>
          <a:ln/>
        </p:spPr>
        <p:txBody>
          <a:bodyPr wrap="square" lIns="0" tIns="0" rIns="0" bIns="0" rtlCol="0" anchor="t"/>
          <a:lstStyle/>
          <a:p>
            <a:pPr marL="190500" indent="-190500">
              <a:spcAft>
                <a:spcPts val="1000"/>
              </a:spcAft>
              <a:buSzPct val="100000"/>
              <a:buChar char="•"/>
            </a:pPr>
            <a:r>
              <a:rPr lang="en-US" sz="1250" dirty="0">
                <a:solidFill>
                  <a:srgbClr val="2C261E"/>
                </a:solidFill>
                <a:latin typeface="Cambria" pitchFamily="34" charset="0"/>
                <a:ea typeface="Cambria" pitchFamily="34" charset="-122"/>
                <a:cs typeface="Cambria" pitchFamily="34" charset="-120"/>
              </a:rPr>
              <a:t>PSV recertification, emissions audits, and inspections.</a:t>
            </a:r>
            <a:endParaRPr lang="en-US" sz="1250" dirty="0"/>
          </a:p>
          <a:p>
            <a:pPr marL="190500" indent="-190500">
              <a:spcAft>
                <a:spcPts val="1000"/>
              </a:spcAft>
              <a:buSzPct val="100000"/>
              <a:buChar char="•"/>
            </a:pPr>
            <a:r>
              <a:rPr lang="en-US" sz="1250" dirty="0">
                <a:solidFill>
                  <a:srgbClr val="2C261E"/>
                </a:solidFill>
                <a:latin typeface="Cambria" pitchFamily="34" charset="0"/>
                <a:ea typeface="Cambria" pitchFamily="34" charset="-122"/>
                <a:cs typeface="Cambria" pitchFamily="34" charset="-120"/>
              </a:rPr>
              <a:t>Strictly tracked to ensure 100% regulatory compliance.</a:t>
            </a:r>
            <a:endParaRPr lang="en-US" sz="12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1">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06 — TASK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Corrective Maintenance: Life Restoration Mechanics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As-Good-As-New full replacements, partial repairs, and temporary patches.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61</a:t>
            </a:r>
            <a:r>
              <a:rPr sz="900">
                <a:solidFill>
                  <a:srgbClr val="8A8477"/>
                </a:solidFill>
                <a:latin typeface="Courier New"/>
              </a:rPr>
              <a:t> / 80</a:t>
            </a:r>
            <a:endParaRPr lang="en-US" sz="900" dirty="0"/>
          </a:p>
        </p:txBody>
      </p:sp>
      <p:sp>
        <p:nvSpPr>
          <p:cNvPr id="13" name="Shape 10"/>
          <p:cNvSpPr/>
          <p:nvPr/>
        </p:nvSpPr>
        <p:spPr>
          <a:xfrm>
            <a:off x="548640" y="1783080"/>
            <a:ext cx="3547872" cy="4434840"/>
          </a:xfrm>
          <a:prstGeom prst="rect">
            <a:avLst/>
          </a:prstGeom>
          <a:solidFill>
            <a:srgbClr val="DDE7D6"/>
          </a:solidFill>
          <a:ln w="12700">
            <a:solidFill>
              <a:srgbClr val="2F6B3A"/>
            </a:solidFill>
            <a:prstDash val="solid"/>
          </a:ln>
        </p:spPr>
        <p:txBody>
          <a:bodyPr/>
          <a:lstStyle/>
          <a:p>
            <a:endParaRPr lang="en-IN"/>
          </a:p>
        </p:txBody>
      </p:sp>
      <p:sp>
        <p:nvSpPr>
          <p:cNvPr id="14" name="Shape 11"/>
          <p:cNvSpPr/>
          <p:nvPr/>
        </p:nvSpPr>
        <p:spPr>
          <a:xfrm>
            <a:off x="822960" y="2057400"/>
            <a:ext cx="594360" cy="594360"/>
          </a:xfrm>
          <a:prstGeom prst="ellipse">
            <a:avLst/>
          </a:prstGeom>
          <a:solidFill>
            <a:srgbClr val="F4EBD7"/>
          </a:solidFill>
          <a:ln w="15875">
            <a:solidFill>
              <a:srgbClr val="2F6B3A"/>
            </a:solidFill>
            <a:prstDash val="solid"/>
          </a:ln>
        </p:spPr>
        <p:txBody>
          <a:bodyPr/>
          <a:lstStyle/>
          <a:p>
            <a:endParaRPr lang="en-IN"/>
          </a:p>
        </p:txBody>
      </p:sp>
      <p:pic>
        <p:nvPicPr>
          <p:cNvPr id="15" name="Image 1" descr="preencoded.png"/>
          <p:cNvPicPr>
            <a:picLocks noChangeAspect="1"/>
          </p:cNvPicPr>
          <p:nvPr/>
        </p:nvPicPr>
        <p:blipFill>
          <a:blip r:embed="rId4"/>
          <a:stretch>
            <a:fillRect/>
          </a:stretch>
        </p:blipFill>
        <p:spPr>
          <a:xfrm>
            <a:off x="971550" y="2205990"/>
            <a:ext cx="297180" cy="297180"/>
          </a:xfrm>
          <a:prstGeom prst="rect">
            <a:avLst/>
          </a:prstGeom>
        </p:spPr>
      </p:pic>
      <p:sp>
        <p:nvSpPr>
          <p:cNvPr id="16" name="Text 12"/>
          <p:cNvSpPr txBox="1"/>
          <p:nvPr/>
        </p:nvSpPr>
        <p:spPr>
          <a:xfrm>
            <a:off x="822960" y="2834640"/>
            <a:ext cx="2999232" cy="310896"/>
          </a:xfrm>
          <a:prstGeom prst="rect">
            <a:avLst/>
          </a:prstGeom>
          <a:noFill/>
          <a:ln/>
        </p:spPr>
        <p:txBody>
          <a:bodyPr wrap="square" lIns="0" tIns="0" rIns="0" bIns="0" rtlCol="0" anchor="t"/>
          <a:lstStyle/>
          <a:p>
            <a:pPr marL="0" indent="0">
              <a:buNone/>
            </a:pPr>
            <a:r>
              <a:rPr lang="en-US" sz="1700" b="1" dirty="0">
                <a:solidFill>
                  <a:srgbClr val="2F6B3A"/>
                </a:solidFill>
                <a:latin typeface="Cambria" pitchFamily="34" charset="0"/>
                <a:ea typeface="Cambria" pitchFamily="34" charset="-122"/>
                <a:cs typeface="Cambria" pitchFamily="34" charset="-120"/>
              </a:rPr>
              <a:t>Full Replacement</a:t>
            </a:r>
            <a:endParaRPr lang="en-US" sz="1700" dirty="0"/>
          </a:p>
        </p:txBody>
      </p:sp>
      <p:sp>
        <p:nvSpPr>
          <p:cNvPr id="17" name="Text 13"/>
          <p:cNvSpPr txBox="1"/>
          <p:nvPr/>
        </p:nvSpPr>
        <p:spPr>
          <a:xfrm>
            <a:off x="822960" y="3200400"/>
            <a:ext cx="2999232" cy="320040"/>
          </a:xfrm>
          <a:prstGeom prst="rect">
            <a:avLst/>
          </a:prstGeom>
          <a:noFill/>
          <a:ln/>
        </p:spPr>
        <p:txBody>
          <a:bodyPr wrap="square" lIns="0" tIns="0" rIns="0" bIns="0" rtlCol="0" anchor="t"/>
          <a:lstStyle/>
          <a:p>
            <a:pPr marL="0" indent="0">
              <a:buNone/>
            </a:pPr>
            <a:r>
              <a:rPr lang="en-US" sz="1050" b="1" dirty="0">
                <a:solidFill>
                  <a:srgbClr val="1C1712"/>
                </a:solidFill>
                <a:latin typeface="Courier New" pitchFamily="34" charset="0"/>
                <a:ea typeface="Courier New" pitchFamily="34" charset="-122"/>
                <a:cs typeface="Courier New" pitchFamily="34" charset="-120"/>
              </a:rPr>
              <a:t>As Good As New (AGAN)</a:t>
            </a:r>
            <a:endParaRPr lang="en-US" sz="1050" dirty="0"/>
          </a:p>
        </p:txBody>
      </p:sp>
      <p:sp>
        <p:nvSpPr>
          <p:cNvPr id="18" name="Shape 14"/>
          <p:cNvSpPr/>
          <p:nvPr/>
        </p:nvSpPr>
        <p:spPr>
          <a:xfrm>
            <a:off x="822960" y="3611880"/>
            <a:ext cx="2999232" cy="0"/>
          </a:xfrm>
          <a:prstGeom prst="line">
            <a:avLst/>
          </a:prstGeom>
          <a:noFill/>
          <a:ln w="9525">
            <a:solidFill>
              <a:srgbClr val="2F6B3A"/>
            </a:solidFill>
            <a:prstDash val="solid"/>
          </a:ln>
        </p:spPr>
        <p:txBody>
          <a:bodyPr/>
          <a:lstStyle/>
          <a:p>
            <a:endParaRPr lang="en-IN"/>
          </a:p>
        </p:txBody>
      </p:sp>
      <p:sp>
        <p:nvSpPr>
          <p:cNvPr id="19" name="Text 15"/>
          <p:cNvSpPr txBox="1"/>
          <p:nvPr/>
        </p:nvSpPr>
        <p:spPr>
          <a:xfrm>
            <a:off x="822960" y="3749040"/>
            <a:ext cx="2999232" cy="228600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Complete physical replacement of asset or sub-assembly across all failure modes. Resets operating age to t = 0; POF drops to 0%.</a:t>
            </a:r>
            <a:endParaRPr lang="en-US" sz="1350" dirty="0"/>
          </a:p>
        </p:txBody>
      </p:sp>
      <p:sp>
        <p:nvSpPr>
          <p:cNvPr id="20" name="Shape 16"/>
          <p:cNvSpPr/>
          <p:nvPr/>
        </p:nvSpPr>
        <p:spPr>
          <a:xfrm>
            <a:off x="4320540" y="1783080"/>
            <a:ext cx="3547872" cy="4434840"/>
          </a:xfrm>
          <a:prstGeom prst="rect">
            <a:avLst/>
          </a:prstGeom>
          <a:solidFill>
            <a:srgbClr val="EDE2C4"/>
          </a:solidFill>
          <a:ln w="12700">
            <a:solidFill>
              <a:srgbClr val="9A6A12"/>
            </a:solidFill>
            <a:prstDash val="solid"/>
          </a:ln>
        </p:spPr>
        <p:txBody>
          <a:bodyPr/>
          <a:lstStyle/>
          <a:p>
            <a:endParaRPr lang="en-IN"/>
          </a:p>
        </p:txBody>
      </p:sp>
      <p:sp>
        <p:nvSpPr>
          <p:cNvPr id="21" name="Shape 17"/>
          <p:cNvSpPr/>
          <p:nvPr/>
        </p:nvSpPr>
        <p:spPr>
          <a:xfrm>
            <a:off x="4594860" y="2057400"/>
            <a:ext cx="594360" cy="594360"/>
          </a:xfrm>
          <a:prstGeom prst="ellipse">
            <a:avLst/>
          </a:prstGeom>
          <a:solidFill>
            <a:srgbClr val="F4EBD7"/>
          </a:solidFill>
          <a:ln w="15875">
            <a:solidFill>
              <a:srgbClr val="9A6A12"/>
            </a:solidFill>
            <a:prstDash val="solid"/>
          </a:ln>
        </p:spPr>
        <p:txBody>
          <a:bodyPr/>
          <a:lstStyle/>
          <a:p>
            <a:endParaRPr lang="en-IN"/>
          </a:p>
        </p:txBody>
      </p:sp>
      <p:pic>
        <p:nvPicPr>
          <p:cNvPr id="22" name="Image 2" descr="preencoded.png"/>
          <p:cNvPicPr>
            <a:picLocks noChangeAspect="1"/>
          </p:cNvPicPr>
          <p:nvPr/>
        </p:nvPicPr>
        <p:blipFill>
          <a:blip r:embed="rId5"/>
          <a:stretch>
            <a:fillRect/>
          </a:stretch>
        </p:blipFill>
        <p:spPr>
          <a:xfrm>
            <a:off x="4743450" y="2205990"/>
            <a:ext cx="297180" cy="297180"/>
          </a:xfrm>
          <a:prstGeom prst="rect">
            <a:avLst/>
          </a:prstGeom>
        </p:spPr>
      </p:pic>
      <p:sp>
        <p:nvSpPr>
          <p:cNvPr id="23" name="Text 18"/>
          <p:cNvSpPr txBox="1"/>
          <p:nvPr/>
        </p:nvSpPr>
        <p:spPr>
          <a:xfrm>
            <a:off x="4594860" y="2834640"/>
            <a:ext cx="2999232" cy="310896"/>
          </a:xfrm>
          <a:prstGeom prst="rect">
            <a:avLst/>
          </a:prstGeom>
          <a:noFill/>
          <a:ln/>
        </p:spPr>
        <p:txBody>
          <a:bodyPr wrap="square" lIns="0" tIns="0" rIns="0" bIns="0" rtlCol="0" anchor="t"/>
          <a:lstStyle/>
          <a:p>
            <a:pPr marL="0" indent="0">
              <a:buNone/>
            </a:pPr>
            <a:r>
              <a:rPr lang="en-US" sz="1700" b="1" dirty="0">
                <a:solidFill>
                  <a:srgbClr val="9A6A12"/>
                </a:solidFill>
                <a:latin typeface="Cambria" pitchFamily="34" charset="0"/>
                <a:ea typeface="Cambria" pitchFamily="34" charset="-122"/>
                <a:cs typeface="Cambria" pitchFamily="34" charset="-120"/>
              </a:rPr>
              <a:t>Partial Repair</a:t>
            </a:r>
            <a:endParaRPr lang="en-US" sz="1700" dirty="0"/>
          </a:p>
        </p:txBody>
      </p:sp>
      <p:sp>
        <p:nvSpPr>
          <p:cNvPr id="24" name="Text 19"/>
          <p:cNvSpPr txBox="1"/>
          <p:nvPr/>
        </p:nvSpPr>
        <p:spPr>
          <a:xfrm>
            <a:off x="4594860" y="3200400"/>
            <a:ext cx="2999232" cy="320040"/>
          </a:xfrm>
          <a:prstGeom prst="rect">
            <a:avLst/>
          </a:prstGeom>
          <a:noFill/>
          <a:ln/>
        </p:spPr>
        <p:txBody>
          <a:bodyPr wrap="square" lIns="0" tIns="0" rIns="0" bIns="0" rtlCol="0" anchor="t"/>
          <a:lstStyle/>
          <a:p>
            <a:pPr marL="0" indent="0">
              <a:buNone/>
            </a:pPr>
            <a:r>
              <a:rPr lang="en-US" sz="1050" b="1" dirty="0">
                <a:solidFill>
                  <a:srgbClr val="1C1712"/>
                </a:solidFill>
                <a:latin typeface="Courier New" pitchFamily="34" charset="0"/>
                <a:ea typeface="Courier New" pitchFamily="34" charset="-122"/>
                <a:cs typeface="Courier New" pitchFamily="34" charset="-120"/>
              </a:rPr>
              <a:t>Proportional Age Rollback</a:t>
            </a:r>
            <a:endParaRPr lang="en-US" sz="1050" dirty="0"/>
          </a:p>
        </p:txBody>
      </p:sp>
      <p:sp>
        <p:nvSpPr>
          <p:cNvPr id="25" name="Shape 20"/>
          <p:cNvSpPr/>
          <p:nvPr/>
        </p:nvSpPr>
        <p:spPr>
          <a:xfrm>
            <a:off x="4594860" y="3611880"/>
            <a:ext cx="2999232" cy="0"/>
          </a:xfrm>
          <a:prstGeom prst="line">
            <a:avLst/>
          </a:prstGeom>
          <a:noFill/>
          <a:ln w="9525">
            <a:solidFill>
              <a:srgbClr val="9A6A12"/>
            </a:solidFill>
            <a:prstDash val="solid"/>
          </a:ln>
        </p:spPr>
        <p:txBody>
          <a:bodyPr/>
          <a:lstStyle/>
          <a:p>
            <a:endParaRPr lang="en-IN"/>
          </a:p>
        </p:txBody>
      </p:sp>
      <p:sp>
        <p:nvSpPr>
          <p:cNvPr id="26" name="Text 21"/>
          <p:cNvSpPr txBox="1"/>
          <p:nvPr/>
        </p:nvSpPr>
        <p:spPr>
          <a:xfrm>
            <a:off x="4594860" y="3749040"/>
            <a:ext cx="2999232" cy="228600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Restores a specific fraction (0–100%) of equipment life. E.g. replacing pump bearings rolls back bearing POF while retaining aged impeller life.</a:t>
            </a:r>
            <a:endParaRPr lang="en-US" sz="1350" dirty="0"/>
          </a:p>
        </p:txBody>
      </p:sp>
      <p:sp>
        <p:nvSpPr>
          <p:cNvPr id="27" name="Shape 22"/>
          <p:cNvSpPr/>
          <p:nvPr/>
        </p:nvSpPr>
        <p:spPr>
          <a:xfrm>
            <a:off x="8092440" y="1783080"/>
            <a:ext cx="3547872" cy="4434840"/>
          </a:xfrm>
          <a:prstGeom prst="rect">
            <a:avLst/>
          </a:prstGeom>
          <a:solidFill>
            <a:srgbClr val="EFDCCF"/>
          </a:solidFill>
          <a:ln w="12700">
            <a:solidFill>
              <a:srgbClr val="7A1F1A"/>
            </a:solidFill>
            <a:prstDash val="solid"/>
          </a:ln>
        </p:spPr>
        <p:txBody>
          <a:bodyPr/>
          <a:lstStyle/>
          <a:p>
            <a:endParaRPr lang="en-IN"/>
          </a:p>
        </p:txBody>
      </p:sp>
      <p:sp>
        <p:nvSpPr>
          <p:cNvPr id="28" name="Shape 23"/>
          <p:cNvSpPr/>
          <p:nvPr/>
        </p:nvSpPr>
        <p:spPr>
          <a:xfrm>
            <a:off x="8366760" y="2057400"/>
            <a:ext cx="594360" cy="594360"/>
          </a:xfrm>
          <a:prstGeom prst="ellipse">
            <a:avLst/>
          </a:prstGeom>
          <a:solidFill>
            <a:srgbClr val="F4EBD7"/>
          </a:solidFill>
          <a:ln w="15875">
            <a:solidFill>
              <a:srgbClr val="7A1F1A"/>
            </a:solidFill>
            <a:prstDash val="solid"/>
          </a:ln>
        </p:spPr>
        <p:txBody>
          <a:bodyPr/>
          <a:lstStyle/>
          <a:p>
            <a:endParaRPr lang="en-IN"/>
          </a:p>
        </p:txBody>
      </p:sp>
      <p:pic>
        <p:nvPicPr>
          <p:cNvPr id="29" name="Image 3" descr="preencoded.png"/>
          <p:cNvPicPr>
            <a:picLocks noChangeAspect="1"/>
          </p:cNvPicPr>
          <p:nvPr/>
        </p:nvPicPr>
        <p:blipFill>
          <a:blip r:embed="rId6"/>
          <a:stretch>
            <a:fillRect/>
          </a:stretch>
        </p:blipFill>
        <p:spPr>
          <a:xfrm>
            <a:off x="8515350" y="2205990"/>
            <a:ext cx="297180" cy="297180"/>
          </a:xfrm>
          <a:prstGeom prst="rect">
            <a:avLst/>
          </a:prstGeom>
        </p:spPr>
      </p:pic>
      <p:sp>
        <p:nvSpPr>
          <p:cNvPr id="30" name="Text 24"/>
          <p:cNvSpPr txBox="1"/>
          <p:nvPr/>
        </p:nvSpPr>
        <p:spPr>
          <a:xfrm>
            <a:off x="8366760" y="2834640"/>
            <a:ext cx="2999232" cy="310896"/>
          </a:xfrm>
          <a:prstGeom prst="rect">
            <a:avLst/>
          </a:prstGeom>
          <a:noFill/>
          <a:ln/>
        </p:spPr>
        <p:txBody>
          <a:bodyPr wrap="square" lIns="0" tIns="0" rIns="0" bIns="0" rtlCol="0" anchor="t"/>
          <a:lstStyle/>
          <a:p>
            <a:pPr marL="0" indent="0">
              <a:buNone/>
            </a:pPr>
            <a:r>
              <a:rPr lang="en-US" sz="1700" b="1" dirty="0">
                <a:solidFill>
                  <a:srgbClr val="7A1F1A"/>
                </a:solidFill>
                <a:latin typeface="Cambria" pitchFamily="34" charset="0"/>
                <a:ea typeface="Cambria" pitchFamily="34" charset="-122"/>
                <a:cs typeface="Cambria" pitchFamily="34" charset="-120"/>
              </a:rPr>
              <a:t>Temporary Repair</a:t>
            </a:r>
            <a:endParaRPr lang="en-US" sz="1700" dirty="0"/>
          </a:p>
        </p:txBody>
      </p:sp>
      <p:sp>
        <p:nvSpPr>
          <p:cNvPr id="31" name="Text 25"/>
          <p:cNvSpPr txBox="1"/>
          <p:nvPr/>
        </p:nvSpPr>
        <p:spPr>
          <a:xfrm>
            <a:off x="8366760" y="3200400"/>
            <a:ext cx="2999232" cy="320040"/>
          </a:xfrm>
          <a:prstGeom prst="rect">
            <a:avLst/>
          </a:prstGeom>
          <a:noFill/>
          <a:ln/>
        </p:spPr>
        <p:txBody>
          <a:bodyPr wrap="square" lIns="0" tIns="0" rIns="0" bIns="0" rtlCol="0" anchor="t"/>
          <a:lstStyle/>
          <a:p>
            <a:pPr marL="0" indent="0">
              <a:buNone/>
            </a:pPr>
            <a:r>
              <a:rPr lang="en-US" sz="1050" b="1" dirty="0">
                <a:solidFill>
                  <a:srgbClr val="1C1712"/>
                </a:solidFill>
                <a:latin typeface="Courier New" pitchFamily="34" charset="0"/>
                <a:ea typeface="Courier New" pitchFamily="34" charset="-122"/>
                <a:cs typeface="Courier New" pitchFamily="34" charset="-120"/>
              </a:rPr>
              <a:t>Engineered Clamp / Patch</a:t>
            </a:r>
            <a:endParaRPr lang="en-US" sz="1050" dirty="0"/>
          </a:p>
        </p:txBody>
      </p:sp>
      <p:sp>
        <p:nvSpPr>
          <p:cNvPr id="32" name="Shape 26"/>
          <p:cNvSpPr/>
          <p:nvPr/>
        </p:nvSpPr>
        <p:spPr>
          <a:xfrm>
            <a:off x="8366760" y="3611880"/>
            <a:ext cx="2999232" cy="0"/>
          </a:xfrm>
          <a:prstGeom prst="line">
            <a:avLst/>
          </a:prstGeom>
          <a:noFill/>
          <a:ln w="9525">
            <a:solidFill>
              <a:srgbClr val="7A1F1A"/>
            </a:solidFill>
            <a:prstDash val="solid"/>
          </a:ln>
        </p:spPr>
        <p:txBody>
          <a:bodyPr/>
          <a:lstStyle/>
          <a:p>
            <a:endParaRPr lang="en-IN"/>
          </a:p>
        </p:txBody>
      </p:sp>
      <p:sp>
        <p:nvSpPr>
          <p:cNvPr id="33" name="Text 27"/>
          <p:cNvSpPr txBox="1"/>
          <p:nvPr/>
        </p:nvSpPr>
        <p:spPr>
          <a:xfrm>
            <a:off x="8366760" y="3749040"/>
            <a:ext cx="2999232" cy="228600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Prevents immediate shutdown until the next major turnaround. Can model active degradation under patch (POF jump) or arrested degradation.</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2">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06 — TASK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What-If Scenarios: Metallurgy Upgrade Case Study</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Simulating digital-twin alternatives to justify capital alloy upgrades.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62</a:t>
            </a:r>
            <a:r>
              <a:rPr sz="900">
                <a:solidFill>
                  <a:srgbClr val="8A8477"/>
                </a:solidFill>
                <a:latin typeface="Courier New"/>
              </a:rPr>
              <a:t> / 80</a:t>
            </a:r>
            <a:endParaRPr lang="en-US" sz="900" dirty="0"/>
          </a:p>
        </p:txBody>
      </p:sp>
      <p:sp>
        <p:nvSpPr>
          <p:cNvPr id="13" name="Shape 10"/>
          <p:cNvSpPr/>
          <p:nvPr/>
        </p:nvSpPr>
        <p:spPr>
          <a:xfrm>
            <a:off x="548640" y="1783080"/>
            <a:ext cx="6766560" cy="310896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640080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WHAT-IF: METALLURGY UPGRADE 95.84% → 97.15%</a:t>
            </a:r>
            <a:endParaRPr lang="en-US" sz="850" dirty="0"/>
          </a:p>
        </p:txBody>
      </p:sp>
      <p:sp>
        <p:nvSpPr>
          <p:cNvPr id="15" name="Shape 12"/>
          <p:cNvSpPr/>
          <p:nvPr/>
        </p:nvSpPr>
        <p:spPr>
          <a:xfrm>
            <a:off x="731520" y="2148840"/>
            <a:ext cx="6400800" cy="0"/>
          </a:xfrm>
          <a:prstGeom prst="line">
            <a:avLst/>
          </a:prstGeom>
          <a:noFill/>
          <a:ln w="9525">
            <a:solidFill>
              <a:srgbClr val="C9B48F"/>
            </a:solidFill>
            <a:prstDash val="solid"/>
          </a:ln>
        </p:spPr>
        <p:txBody>
          <a:bodyPr/>
          <a:lstStyle/>
          <a:p>
            <a:endParaRPr lang="en-IN"/>
          </a:p>
        </p:txBody>
      </p:sp>
      <p:pic>
        <p:nvPicPr>
          <p:cNvPr id="16" name="Image 1" descr="What-If: Metallurgy Upgrade 95.84% → 97.15%"/>
          <p:cNvPicPr>
            <a:picLocks noChangeAspect="1"/>
          </p:cNvPicPr>
          <p:nvPr/>
        </p:nvPicPr>
        <p:blipFill>
          <a:blip r:embed="rId4"/>
          <a:stretch>
            <a:fillRect/>
          </a:stretch>
        </p:blipFill>
        <p:spPr>
          <a:xfrm>
            <a:off x="874521" y="2240280"/>
            <a:ext cx="6114798" cy="2523744"/>
          </a:xfrm>
          <a:prstGeom prst="rect">
            <a:avLst/>
          </a:prstGeom>
        </p:spPr>
      </p:pic>
      <p:sp>
        <p:nvSpPr>
          <p:cNvPr id="17" name="Shape 13"/>
          <p:cNvSpPr/>
          <p:nvPr/>
        </p:nvSpPr>
        <p:spPr>
          <a:xfrm>
            <a:off x="548640" y="5029200"/>
            <a:ext cx="3273552" cy="1188720"/>
          </a:xfrm>
          <a:prstGeom prst="rect">
            <a:avLst/>
          </a:prstGeom>
          <a:solidFill>
            <a:srgbClr val="EFE4CD"/>
          </a:solidFill>
          <a:ln w="12700">
            <a:solidFill>
              <a:srgbClr val="C9B48F"/>
            </a:solidFill>
            <a:prstDash val="solid"/>
          </a:ln>
        </p:spPr>
        <p:txBody>
          <a:bodyPr/>
          <a:lstStyle/>
          <a:p>
            <a:endParaRPr lang="en-IN"/>
          </a:p>
        </p:txBody>
      </p:sp>
      <p:sp>
        <p:nvSpPr>
          <p:cNvPr id="18" name="Text 14"/>
          <p:cNvSpPr txBox="1"/>
          <p:nvPr/>
        </p:nvSpPr>
        <p:spPr>
          <a:xfrm>
            <a:off x="548640" y="5138928"/>
            <a:ext cx="3273552" cy="274320"/>
          </a:xfrm>
          <a:prstGeom prst="rect">
            <a:avLst/>
          </a:prstGeom>
          <a:noFill/>
          <a:ln/>
        </p:spPr>
        <p:txBody>
          <a:bodyPr wrap="square" lIns="0" tIns="0" rIns="0" bIns="0" rtlCol="0" anchor="t"/>
          <a:lstStyle/>
          <a:p>
            <a:pPr marL="0" indent="0" algn="ctr">
              <a:buNone/>
            </a:pPr>
            <a:r>
              <a:rPr lang="en-US" sz="1300" b="1" dirty="0">
                <a:solidFill>
                  <a:srgbClr val="5A5347"/>
                </a:solidFill>
                <a:latin typeface="Cambria" pitchFamily="34" charset="0"/>
                <a:ea typeface="Cambria" pitchFamily="34" charset="-122"/>
                <a:cs typeface="Cambria" pitchFamily="34" charset="-120"/>
              </a:rPr>
              <a:t>Carbon Steel</a:t>
            </a:r>
            <a:endParaRPr lang="en-US" sz="1300" dirty="0"/>
          </a:p>
        </p:txBody>
      </p:sp>
      <p:sp>
        <p:nvSpPr>
          <p:cNvPr id="19" name="Text 15"/>
          <p:cNvSpPr txBox="1"/>
          <p:nvPr/>
        </p:nvSpPr>
        <p:spPr>
          <a:xfrm>
            <a:off x="548640" y="5394960"/>
            <a:ext cx="3273552" cy="457200"/>
          </a:xfrm>
          <a:prstGeom prst="rect">
            <a:avLst/>
          </a:prstGeom>
          <a:noFill/>
          <a:ln/>
        </p:spPr>
        <p:txBody>
          <a:bodyPr wrap="square" lIns="0" tIns="0" rIns="0" bIns="0" rtlCol="0" anchor="t"/>
          <a:lstStyle/>
          <a:p>
            <a:pPr marL="0" indent="0" algn="ctr">
              <a:buNone/>
            </a:pPr>
            <a:r>
              <a:rPr lang="en-US" sz="2600" b="1" dirty="0">
                <a:solidFill>
                  <a:srgbClr val="5A5347"/>
                </a:solidFill>
                <a:latin typeface="Cambria" pitchFamily="34" charset="0"/>
                <a:ea typeface="Cambria" pitchFamily="34" charset="-122"/>
                <a:cs typeface="Cambria" pitchFamily="34" charset="-120"/>
              </a:rPr>
              <a:t>95.84 %</a:t>
            </a:r>
            <a:endParaRPr lang="en-US" sz="2600" dirty="0"/>
          </a:p>
        </p:txBody>
      </p:sp>
      <p:sp>
        <p:nvSpPr>
          <p:cNvPr id="20" name="Text 16"/>
          <p:cNvSpPr txBox="1"/>
          <p:nvPr/>
        </p:nvSpPr>
        <p:spPr>
          <a:xfrm>
            <a:off x="548640" y="5870448"/>
            <a:ext cx="3273552" cy="274320"/>
          </a:xfrm>
          <a:prstGeom prst="rect">
            <a:avLst/>
          </a:prstGeom>
          <a:noFill/>
          <a:ln/>
        </p:spPr>
        <p:txBody>
          <a:bodyPr wrap="square" lIns="0" tIns="0" rIns="0" bIns="0" rtlCol="0" anchor="t"/>
          <a:lstStyle/>
          <a:p>
            <a:pPr marL="0" indent="0" algn="ctr">
              <a:buNone/>
            </a:pPr>
            <a:r>
              <a:rPr lang="en-US" sz="1000" dirty="0">
                <a:solidFill>
                  <a:srgbClr val="8A8477"/>
                </a:solidFill>
                <a:latin typeface="Courier New" pitchFamily="34" charset="0"/>
                <a:ea typeface="Courier New" pitchFamily="34" charset="-122"/>
                <a:cs typeface="Courier New" pitchFamily="34" charset="-120"/>
              </a:rPr>
              <a:t>Corrosion: 3.0 mpy</a:t>
            </a:r>
            <a:endParaRPr lang="en-US" sz="1000" dirty="0"/>
          </a:p>
        </p:txBody>
      </p:sp>
      <p:sp>
        <p:nvSpPr>
          <p:cNvPr id="21" name="Shape 17"/>
          <p:cNvSpPr/>
          <p:nvPr/>
        </p:nvSpPr>
        <p:spPr>
          <a:xfrm>
            <a:off x="4041648" y="5029200"/>
            <a:ext cx="3273552" cy="1188720"/>
          </a:xfrm>
          <a:prstGeom prst="rect">
            <a:avLst/>
          </a:prstGeom>
          <a:solidFill>
            <a:srgbClr val="DDE7D6"/>
          </a:solidFill>
          <a:ln w="12700">
            <a:solidFill>
              <a:srgbClr val="2F6B3A"/>
            </a:solidFill>
            <a:prstDash val="solid"/>
          </a:ln>
        </p:spPr>
        <p:txBody>
          <a:bodyPr/>
          <a:lstStyle/>
          <a:p>
            <a:endParaRPr lang="en-IN"/>
          </a:p>
        </p:txBody>
      </p:sp>
      <p:sp>
        <p:nvSpPr>
          <p:cNvPr id="22" name="Text 18"/>
          <p:cNvSpPr txBox="1"/>
          <p:nvPr/>
        </p:nvSpPr>
        <p:spPr>
          <a:xfrm>
            <a:off x="4041648" y="5138928"/>
            <a:ext cx="3273552" cy="274320"/>
          </a:xfrm>
          <a:prstGeom prst="rect">
            <a:avLst/>
          </a:prstGeom>
          <a:noFill/>
          <a:ln/>
        </p:spPr>
        <p:txBody>
          <a:bodyPr wrap="square" lIns="0" tIns="0" rIns="0" bIns="0" rtlCol="0" anchor="t"/>
          <a:lstStyle/>
          <a:p>
            <a:pPr marL="0" indent="0" algn="ctr">
              <a:buNone/>
            </a:pPr>
            <a:r>
              <a:rPr lang="en-US" sz="1300" b="1" dirty="0">
                <a:solidFill>
                  <a:srgbClr val="2F6B3A"/>
                </a:solidFill>
                <a:latin typeface="Cambria" pitchFamily="34" charset="0"/>
                <a:ea typeface="Cambria" pitchFamily="34" charset="-122"/>
                <a:cs typeface="Cambria" pitchFamily="34" charset="-120"/>
              </a:rPr>
              <a:t>Alloy Upgrade</a:t>
            </a:r>
            <a:endParaRPr lang="en-US" sz="1300" dirty="0"/>
          </a:p>
        </p:txBody>
      </p:sp>
      <p:sp>
        <p:nvSpPr>
          <p:cNvPr id="23" name="Text 19"/>
          <p:cNvSpPr txBox="1"/>
          <p:nvPr/>
        </p:nvSpPr>
        <p:spPr>
          <a:xfrm>
            <a:off x="4041648" y="5394960"/>
            <a:ext cx="3273552" cy="457200"/>
          </a:xfrm>
          <a:prstGeom prst="rect">
            <a:avLst/>
          </a:prstGeom>
          <a:noFill/>
          <a:ln/>
        </p:spPr>
        <p:txBody>
          <a:bodyPr wrap="square" lIns="0" tIns="0" rIns="0" bIns="0" rtlCol="0" anchor="t"/>
          <a:lstStyle/>
          <a:p>
            <a:pPr marL="0" indent="0" algn="ctr">
              <a:buNone/>
            </a:pPr>
            <a:r>
              <a:rPr lang="en-US" sz="2600" b="1" dirty="0">
                <a:solidFill>
                  <a:srgbClr val="2F6B3A"/>
                </a:solidFill>
                <a:latin typeface="Cambria" pitchFamily="34" charset="0"/>
                <a:ea typeface="Cambria" pitchFamily="34" charset="-122"/>
                <a:cs typeface="Cambria" pitchFamily="34" charset="-120"/>
              </a:rPr>
              <a:t>97.15 %</a:t>
            </a:r>
            <a:endParaRPr lang="en-US" sz="2600" dirty="0"/>
          </a:p>
        </p:txBody>
      </p:sp>
      <p:sp>
        <p:nvSpPr>
          <p:cNvPr id="24" name="Text 20"/>
          <p:cNvSpPr txBox="1"/>
          <p:nvPr/>
        </p:nvSpPr>
        <p:spPr>
          <a:xfrm>
            <a:off x="4041648" y="5870448"/>
            <a:ext cx="3273552" cy="274320"/>
          </a:xfrm>
          <a:prstGeom prst="rect">
            <a:avLst/>
          </a:prstGeom>
          <a:noFill/>
          <a:ln/>
        </p:spPr>
        <p:txBody>
          <a:bodyPr wrap="square" lIns="0" tIns="0" rIns="0" bIns="0" rtlCol="0" anchor="t"/>
          <a:lstStyle/>
          <a:p>
            <a:pPr marL="0" indent="0" algn="ctr">
              <a:buNone/>
            </a:pPr>
            <a:r>
              <a:rPr lang="en-US" sz="1000" dirty="0">
                <a:solidFill>
                  <a:srgbClr val="2F6B3A"/>
                </a:solidFill>
                <a:latin typeface="Courier New" pitchFamily="34" charset="0"/>
                <a:ea typeface="Courier New" pitchFamily="34" charset="-122"/>
                <a:cs typeface="Courier New" pitchFamily="34" charset="-120"/>
              </a:rPr>
              <a:t>Corrosion: 1.0 mpy</a:t>
            </a:r>
            <a:endParaRPr lang="en-US" sz="1000" dirty="0"/>
          </a:p>
        </p:txBody>
      </p:sp>
      <p:sp>
        <p:nvSpPr>
          <p:cNvPr id="25" name="Shape 21"/>
          <p:cNvSpPr/>
          <p:nvPr/>
        </p:nvSpPr>
        <p:spPr>
          <a:xfrm>
            <a:off x="7543800" y="1783080"/>
            <a:ext cx="4096512" cy="4434840"/>
          </a:xfrm>
          <a:prstGeom prst="rect">
            <a:avLst/>
          </a:prstGeom>
          <a:solidFill>
            <a:srgbClr val="EFDCCF"/>
          </a:solidFill>
          <a:ln w="12700">
            <a:solidFill>
              <a:srgbClr val="A03B30"/>
            </a:solidFill>
            <a:prstDash val="solid"/>
          </a:ln>
        </p:spPr>
        <p:txBody>
          <a:bodyPr/>
          <a:lstStyle/>
          <a:p>
            <a:endParaRPr lang="en-IN"/>
          </a:p>
        </p:txBody>
      </p:sp>
      <p:sp>
        <p:nvSpPr>
          <p:cNvPr id="26" name="Shape 22"/>
          <p:cNvSpPr/>
          <p:nvPr/>
        </p:nvSpPr>
        <p:spPr>
          <a:xfrm>
            <a:off x="7772400" y="2011680"/>
            <a:ext cx="548640" cy="548640"/>
          </a:xfrm>
          <a:prstGeom prst="ellipse">
            <a:avLst/>
          </a:prstGeom>
          <a:solidFill>
            <a:srgbClr val="EFDCCF"/>
          </a:solidFill>
          <a:ln w="15875">
            <a:solidFill>
              <a:srgbClr val="7A1F1A"/>
            </a:solidFill>
            <a:prstDash val="solid"/>
          </a:ln>
        </p:spPr>
        <p:txBody>
          <a:bodyPr/>
          <a:lstStyle/>
          <a:p>
            <a:endParaRPr lang="en-IN"/>
          </a:p>
        </p:txBody>
      </p:sp>
      <p:pic>
        <p:nvPicPr>
          <p:cNvPr id="27" name="Image 2" descr="preencoded.png"/>
          <p:cNvPicPr>
            <a:picLocks noChangeAspect="1"/>
          </p:cNvPicPr>
          <p:nvPr/>
        </p:nvPicPr>
        <p:blipFill>
          <a:blip r:embed="rId5"/>
          <a:stretch>
            <a:fillRect/>
          </a:stretch>
        </p:blipFill>
        <p:spPr>
          <a:xfrm>
            <a:off x="7909560" y="2148840"/>
            <a:ext cx="274320" cy="274320"/>
          </a:xfrm>
          <a:prstGeom prst="rect">
            <a:avLst/>
          </a:prstGeom>
        </p:spPr>
      </p:pic>
      <p:sp>
        <p:nvSpPr>
          <p:cNvPr id="28" name="Text 23"/>
          <p:cNvSpPr txBox="1"/>
          <p:nvPr/>
        </p:nvSpPr>
        <p:spPr>
          <a:xfrm>
            <a:off x="8458200" y="2103120"/>
            <a:ext cx="3108960" cy="310896"/>
          </a:xfrm>
          <a:prstGeom prst="rect">
            <a:avLst/>
          </a:prstGeom>
          <a:noFill/>
          <a:ln/>
        </p:spPr>
        <p:txBody>
          <a:bodyPr wrap="square" lIns="0" tIns="0" rIns="0" bIns="0" rtlCol="0" anchor="t"/>
          <a:lstStyle/>
          <a:p>
            <a:pPr marL="0" indent="0">
              <a:buNone/>
            </a:pPr>
            <a:r>
              <a:rPr lang="en-US" sz="1600" b="1" dirty="0">
                <a:solidFill>
                  <a:srgbClr val="7A1F1A"/>
                </a:solidFill>
                <a:latin typeface="Cambria" pitchFamily="34" charset="0"/>
                <a:ea typeface="Cambria" pitchFamily="34" charset="-122"/>
                <a:cs typeface="Cambria" pitchFamily="34" charset="-120"/>
              </a:rPr>
              <a:t>Return on Investment</a:t>
            </a:r>
            <a:endParaRPr lang="en-US" sz="1600" dirty="0"/>
          </a:p>
        </p:txBody>
      </p:sp>
      <p:sp>
        <p:nvSpPr>
          <p:cNvPr id="29" name="Text 24"/>
          <p:cNvSpPr txBox="1"/>
          <p:nvPr/>
        </p:nvSpPr>
        <p:spPr>
          <a:xfrm>
            <a:off x="7772400" y="2743200"/>
            <a:ext cx="3657600" cy="822960"/>
          </a:xfrm>
          <a:prstGeom prst="rect">
            <a:avLst/>
          </a:prstGeom>
          <a:noFill/>
          <a:ln/>
        </p:spPr>
        <p:txBody>
          <a:bodyPr wrap="square" lIns="0" tIns="0" rIns="0" bIns="0" rtlCol="0" anchor="t"/>
          <a:lstStyle/>
          <a:p>
            <a:pPr marL="0" indent="0" algn="ctr">
              <a:buNone/>
            </a:pPr>
            <a:r>
              <a:rPr lang="en-US" sz="5200" b="1" dirty="0">
                <a:solidFill>
                  <a:srgbClr val="7A1F1A"/>
                </a:solidFill>
                <a:latin typeface="Cambria" pitchFamily="34" charset="0"/>
                <a:ea typeface="Cambria" pitchFamily="34" charset="-122"/>
                <a:cs typeface="Cambria" pitchFamily="34" charset="-120"/>
              </a:rPr>
              <a:t>+1.31%</a:t>
            </a:r>
            <a:endParaRPr lang="en-US" sz="5200" dirty="0"/>
          </a:p>
        </p:txBody>
      </p:sp>
      <p:sp>
        <p:nvSpPr>
          <p:cNvPr id="30" name="Text 25"/>
          <p:cNvSpPr txBox="1"/>
          <p:nvPr/>
        </p:nvSpPr>
        <p:spPr>
          <a:xfrm>
            <a:off x="7772400" y="3611880"/>
            <a:ext cx="3657600" cy="320040"/>
          </a:xfrm>
          <a:prstGeom prst="rect">
            <a:avLst/>
          </a:prstGeom>
          <a:noFill/>
          <a:ln/>
        </p:spPr>
        <p:txBody>
          <a:bodyPr wrap="square" lIns="0" tIns="0" rIns="0" bIns="0" rtlCol="0" anchor="t"/>
          <a:lstStyle/>
          <a:p>
            <a:pPr marL="0" indent="0" algn="ctr">
              <a:buNone/>
            </a:pPr>
            <a:r>
              <a:rPr lang="en-US" sz="1300" i="1" dirty="0">
                <a:solidFill>
                  <a:srgbClr val="1C1712"/>
                </a:solidFill>
                <a:latin typeface="Cambria" pitchFamily="34" charset="0"/>
                <a:ea typeface="Cambria" pitchFamily="34" charset="-122"/>
                <a:cs typeface="Cambria" pitchFamily="34" charset="-120"/>
              </a:rPr>
              <a:t>Facility-Wide Availability Gain</a:t>
            </a:r>
            <a:endParaRPr lang="en-US" sz="1300" dirty="0"/>
          </a:p>
        </p:txBody>
      </p:sp>
      <p:sp>
        <p:nvSpPr>
          <p:cNvPr id="31" name="Shape 26"/>
          <p:cNvSpPr/>
          <p:nvPr/>
        </p:nvSpPr>
        <p:spPr>
          <a:xfrm>
            <a:off x="7772400" y="4069080"/>
            <a:ext cx="3639312" cy="0"/>
          </a:xfrm>
          <a:prstGeom prst="line">
            <a:avLst/>
          </a:prstGeom>
          <a:noFill/>
          <a:ln w="9525">
            <a:solidFill>
              <a:srgbClr val="A03B30"/>
            </a:solidFill>
            <a:prstDash val="solid"/>
          </a:ln>
        </p:spPr>
        <p:txBody>
          <a:bodyPr/>
          <a:lstStyle/>
          <a:p>
            <a:endParaRPr lang="en-IN"/>
          </a:p>
        </p:txBody>
      </p:sp>
      <p:sp>
        <p:nvSpPr>
          <p:cNvPr id="32" name="Text 27"/>
          <p:cNvSpPr txBox="1"/>
          <p:nvPr/>
        </p:nvSpPr>
        <p:spPr>
          <a:xfrm>
            <a:off x="7772400" y="4206240"/>
            <a:ext cx="3639312" cy="182880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Mathematically proves the return on investment for the capital alloy retubing expense — an estimated $380,000/yr value accretion from improved uptime.</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3">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06 — TASK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Task Optimization Engine &amp; Boundary Constraints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Simulating thousands of possible maintenance plans to discover the optimal schedule.</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63</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TASK OPTIMIZATION — NEWTON CONSTRAINT SOLVER</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pic>
        <p:nvPicPr>
          <p:cNvPr id="16" name="Image 1" descr="Task Optimization — Newton Constraint Solver"/>
          <p:cNvPicPr>
            <a:picLocks noChangeAspect="1"/>
          </p:cNvPicPr>
          <p:nvPr/>
        </p:nvPicPr>
        <p:blipFill>
          <a:blip r:embed="rId4"/>
          <a:stretch>
            <a:fillRect/>
          </a:stretch>
        </p:blipFill>
        <p:spPr>
          <a:xfrm>
            <a:off x="1198069" y="2240280"/>
            <a:ext cx="4690463" cy="3849624"/>
          </a:xfrm>
          <a:prstGeom prst="rect">
            <a:avLst/>
          </a:prstGeom>
        </p:spPr>
      </p:pic>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THREE HARD OPERATIONAL CONSTRAINTS</a:t>
            </a:r>
            <a:endParaRPr lang="en-US" sz="950" dirty="0"/>
          </a:p>
        </p:txBody>
      </p:sp>
      <p:sp>
        <p:nvSpPr>
          <p:cNvPr id="19" name="Shape 15"/>
          <p:cNvSpPr/>
          <p:nvPr/>
        </p:nvSpPr>
        <p:spPr>
          <a:xfrm>
            <a:off x="6949440" y="2468880"/>
            <a:ext cx="530352" cy="530352"/>
          </a:xfrm>
          <a:prstGeom prst="ellipse">
            <a:avLst/>
          </a:prstGeom>
          <a:solidFill>
            <a:srgbClr val="DDE7D6"/>
          </a:solidFill>
          <a:ln w="15875">
            <a:solidFill>
              <a:srgbClr val="2F6B3A"/>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7082028" y="2601468"/>
            <a:ext cx="265176" cy="265176"/>
          </a:xfrm>
          <a:prstGeom prst="rect">
            <a:avLst/>
          </a:prstGeom>
        </p:spPr>
      </p:pic>
      <p:sp>
        <p:nvSpPr>
          <p:cNvPr id="21" name="Text 16"/>
          <p:cNvSpPr txBox="1"/>
          <p:nvPr/>
        </p:nvSpPr>
        <p:spPr>
          <a:xfrm>
            <a:off x="7680960" y="2450592"/>
            <a:ext cx="3886200" cy="310896"/>
          </a:xfrm>
          <a:prstGeom prst="rect">
            <a:avLst/>
          </a:prstGeom>
          <a:noFill/>
          <a:ln/>
        </p:spPr>
        <p:txBody>
          <a:bodyPr wrap="square" lIns="0" tIns="0" rIns="0" bIns="0" rtlCol="0" anchor="t"/>
          <a:lstStyle/>
          <a:p>
            <a:pPr marL="0" indent="0">
              <a:buNone/>
            </a:pPr>
            <a:r>
              <a:rPr lang="en-US" sz="1450" b="1" dirty="0">
                <a:solidFill>
                  <a:srgbClr val="2F6B3A"/>
                </a:solidFill>
                <a:latin typeface="Cambria" pitchFamily="34" charset="0"/>
                <a:ea typeface="Cambria" pitchFamily="34" charset="-122"/>
                <a:cs typeface="Cambria" pitchFamily="34" charset="-120"/>
              </a:rPr>
              <a:t>1. Minimum Required Availability</a:t>
            </a:r>
            <a:endParaRPr lang="en-US" sz="1450" dirty="0"/>
          </a:p>
        </p:txBody>
      </p:sp>
      <p:sp>
        <p:nvSpPr>
          <p:cNvPr id="22" name="Text 17"/>
          <p:cNvSpPr txBox="1"/>
          <p:nvPr/>
        </p:nvSpPr>
        <p:spPr>
          <a:xfrm>
            <a:off x="7680960" y="2779776"/>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E.g. Plant must achieve ≥ 98.5% uptime across the evaluation horizon.</a:t>
            </a:r>
            <a:endParaRPr lang="en-US" sz="1250" dirty="0"/>
          </a:p>
        </p:txBody>
      </p:sp>
      <p:sp>
        <p:nvSpPr>
          <p:cNvPr id="23" name="Shape 18"/>
          <p:cNvSpPr/>
          <p:nvPr/>
        </p:nvSpPr>
        <p:spPr>
          <a:xfrm>
            <a:off x="6949440" y="3703320"/>
            <a:ext cx="530352" cy="530352"/>
          </a:xfrm>
          <a:prstGeom prst="ellipse">
            <a:avLst/>
          </a:prstGeom>
          <a:solidFill>
            <a:srgbClr val="EDE2C4"/>
          </a:solidFill>
          <a:ln w="15875">
            <a:solidFill>
              <a:srgbClr val="9A6A12"/>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7082028" y="3835908"/>
            <a:ext cx="265176" cy="265176"/>
          </a:xfrm>
          <a:prstGeom prst="rect">
            <a:avLst/>
          </a:prstGeom>
        </p:spPr>
      </p:pic>
      <p:sp>
        <p:nvSpPr>
          <p:cNvPr id="25" name="Text 19"/>
          <p:cNvSpPr txBox="1"/>
          <p:nvPr/>
        </p:nvSpPr>
        <p:spPr>
          <a:xfrm>
            <a:off x="7680960" y="3685032"/>
            <a:ext cx="3886200" cy="310896"/>
          </a:xfrm>
          <a:prstGeom prst="rect">
            <a:avLst/>
          </a:prstGeom>
          <a:noFill/>
          <a:ln/>
        </p:spPr>
        <p:txBody>
          <a:bodyPr wrap="square" lIns="0" tIns="0" rIns="0" bIns="0" rtlCol="0" anchor="t"/>
          <a:lstStyle/>
          <a:p>
            <a:pPr marL="0" indent="0">
              <a:buNone/>
            </a:pPr>
            <a:r>
              <a:rPr lang="en-US" sz="1450" b="1" dirty="0">
                <a:solidFill>
                  <a:srgbClr val="9A6A12"/>
                </a:solidFill>
                <a:latin typeface="Cambria" pitchFamily="34" charset="0"/>
                <a:ea typeface="Cambria" pitchFamily="34" charset="-122"/>
                <a:cs typeface="Cambria" pitchFamily="34" charset="-120"/>
              </a:rPr>
              <a:t>2. Maximum Maintenance Budget</a:t>
            </a:r>
            <a:endParaRPr lang="en-US" sz="1450" dirty="0"/>
          </a:p>
        </p:txBody>
      </p:sp>
      <p:sp>
        <p:nvSpPr>
          <p:cNvPr id="26" name="Text 20"/>
          <p:cNvSpPr txBox="1"/>
          <p:nvPr/>
        </p:nvSpPr>
        <p:spPr>
          <a:xfrm>
            <a:off x="7680960" y="4014216"/>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Fixed operational expenditure cap constraining total task spend.</a:t>
            </a:r>
            <a:endParaRPr lang="en-US" sz="1250" dirty="0"/>
          </a:p>
        </p:txBody>
      </p:sp>
      <p:sp>
        <p:nvSpPr>
          <p:cNvPr id="27" name="Shape 21"/>
          <p:cNvSpPr/>
          <p:nvPr/>
        </p:nvSpPr>
        <p:spPr>
          <a:xfrm>
            <a:off x="6949440" y="4937760"/>
            <a:ext cx="530352" cy="530352"/>
          </a:xfrm>
          <a:prstGeom prst="ellipse">
            <a:avLst/>
          </a:prstGeom>
          <a:solidFill>
            <a:srgbClr val="EFDCCF"/>
          </a:solidFill>
          <a:ln w="15875">
            <a:solidFill>
              <a:srgbClr val="7A1F1A"/>
            </a:solidFill>
            <a:prstDash val="solid"/>
          </a:ln>
        </p:spPr>
        <p:txBody>
          <a:bodyPr/>
          <a:lstStyle/>
          <a:p>
            <a:endParaRPr lang="en-IN"/>
          </a:p>
        </p:txBody>
      </p:sp>
      <p:pic>
        <p:nvPicPr>
          <p:cNvPr id="28" name="Image 4" descr="preencoded.png"/>
          <p:cNvPicPr>
            <a:picLocks noChangeAspect="1"/>
          </p:cNvPicPr>
          <p:nvPr/>
        </p:nvPicPr>
        <p:blipFill>
          <a:blip r:embed="rId7"/>
          <a:stretch>
            <a:fillRect/>
          </a:stretch>
        </p:blipFill>
        <p:spPr>
          <a:xfrm>
            <a:off x="7082028" y="5070348"/>
            <a:ext cx="265176" cy="265176"/>
          </a:xfrm>
          <a:prstGeom prst="rect">
            <a:avLst/>
          </a:prstGeom>
        </p:spPr>
      </p:pic>
      <p:sp>
        <p:nvSpPr>
          <p:cNvPr id="29" name="Text 22"/>
          <p:cNvSpPr txBox="1"/>
          <p:nvPr/>
        </p:nvSpPr>
        <p:spPr>
          <a:xfrm>
            <a:off x="7680960" y="4919472"/>
            <a:ext cx="3886200" cy="310896"/>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3. Maximum Allowable HSE Risk</a:t>
            </a:r>
            <a:endParaRPr lang="en-US" sz="1450" dirty="0"/>
          </a:p>
        </p:txBody>
      </p:sp>
      <p:sp>
        <p:nvSpPr>
          <p:cNvPr id="30" name="Text 23"/>
          <p:cNvSpPr txBox="1"/>
          <p:nvPr/>
        </p:nvSpPr>
        <p:spPr>
          <a:xfrm>
            <a:off x="7680960" y="5248656"/>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Absolute zero-tolerance ceiling for safety and containment breaches.</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06 — TASK OPTIMIZATION</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Task Optimization &amp; Goal-Seeking Reliability</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Simulating asset management plans to balance availability, HSE risk, and maintenance budget.</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64</a:t>
            </a:r>
            <a:r>
              <a:rPr sz="900">
                <a:solidFill>
                  <a:srgbClr val="8A8477"/>
                </a:solidFill>
                <a:latin typeface="Courier New"/>
              </a:rPr>
              <a:t> / 80</a:t>
            </a:r>
          </a:p>
        </p:txBody>
      </p:sp>
      <p:sp>
        <p:nvSpPr>
          <p:cNvPr id="13" name="Rectangle 12"/>
          <p:cNvSpPr/>
          <p:nvPr/>
        </p:nvSpPr>
        <p:spPr>
          <a:xfrm>
            <a:off x="548640" y="1783080"/>
            <a:ext cx="5200000" cy="448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8640" y="1853080"/>
            <a:ext cx="4920000" cy="220000"/>
          </a:xfrm>
          <a:prstGeom prst="rect">
            <a:avLst/>
          </a:prstGeom>
          <a:noFill/>
        </p:spPr>
        <p:txBody>
          <a:bodyPr wrap="none" lIns="0" tIns="0">
            <a:spAutoFit/>
          </a:bodyPr>
          <a:lstStyle/>
          <a:p>
            <a:pPr>
              <a:defRPr sz="850" b="1">
                <a:solidFill>
                  <a:srgbClr val="7A1F1A"/>
                </a:solidFill>
                <a:latin typeface="Courier New"/>
              </a:defRPr>
            </a:pPr>
            <a:r>
              <a:t>FIG · NEWTON TASK OPTIMIZATION ENGINE</a:t>
            </a:r>
          </a:p>
        </p:txBody>
      </p:sp>
      <p:sp>
        <p:nvSpPr>
          <p:cNvPr id="15" name="Rectangle 14"/>
          <p:cNvSpPr/>
          <p:nvPr/>
        </p:nvSpPr>
        <p:spPr>
          <a:xfrm>
            <a:off x="688640" y="2083080"/>
            <a:ext cx="492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task_opt_ui.png"/>
          <p:cNvPicPr>
            <a:picLocks noChangeAspect="1"/>
          </p:cNvPicPr>
          <p:nvPr/>
        </p:nvPicPr>
        <p:blipFill>
          <a:blip r:embed="rId3"/>
          <a:stretch>
            <a:fillRect/>
          </a:stretch>
        </p:blipFill>
        <p:spPr>
          <a:xfrm>
            <a:off x="650000" y="2200000"/>
            <a:ext cx="5000000" cy="3900000"/>
          </a:xfrm>
          <a:prstGeom prst="rect">
            <a:avLst/>
          </a:prstGeom>
        </p:spPr>
      </p:pic>
      <p:sp>
        <p:nvSpPr>
          <p:cNvPr id="17" name="Rectangle 16"/>
          <p:cNvSpPr/>
          <p:nvPr/>
        </p:nvSpPr>
        <p:spPr>
          <a:xfrm>
            <a:off x="5900000" y="1783080"/>
            <a:ext cx="5740312" cy="4480000"/>
          </a:xfrm>
          <a:prstGeom prst="rect">
            <a:avLst/>
          </a:prstGeom>
          <a:solidFill>
            <a:srgbClr val="FAFAF8"/>
          </a:solidFill>
          <a:ln>
            <a:solidFill>
              <a:srgbClr val="DCD7CF"/>
            </a:solidFill>
          </a:ln>
        </p:spPr>
        <p:style>
          <a:lnRef idx="1">
            <a:schemeClr val="accent1"/>
          </a:lnRef>
          <a:fillRef idx="3">
            <a:schemeClr val="accent1"/>
          </a:fillRef>
          <a:effectRef idx="2">
            <a:schemeClr val="accent1"/>
          </a:effectRef>
          <a:fontRef idx="minor">
            <a:schemeClr val="lt1"/>
          </a:fontRef>
        </p:style>
        <p:txBody>
          <a:bodyPr wrap="square" lIns="201168" tIns="137160" rtlCol="0" anchor="ctr"/>
          <a:lstStyle/>
          <a:p>
            <a:pPr algn="just"/>
            <a:r>
              <a:rPr sz="1150" dirty="0">
                <a:solidFill>
                  <a:srgbClr val="1C1712"/>
                </a:solidFill>
                <a:latin typeface="Cambria"/>
              </a:rPr>
              <a:t>• </a:t>
            </a:r>
            <a:r>
              <a:rPr sz="1150" b="1" dirty="0">
                <a:solidFill>
                  <a:srgbClr val="7A1F1A"/>
                </a:solidFill>
                <a:latin typeface="Cambria"/>
              </a:rPr>
              <a:t>Maximize reliability return-on-investment (ROI)</a:t>
            </a:r>
            <a:r>
              <a:rPr sz="1150" dirty="0">
                <a:solidFill>
                  <a:srgbClr val="1C1712"/>
                </a:solidFill>
                <a:latin typeface="Cambria"/>
              </a:rPr>
              <a:t>, reaching the ideal balance across conflicting metrics of availability, risk, and cost.</a:t>
            </a:r>
          </a:p>
          <a:p>
            <a:pPr algn="just">
              <a:spcBef>
                <a:spcPts val="600"/>
              </a:spcBef>
            </a:pPr>
            <a:r>
              <a:rPr sz="1150" dirty="0">
                <a:solidFill>
                  <a:srgbClr val="1C1712"/>
                </a:solidFill>
                <a:latin typeface="Cambria"/>
              </a:rPr>
              <a:t>• By connecting asset data, predicted failure dates, field execution, and system availability we can now </a:t>
            </a:r>
            <a:r>
              <a:rPr sz="1150" b="1" dirty="0">
                <a:solidFill>
                  <a:srgbClr val="7A1F1A"/>
                </a:solidFill>
                <a:latin typeface="Cambria"/>
              </a:rPr>
              <a:t>goal-seek reliability.</a:t>
            </a:r>
          </a:p>
          <a:p>
            <a:pPr algn="just">
              <a:spcBef>
                <a:spcPts val="600"/>
              </a:spcBef>
            </a:pPr>
            <a:r>
              <a:rPr sz="1150" dirty="0">
                <a:solidFill>
                  <a:srgbClr val="1C1712"/>
                </a:solidFill>
                <a:latin typeface="Cambria"/>
              </a:rPr>
              <a:t>• </a:t>
            </a:r>
            <a:r>
              <a:rPr sz="1150" b="1" dirty="0">
                <a:solidFill>
                  <a:srgbClr val="1C1712"/>
                </a:solidFill>
                <a:latin typeface="Cambria"/>
              </a:rPr>
              <a:t>Optimization algorithm simulates</a:t>
            </a:r>
            <a:r>
              <a:rPr sz="1150" dirty="0">
                <a:solidFill>
                  <a:srgbClr val="1C1712"/>
                </a:solidFill>
                <a:latin typeface="Cambria"/>
              </a:rPr>
              <a:t> thousands of possible asset management plans, their effect, and projected facility performance.</a:t>
            </a:r>
          </a:p>
          <a:p>
            <a:pPr algn="just">
              <a:spcBef>
                <a:spcPts val="800"/>
              </a:spcBef>
              <a:defRPr sz="1200" b="1">
                <a:solidFill>
                  <a:srgbClr val="7A1F1A"/>
                </a:solidFill>
                <a:latin typeface="Cambria"/>
              </a:defRPr>
            </a:pPr>
            <a:r>
              <a:rPr dirty="0"/>
              <a:t>Algorithm Constraints:</a:t>
            </a:r>
          </a:p>
          <a:p>
            <a:pPr algn="just">
              <a:defRPr sz="1100">
                <a:solidFill>
                  <a:srgbClr val="1C1712"/>
                </a:solidFill>
                <a:latin typeface="Cambria"/>
              </a:defRPr>
            </a:pPr>
            <a:r>
              <a:rPr dirty="0"/>
              <a:t>   – Minimum Facility Production Availability %</a:t>
            </a:r>
          </a:p>
          <a:p>
            <a:pPr algn="just">
              <a:defRPr sz="1100">
                <a:solidFill>
                  <a:srgbClr val="1C1712"/>
                </a:solidFill>
                <a:latin typeface="Cambria"/>
              </a:defRPr>
            </a:pPr>
            <a:r>
              <a:rPr dirty="0"/>
              <a:t>   – Maximum Facility Maintenance Costs $</a:t>
            </a:r>
          </a:p>
          <a:p>
            <a:pPr algn="just">
              <a:defRPr sz="1100">
                <a:solidFill>
                  <a:srgbClr val="1C1712"/>
                </a:solidFill>
                <a:latin typeface="Cambria"/>
              </a:defRPr>
            </a:pPr>
            <a:r>
              <a:rPr dirty="0"/>
              <a:t>   – Maximum Allowable Asset HSE Risk $</a:t>
            </a:r>
          </a:p>
          <a:p>
            <a:pPr algn="just">
              <a:spcBef>
                <a:spcPts val="800"/>
              </a:spcBef>
              <a:defRPr sz="1200" b="1">
                <a:solidFill>
                  <a:srgbClr val="7A1F1A"/>
                </a:solidFill>
                <a:latin typeface="Cambria"/>
              </a:defRPr>
            </a:pPr>
            <a:r>
              <a:rPr dirty="0"/>
              <a:t>Optimization Outputs:</a:t>
            </a:r>
          </a:p>
          <a:p>
            <a:pPr algn="just">
              <a:defRPr sz="1100">
                <a:solidFill>
                  <a:srgbClr val="1C1712"/>
                </a:solidFill>
                <a:latin typeface="Cambria"/>
              </a:defRPr>
            </a:pPr>
            <a:r>
              <a:rPr dirty="0"/>
              <a:t>   – Recommended Tasks &amp; Calendar Execution Dates</a:t>
            </a:r>
          </a:p>
          <a:p>
            <a:pPr algn="just">
              <a:defRPr sz="1100">
                <a:solidFill>
                  <a:srgbClr val="1C1712"/>
                </a:solidFill>
                <a:latin typeface="Cambria"/>
              </a:defRPr>
            </a:pPr>
            <a:r>
              <a:rPr dirty="0"/>
              <a:t>   – Quantified Benefit-Cost Ratio (BCR) per Maintenance Dollar</a:t>
            </a:r>
          </a:p>
          <a:p>
            <a:pPr algn="just">
              <a:defRPr sz="1100">
                <a:solidFill>
                  <a:srgbClr val="1C1712"/>
                </a:solidFill>
                <a:latin typeface="Cambria"/>
              </a:defRPr>
            </a:pPr>
            <a:r>
              <a:rPr dirty="0"/>
              <a:t>   – Projected Facility Availability and Risk Trajectories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4">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1016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06 — TASK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Simulating Future Tasks &amp; Benefit-Cost Ratio (BCR)</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The fundamental decision-science metric governing maintenance execution.</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65</a:t>
            </a:r>
            <a:r>
              <a:rPr sz="900">
                <a:solidFill>
                  <a:srgbClr val="8A8477"/>
                </a:solidFill>
                <a:latin typeface="Courier New"/>
              </a:rPr>
              <a:t> / 80</a:t>
            </a:r>
            <a:endParaRPr lang="en-US" sz="900" dirty="0"/>
          </a:p>
        </p:txBody>
      </p:sp>
      <p:sp>
        <p:nvSpPr>
          <p:cNvPr id="13" name="Shape 10"/>
          <p:cNvSpPr/>
          <p:nvPr/>
        </p:nvSpPr>
        <p:spPr>
          <a:xfrm>
            <a:off x="548640" y="1783080"/>
            <a:ext cx="11091672" cy="1554480"/>
          </a:xfrm>
          <a:prstGeom prst="rect">
            <a:avLst/>
          </a:prstGeom>
          <a:solidFill>
            <a:srgbClr val="EFDCCF"/>
          </a:solidFill>
          <a:ln w="12700">
            <a:solidFill>
              <a:srgbClr val="A03B30"/>
            </a:solidFill>
            <a:prstDash val="solid"/>
          </a:ln>
        </p:spPr>
        <p:txBody>
          <a:bodyPr/>
          <a:lstStyle/>
          <a:p>
            <a:endParaRPr lang="en-IN"/>
          </a:p>
        </p:txBody>
      </p:sp>
      <p:pic>
        <p:nvPicPr>
          <p:cNvPr id="14" name="Image 1" descr="Formula"/>
          <p:cNvPicPr>
            <a:picLocks noChangeAspect="1"/>
          </p:cNvPicPr>
          <p:nvPr/>
        </p:nvPicPr>
        <p:blipFill>
          <a:blip r:embed="rId4"/>
          <a:stretch>
            <a:fillRect/>
          </a:stretch>
        </p:blipFill>
        <p:spPr>
          <a:xfrm>
            <a:off x="885561" y="2088350"/>
            <a:ext cx="10390399" cy="943939"/>
          </a:xfrm>
          <a:prstGeom prst="rect">
            <a:avLst/>
          </a:prstGeom>
        </p:spPr>
      </p:pic>
      <p:sp>
        <p:nvSpPr>
          <p:cNvPr id="15" name="Shape 11"/>
          <p:cNvSpPr/>
          <p:nvPr/>
        </p:nvSpPr>
        <p:spPr>
          <a:xfrm>
            <a:off x="548640" y="3520440"/>
            <a:ext cx="5431536" cy="2697480"/>
          </a:xfrm>
          <a:prstGeom prst="rect">
            <a:avLst/>
          </a:prstGeom>
          <a:solidFill>
            <a:srgbClr val="DDE7D6"/>
          </a:solidFill>
          <a:ln w="12700">
            <a:solidFill>
              <a:srgbClr val="2F6B3A"/>
            </a:solidFill>
            <a:prstDash val="solid"/>
          </a:ln>
        </p:spPr>
        <p:txBody>
          <a:bodyPr/>
          <a:lstStyle/>
          <a:p>
            <a:endParaRPr lang="en-IN"/>
          </a:p>
        </p:txBody>
      </p:sp>
      <p:sp>
        <p:nvSpPr>
          <p:cNvPr id="16" name="Shape 12"/>
          <p:cNvSpPr/>
          <p:nvPr/>
        </p:nvSpPr>
        <p:spPr>
          <a:xfrm>
            <a:off x="777240" y="3749040"/>
            <a:ext cx="548640" cy="548640"/>
          </a:xfrm>
          <a:prstGeom prst="ellipse">
            <a:avLst/>
          </a:prstGeom>
          <a:solidFill>
            <a:srgbClr val="F4EBD7"/>
          </a:solidFill>
          <a:ln w="15875">
            <a:solidFill>
              <a:srgbClr val="2F6B3A"/>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914400" y="3886200"/>
            <a:ext cx="274320" cy="274320"/>
          </a:xfrm>
          <a:prstGeom prst="rect">
            <a:avLst/>
          </a:prstGeom>
        </p:spPr>
      </p:pic>
      <p:sp>
        <p:nvSpPr>
          <p:cNvPr id="18" name="Text 13"/>
          <p:cNvSpPr txBox="1"/>
          <p:nvPr/>
        </p:nvSpPr>
        <p:spPr>
          <a:xfrm>
            <a:off x="1463040" y="3840480"/>
            <a:ext cx="4480560" cy="310896"/>
          </a:xfrm>
          <a:prstGeom prst="rect">
            <a:avLst/>
          </a:prstGeom>
          <a:noFill/>
          <a:ln/>
        </p:spPr>
        <p:txBody>
          <a:bodyPr wrap="square" lIns="0" tIns="0" rIns="0" bIns="0" rtlCol="0" anchor="t"/>
          <a:lstStyle/>
          <a:p>
            <a:pPr marL="0" indent="0">
              <a:buNone/>
            </a:pPr>
            <a:r>
              <a:rPr lang="en-US" sz="1600" b="1" dirty="0">
                <a:solidFill>
                  <a:srgbClr val="2F6B3A"/>
                </a:solidFill>
                <a:latin typeface="Cambria" pitchFamily="34" charset="0"/>
                <a:ea typeface="Cambria" pitchFamily="34" charset="-122"/>
                <a:cs typeface="Cambria" pitchFamily="34" charset="-120"/>
              </a:rPr>
              <a:t>BCR &gt; 1.0 — Value Accretive</a:t>
            </a:r>
            <a:endParaRPr lang="en-US" sz="1600" dirty="0"/>
          </a:p>
        </p:txBody>
      </p:sp>
      <p:sp>
        <p:nvSpPr>
          <p:cNvPr id="19" name="Text 14"/>
          <p:cNvSpPr txBox="1"/>
          <p:nvPr/>
        </p:nvSpPr>
        <p:spPr>
          <a:xfrm>
            <a:off x="777240" y="4572000"/>
            <a:ext cx="4937760" cy="1554480"/>
          </a:xfrm>
          <a:prstGeom prst="rect">
            <a:avLst/>
          </a:prstGeom>
          <a:noFill/>
          <a:ln/>
        </p:spPr>
        <p:txBody>
          <a:bodyPr wrap="square" lIns="0" tIns="0" rIns="0" bIns="0" rtlCol="0" anchor="t"/>
          <a:lstStyle/>
          <a:p>
            <a:pPr marL="0" indent="0">
              <a:buNone/>
            </a:pPr>
            <a:r>
              <a:rPr lang="en-US" sz="1450" dirty="0">
                <a:solidFill>
                  <a:srgbClr val="2C261E"/>
                </a:solidFill>
                <a:latin typeface="Cambria" pitchFamily="34" charset="0"/>
                <a:ea typeface="Cambria" pitchFamily="34" charset="-122"/>
                <a:cs typeface="Cambria" pitchFamily="34" charset="-120"/>
              </a:rPr>
              <a:t>The financial value gained from avoided downtime and mitigated risk exceeds the cost to perform the maintenance task. Executing the task is economically justified.</a:t>
            </a:r>
            <a:endParaRPr lang="en-US" sz="1450" dirty="0"/>
          </a:p>
        </p:txBody>
      </p:sp>
      <p:sp>
        <p:nvSpPr>
          <p:cNvPr id="20" name="Shape 15"/>
          <p:cNvSpPr/>
          <p:nvPr/>
        </p:nvSpPr>
        <p:spPr>
          <a:xfrm>
            <a:off x="6208776" y="3520440"/>
            <a:ext cx="5431536" cy="2697480"/>
          </a:xfrm>
          <a:prstGeom prst="rect">
            <a:avLst/>
          </a:prstGeom>
          <a:solidFill>
            <a:srgbClr val="EFDCCF"/>
          </a:solidFill>
          <a:ln w="12700">
            <a:solidFill>
              <a:srgbClr val="A03B30"/>
            </a:solidFill>
            <a:prstDash val="solid"/>
          </a:ln>
        </p:spPr>
        <p:txBody>
          <a:bodyPr/>
          <a:lstStyle/>
          <a:p>
            <a:endParaRPr lang="en-IN"/>
          </a:p>
        </p:txBody>
      </p:sp>
      <p:sp>
        <p:nvSpPr>
          <p:cNvPr id="21" name="Shape 16"/>
          <p:cNvSpPr/>
          <p:nvPr/>
        </p:nvSpPr>
        <p:spPr>
          <a:xfrm>
            <a:off x="6437376" y="3749040"/>
            <a:ext cx="548640" cy="548640"/>
          </a:xfrm>
          <a:prstGeom prst="ellipse">
            <a:avLst/>
          </a:prstGeom>
          <a:solidFill>
            <a:srgbClr val="F4EBD7"/>
          </a:solidFill>
          <a:ln w="15875">
            <a:solidFill>
              <a:srgbClr val="7A1F1A"/>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6574536" y="3886200"/>
            <a:ext cx="274320" cy="274320"/>
          </a:xfrm>
          <a:prstGeom prst="rect">
            <a:avLst/>
          </a:prstGeom>
        </p:spPr>
      </p:pic>
      <p:sp>
        <p:nvSpPr>
          <p:cNvPr id="23" name="Text 17"/>
          <p:cNvSpPr txBox="1"/>
          <p:nvPr/>
        </p:nvSpPr>
        <p:spPr>
          <a:xfrm>
            <a:off x="7123176" y="3840480"/>
            <a:ext cx="4480560" cy="310896"/>
          </a:xfrm>
          <a:prstGeom prst="rect">
            <a:avLst/>
          </a:prstGeom>
          <a:noFill/>
          <a:ln/>
        </p:spPr>
        <p:txBody>
          <a:bodyPr wrap="square" lIns="0" tIns="0" rIns="0" bIns="0" rtlCol="0" anchor="t"/>
          <a:lstStyle/>
          <a:p>
            <a:pPr marL="0" indent="0">
              <a:buNone/>
            </a:pPr>
            <a:r>
              <a:rPr lang="en-US" sz="1600" b="1" dirty="0">
                <a:solidFill>
                  <a:srgbClr val="7A1F1A"/>
                </a:solidFill>
                <a:latin typeface="Cambria" pitchFamily="34" charset="0"/>
                <a:ea typeface="Cambria" pitchFamily="34" charset="-122"/>
                <a:cs typeface="Cambria" pitchFamily="34" charset="-120"/>
              </a:rPr>
              <a:t>BCR &lt; 1.0 — Value Destructive</a:t>
            </a:r>
            <a:endParaRPr lang="en-US" sz="1600" dirty="0"/>
          </a:p>
        </p:txBody>
      </p:sp>
      <p:sp>
        <p:nvSpPr>
          <p:cNvPr id="24" name="Text 18"/>
          <p:cNvSpPr txBox="1"/>
          <p:nvPr/>
        </p:nvSpPr>
        <p:spPr>
          <a:xfrm>
            <a:off x="6437376" y="4572000"/>
            <a:ext cx="4937760" cy="1554480"/>
          </a:xfrm>
          <a:prstGeom prst="rect">
            <a:avLst/>
          </a:prstGeom>
          <a:noFill/>
          <a:ln/>
        </p:spPr>
        <p:txBody>
          <a:bodyPr wrap="square" lIns="0" tIns="0" rIns="0" bIns="0" rtlCol="0" anchor="t"/>
          <a:lstStyle/>
          <a:p>
            <a:pPr marL="0" indent="0">
              <a:buNone/>
            </a:pPr>
            <a:r>
              <a:rPr lang="en-US" sz="1450" dirty="0">
                <a:solidFill>
                  <a:srgbClr val="2C261E"/>
                </a:solidFill>
                <a:latin typeface="Cambria" pitchFamily="34" charset="0"/>
                <a:ea typeface="Cambria" pitchFamily="34" charset="-122"/>
                <a:cs typeface="Cambria" pitchFamily="34" charset="-120"/>
              </a:rPr>
              <a:t>The task costs more money than the risk it reduces (e.g. over-inspecting a benign circuit). QRO advises deferring or eliminating the task from the schedule.</a:t>
            </a:r>
            <a:endParaRPr lang="en-US" sz="14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5">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06 — TASK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Task Grouping &amp; Informational Pre-Requisites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Synchronizing maintenance windows to avoid fragmented downtime penalties.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66</a:t>
            </a:r>
            <a:r>
              <a:rPr sz="900">
                <a:solidFill>
                  <a:srgbClr val="8A8477"/>
                </a:solidFill>
                <a:latin typeface="Courier New"/>
              </a:rPr>
              <a:t> / 80</a:t>
            </a:r>
            <a:endParaRPr lang="en-US" sz="900" dirty="0"/>
          </a:p>
        </p:txBody>
      </p:sp>
      <p:sp>
        <p:nvSpPr>
          <p:cNvPr id="13" name="Shape 10"/>
          <p:cNvSpPr/>
          <p:nvPr/>
        </p:nvSpPr>
        <p:spPr>
          <a:xfrm>
            <a:off x="548640" y="1783080"/>
            <a:ext cx="676656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640080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TASK GROUPING — NEWTON TURNAROUND CLUSTERING</a:t>
            </a:r>
            <a:endParaRPr lang="en-US" sz="850" dirty="0"/>
          </a:p>
        </p:txBody>
      </p:sp>
      <p:sp>
        <p:nvSpPr>
          <p:cNvPr id="15" name="Shape 12"/>
          <p:cNvSpPr/>
          <p:nvPr/>
        </p:nvSpPr>
        <p:spPr>
          <a:xfrm>
            <a:off x="731520" y="2148840"/>
            <a:ext cx="6400800" cy="0"/>
          </a:xfrm>
          <a:prstGeom prst="line">
            <a:avLst/>
          </a:prstGeom>
          <a:noFill/>
          <a:ln w="9525">
            <a:solidFill>
              <a:srgbClr val="C9B48F"/>
            </a:solidFill>
            <a:prstDash val="solid"/>
          </a:ln>
        </p:spPr>
        <p:txBody>
          <a:bodyPr/>
          <a:lstStyle/>
          <a:p>
            <a:endParaRPr lang="en-IN"/>
          </a:p>
        </p:txBody>
      </p:sp>
      <p:pic>
        <p:nvPicPr>
          <p:cNvPr id="16" name="Image 1" descr="Task Grouping — Newton Turnaround Clustering"/>
          <p:cNvPicPr>
            <a:picLocks noChangeAspect="1"/>
          </p:cNvPicPr>
          <p:nvPr/>
        </p:nvPicPr>
        <p:blipFill>
          <a:blip r:embed="rId4"/>
          <a:stretch>
            <a:fillRect/>
          </a:stretch>
        </p:blipFill>
        <p:spPr>
          <a:xfrm>
            <a:off x="2164743" y="2240280"/>
            <a:ext cx="3534353" cy="3849624"/>
          </a:xfrm>
          <a:prstGeom prst="rect">
            <a:avLst/>
          </a:prstGeom>
        </p:spPr>
      </p:pic>
      <p:sp>
        <p:nvSpPr>
          <p:cNvPr id="17" name="Shape 13"/>
          <p:cNvSpPr/>
          <p:nvPr/>
        </p:nvSpPr>
        <p:spPr>
          <a:xfrm>
            <a:off x="7543800" y="1783080"/>
            <a:ext cx="4096512" cy="4434840"/>
          </a:xfrm>
          <a:prstGeom prst="rect">
            <a:avLst/>
          </a:prstGeom>
          <a:solidFill>
            <a:srgbClr val="EFE4CD"/>
          </a:solidFill>
          <a:ln w="12700">
            <a:solidFill>
              <a:srgbClr val="C9B48F"/>
            </a:solidFill>
            <a:prstDash val="solid"/>
          </a:ln>
        </p:spPr>
        <p:txBody>
          <a:bodyPr/>
          <a:lstStyle/>
          <a:p>
            <a:endParaRPr lang="en-IN"/>
          </a:p>
        </p:txBody>
      </p:sp>
      <p:sp>
        <p:nvSpPr>
          <p:cNvPr id="18" name="Text 14"/>
          <p:cNvSpPr txBox="1"/>
          <p:nvPr/>
        </p:nvSpPr>
        <p:spPr>
          <a:xfrm>
            <a:off x="7772400" y="1965960"/>
            <a:ext cx="36576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TURNAROUND SYNCHRONIZATION</a:t>
            </a:r>
            <a:endParaRPr lang="en-US" sz="950" dirty="0"/>
          </a:p>
        </p:txBody>
      </p:sp>
      <p:sp>
        <p:nvSpPr>
          <p:cNvPr id="19" name="Text 15"/>
          <p:cNvSpPr txBox="1"/>
          <p:nvPr/>
        </p:nvSpPr>
        <p:spPr>
          <a:xfrm>
            <a:off x="7772400" y="2331720"/>
            <a:ext cx="3639312" cy="1188720"/>
          </a:xfrm>
          <a:prstGeom prst="rect">
            <a:avLst/>
          </a:prstGeom>
          <a:noFill/>
          <a:ln/>
        </p:spPr>
        <p:txBody>
          <a:bodyPr wrap="square" lIns="0" tIns="0" rIns="0" bIns="0" rtlCol="0" anchor="t"/>
          <a:lstStyle/>
          <a:p>
            <a:pPr marL="0" indent="0">
              <a:buNone/>
            </a:pPr>
            <a:r>
              <a:rPr lang="en-US" sz="1400" dirty="0">
                <a:solidFill>
                  <a:srgbClr val="2C261E"/>
                </a:solidFill>
                <a:latin typeface="Cambria" pitchFamily="34" charset="0"/>
                <a:ea typeface="Cambria" pitchFamily="34" charset="-122"/>
                <a:cs typeface="Cambria" pitchFamily="34" charset="-120"/>
              </a:rPr>
              <a:t>Executing maintenance in fragmented, isolated windows incurs massive shutdown and startup production penalties.</a:t>
            </a:r>
            <a:endParaRPr lang="en-US" sz="1400" dirty="0"/>
          </a:p>
        </p:txBody>
      </p:sp>
      <p:sp>
        <p:nvSpPr>
          <p:cNvPr id="20" name="Shape 16"/>
          <p:cNvSpPr/>
          <p:nvPr/>
        </p:nvSpPr>
        <p:spPr>
          <a:xfrm>
            <a:off x="7772400" y="3657600"/>
            <a:ext cx="3639312" cy="914400"/>
          </a:xfrm>
          <a:prstGeom prst="rect">
            <a:avLst/>
          </a:prstGeom>
          <a:solidFill>
            <a:srgbClr val="EFDCCF"/>
          </a:solidFill>
          <a:ln w="12700">
            <a:solidFill>
              <a:srgbClr val="A03B30"/>
            </a:solidFill>
            <a:prstDash val="solid"/>
          </a:ln>
        </p:spPr>
        <p:txBody>
          <a:bodyPr/>
          <a:lstStyle/>
          <a:p>
            <a:endParaRPr lang="en-IN"/>
          </a:p>
        </p:txBody>
      </p:sp>
      <p:sp>
        <p:nvSpPr>
          <p:cNvPr id="21" name="Text 17"/>
          <p:cNvSpPr txBox="1"/>
          <p:nvPr/>
        </p:nvSpPr>
        <p:spPr>
          <a:xfrm>
            <a:off x="7909560" y="3657600"/>
            <a:ext cx="3383280" cy="914400"/>
          </a:xfrm>
          <a:prstGeom prst="rect">
            <a:avLst/>
          </a:prstGeom>
          <a:noFill/>
          <a:ln/>
        </p:spPr>
        <p:txBody>
          <a:bodyPr wrap="square" lIns="0" tIns="0" rIns="0" bIns="0" rtlCol="0" anchor="ctr"/>
          <a:lstStyle/>
          <a:p>
            <a:pPr marL="0" indent="0">
              <a:buNone/>
            </a:pPr>
            <a:r>
              <a:rPr lang="en-US" sz="1400" b="1" dirty="0">
                <a:solidFill>
                  <a:srgbClr val="7A1F1A"/>
                </a:solidFill>
                <a:latin typeface="Cambria" pitchFamily="34" charset="0"/>
                <a:ea typeface="Cambria" pitchFamily="34" charset="-122"/>
                <a:cs typeface="Cambria" pitchFamily="34" charset="-120"/>
              </a:rPr>
              <a:t>Task Grouping </a:t>
            </a:r>
            <a:r>
              <a:rPr lang="en-US" sz="1350" dirty="0">
                <a:solidFill>
                  <a:srgbClr val="1C1712"/>
                </a:solidFill>
                <a:latin typeface="Cambria" pitchFamily="34" charset="0"/>
                <a:ea typeface="Cambria" pitchFamily="34" charset="-122"/>
                <a:cs typeface="Cambria" pitchFamily="34" charset="-120"/>
              </a:rPr>
              <a:t>automatically pulls compatible tasks forward in time.</a:t>
            </a:r>
            <a:endParaRPr lang="en-US" sz="1250" dirty="0"/>
          </a:p>
        </p:txBody>
      </p:sp>
      <p:sp>
        <p:nvSpPr>
          <p:cNvPr id="22" name="Text 18"/>
          <p:cNvSpPr txBox="1"/>
          <p:nvPr/>
        </p:nvSpPr>
        <p:spPr>
          <a:xfrm>
            <a:off x="7772400" y="4709160"/>
            <a:ext cx="3639312" cy="1371600"/>
          </a:xfrm>
          <a:prstGeom prst="rect">
            <a:avLst/>
          </a:prstGeom>
          <a:noFill/>
          <a:ln/>
        </p:spPr>
        <p:txBody>
          <a:bodyPr wrap="square" lIns="0" tIns="0" rIns="0" bIns="0" rtlCol="0" anchor="t"/>
          <a:lstStyle/>
          <a:p>
            <a:pPr marL="0" indent="0">
              <a:buNone/>
            </a:pPr>
            <a:r>
              <a:rPr lang="en-US" sz="1400" i="1" dirty="0">
                <a:solidFill>
                  <a:srgbClr val="2C261E"/>
                </a:solidFill>
                <a:latin typeface="Cambria" pitchFamily="34" charset="0"/>
                <a:ea typeface="Cambria" pitchFamily="34" charset="-122"/>
                <a:cs typeface="Cambria" pitchFamily="34" charset="-120"/>
              </a:rPr>
              <a:t>Compatible tasks are clustered into scheduled turnarounds or strategic mini-outages, achieving up to 80% shutdown-cost avoidance.</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6">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06 — TASK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Quantitative Task Effectiveness (QTE): Rotating Machinery</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Augmented POF curves governing condition-monitoring frequency.</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67</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QTE: AUGMENTED POF VS. TASK EFFECTIVENESS</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pic>
        <p:nvPicPr>
          <p:cNvPr id="16" name="Image 1" descr="QTE: Augmented POF vs. Task Effectiveness"/>
          <p:cNvPicPr>
            <a:picLocks noChangeAspect="1"/>
          </p:cNvPicPr>
          <p:nvPr/>
        </p:nvPicPr>
        <p:blipFill>
          <a:blip r:embed="rId4"/>
          <a:srcRect r="29353"/>
          <a:stretch>
            <a:fillRect/>
          </a:stretch>
        </p:blipFill>
        <p:spPr>
          <a:xfrm>
            <a:off x="1543936" y="2623777"/>
            <a:ext cx="3998727" cy="2735157"/>
          </a:xfrm>
          <a:prstGeom prst="rect">
            <a:avLst/>
          </a:prstGeom>
        </p:spPr>
      </p:pic>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AUGMENTED POF MECHANICS</a:t>
            </a:r>
            <a:endParaRPr lang="en-US" sz="950" dirty="0"/>
          </a:p>
        </p:txBody>
      </p:sp>
      <p:sp>
        <p:nvSpPr>
          <p:cNvPr id="19" name="Text 15"/>
          <p:cNvSpPr txBox="1"/>
          <p:nvPr/>
        </p:nvSpPr>
        <p:spPr>
          <a:xfrm>
            <a:off x="6949440" y="2286000"/>
            <a:ext cx="4480560" cy="36576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Combines two probabilities to calibrate monitoring frequency:</a:t>
            </a:r>
            <a:endParaRPr lang="en-US" sz="1350" dirty="0"/>
          </a:p>
        </p:txBody>
      </p:sp>
      <p:sp>
        <p:nvSpPr>
          <p:cNvPr id="20" name="Shape 16"/>
          <p:cNvSpPr/>
          <p:nvPr/>
        </p:nvSpPr>
        <p:spPr>
          <a:xfrm>
            <a:off x="6949440" y="2743200"/>
            <a:ext cx="365760" cy="365760"/>
          </a:xfrm>
          <a:prstGeom prst="ellipse">
            <a:avLst/>
          </a:prstGeom>
          <a:solidFill>
            <a:srgbClr val="EFDCCF"/>
          </a:solidFill>
          <a:ln w="15875">
            <a:solidFill>
              <a:srgbClr val="7A1F1A"/>
            </a:solidFill>
            <a:prstDash val="solid"/>
          </a:ln>
        </p:spPr>
        <p:txBody>
          <a:bodyPr/>
          <a:lstStyle/>
          <a:p>
            <a:endParaRPr lang="en-IN"/>
          </a:p>
        </p:txBody>
      </p:sp>
      <p:sp>
        <p:nvSpPr>
          <p:cNvPr id="21" name="Text 17"/>
          <p:cNvSpPr txBox="1"/>
          <p:nvPr/>
        </p:nvSpPr>
        <p:spPr>
          <a:xfrm>
            <a:off x="6949440" y="2743200"/>
            <a:ext cx="365760" cy="365760"/>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22" name="Text 18"/>
          <p:cNvSpPr txBox="1"/>
          <p:nvPr/>
        </p:nvSpPr>
        <p:spPr>
          <a:xfrm>
            <a:off x="7452360" y="2743200"/>
            <a:ext cx="4023360" cy="64008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Likelihood that internal damage has initiated since the last inspection.</a:t>
            </a:r>
            <a:endParaRPr lang="en-US" sz="1300" dirty="0"/>
          </a:p>
        </p:txBody>
      </p:sp>
      <p:sp>
        <p:nvSpPr>
          <p:cNvPr id="23" name="Shape 19"/>
          <p:cNvSpPr/>
          <p:nvPr/>
        </p:nvSpPr>
        <p:spPr>
          <a:xfrm>
            <a:off x="6949440" y="3429000"/>
            <a:ext cx="365760" cy="365760"/>
          </a:xfrm>
          <a:prstGeom prst="ellipse">
            <a:avLst/>
          </a:prstGeom>
          <a:solidFill>
            <a:srgbClr val="EFDCCF"/>
          </a:solidFill>
          <a:ln w="15875">
            <a:solidFill>
              <a:srgbClr val="7A1F1A"/>
            </a:solidFill>
            <a:prstDash val="solid"/>
          </a:ln>
        </p:spPr>
        <p:txBody>
          <a:bodyPr/>
          <a:lstStyle/>
          <a:p>
            <a:endParaRPr lang="en-IN"/>
          </a:p>
        </p:txBody>
      </p:sp>
      <p:sp>
        <p:nvSpPr>
          <p:cNvPr id="24" name="Text 20"/>
          <p:cNvSpPr txBox="1"/>
          <p:nvPr/>
        </p:nvSpPr>
        <p:spPr>
          <a:xfrm>
            <a:off x="6949440" y="3429000"/>
            <a:ext cx="365760" cy="365760"/>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5" name="Text 21"/>
          <p:cNvSpPr txBox="1"/>
          <p:nvPr/>
        </p:nvSpPr>
        <p:spPr>
          <a:xfrm>
            <a:off x="7452360" y="3429000"/>
            <a:ext cx="4023360" cy="640080"/>
          </a:xfrm>
          <a:prstGeom prst="rect">
            <a:avLst/>
          </a:prstGeom>
          <a:noFill/>
          <a:ln/>
        </p:spPr>
        <p:txBody>
          <a:bodyPr wrap="square" lIns="0" tIns="0" rIns="0" bIns="0" rtlCol="0" anchor="t"/>
          <a:lstStyle/>
          <a:p>
            <a:pPr marL="0" indent="0">
              <a:buNone/>
            </a:pPr>
            <a:r>
              <a:rPr lang="en-US" sz="1300" dirty="0">
                <a:solidFill>
                  <a:srgbClr val="2C261E"/>
                </a:solidFill>
                <a:latin typeface="Cambria" pitchFamily="34" charset="0"/>
                <a:ea typeface="Cambria" pitchFamily="34" charset="-122"/>
                <a:cs typeface="Cambria" pitchFamily="34" charset="-120"/>
              </a:rPr>
              <a:t>How rapidly that damage progresses along the P-F interval to functional trip.</a:t>
            </a:r>
            <a:endParaRPr lang="en-US" sz="1300" dirty="0"/>
          </a:p>
        </p:txBody>
      </p:sp>
      <p:sp>
        <p:nvSpPr>
          <p:cNvPr id="26" name="Shape 22"/>
          <p:cNvSpPr/>
          <p:nvPr/>
        </p:nvSpPr>
        <p:spPr>
          <a:xfrm>
            <a:off x="6949440" y="4206240"/>
            <a:ext cx="4480560" cy="1828800"/>
          </a:xfrm>
          <a:prstGeom prst="rect">
            <a:avLst/>
          </a:prstGeom>
          <a:solidFill>
            <a:srgbClr val="EFDCCF"/>
          </a:solidFill>
          <a:ln w="12700">
            <a:solidFill>
              <a:srgbClr val="A03B30"/>
            </a:solidFill>
            <a:prstDash val="solid"/>
          </a:ln>
        </p:spPr>
        <p:txBody>
          <a:bodyPr/>
          <a:lstStyle/>
          <a:p>
            <a:endParaRPr lang="en-IN"/>
          </a:p>
        </p:txBody>
      </p:sp>
      <p:sp>
        <p:nvSpPr>
          <p:cNvPr id="27" name="Text 23"/>
          <p:cNvSpPr txBox="1"/>
          <p:nvPr/>
        </p:nvSpPr>
        <p:spPr>
          <a:xfrm>
            <a:off x="7132320" y="4343400"/>
            <a:ext cx="4160520" cy="1600200"/>
          </a:xfrm>
          <a:prstGeom prst="rect">
            <a:avLst/>
          </a:prstGeom>
          <a:noFill/>
          <a:ln/>
        </p:spPr>
        <p:txBody>
          <a:bodyPr wrap="square" lIns="0" tIns="0" rIns="0" bIns="0" rtlCol="0" anchor="t"/>
          <a:lstStyle/>
          <a:p>
            <a:pPr marL="0" indent="0">
              <a:buNone/>
            </a:pPr>
            <a:r>
              <a:rPr lang="en-US" sz="1350" dirty="0">
                <a:solidFill>
                  <a:srgbClr val="1C1712"/>
                </a:solidFill>
                <a:latin typeface="Cambria" pitchFamily="34" charset="0"/>
                <a:ea typeface="Cambria" pitchFamily="34" charset="-122"/>
                <a:cs typeface="Cambria" pitchFamily="34" charset="-120"/>
              </a:rPr>
              <a:t>Governed by Detection Eta (η_det) and Detection Beta (β_det). Ensures monitoring frequency is mathematically calibrated to detect developing defects within the P-F interval prior to functional trip.</a:t>
            </a:r>
            <a:endParaRPr lang="en-US" sz="13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7">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06 — TASK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QTE Task Effectiveness Levels &amp; Adaptive Schedules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100% vs. partial effectiveness and escalating monitoring near wear-out.</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68</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QTE: EFFECTIVENESS LEVELS &amp; AUGMENTED POF</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pic>
        <p:nvPicPr>
          <p:cNvPr id="16" name="Image 1" descr="QTE: Effectiveness Levels &amp; Augmented POF"/>
          <p:cNvPicPr>
            <a:picLocks noChangeAspect="1"/>
          </p:cNvPicPr>
          <p:nvPr/>
        </p:nvPicPr>
        <p:blipFill>
          <a:blip r:embed="rId4"/>
          <a:stretch>
            <a:fillRect/>
          </a:stretch>
        </p:blipFill>
        <p:spPr>
          <a:xfrm>
            <a:off x="713232" y="2350576"/>
            <a:ext cx="5660136" cy="3629033"/>
          </a:xfrm>
          <a:prstGeom prst="rect">
            <a:avLst/>
          </a:prstGeom>
        </p:spPr>
      </p:pic>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ADAPTIVE LIFECYCLE SCHEDULING</a:t>
            </a:r>
            <a:endParaRPr lang="en-US" sz="950" dirty="0"/>
          </a:p>
        </p:txBody>
      </p:sp>
      <p:sp>
        <p:nvSpPr>
          <p:cNvPr id="19" name="Shape 15"/>
          <p:cNvSpPr/>
          <p:nvPr/>
        </p:nvSpPr>
        <p:spPr>
          <a:xfrm>
            <a:off x="6949440" y="2468880"/>
            <a:ext cx="530352" cy="530352"/>
          </a:xfrm>
          <a:prstGeom prst="ellipse">
            <a:avLst/>
          </a:prstGeom>
          <a:solidFill>
            <a:srgbClr val="DDE7D6"/>
          </a:solidFill>
          <a:ln w="15875">
            <a:solidFill>
              <a:srgbClr val="2F6B3A"/>
            </a:solidFill>
            <a:prstDash val="solid"/>
          </a:ln>
        </p:spPr>
        <p:txBody>
          <a:bodyPr/>
          <a:lstStyle/>
          <a:p>
            <a:endParaRPr lang="en-IN"/>
          </a:p>
        </p:txBody>
      </p:sp>
      <p:pic>
        <p:nvPicPr>
          <p:cNvPr id="20" name="Image 2" descr="preencoded.png"/>
          <p:cNvPicPr>
            <a:picLocks noChangeAspect="1"/>
          </p:cNvPicPr>
          <p:nvPr/>
        </p:nvPicPr>
        <p:blipFill>
          <a:blip r:embed="rId5"/>
          <a:stretch>
            <a:fillRect/>
          </a:stretch>
        </p:blipFill>
        <p:spPr>
          <a:xfrm>
            <a:off x="7082028" y="2601468"/>
            <a:ext cx="265176" cy="265176"/>
          </a:xfrm>
          <a:prstGeom prst="rect">
            <a:avLst/>
          </a:prstGeom>
        </p:spPr>
      </p:pic>
      <p:sp>
        <p:nvSpPr>
          <p:cNvPr id="21" name="Text 16"/>
          <p:cNvSpPr txBox="1"/>
          <p:nvPr/>
        </p:nvSpPr>
        <p:spPr>
          <a:xfrm>
            <a:off x="7680960" y="2450592"/>
            <a:ext cx="3886200" cy="310896"/>
          </a:xfrm>
          <a:prstGeom prst="rect">
            <a:avLst/>
          </a:prstGeom>
          <a:noFill/>
          <a:ln/>
        </p:spPr>
        <p:txBody>
          <a:bodyPr wrap="square" lIns="0" tIns="0" rIns="0" bIns="0" rtlCol="0" anchor="t"/>
          <a:lstStyle/>
          <a:p>
            <a:pPr marL="0" indent="0">
              <a:buNone/>
            </a:pPr>
            <a:r>
              <a:rPr lang="en-US" sz="1450" b="1" dirty="0">
                <a:solidFill>
                  <a:srgbClr val="2F6B3A"/>
                </a:solidFill>
                <a:latin typeface="Cambria" pitchFamily="34" charset="0"/>
                <a:ea typeface="Cambria" pitchFamily="34" charset="-122"/>
                <a:cs typeface="Cambria" pitchFamily="34" charset="-120"/>
              </a:rPr>
              <a:t>Early Life</a:t>
            </a:r>
            <a:endParaRPr lang="en-US" sz="1450" dirty="0"/>
          </a:p>
        </p:txBody>
      </p:sp>
      <p:sp>
        <p:nvSpPr>
          <p:cNvPr id="22" name="Text 17"/>
          <p:cNvSpPr txBox="1"/>
          <p:nvPr/>
        </p:nvSpPr>
        <p:spPr>
          <a:xfrm>
            <a:off x="7680960" y="2779776"/>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Wide inspection intervals when risk is low, conserving OPEX.</a:t>
            </a:r>
            <a:endParaRPr lang="en-US" sz="1250" dirty="0"/>
          </a:p>
        </p:txBody>
      </p:sp>
      <p:sp>
        <p:nvSpPr>
          <p:cNvPr id="23" name="Shape 18"/>
          <p:cNvSpPr/>
          <p:nvPr/>
        </p:nvSpPr>
        <p:spPr>
          <a:xfrm>
            <a:off x="6949440" y="3703320"/>
            <a:ext cx="530352" cy="530352"/>
          </a:xfrm>
          <a:prstGeom prst="ellipse">
            <a:avLst/>
          </a:prstGeom>
          <a:solidFill>
            <a:srgbClr val="EFDCCF"/>
          </a:solidFill>
          <a:ln w="15875">
            <a:solidFill>
              <a:srgbClr val="7A1F1A"/>
            </a:solidFill>
            <a:prstDash val="solid"/>
          </a:ln>
        </p:spPr>
        <p:txBody>
          <a:bodyPr/>
          <a:lstStyle/>
          <a:p>
            <a:endParaRPr lang="en-IN"/>
          </a:p>
        </p:txBody>
      </p:sp>
      <p:pic>
        <p:nvPicPr>
          <p:cNvPr id="24" name="Image 3" descr="preencoded.png"/>
          <p:cNvPicPr>
            <a:picLocks noChangeAspect="1"/>
          </p:cNvPicPr>
          <p:nvPr/>
        </p:nvPicPr>
        <p:blipFill>
          <a:blip r:embed="rId6"/>
          <a:stretch>
            <a:fillRect/>
          </a:stretch>
        </p:blipFill>
        <p:spPr>
          <a:xfrm>
            <a:off x="7082028" y="3835908"/>
            <a:ext cx="265176" cy="265176"/>
          </a:xfrm>
          <a:prstGeom prst="rect">
            <a:avLst/>
          </a:prstGeom>
        </p:spPr>
      </p:pic>
      <p:sp>
        <p:nvSpPr>
          <p:cNvPr id="25" name="Text 19"/>
          <p:cNvSpPr txBox="1"/>
          <p:nvPr/>
        </p:nvSpPr>
        <p:spPr>
          <a:xfrm>
            <a:off x="7680960" y="3685032"/>
            <a:ext cx="3886200" cy="310896"/>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Near Wear-Out</a:t>
            </a:r>
            <a:endParaRPr lang="en-US" sz="1450" dirty="0"/>
          </a:p>
        </p:txBody>
      </p:sp>
      <p:sp>
        <p:nvSpPr>
          <p:cNvPr id="26" name="Text 20"/>
          <p:cNvSpPr txBox="1"/>
          <p:nvPr/>
        </p:nvSpPr>
        <p:spPr>
          <a:xfrm>
            <a:off x="7680960" y="4014216"/>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Monitoring frequency automatically escalates as equipment nears end of life.</a:t>
            </a:r>
            <a:endParaRPr lang="en-US" sz="1250" dirty="0"/>
          </a:p>
        </p:txBody>
      </p:sp>
      <p:sp>
        <p:nvSpPr>
          <p:cNvPr id="27" name="Shape 21"/>
          <p:cNvSpPr/>
          <p:nvPr/>
        </p:nvSpPr>
        <p:spPr>
          <a:xfrm>
            <a:off x="6949440" y="4937760"/>
            <a:ext cx="530352" cy="530352"/>
          </a:xfrm>
          <a:prstGeom prst="ellipse">
            <a:avLst/>
          </a:prstGeom>
          <a:solidFill>
            <a:srgbClr val="DCE6EC"/>
          </a:solidFill>
          <a:ln w="15875">
            <a:solidFill>
              <a:srgbClr val="1A4A6E"/>
            </a:solidFill>
            <a:prstDash val="solid"/>
          </a:ln>
        </p:spPr>
        <p:txBody>
          <a:bodyPr/>
          <a:lstStyle/>
          <a:p>
            <a:endParaRPr lang="en-IN"/>
          </a:p>
        </p:txBody>
      </p:sp>
      <p:pic>
        <p:nvPicPr>
          <p:cNvPr id="28" name="Image 4" descr="preencoded.png"/>
          <p:cNvPicPr>
            <a:picLocks noChangeAspect="1"/>
          </p:cNvPicPr>
          <p:nvPr/>
        </p:nvPicPr>
        <p:blipFill>
          <a:blip r:embed="rId7"/>
          <a:stretch>
            <a:fillRect/>
          </a:stretch>
        </p:blipFill>
        <p:spPr>
          <a:xfrm>
            <a:off x="7082028" y="5070348"/>
            <a:ext cx="265176" cy="265176"/>
          </a:xfrm>
          <a:prstGeom prst="rect">
            <a:avLst/>
          </a:prstGeom>
        </p:spPr>
      </p:pic>
      <p:sp>
        <p:nvSpPr>
          <p:cNvPr id="29" name="Text 22"/>
          <p:cNvSpPr txBox="1"/>
          <p:nvPr/>
        </p:nvSpPr>
        <p:spPr>
          <a:xfrm>
            <a:off x="7680960" y="4919472"/>
            <a:ext cx="3886200" cy="310896"/>
          </a:xfrm>
          <a:prstGeom prst="rect">
            <a:avLst/>
          </a:prstGeom>
          <a:noFill/>
          <a:ln/>
        </p:spPr>
        <p:txBody>
          <a:bodyPr wrap="square" lIns="0" tIns="0" rIns="0" bIns="0" rtlCol="0" anchor="t"/>
          <a:lstStyle/>
          <a:p>
            <a:pPr marL="0" indent="0">
              <a:buNone/>
            </a:pPr>
            <a:r>
              <a:rPr lang="en-US" sz="1450" b="1" dirty="0">
                <a:solidFill>
                  <a:srgbClr val="1A4A6E"/>
                </a:solidFill>
                <a:latin typeface="Cambria" pitchFamily="34" charset="0"/>
                <a:ea typeface="Cambria" pitchFamily="34" charset="-122"/>
                <a:cs typeface="Cambria" pitchFamily="34" charset="-120"/>
              </a:rPr>
              <a:t>Infant Mortality Phase</a:t>
            </a:r>
            <a:endParaRPr lang="en-US" sz="1450" dirty="0"/>
          </a:p>
        </p:txBody>
      </p:sp>
      <p:sp>
        <p:nvSpPr>
          <p:cNvPr id="30" name="Text 23"/>
          <p:cNvSpPr txBox="1"/>
          <p:nvPr/>
        </p:nvSpPr>
        <p:spPr>
          <a:xfrm>
            <a:off x="7680960" y="5248656"/>
            <a:ext cx="3840480" cy="82296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Additional monitoring triggered during the first 90 operating days.</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329184"/>
            <a:ext cx="7772400" cy="219456"/>
          </a:xfrm>
          <a:prstGeom prst="rect">
            <a:avLst/>
          </a:prstGeom>
          <a:noFill/>
        </p:spPr>
        <p:txBody>
          <a:bodyPr wrap="none" lIns="0" tIns="0">
            <a:spAutoFit/>
          </a:bodyPr>
          <a:lstStyle/>
          <a:p>
            <a:pPr>
              <a:defRPr sz="900" b="1">
                <a:solidFill>
                  <a:srgbClr val="7A1F1A"/>
                </a:solidFill>
                <a:latin typeface="Courier New"/>
              </a:defRPr>
            </a:pPr>
            <a:r>
              <a:t>MODULE 06 — TASK OPTIMIZATION</a:t>
            </a:r>
          </a:p>
        </p:txBody>
      </p:sp>
      <p:sp>
        <p:nvSpPr>
          <p:cNvPr id="4" name="TextBox 3"/>
          <p:cNvSpPr txBox="1"/>
          <p:nvPr/>
        </p:nvSpPr>
        <p:spPr>
          <a:xfrm>
            <a:off x="7863840" y="329184"/>
            <a:ext cx="3776472" cy="219456"/>
          </a:xfrm>
          <a:prstGeom prst="rect">
            <a:avLst/>
          </a:prstGeom>
          <a:noFill/>
        </p:spPr>
        <p:txBody>
          <a:bodyPr wrap="none" tIns="0" rIns="0">
            <a:spAutoFit/>
          </a:bodyPr>
          <a:lstStyle/>
          <a:p>
            <a:pPr algn="r">
              <a:defRPr sz="900">
                <a:solidFill>
                  <a:srgbClr val="8A8477"/>
                </a:solidFill>
                <a:latin typeface="Courier New"/>
              </a:defRPr>
            </a:pPr>
            <a:r>
              <a:t>PINNACLE RELIABILITY · QRO DISPATCH</a:t>
            </a:r>
          </a:p>
        </p:txBody>
      </p:sp>
      <p:sp>
        <p:nvSpPr>
          <p:cNvPr id="5" name="Rectangle 4"/>
          <p:cNvSpPr/>
          <p:nvPr/>
        </p:nvSpPr>
        <p:spPr>
          <a:xfrm>
            <a:off x="548640" y="576072"/>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76656"/>
            <a:ext cx="11091672" cy="566928"/>
          </a:xfrm>
          <a:prstGeom prst="rect">
            <a:avLst/>
          </a:prstGeom>
          <a:noFill/>
        </p:spPr>
        <p:txBody>
          <a:bodyPr wrap="none" lIns="0" tIns="0">
            <a:spAutoFit/>
          </a:bodyPr>
          <a:lstStyle/>
          <a:p>
            <a:pPr>
              <a:defRPr sz="2700" b="1">
                <a:solidFill>
                  <a:srgbClr val="1C1712"/>
                </a:solidFill>
                <a:latin typeface="Cambria"/>
              </a:defRPr>
            </a:pPr>
            <a:r>
              <a:t>QRO Living Program</a:t>
            </a:r>
          </a:p>
        </p:txBody>
      </p:sp>
      <p:sp>
        <p:nvSpPr>
          <p:cNvPr id="7" name="TextBox 6"/>
          <p:cNvSpPr txBox="1"/>
          <p:nvPr/>
        </p:nvSpPr>
        <p:spPr>
          <a:xfrm>
            <a:off x="548640" y="1280160"/>
            <a:ext cx="11091672" cy="292608"/>
          </a:xfrm>
          <a:prstGeom prst="rect">
            <a:avLst/>
          </a:prstGeom>
          <a:noFill/>
        </p:spPr>
        <p:txBody>
          <a:bodyPr wrap="none" lIns="0" tIns="0">
            <a:spAutoFit/>
          </a:bodyPr>
          <a:lstStyle/>
          <a:p>
            <a:pPr>
              <a:defRPr sz="1400">
                <a:solidFill>
                  <a:srgbClr val="5A5347"/>
                </a:solidFill>
                <a:latin typeface="Cambria"/>
              </a:defRPr>
            </a:pPr>
            <a:r>
              <a:t>Closed-loop data ingestion, dynamic simulation, and strategic leadership execution.</a:t>
            </a:r>
          </a:p>
        </p:txBody>
      </p:sp>
      <p:sp>
        <p:nvSpPr>
          <p:cNvPr id="8" name="Rectangle 7"/>
          <p:cNvSpPr/>
          <p:nvPr/>
        </p:nvSpPr>
        <p:spPr>
          <a:xfrm>
            <a:off x="548640" y="1627632"/>
            <a:ext cx="11091672" cy="41148"/>
          </a:xfrm>
          <a:prstGeom prst="rect">
            <a:avLst/>
          </a:prstGeom>
          <a:solidFill>
            <a:srgbClr val="333333"/>
          </a:solidFill>
          <a:ln>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709928"/>
            <a:ext cx="11091672" cy="12000"/>
          </a:xfrm>
          <a:prstGeom prst="rect">
            <a:avLst/>
          </a:prstGeom>
          <a:solidFill>
            <a:srgbClr val="1C1712"/>
          </a:solidFill>
          <a:ln>
            <a:solidFill>
              <a:srgbClr val="1C171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 y="6355080"/>
            <a:ext cx="11091672" cy="12000"/>
          </a:xfrm>
          <a:prstGeom prst="rect">
            <a:avLst/>
          </a:prstGeom>
          <a:solidFill>
            <a:srgbClr val="A68C5E"/>
          </a:solidFill>
          <a:ln>
            <a:solidFill>
              <a:srgbClr val="A68C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 y="6446520"/>
            <a:ext cx="8229600" cy="219456"/>
          </a:xfrm>
          <a:prstGeom prst="rect">
            <a:avLst/>
          </a:prstGeom>
          <a:noFill/>
        </p:spPr>
        <p:txBody>
          <a:bodyPr wrap="none" lIns="0" tIns="0">
            <a:spAutoFit/>
          </a:bodyPr>
          <a:lstStyle/>
          <a:p>
            <a:r>
              <a:rPr sz="850" b="1">
                <a:solidFill>
                  <a:srgbClr val="7A1F1A"/>
                </a:solidFill>
                <a:latin typeface="Courier New"/>
              </a:rPr>
              <a:t>MUSTHAQUE ALI</a:t>
            </a:r>
            <a:r>
              <a:rPr sz="850">
                <a:solidFill>
                  <a:srgbClr val="8A8477"/>
                </a:solidFill>
                <a:latin typeface="Courier New"/>
              </a:rPr>
              <a:t>  ·  PINNACLE RELIABILITY  ·  QRO METHODOLOGY DISPATCH</a:t>
            </a:r>
          </a:p>
        </p:txBody>
      </p:sp>
      <p:sp>
        <p:nvSpPr>
          <p:cNvPr id="12" name="TextBox 11"/>
          <p:cNvSpPr txBox="1"/>
          <p:nvPr/>
        </p:nvSpPr>
        <p:spPr>
          <a:xfrm>
            <a:off x="10177272" y="6446520"/>
            <a:ext cx="1463040" cy="219456"/>
          </a:xfrm>
          <a:prstGeom prst="rect">
            <a:avLst/>
          </a:prstGeom>
          <a:noFill/>
        </p:spPr>
        <p:txBody>
          <a:bodyPr wrap="none" tIns="0" rIns="0">
            <a:spAutoFit/>
          </a:bodyPr>
          <a:lstStyle/>
          <a:p>
            <a:pPr algn="r"/>
            <a:r>
              <a:rPr sz="900" b="1">
                <a:solidFill>
                  <a:srgbClr val="7A1F1A"/>
                </a:solidFill>
                <a:latin typeface="Courier New"/>
              </a:rPr>
              <a:t>No. 69</a:t>
            </a:r>
            <a:r>
              <a:rPr sz="900">
                <a:solidFill>
                  <a:srgbClr val="8A8477"/>
                </a:solidFill>
                <a:latin typeface="Courier New"/>
              </a:rPr>
              <a:t> / 80</a:t>
            </a:r>
          </a:p>
        </p:txBody>
      </p:sp>
      <p:sp>
        <p:nvSpPr>
          <p:cNvPr id="13" name="Rectangle 12"/>
          <p:cNvSpPr/>
          <p:nvPr/>
        </p:nvSpPr>
        <p:spPr>
          <a:xfrm>
            <a:off x="548640" y="1783080"/>
            <a:ext cx="6800000" cy="4480000"/>
          </a:xfrm>
          <a:prstGeom prst="rect">
            <a:avLst/>
          </a:prstGeom>
          <a:solidFill>
            <a:srgbClr val="FFFFFF"/>
          </a:solidFill>
          <a:ln w="12700">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8640" y="1853080"/>
            <a:ext cx="6520000" cy="220000"/>
          </a:xfrm>
          <a:prstGeom prst="rect">
            <a:avLst/>
          </a:prstGeom>
          <a:noFill/>
        </p:spPr>
        <p:txBody>
          <a:bodyPr wrap="none" lIns="0" tIns="0">
            <a:spAutoFit/>
          </a:bodyPr>
          <a:lstStyle/>
          <a:p>
            <a:pPr>
              <a:defRPr sz="850" b="1">
                <a:solidFill>
                  <a:srgbClr val="7A1F1A"/>
                </a:solidFill>
                <a:latin typeface="Courier New"/>
              </a:defRPr>
            </a:pPr>
            <a:r>
              <a:t>FIG · THE THREE-TIER QRO LIVING PROGRAM ARCHITECTURE</a:t>
            </a:r>
          </a:p>
        </p:txBody>
      </p:sp>
      <p:sp>
        <p:nvSpPr>
          <p:cNvPr id="15" name="Rectangle 14"/>
          <p:cNvSpPr/>
          <p:nvPr/>
        </p:nvSpPr>
        <p:spPr>
          <a:xfrm>
            <a:off x="688640" y="2083080"/>
            <a:ext cx="6520000" cy="8000"/>
          </a:xfrm>
          <a:prstGeom prst="rect">
            <a:avLst/>
          </a:prstGeom>
          <a:solidFill>
            <a:srgbClr val="DCD7CF"/>
          </a:solidFill>
          <a:ln>
            <a:solidFill>
              <a:srgbClr val="DC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iving_prog_diagram.png"/>
          <p:cNvPicPr>
            <a:picLocks noChangeAspect="1"/>
          </p:cNvPicPr>
          <p:nvPr/>
        </p:nvPicPr>
        <p:blipFill>
          <a:blip r:embed="rId3"/>
          <a:stretch>
            <a:fillRect/>
          </a:stretch>
        </p:blipFill>
        <p:spPr>
          <a:xfrm>
            <a:off x="650000" y="2200000"/>
            <a:ext cx="6600000" cy="3900000"/>
          </a:xfrm>
          <a:prstGeom prst="rect">
            <a:avLst/>
          </a:prstGeom>
        </p:spPr>
      </p:pic>
      <p:sp>
        <p:nvSpPr>
          <p:cNvPr id="17" name="Rectangle 16"/>
          <p:cNvSpPr/>
          <p:nvPr/>
        </p:nvSpPr>
        <p:spPr>
          <a:xfrm>
            <a:off x="7500000" y="1783080"/>
            <a:ext cx="4140312" cy="4480000"/>
          </a:xfrm>
          <a:prstGeom prst="rect">
            <a:avLst/>
          </a:prstGeom>
          <a:solidFill>
            <a:srgbClr val="152834"/>
          </a:solidFill>
          <a:ln w="19050">
            <a:solidFill>
              <a:srgbClr val="7A1F1A"/>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800" b="1">
                <a:solidFill>
                  <a:srgbClr val="FFFFFF"/>
                </a:solidFill>
                <a:latin typeface="Cambria"/>
              </a:defRPr>
            </a:pPr>
            <a:r>
              <a:t>As a leader, I can:</a:t>
            </a:r>
          </a:p>
          <a:p>
            <a:pPr>
              <a:spcBef>
                <a:spcPts val="1400"/>
              </a:spcBef>
              <a:defRPr sz="1300">
                <a:solidFill>
                  <a:srgbClr val="FFFFFF"/>
                </a:solidFill>
                <a:latin typeface="Cambria"/>
              </a:defRPr>
            </a:pPr>
            <a:r>
              <a:t>• </a:t>
            </a:r>
            <a:r>
              <a:rPr b="1">
                <a:solidFill>
                  <a:srgbClr val="5FB8A6"/>
                </a:solidFill>
              </a:rPr>
              <a:t>Understand the value </a:t>
            </a:r>
            <a:r>
              <a:rPr>
                <a:solidFill>
                  <a:srgbClr val="FFFFFF"/>
                </a:solidFill>
              </a:rPr>
              <a:t>of every piece of data collected across inspection, telemetry, and CMMS work orders.</a:t>
            </a:r>
          </a:p>
          <a:p>
            <a:pPr>
              <a:spcBef>
                <a:spcPts val="1400"/>
              </a:spcBef>
              <a:defRPr sz="1300">
                <a:solidFill>
                  <a:srgbClr val="FFFFFF"/>
                </a:solidFill>
                <a:latin typeface="Cambria"/>
              </a:defRPr>
            </a:pPr>
            <a:r>
              <a:t>• </a:t>
            </a:r>
            <a:r>
              <a:rPr b="1">
                <a:solidFill>
                  <a:srgbClr val="5FB8A6"/>
                </a:solidFill>
              </a:rPr>
              <a:t>Drive optimization </a:t>
            </a:r>
            <a:r>
              <a:rPr>
                <a:solidFill>
                  <a:srgbClr val="FFFFFF"/>
                </a:solidFill>
              </a:rPr>
              <a:t>of all capital and OPEX spend to target specific, quantified reliability improvement.</a:t>
            </a:r>
          </a:p>
          <a:p>
            <a:pPr>
              <a:spcBef>
                <a:spcPts val="1400"/>
              </a:spcBef>
              <a:defRPr sz="1300">
                <a:solidFill>
                  <a:srgbClr val="FFFFFF"/>
                </a:solidFill>
                <a:latin typeface="Cambria"/>
              </a:defRPr>
            </a:pPr>
            <a:r>
              <a:t>• </a:t>
            </a:r>
            <a:r>
              <a:rPr b="1">
                <a:solidFill>
                  <a:srgbClr val="5FB8A6"/>
                </a:solidFill>
              </a:rPr>
              <a:t>Simulate changes </a:t>
            </a:r>
            <a:r>
              <a:rPr>
                <a:solidFill>
                  <a:srgbClr val="FFFFFF"/>
                </a:solidFill>
              </a:rPr>
              <a:t>in process conditions, economics, or turnaround shifts and quantify their direct impact on reliability strategy.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8">
    <p:bg>
      <p:bgPr>
        <a:solidFill>
          <a:srgbClr val="F4EBD7"/>
        </a:solidFill>
        <a:effectLst/>
      </p:bgPr>
    </p:bg>
    <p:spTree>
      <p:nvGrpSpPr>
        <p:cNvPr id="1" name=""/>
        <p:cNvGrpSpPr/>
        <p:nvPr/>
      </p:nvGrpSpPr>
      <p:grpSpPr>
        <a:xfrm>
          <a:off x="0" y="0"/>
          <a:ext cx="0" cy="0"/>
          <a:chOff x="0" y="0"/>
          <a:chExt cx="0" cy="0"/>
        </a:xfrm>
      </p:grpSpPr>
      <p:pic>
        <p:nvPicPr>
          <p:cNvPr id="2" name="Image 0" descr="assets/bg_section.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22960" y="1051560"/>
            <a:ext cx="10543032" cy="41148"/>
          </a:xfrm>
          <a:prstGeom prst="rect">
            <a:avLst/>
          </a:prstGeom>
          <a:solidFill>
            <a:srgbClr val="1C1712"/>
          </a:solidFill>
          <a:ln w="12700">
            <a:solidFill>
              <a:srgbClr val="333333"/>
            </a:solidFill>
            <a:prstDash val="solid"/>
          </a:ln>
        </p:spPr>
        <p:txBody>
          <a:bodyPr/>
          <a:lstStyle/>
          <a:p>
            <a:endParaRPr lang="en-IN"/>
          </a:p>
        </p:txBody>
      </p:sp>
      <p:sp>
        <p:nvSpPr>
          <p:cNvPr id="4" name="Shape 1"/>
          <p:cNvSpPr/>
          <p:nvPr/>
        </p:nvSpPr>
        <p:spPr>
          <a:xfrm>
            <a:off x="822960" y="1133856"/>
            <a:ext cx="10543032" cy="0"/>
          </a:xfrm>
          <a:prstGeom prst="line">
            <a:avLst/>
          </a:prstGeom>
          <a:noFill/>
          <a:ln w="12700">
            <a:solidFill>
              <a:srgbClr val="1C1712"/>
            </a:solidFill>
            <a:prstDash val="solid"/>
          </a:ln>
        </p:spPr>
        <p:txBody>
          <a:bodyPr/>
          <a:lstStyle/>
          <a:p>
            <a:endParaRPr lang="en-IN"/>
          </a:p>
        </p:txBody>
      </p:sp>
      <p:sp>
        <p:nvSpPr>
          <p:cNvPr id="5" name="Text 2"/>
          <p:cNvSpPr txBox="1"/>
          <p:nvPr/>
        </p:nvSpPr>
        <p:spPr>
          <a:xfrm>
            <a:off x="822960" y="1234440"/>
            <a:ext cx="10543032" cy="274320"/>
          </a:xfrm>
          <a:prstGeom prst="rect">
            <a:avLst/>
          </a:prstGeom>
          <a:noFill/>
          <a:ln/>
        </p:spPr>
        <p:txBody>
          <a:bodyPr wrap="square" lIns="0" tIns="0" rIns="0" bIns="0" rtlCol="0" anchor="t"/>
          <a:lstStyle/>
          <a:p>
            <a:pPr marL="0" indent="0" algn="ctr">
              <a:buNone/>
            </a:pPr>
            <a:r>
              <a:rPr lang="en-US" sz="1200" b="1" kern="0" spc="300" dirty="0">
                <a:solidFill>
                  <a:srgbClr val="7A1F1A"/>
                </a:solidFill>
                <a:latin typeface="Courier New" pitchFamily="34" charset="0"/>
                <a:ea typeface="Courier New" pitchFamily="34" charset="-122"/>
                <a:cs typeface="Courier New" pitchFamily="34" charset="-120"/>
              </a:rPr>
              <a:t>SPECIAL DISPATCH SECTION VII</a:t>
            </a:r>
            <a:endParaRPr lang="en-US" sz="1200" dirty="0"/>
          </a:p>
        </p:txBody>
      </p:sp>
      <p:sp>
        <p:nvSpPr>
          <p:cNvPr id="6" name="Text 3"/>
          <p:cNvSpPr txBox="1"/>
          <p:nvPr/>
        </p:nvSpPr>
        <p:spPr>
          <a:xfrm>
            <a:off x="822960" y="1874520"/>
            <a:ext cx="10543032" cy="548640"/>
          </a:xfrm>
          <a:prstGeom prst="rect">
            <a:avLst/>
          </a:prstGeom>
          <a:noFill/>
          <a:ln/>
        </p:spPr>
        <p:txBody>
          <a:bodyPr wrap="square" lIns="0" tIns="0" rIns="0" bIns="0" rtlCol="0" anchor="t"/>
          <a:lstStyle/>
          <a:p>
            <a:pPr marL="0" indent="0" algn="ctr">
              <a:buNone/>
            </a:pPr>
            <a:r>
              <a:rPr lang="en-US" sz="1500" kern="0" spc="200" dirty="0">
                <a:solidFill>
                  <a:srgbClr val="8A8477"/>
                </a:solidFill>
                <a:latin typeface="Courier New" pitchFamily="34" charset="0"/>
                <a:ea typeface="Courier New" pitchFamily="34" charset="-122"/>
                <a:cs typeface="Courier New" pitchFamily="34" charset="-120"/>
              </a:rPr>
              <a:t>No. VII</a:t>
            </a:r>
            <a:endParaRPr lang="en-US" sz="1500" dirty="0"/>
          </a:p>
        </p:txBody>
      </p:sp>
      <p:sp>
        <p:nvSpPr>
          <p:cNvPr id="7" name="Text 4"/>
          <p:cNvSpPr txBox="1"/>
          <p:nvPr/>
        </p:nvSpPr>
        <p:spPr>
          <a:xfrm>
            <a:off x="822960" y="2286000"/>
            <a:ext cx="10543032" cy="1325880"/>
          </a:xfrm>
          <a:prstGeom prst="rect">
            <a:avLst/>
          </a:prstGeom>
          <a:noFill/>
          <a:ln/>
        </p:spPr>
        <p:txBody>
          <a:bodyPr wrap="square" lIns="0" tIns="0" rIns="0" bIns="0" rtlCol="0" anchor="ctr">
            <a:normAutofit/>
          </a:bodyPr>
          <a:lstStyle/>
          <a:p>
            <a:pPr marL="0" indent="0" algn="ctr">
              <a:buNone/>
            </a:pPr>
            <a:r>
              <a:rPr lang="en-US" sz="5000" b="1" dirty="0">
                <a:solidFill>
                  <a:srgbClr val="1C1712"/>
                </a:solidFill>
                <a:latin typeface="Cambria" pitchFamily="34" charset="0"/>
                <a:ea typeface="Cambria" pitchFamily="34" charset="-122"/>
                <a:cs typeface="Cambria" pitchFamily="34" charset="-120"/>
              </a:rPr>
              <a:t>Condition Monitoring &amp; CML Optimization</a:t>
            </a:r>
            <a:endParaRPr lang="en-US" sz="5000" dirty="0"/>
          </a:p>
        </p:txBody>
      </p:sp>
      <p:sp>
        <p:nvSpPr>
          <p:cNvPr id="8" name="Shape 5"/>
          <p:cNvSpPr/>
          <p:nvPr/>
        </p:nvSpPr>
        <p:spPr>
          <a:xfrm>
            <a:off x="3108960" y="3703320"/>
            <a:ext cx="5971032" cy="0"/>
          </a:xfrm>
          <a:prstGeom prst="line">
            <a:avLst/>
          </a:prstGeom>
          <a:noFill/>
          <a:ln w="19050">
            <a:solidFill>
              <a:srgbClr val="7A1F1A"/>
            </a:solidFill>
            <a:prstDash val="solid"/>
          </a:ln>
        </p:spPr>
        <p:txBody>
          <a:bodyPr/>
          <a:lstStyle/>
          <a:p>
            <a:endParaRPr lang="en-IN"/>
          </a:p>
        </p:txBody>
      </p:sp>
      <p:sp>
        <p:nvSpPr>
          <p:cNvPr id="9" name="Text 6"/>
          <p:cNvSpPr txBox="1"/>
          <p:nvPr/>
        </p:nvSpPr>
        <p:spPr>
          <a:xfrm>
            <a:off x="1280160" y="3886200"/>
            <a:ext cx="9628632" cy="640080"/>
          </a:xfrm>
          <a:prstGeom prst="rect">
            <a:avLst/>
          </a:prstGeom>
          <a:noFill/>
          <a:ln/>
        </p:spPr>
        <p:txBody>
          <a:bodyPr wrap="square" lIns="0" tIns="0" rIns="0" bIns="0" rtlCol="0" anchor="t"/>
          <a:lstStyle/>
          <a:p>
            <a:pPr marL="0" indent="0" algn="ctr">
              <a:buNone/>
            </a:pPr>
            <a:r>
              <a:rPr lang="en-US" sz="1600" i="1" dirty="0">
                <a:solidFill>
                  <a:srgbClr val="5A5347"/>
                </a:solidFill>
                <a:latin typeface="Cambria" pitchFamily="34" charset="0"/>
                <a:ea typeface="Cambria" pitchFamily="34" charset="-122"/>
                <a:cs typeface="Cambria" pitchFamily="34" charset="-120"/>
              </a:rPr>
              <a:t>The 90/15 Pareto Principle, Risk Targets, General Corrosion &amp; Extreme Value Analysis</a:t>
            </a:r>
            <a:endParaRPr lang="en-US" sz="1600" dirty="0"/>
          </a:p>
        </p:txBody>
      </p:sp>
      <p:sp>
        <p:nvSpPr>
          <p:cNvPr id="10" name="Shape 7"/>
          <p:cNvSpPr/>
          <p:nvPr/>
        </p:nvSpPr>
        <p:spPr>
          <a:xfrm>
            <a:off x="3163367" y="4709160"/>
            <a:ext cx="1174090" cy="274320"/>
          </a:xfrm>
          <a:prstGeom prst="rect">
            <a:avLst/>
          </a:prstGeom>
          <a:solidFill>
            <a:srgbClr val="EFDCCF"/>
          </a:solidFill>
          <a:ln w="12700">
            <a:solidFill>
              <a:srgbClr val="7A1F1A"/>
            </a:solidFill>
            <a:prstDash val="solid"/>
          </a:ln>
        </p:spPr>
        <p:txBody>
          <a:bodyPr/>
          <a:lstStyle/>
          <a:p>
            <a:endParaRPr lang="en-IN"/>
          </a:p>
        </p:txBody>
      </p:sp>
      <p:sp>
        <p:nvSpPr>
          <p:cNvPr id="11" name="Text 8"/>
          <p:cNvSpPr txBox="1"/>
          <p:nvPr/>
        </p:nvSpPr>
        <p:spPr>
          <a:xfrm>
            <a:off x="3163367" y="4709160"/>
            <a:ext cx="117409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90/15 PARETO</a:t>
            </a:r>
            <a:endParaRPr lang="en-US" sz="900" dirty="0"/>
          </a:p>
        </p:txBody>
      </p:sp>
      <p:sp>
        <p:nvSpPr>
          <p:cNvPr id="12" name="Shape 9"/>
          <p:cNvSpPr/>
          <p:nvPr/>
        </p:nvSpPr>
        <p:spPr>
          <a:xfrm>
            <a:off x="4502048" y="4709160"/>
            <a:ext cx="1623974" cy="274320"/>
          </a:xfrm>
          <a:prstGeom prst="rect">
            <a:avLst/>
          </a:prstGeom>
          <a:solidFill>
            <a:srgbClr val="EFDCCF"/>
          </a:solidFill>
          <a:ln w="12700">
            <a:solidFill>
              <a:srgbClr val="7A1F1A"/>
            </a:solidFill>
            <a:prstDash val="solid"/>
          </a:ln>
        </p:spPr>
        <p:txBody>
          <a:bodyPr/>
          <a:lstStyle/>
          <a:p>
            <a:endParaRPr lang="en-IN"/>
          </a:p>
        </p:txBody>
      </p:sp>
      <p:sp>
        <p:nvSpPr>
          <p:cNvPr id="13" name="Text 10"/>
          <p:cNvSpPr txBox="1"/>
          <p:nvPr/>
        </p:nvSpPr>
        <p:spPr>
          <a:xfrm>
            <a:off x="4502048" y="4709160"/>
            <a:ext cx="1623974"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CML PRIORITIZATION</a:t>
            </a:r>
            <a:endParaRPr lang="en-US" sz="900" dirty="0"/>
          </a:p>
        </p:txBody>
      </p:sp>
      <p:sp>
        <p:nvSpPr>
          <p:cNvPr id="14" name="Shape 11"/>
          <p:cNvSpPr/>
          <p:nvPr/>
        </p:nvSpPr>
        <p:spPr>
          <a:xfrm>
            <a:off x="6290615" y="4709160"/>
            <a:ext cx="1698955" cy="274320"/>
          </a:xfrm>
          <a:prstGeom prst="rect">
            <a:avLst/>
          </a:prstGeom>
          <a:solidFill>
            <a:srgbClr val="EFDCCF"/>
          </a:solidFill>
          <a:ln w="12700">
            <a:solidFill>
              <a:srgbClr val="7A1F1A"/>
            </a:solidFill>
            <a:prstDash val="solid"/>
          </a:ln>
        </p:spPr>
        <p:txBody>
          <a:bodyPr/>
          <a:lstStyle/>
          <a:p>
            <a:endParaRPr lang="en-IN"/>
          </a:p>
        </p:txBody>
      </p:sp>
      <p:sp>
        <p:nvSpPr>
          <p:cNvPr id="15" name="Text 12"/>
          <p:cNvSpPr txBox="1"/>
          <p:nvPr/>
        </p:nvSpPr>
        <p:spPr>
          <a:xfrm>
            <a:off x="6290615" y="4709160"/>
            <a:ext cx="1698955"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SAMPLE OPTIMIZATION</a:t>
            </a:r>
            <a:endParaRPr lang="en-US" sz="900" dirty="0"/>
          </a:p>
        </p:txBody>
      </p:sp>
      <p:sp>
        <p:nvSpPr>
          <p:cNvPr id="16" name="Shape 13"/>
          <p:cNvSpPr/>
          <p:nvPr/>
        </p:nvSpPr>
        <p:spPr>
          <a:xfrm>
            <a:off x="8154162" y="4709160"/>
            <a:ext cx="874166" cy="274320"/>
          </a:xfrm>
          <a:prstGeom prst="rect">
            <a:avLst/>
          </a:prstGeom>
          <a:solidFill>
            <a:srgbClr val="EFDCCF"/>
          </a:solidFill>
          <a:ln w="12700">
            <a:solidFill>
              <a:srgbClr val="7A1F1A"/>
            </a:solidFill>
            <a:prstDash val="solid"/>
          </a:ln>
        </p:spPr>
        <p:txBody>
          <a:bodyPr/>
          <a:lstStyle/>
          <a:p>
            <a:endParaRPr lang="en-IN"/>
          </a:p>
        </p:txBody>
      </p:sp>
      <p:sp>
        <p:nvSpPr>
          <p:cNvPr id="17" name="Text 14"/>
          <p:cNvSpPr txBox="1"/>
          <p:nvPr/>
        </p:nvSpPr>
        <p:spPr>
          <a:xfrm>
            <a:off x="8154162" y="4709160"/>
            <a:ext cx="874166"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EVA TAIL</a:t>
            </a:r>
            <a:endParaRPr lang="en-US" sz="900" dirty="0"/>
          </a:p>
        </p:txBody>
      </p:sp>
      <p:sp>
        <p:nvSpPr>
          <p:cNvPr id="18" name="Shape 15"/>
          <p:cNvSpPr/>
          <p:nvPr/>
        </p:nvSpPr>
        <p:spPr>
          <a:xfrm>
            <a:off x="822960" y="5440680"/>
            <a:ext cx="10543032" cy="41148"/>
          </a:xfrm>
          <a:prstGeom prst="rect">
            <a:avLst/>
          </a:prstGeom>
          <a:solidFill>
            <a:srgbClr val="1C1712"/>
          </a:solidFill>
          <a:ln w="12700">
            <a:solidFill>
              <a:srgbClr val="333333"/>
            </a:solidFill>
            <a:prstDash val="solid"/>
          </a:ln>
        </p:spPr>
        <p:txBody>
          <a:bodyPr/>
          <a:lstStyle/>
          <a:p>
            <a:endParaRPr lang="en-IN"/>
          </a:p>
        </p:txBody>
      </p:sp>
      <p:sp>
        <p:nvSpPr>
          <p:cNvPr id="19" name="Shape 16"/>
          <p:cNvSpPr/>
          <p:nvPr/>
        </p:nvSpPr>
        <p:spPr>
          <a:xfrm>
            <a:off x="822960" y="5522976"/>
            <a:ext cx="10543032" cy="0"/>
          </a:xfrm>
          <a:prstGeom prst="line">
            <a:avLst/>
          </a:prstGeom>
          <a:noFill/>
          <a:ln w="12700">
            <a:solidFill>
              <a:srgbClr val="1C1712"/>
            </a:solidFill>
            <a:prstDash val="solid"/>
          </a:ln>
        </p:spPr>
        <p:txBody>
          <a:bodyPr/>
          <a:lstStyle/>
          <a:p>
            <a:endParaRPr lang="en-IN"/>
          </a:p>
        </p:txBody>
      </p:sp>
      <p:sp>
        <p:nvSpPr>
          <p:cNvPr id="20" name="Shape 1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21" name="Text 1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22" name="Text 1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70</a:t>
            </a:r>
            <a:r>
              <a:rPr sz="900">
                <a:solidFill>
                  <a:srgbClr val="8A8477"/>
                </a:solidFill>
                <a:latin typeface="Courier New"/>
              </a:rPr>
              <a:t> / 80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9">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07 — CML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Evaluating Risk Distribution: The 90/15 Pareto Rule</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90% of industrial plant risk resides in only 15% of Condition Monitoring Locations.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71</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RISK ACROSS EQUIPMENT — 90/15 CONCENTRATION</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pic>
        <p:nvPicPr>
          <p:cNvPr id="16" name="Image 1" descr="Risk Across Equipment — 90/15 Concentration"/>
          <p:cNvPicPr>
            <a:picLocks noChangeAspect="1"/>
          </p:cNvPicPr>
          <p:nvPr/>
        </p:nvPicPr>
        <p:blipFill>
          <a:blip r:embed="rId4"/>
          <a:stretch>
            <a:fillRect/>
          </a:stretch>
        </p:blipFill>
        <p:spPr>
          <a:xfrm>
            <a:off x="775343" y="2240280"/>
            <a:ext cx="5535915" cy="3849624"/>
          </a:xfrm>
          <a:prstGeom prst="rect">
            <a:avLst/>
          </a:prstGeom>
        </p:spPr>
      </p:pic>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THE 90/15 PRINCIPLE EXPLAINED</a:t>
            </a:r>
            <a:endParaRPr lang="en-US" sz="950" dirty="0"/>
          </a:p>
        </p:txBody>
      </p:sp>
      <p:sp>
        <p:nvSpPr>
          <p:cNvPr id="19" name="Text 15"/>
          <p:cNvSpPr txBox="1"/>
          <p:nvPr/>
        </p:nvSpPr>
        <p:spPr>
          <a:xfrm>
            <a:off x="6949440" y="2286000"/>
            <a:ext cx="4526280" cy="3017520"/>
          </a:xfrm>
          <a:prstGeom prst="rect">
            <a:avLst/>
          </a:prstGeom>
          <a:noFill/>
          <a:ln/>
        </p:spPr>
        <p:txBody>
          <a:bodyPr wrap="square" lIns="0" tIns="0" rIns="0" bIns="0" rtlCol="0" anchor="t"/>
          <a:lstStyle/>
          <a:p>
            <a:pPr marL="190500" indent="-190500">
              <a:spcAft>
                <a:spcPts val="1200"/>
              </a:spcAft>
              <a:buSzPct val="100000"/>
              <a:buChar char="▪"/>
            </a:pPr>
            <a:r>
              <a:rPr lang="en-US" sz="1250" b="1" dirty="0">
                <a:solidFill>
                  <a:srgbClr val="1C1712"/>
                </a:solidFill>
                <a:latin typeface="Cambria" pitchFamily="34" charset="0"/>
                <a:ea typeface="Cambria" pitchFamily="34" charset="-122"/>
                <a:cs typeface="Cambria" pitchFamily="34" charset="-120"/>
              </a:rPr>
              <a:t>The 90/15 Imbalance:</a:t>
            </a:r>
            <a:r>
              <a:rPr lang="en-US" sz="1250" dirty="0">
                <a:solidFill>
                  <a:srgbClr val="2C261E"/>
                </a:solidFill>
                <a:latin typeface="Cambria" pitchFamily="34" charset="0"/>
                <a:ea typeface="Cambria" pitchFamily="34" charset="-122"/>
                <a:cs typeface="Cambria" pitchFamily="34" charset="-120"/>
              </a:rPr>
              <a:t> In typical plants, </a:t>
            </a:r>
            <a:r>
              <a:rPr lang="en-US" sz="1250" b="1" dirty="0">
                <a:solidFill>
                  <a:srgbClr val="1C1712"/>
                </a:solidFill>
                <a:latin typeface="Cambria" pitchFamily="34" charset="0"/>
                <a:ea typeface="Cambria" pitchFamily="34" charset="-122"/>
                <a:cs typeface="Cambria" pitchFamily="34" charset="-120"/>
              </a:rPr>
              <a:t>90% of total facility risk</a:t>
            </a:r>
            <a:r>
              <a:rPr lang="en-US" sz="1250" dirty="0">
                <a:solidFill>
                  <a:srgbClr val="2C261E"/>
                </a:solidFill>
                <a:latin typeface="Cambria" pitchFamily="34" charset="0"/>
                <a:ea typeface="Cambria" pitchFamily="34" charset="-122"/>
                <a:cs typeface="Cambria" pitchFamily="34" charset="-120"/>
              </a:rPr>
              <a:t> concentrates in just </a:t>
            </a:r>
            <a:r>
              <a:rPr lang="en-US" sz="1250" b="1" dirty="0">
                <a:solidFill>
                  <a:srgbClr val="1C1712"/>
                </a:solidFill>
                <a:latin typeface="Cambria" pitchFamily="34" charset="0"/>
                <a:ea typeface="Cambria" pitchFamily="34" charset="-122"/>
                <a:cs typeface="Cambria" pitchFamily="34" charset="-120"/>
              </a:rPr>
              <a:t>15% of the asset base</a:t>
            </a:r>
            <a:r>
              <a:rPr lang="en-US" sz="1250" dirty="0">
                <a:solidFill>
                  <a:srgbClr val="2C261E"/>
                </a:solidFill>
                <a:latin typeface="Cambria" pitchFamily="34" charset="0"/>
                <a:ea typeface="Cambria" pitchFamily="34" charset="-122"/>
                <a:cs typeface="Cambria" pitchFamily="34" charset="-120"/>
              </a:rPr>
              <a:t>.</a:t>
            </a:r>
            <a:endParaRPr lang="en-US" sz="1250" dirty="0"/>
          </a:p>
          <a:p>
            <a:pPr marL="190500" indent="-190500">
              <a:spcAft>
                <a:spcPts val="1200"/>
              </a:spcAft>
              <a:buSzPct val="100000"/>
              <a:buChar char="▪"/>
            </a:pPr>
            <a:r>
              <a:rPr lang="en-US" sz="1250" b="1" dirty="0">
                <a:solidFill>
                  <a:srgbClr val="1C1712"/>
                </a:solidFill>
                <a:latin typeface="Cambria" pitchFamily="34" charset="0"/>
                <a:ea typeface="Cambria" pitchFamily="34" charset="-122"/>
                <a:cs typeface="Cambria" pitchFamily="34" charset="-120"/>
              </a:rPr>
              <a:t>The 85% Long Tail:</a:t>
            </a:r>
            <a:r>
              <a:rPr lang="en-US" sz="1250" dirty="0">
                <a:solidFill>
                  <a:srgbClr val="2C261E"/>
                </a:solidFill>
                <a:latin typeface="Cambria" pitchFamily="34" charset="0"/>
                <a:ea typeface="Cambria" pitchFamily="34" charset="-122"/>
                <a:cs typeface="Cambria" pitchFamily="34" charset="-120"/>
              </a:rPr>
              <a:t> 85% of equipment contributes &lt;10% of risk yet consumes 60%+ of maintenance OPEX.</a:t>
            </a:r>
            <a:endParaRPr lang="en-US" sz="1250" dirty="0"/>
          </a:p>
          <a:p>
            <a:pPr marL="190500" indent="-190500">
              <a:spcAft>
                <a:spcPts val="1200"/>
              </a:spcAft>
              <a:buSzPct val="100000"/>
              <a:buChar char="▪"/>
            </a:pPr>
            <a:r>
              <a:rPr lang="en-US" sz="1250" b="1" dirty="0">
                <a:solidFill>
                  <a:srgbClr val="1C1712"/>
                </a:solidFill>
                <a:latin typeface="Cambria" pitchFamily="34" charset="0"/>
                <a:ea typeface="Cambria" pitchFamily="34" charset="-122"/>
                <a:cs typeface="Cambria" pitchFamily="34" charset="-120"/>
              </a:rPr>
              <a:t>Strategic Optimization:</a:t>
            </a:r>
            <a:r>
              <a:rPr lang="en-US" sz="1250" dirty="0">
                <a:solidFill>
                  <a:srgbClr val="2C261E"/>
                </a:solidFill>
                <a:latin typeface="Cambria" pitchFamily="34" charset="0"/>
                <a:ea typeface="Cambria" pitchFamily="34" charset="-122"/>
                <a:cs typeface="Cambria" pitchFamily="34" charset="-120"/>
              </a:rPr>
              <a:t> Focus intensive CML and advanced condition monitoring on the critical 15%.</a:t>
            </a:r>
            <a:endParaRPr lang="en-US" sz="1250" dirty="0"/>
          </a:p>
          <a:p>
            <a:pPr marL="190500" indent="-190500">
              <a:spcAft>
                <a:spcPts val="1200"/>
              </a:spcAft>
              <a:buSzPct val="100000"/>
              <a:buChar char="▪"/>
            </a:pPr>
            <a:r>
              <a:rPr lang="en-US" sz="1250" b="1" dirty="0">
                <a:solidFill>
                  <a:srgbClr val="1C1712"/>
                </a:solidFill>
                <a:latin typeface="Cambria" pitchFamily="34" charset="0"/>
                <a:ea typeface="Cambria" pitchFamily="34" charset="-122"/>
                <a:cs typeface="Cambria" pitchFamily="34" charset="-120"/>
              </a:rPr>
              <a:t>Budget Realignment:</a:t>
            </a:r>
            <a:r>
              <a:rPr lang="en-US" sz="1250" dirty="0">
                <a:solidFill>
                  <a:srgbClr val="2C261E"/>
                </a:solidFill>
                <a:latin typeface="Cambria" pitchFamily="34" charset="0"/>
                <a:ea typeface="Cambria" pitchFamily="34" charset="-122"/>
                <a:cs typeface="Cambria" pitchFamily="34" charset="-120"/>
              </a:rPr>
              <a:t> Safely de-scope or extend inspection intervals on the remaining 85%.</a:t>
            </a:r>
            <a:endParaRPr lang="en-US" sz="1250" dirty="0"/>
          </a:p>
        </p:txBody>
      </p:sp>
      <p:sp>
        <p:nvSpPr>
          <p:cNvPr id="20" name="Shape 16"/>
          <p:cNvSpPr/>
          <p:nvPr/>
        </p:nvSpPr>
        <p:spPr>
          <a:xfrm>
            <a:off x="6949440" y="5440680"/>
            <a:ext cx="4480560" cy="594360"/>
          </a:xfrm>
          <a:prstGeom prst="rect">
            <a:avLst/>
          </a:prstGeom>
          <a:solidFill>
            <a:srgbClr val="EFDCCF"/>
          </a:solidFill>
          <a:ln w="12700">
            <a:solidFill>
              <a:srgbClr val="A03B30"/>
            </a:solidFill>
            <a:prstDash val="solid"/>
          </a:ln>
        </p:spPr>
        <p:txBody>
          <a:bodyPr/>
          <a:lstStyle/>
          <a:p>
            <a:endParaRPr lang="en-IN"/>
          </a:p>
        </p:txBody>
      </p:sp>
      <p:sp>
        <p:nvSpPr>
          <p:cNvPr id="21" name="Text 17"/>
          <p:cNvSpPr txBox="1"/>
          <p:nvPr/>
        </p:nvSpPr>
        <p:spPr>
          <a:xfrm>
            <a:off x="7086600" y="5440680"/>
            <a:ext cx="4206240" cy="594360"/>
          </a:xfrm>
          <a:prstGeom prst="rect">
            <a:avLst/>
          </a:prstGeom>
          <a:noFill/>
          <a:ln/>
        </p:spPr>
        <p:txBody>
          <a:bodyPr wrap="square" lIns="0" tIns="0" rIns="0" bIns="0" rtlCol="0" anchor="ctr"/>
          <a:lstStyle/>
          <a:p>
            <a:pPr marL="0" indent="0">
              <a:buNone/>
            </a:pPr>
            <a:r>
              <a:rPr lang="en-US" sz="1250" b="1" dirty="0">
                <a:solidFill>
                  <a:srgbClr val="1C1712"/>
                </a:solidFill>
                <a:latin typeface="Cambria" pitchFamily="34" charset="0"/>
                <a:ea typeface="Cambria" pitchFamily="34" charset="-122"/>
                <a:cs typeface="Cambria" pitchFamily="34" charset="-120"/>
              </a:rPr>
              <a:t>Executive Impact:  </a:t>
            </a:r>
            <a:r>
              <a:rPr lang="en-US" sz="1200" dirty="0">
                <a:solidFill>
                  <a:srgbClr val="2C261E"/>
                </a:solidFill>
                <a:latin typeface="Cambria" pitchFamily="34" charset="0"/>
                <a:ea typeface="Cambria" pitchFamily="34" charset="-122"/>
                <a:cs typeface="Cambria" pitchFamily="34" charset="-120"/>
              </a:rPr>
              <a:t>Redirects OPEX capital where it yields maximum risk mitigation per dollar.</a:t>
            </a:r>
            <a:endParaRPr lang="en-US" sz="12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60">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07 — CML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From LVC Models to Strategic CML Prioritization</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Eliminating wasteful blanketing of non-degrading metal.</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72</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FROM LVC MODELS TO CML INSPECTION PRIORITIZATION</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sp>
        <p:nvSpPr>
          <p:cNvPr id="17" name="Shape 13"/>
          <p:cNvSpPr/>
          <p:nvPr/>
        </p:nvSpPr>
        <p:spPr>
          <a:xfrm>
            <a:off x="6720840" y="1783080"/>
            <a:ext cx="4919472" cy="4434840"/>
          </a:xfrm>
          <a:prstGeom prst="rect">
            <a:avLst/>
          </a:prstGeom>
          <a:solidFill>
            <a:srgbClr val="EFE4CD"/>
          </a:solidFill>
          <a:ln w="12700">
            <a:solidFill>
              <a:srgbClr val="C9B48F"/>
            </a:solidFill>
            <a:prstDash val="solid"/>
          </a:ln>
        </p:spPr>
        <p:txBody>
          <a:bodyPr/>
          <a:lstStyle/>
          <a:p>
            <a:endParaRPr lang="en-IN"/>
          </a:p>
        </p:txBody>
      </p:sp>
      <p:sp>
        <p:nvSpPr>
          <p:cNvPr id="18" name="Shape 14"/>
          <p:cNvSpPr/>
          <p:nvPr/>
        </p:nvSpPr>
        <p:spPr>
          <a:xfrm>
            <a:off x="6949440" y="2011680"/>
            <a:ext cx="566928" cy="566928"/>
          </a:xfrm>
          <a:prstGeom prst="ellipse">
            <a:avLst/>
          </a:prstGeom>
          <a:solidFill>
            <a:srgbClr val="EFDCCF"/>
          </a:solidFill>
          <a:ln w="15875">
            <a:solidFill>
              <a:srgbClr val="7A1F1A"/>
            </a:solidFill>
            <a:prstDash val="solid"/>
          </a:ln>
        </p:spPr>
        <p:txBody>
          <a:bodyPr/>
          <a:lstStyle/>
          <a:p>
            <a:endParaRPr lang="en-IN"/>
          </a:p>
        </p:txBody>
      </p:sp>
      <p:pic>
        <p:nvPicPr>
          <p:cNvPr id="19" name="Image 2" descr="preencoded.png"/>
          <p:cNvPicPr>
            <a:picLocks noChangeAspect="1"/>
          </p:cNvPicPr>
          <p:nvPr/>
        </p:nvPicPr>
        <p:blipFill>
          <a:blip r:embed="rId4"/>
          <a:stretch>
            <a:fillRect/>
          </a:stretch>
        </p:blipFill>
        <p:spPr>
          <a:xfrm>
            <a:off x="7091172" y="2153412"/>
            <a:ext cx="283464" cy="283464"/>
          </a:xfrm>
          <a:prstGeom prst="rect">
            <a:avLst/>
          </a:prstGeom>
        </p:spPr>
      </p:pic>
      <p:sp>
        <p:nvSpPr>
          <p:cNvPr id="20" name="Text 15"/>
          <p:cNvSpPr txBox="1"/>
          <p:nvPr/>
        </p:nvSpPr>
        <p:spPr>
          <a:xfrm>
            <a:off x="7680960" y="2121408"/>
            <a:ext cx="3931920" cy="310896"/>
          </a:xfrm>
          <a:prstGeom prst="rect">
            <a:avLst/>
          </a:prstGeom>
          <a:noFill/>
          <a:ln/>
        </p:spPr>
        <p:txBody>
          <a:bodyPr wrap="square" lIns="0" tIns="0" rIns="0" bIns="0" rtlCol="0" anchor="t"/>
          <a:lstStyle/>
          <a:p>
            <a:pPr marL="0" indent="0">
              <a:buNone/>
            </a:pPr>
            <a:r>
              <a:rPr lang="en-US" sz="1600" b="1" dirty="0">
                <a:solidFill>
                  <a:srgbClr val="1C1712"/>
                </a:solidFill>
                <a:latin typeface="Cambria" pitchFamily="34" charset="0"/>
                <a:ea typeface="Cambria" pitchFamily="34" charset="-122"/>
                <a:cs typeface="Cambria" pitchFamily="34" charset="-120"/>
              </a:rPr>
              <a:t>Eliminating Blanket Inspections</a:t>
            </a:r>
            <a:endParaRPr lang="en-US" sz="1600" dirty="0"/>
          </a:p>
        </p:txBody>
      </p:sp>
      <p:sp>
        <p:nvSpPr>
          <p:cNvPr id="21" name="Text 16"/>
          <p:cNvSpPr txBox="1"/>
          <p:nvPr/>
        </p:nvSpPr>
        <p:spPr>
          <a:xfrm>
            <a:off x="6949440" y="2880360"/>
            <a:ext cx="4480560" cy="1097280"/>
          </a:xfrm>
          <a:prstGeom prst="rect">
            <a:avLst/>
          </a:prstGeom>
          <a:noFill/>
          <a:ln/>
        </p:spPr>
        <p:txBody>
          <a:bodyPr wrap="square" lIns="0" tIns="0" rIns="0" bIns="0" rtlCol="0" anchor="t"/>
          <a:lstStyle/>
          <a:p>
            <a:pPr marL="0" indent="0">
              <a:buNone/>
            </a:pPr>
            <a:r>
              <a:rPr lang="en-US" sz="1500" dirty="0">
                <a:solidFill>
                  <a:srgbClr val="2C261E"/>
                </a:solidFill>
                <a:latin typeface="Cambria" pitchFamily="34" charset="0"/>
                <a:ea typeface="Cambria" pitchFamily="34" charset="-122"/>
                <a:cs typeface="Cambria" pitchFamily="34" charset="-120"/>
              </a:rPr>
              <a:t>LVC generates an independent remaining-life probability distribution for every CML on every vessel and piping circuit.</a:t>
            </a:r>
            <a:endParaRPr lang="en-US" sz="1500" dirty="0"/>
          </a:p>
        </p:txBody>
      </p:sp>
      <p:sp>
        <p:nvSpPr>
          <p:cNvPr id="22" name="Shape 17"/>
          <p:cNvSpPr/>
          <p:nvPr/>
        </p:nvSpPr>
        <p:spPr>
          <a:xfrm>
            <a:off x="6949440" y="4069080"/>
            <a:ext cx="4480560" cy="0"/>
          </a:xfrm>
          <a:prstGeom prst="line">
            <a:avLst/>
          </a:prstGeom>
          <a:noFill/>
          <a:ln w="9525">
            <a:solidFill>
              <a:srgbClr val="C9B48F"/>
            </a:solidFill>
            <a:prstDash val="solid"/>
          </a:ln>
        </p:spPr>
        <p:txBody>
          <a:bodyPr/>
          <a:lstStyle/>
          <a:p>
            <a:endParaRPr lang="en-IN"/>
          </a:p>
        </p:txBody>
      </p:sp>
      <p:sp>
        <p:nvSpPr>
          <p:cNvPr id="23" name="Text 18"/>
          <p:cNvSpPr txBox="1"/>
          <p:nvPr/>
        </p:nvSpPr>
        <p:spPr>
          <a:xfrm>
            <a:off x="6949440" y="4206240"/>
            <a:ext cx="4480560" cy="1645920"/>
          </a:xfrm>
          <a:prstGeom prst="rect">
            <a:avLst/>
          </a:prstGeom>
          <a:noFill/>
          <a:ln/>
        </p:spPr>
        <p:txBody>
          <a:bodyPr wrap="square" lIns="0" tIns="0" rIns="0" bIns="0" rtlCol="0" anchor="t"/>
          <a:lstStyle/>
          <a:p>
            <a:pPr marL="0" indent="0">
              <a:buNone/>
            </a:pPr>
            <a:r>
              <a:rPr lang="en-US" sz="1500" i="1" dirty="0">
                <a:solidFill>
                  <a:srgbClr val="1C1712"/>
                </a:solidFill>
                <a:latin typeface="Cambria" pitchFamily="34" charset="0"/>
                <a:ea typeface="Cambria" pitchFamily="34" charset="-122"/>
                <a:cs typeface="Cambria" pitchFamily="34" charset="-120"/>
              </a:rPr>
              <a:t>Inspectors no longer blast 50 UT readings on an entire line when only 3 elbow CMLs suffer flow-accelerated thinning.</a:t>
            </a:r>
            <a:endParaRPr lang="en-US" sz="1500" dirty="0"/>
          </a:p>
        </p:txBody>
      </p:sp>
      <p:pic>
        <p:nvPicPr>
          <p:cNvPr id="25" name="Picture 24">
            <a:extLst>
              <a:ext uri="{FF2B5EF4-FFF2-40B4-BE49-F238E27FC236}">
                <a16:creationId xmlns:a16="http://schemas.microsoft.com/office/drawing/2014/main" id="{6357DAF7-3F05-C8D5-16E6-4BCFE71F2DF6}"/>
              </a:ext>
            </a:extLst>
          </p:cNvPr>
          <p:cNvPicPr>
            <a:picLocks noChangeAspect="1"/>
          </p:cNvPicPr>
          <p:nvPr/>
        </p:nvPicPr>
        <p:blipFill>
          <a:blip r:embed="rId5"/>
          <a:stretch>
            <a:fillRect/>
          </a:stretch>
        </p:blipFill>
        <p:spPr>
          <a:xfrm>
            <a:off x="839571" y="2730630"/>
            <a:ext cx="5407457" cy="2676899"/>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1">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07 — CML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CML Risk Targets &amp; Target Inspection Dates</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Targeting inspection dates by intersecting rising risk curves with ceilings.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73</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CML RISK TARGET &amp; TARGET INSPECTION DATES</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pic>
        <p:nvPicPr>
          <p:cNvPr id="16" name="Image 1" descr="CML Risk Target &amp; Target Inspection Dates"/>
          <p:cNvPicPr>
            <a:picLocks noChangeAspect="1"/>
          </p:cNvPicPr>
          <p:nvPr/>
        </p:nvPicPr>
        <p:blipFill>
          <a:blip r:embed="rId4"/>
          <a:stretch>
            <a:fillRect/>
          </a:stretch>
        </p:blipFill>
        <p:spPr>
          <a:xfrm>
            <a:off x="900503" y="2240280"/>
            <a:ext cx="5285595" cy="3849624"/>
          </a:xfrm>
          <a:prstGeom prst="rect">
            <a:avLst/>
          </a:prstGeom>
        </p:spPr>
      </p:pic>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TARGET INSPECTION DATE METHODOLOGY</a:t>
            </a:r>
            <a:endParaRPr lang="en-US" sz="950" dirty="0"/>
          </a:p>
        </p:txBody>
      </p:sp>
      <p:sp>
        <p:nvSpPr>
          <p:cNvPr id="19" name="Shape 15"/>
          <p:cNvSpPr/>
          <p:nvPr/>
        </p:nvSpPr>
        <p:spPr>
          <a:xfrm>
            <a:off x="6949440" y="2468880"/>
            <a:ext cx="402336" cy="402336"/>
          </a:xfrm>
          <a:prstGeom prst="ellipse">
            <a:avLst/>
          </a:prstGeom>
          <a:solidFill>
            <a:srgbClr val="EFDCCF"/>
          </a:solidFill>
          <a:ln w="15875">
            <a:solidFill>
              <a:srgbClr val="7A1F1A"/>
            </a:solidFill>
            <a:prstDash val="solid"/>
          </a:ln>
        </p:spPr>
        <p:txBody>
          <a:bodyPr/>
          <a:lstStyle/>
          <a:p>
            <a:endParaRPr lang="en-IN"/>
          </a:p>
        </p:txBody>
      </p:sp>
      <p:sp>
        <p:nvSpPr>
          <p:cNvPr id="20" name="Text 16"/>
          <p:cNvSpPr txBox="1"/>
          <p:nvPr/>
        </p:nvSpPr>
        <p:spPr>
          <a:xfrm>
            <a:off x="6949440" y="2468880"/>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1</a:t>
            </a:r>
            <a:endParaRPr lang="en-US" sz="1200" dirty="0"/>
          </a:p>
        </p:txBody>
      </p:sp>
      <p:sp>
        <p:nvSpPr>
          <p:cNvPr id="21" name="Text 17"/>
          <p:cNvSpPr txBox="1"/>
          <p:nvPr/>
        </p:nvSpPr>
        <p:spPr>
          <a:xfrm>
            <a:off x="7543800" y="2450592"/>
            <a:ext cx="3977640" cy="310896"/>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Set Facility Risk Ceiling</a:t>
            </a:r>
            <a:endParaRPr lang="en-US" sz="1450" dirty="0"/>
          </a:p>
        </p:txBody>
      </p:sp>
      <p:sp>
        <p:nvSpPr>
          <p:cNvPr id="22" name="Text 18"/>
          <p:cNvSpPr txBox="1"/>
          <p:nvPr/>
        </p:nvSpPr>
        <p:spPr>
          <a:xfrm>
            <a:off x="7543800" y="2779776"/>
            <a:ext cx="3931920" cy="86868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Management defines an acceptable monetary risk threshold per piping circuit (e.g. $100k).</a:t>
            </a:r>
            <a:endParaRPr lang="en-US" sz="1250" dirty="0"/>
          </a:p>
        </p:txBody>
      </p:sp>
      <p:sp>
        <p:nvSpPr>
          <p:cNvPr id="23" name="Shape 19"/>
          <p:cNvSpPr/>
          <p:nvPr/>
        </p:nvSpPr>
        <p:spPr>
          <a:xfrm>
            <a:off x="6949440" y="3703320"/>
            <a:ext cx="402336" cy="402336"/>
          </a:xfrm>
          <a:prstGeom prst="ellipse">
            <a:avLst/>
          </a:prstGeom>
          <a:solidFill>
            <a:srgbClr val="EFDCCF"/>
          </a:solidFill>
          <a:ln w="15875">
            <a:solidFill>
              <a:srgbClr val="7A1F1A"/>
            </a:solidFill>
            <a:prstDash val="solid"/>
          </a:ln>
        </p:spPr>
        <p:txBody>
          <a:bodyPr/>
          <a:lstStyle/>
          <a:p>
            <a:endParaRPr lang="en-IN"/>
          </a:p>
        </p:txBody>
      </p:sp>
      <p:sp>
        <p:nvSpPr>
          <p:cNvPr id="24" name="Text 20"/>
          <p:cNvSpPr txBox="1"/>
          <p:nvPr/>
        </p:nvSpPr>
        <p:spPr>
          <a:xfrm>
            <a:off x="6949440" y="3703320"/>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2</a:t>
            </a:r>
            <a:endParaRPr lang="en-US" sz="1200" dirty="0"/>
          </a:p>
        </p:txBody>
      </p:sp>
      <p:sp>
        <p:nvSpPr>
          <p:cNvPr id="25" name="Text 21"/>
          <p:cNvSpPr txBox="1"/>
          <p:nvPr/>
        </p:nvSpPr>
        <p:spPr>
          <a:xfrm>
            <a:off x="7543800" y="3685032"/>
            <a:ext cx="3977640" cy="310896"/>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Calculate Intersection</a:t>
            </a:r>
            <a:endParaRPr lang="en-US" sz="1450" dirty="0"/>
          </a:p>
        </p:txBody>
      </p:sp>
      <p:sp>
        <p:nvSpPr>
          <p:cNvPr id="26" name="Text 22"/>
          <p:cNvSpPr txBox="1"/>
          <p:nvPr/>
        </p:nvSpPr>
        <p:spPr>
          <a:xfrm>
            <a:off x="7543800" y="4014216"/>
            <a:ext cx="3931920" cy="86868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The exact date where a CML’s rising risk curve intersects the ceiling becomes its Target Inspection Date.</a:t>
            </a:r>
            <a:endParaRPr lang="en-US" sz="1250" dirty="0"/>
          </a:p>
        </p:txBody>
      </p:sp>
      <p:sp>
        <p:nvSpPr>
          <p:cNvPr id="27" name="Shape 23"/>
          <p:cNvSpPr/>
          <p:nvPr/>
        </p:nvSpPr>
        <p:spPr>
          <a:xfrm>
            <a:off x="6949440" y="4937760"/>
            <a:ext cx="402336" cy="402336"/>
          </a:xfrm>
          <a:prstGeom prst="ellipse">
            <a:avLst/>
          </a:prstGeom>
          <a:solidFill>
            <a:srgbClr val="EFDCCF"/>
          </a:solidFill>
          <a:ln w="15875">
            <a:solidFill>
              <a:srgbClr val="7A1F1A"/>
            </a:solidFill>
            <a:prstDash val="solid"/>
          </a:ln>
        </p:spPr>
        <p:txBody>
          <a:bodyPr/>
          <a:lstStyle/>
          <a:p>
            <a:endParaRPr lang="en-IN"/>
          </a:p>
        </p:txBody>
      </p:sp>
      <p:sp>
        <p:nvSpPr>
          <p:cNvPr id="28" name="Text 24"/>
          <p:cNvSpPr txBox="1"/>
          <p:nvPr/>
        </p:nvSpPr>
        <p:spPr>
          <a:xfrm>
            <a:off x="6949440" y="4937760"/>
            <a:ext cx="402336" cy="402336"/>
          </a:xfrm>
          <a:prstGeom prst="rect">
            <a:avLst/>
          </a:prstGeom>
          <a:noFill/>
          <a:ln/>
        </p:spPr>
        <p:txBody>
          <a:bodyPr wrap="square" lIns="0" tIns="0" rIns="0" bIns="0" rtlCol="0" anchor="ctr"/>
          <a:lstStyle/>
          <a:p>
            <a:pPr marL="0" indent="0" algn="ctr">
              <a:buNone/>
            </a:pPr>
            <a:r>
              <a:rPr lang="en-US" sz="1200" b="1" dirty="0">
                <a:solidFill>
                  <a:srgbClr val="7A1F1A"/>
                </a:solidFill>
                <a:latin typeface="Cambria" pitchFamily="34" charset="0"/>
                <a:ea typeface="Cambria" pitchFamily="34" charset="-122"/>
                <a:cs typeface="Cambria" pitchFamily="34" charset="-120"/>
              </a:rPr>
              <a:t>3</a:t>
            </a:r>
            <a:endParaRPr lang="en-US" sz="1200" dirty="0"/>
          </a:p>
        </p:txBody>
      </p:sp>
      <p:sp>
        <p:nvSpPr>
          <p:cNvPr id="29" name="Text 25"/>
          <p:cNvSpPr txBox="1"/>
          <p:nvPr/>
        </p:nvSpPr>
        <p:spPr>
          <a:xfrm>
            <a:off x="7543800" y="4919472"/>
            <a:ext cx="3977640" cy="310896"/>
          </a:xfrm>
          <a:prstGeom prst="rect">
            <a:avLst/>
          </a:prstGeom>
          <a:noFill/>
          <a:ln/>
        </p:spPr>
        <p:txBody>
          <a:bodyPr wrap="square" lIns="0" tIns="0" rIns="0" bIns="0" rtlCol="0" anchor="t"/>
          <a:lstStyle/>
          <a:p>
            <a:pPr marL="0" indent="0">
              <a:buNone/>
            </a:pPr>
            <a:r>
              <a:rPr lang="en-US" sz="1450" b="1" dirty="0">
                <a:solidFill>
                  <a:srgbClr val="7A1F1A"/>
                </a:solidFill>
                <a:latin typeface="Cambria" pitchFamily="34" charset="0"/>
                <a:ea typeface="Cambria" pitchFamily="34" charset="-122"/>
                <a:cs typeface="Cambria" pitchFamily="34" charset="-120"/>
              </a:rPr>
              <a:t>Natural Campaign Groupings</a:t>
            </a:r>
            <a:endParaRPr lang="en-US" sz="1450" dirty="0"/>
          </a:p>
        </p:txBody>
      </p:sp>
      <p:sp>
        <p:nvSpPr>
          <p:cNvPr id="30" name="Text 26"/>
          <p:cNvSpPr txBox="1"/>
          <p:nvPr/>
        </p:nvSpPr>
        <p:spPr>
          <a:xfrm>
            <a:off x="7543800" y="5248656"/>
            <a:ext cx="3931920" cy="86868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CMLs reaching the threshold in the same month are automatically bundled into single scaffold campaigns.</a:t>
            </a:r>
            <a:endParaRPr lang="en-US" sz="12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2">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07 — CML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General Degradation: CML Sample Optimization (38 → 7)</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Statistical sampling proof reducing inspection points by 81.5% with 95% confidence.</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74</a:t>
            </a:r>
            <a:r>
              <a:rPr sz="900">
                <a:solidFill>
                  <a:srgbClr val="8A8477"/>
                </a:solidFill>
                <a:latin typeface="Courier New"/>
              </a:rPr>
              <a:t> / 80</a:t>
            </a:r>
            <a:endParaRPr lang="en-US" sz="900" dirty="0"/>
          </a:p>
        </p:txBody>
      </p:sp>
      <p:sp>
        <p:nvSpPr>
          <p:cNvPr id="13" name="Shape 10"/>
          <p:cNvSpPr/>
          <p:nvPr/>
        </p:nvSpPr>
        <p:spPr>
          <a:xfrm>
            <a:off x="548640" y="1783080"/>
            <a:ext cx="740664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704088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GENERAL DEGRADATION: 38 CMLS → 7 (95% CONFIDENCE)</a:t>
            </a:r>
            <a:endParaRPr lang="en-US" sz="850" dirty="0"/>
          </a:p>
        </p:txBody>
      </p:sp>
      <p:sp>
        <p:nvSpPr>
          <p:cNvPr id="15" name="Shape 12"/>
          <p:cNvSpPr/>
          <p:nvPr/>
        </p:nvSpPr>
        <p:spPr>
          <a:xfrm>
            <a:off x="731520" y="2148840"/>
            <a:ext cx="7040880" cy="0"/>
          </a:xfrm>
          <a:prstGeom prst="line">
            <a:avLst/>
          </a:prstGeom>
          <a:noFill/>
          <a:ln w="9525">
            <a:solidFill>
              <a:srgbClr val="C9B48F"/>
            </a:solidFill>
            <a:prstDash val="solid"/>
          </a:ln>
        </p:spPr>
        <p:txBody>
          <a:bodyPr/>
          <a:lstStyle/>
          <a:p>
            <a:endParaRPr lang="en-IN"/>
          </a:p>
        </p:txBody>
      </p:sp>
      <p:sp>
        <p:nvSpPr>
          <p:cNvPr id="17" name="Shape 13"/>
          <p:cNvSpPr/>
          <p:nvPr/>
        </p:nvSpPr>
        <p:spPr>
          <a:xfrm>
            <a:off x="8092440" y="1783080"/>
            <a:ext cx="3547872" cy="4434840"/>
          </a:xfrm>
          <a:prstGeom prst="rect">
            <a:avLst/>
          </a:prstGeom>
          <a:solidFill>
            <a:srgbClr val="DDE7D6"/>
          </a:solidFill>
          <a:ln w="12700">
            <a:solidFill>
              <a:srgbClr val="2F6B3A"/>
            </a:solidFill>
            <a:prstDash val="solid"/>
          </a:ln>
        </p:spPr>
        <p:txBody>
          <a:bodyPr/>
          <a:lstStyle/>
          <a:p>
            <a:endParaRPr lang="en-IN"/>
          </a:p>
        </p:txBody>
      </p:sp>
      <p:sp>
        <p:nvSpPr>
          <p:cNvPr id="18" name="Text 14"/>
          <p:cNvSpPr txBox="1"/>
          <p:nvPr/>
        </p:nvSpPr>
        <p:spPr>
          <a:xfrm>
            <a:off x="8092440" y="2286000"/>
            <a:ext cx="3547872" cy="822960"/>
          </a:xfrm>
          <a:prstGeom prst="rect">
            <a:avLst/>
          </a:prstGeom>
          <a:noFill/>
          <a:ln/>
        </p:spPr>
        <p:txBody>
          <a:bodyPr wrap="square" lIns="0" tIns="0" rIns="0" bIns="0" rtlCol="0" anchor="t"/>
          <a:lstStyle/>
          <a:p>
            <a:pPr marL="0" indent="0" algn="ctr">
              <a:buNone/>
            </a:pPr>
            <a:r>
              <a:rPr lang="en-US" sz="4600" b="1" dirty="0">
                <a:solidFill>
                  <a:srgbClr val="2F6B3A"/>
                </a:solidFill>
                <a:latin typeface="Cambria" pitchFamily="34" charset="0"/>
                <a:ea typeface="Cambria" pitchFamily="34" charset="-122"/>
                <a:cs typeface="Cambria" pitchFamily="34" charset="-120"/>
              </a:rPr>
              <a:t>81.5%</a:t>
            </a:r>
            <a:endParaRPr lang="en-US" sz="4600" dirty="0"/>
          </a:p>
        </p:txBody>
      </p:sp>
      <p:sp>
        <p:nvSpPr>
          <p:cNvPr id="19" name="Text 15"/>
          <p:cNvSpPr txBox="1"/>
          <p:nvPr/>
        </p:nvSpPr>
        <p:spPr>
          <a:xfrm>
            <a:off x="8092440" y="3154680"/>
            <a:ext cx="3547872" cy="365760"/>
          </a:xfrm>
          <a:prstGeom prst="rect">
            <a:avLst/>
          </a:prstGeom>
          <a:noFill/>
          <a:ln/>
        </p:spPr>
        <p:txBody>
          <a:bodyPr wrap="square" lIns="0" tIns="0" rIns="0" bIns="0" rtlCol="0" anchor="t"/>
          <a:lstStyle/>
          <a:p>
            <a:pPr marL="0" indent="0" algn="ctr">
              <a:buNone/>
            </a:pPr>
            <a:r>
              <a:rPr lang="en-US" sz="1300" b="1" i="1" dirty="0">
                <a:solidFill>
                  <a:srgbClr val="1C1712"/>
                </a:solidFill>
                <a:latin typeface="Cambria" pitchFamily="34" charset="0"/>
                <a:ea typeface="Cambria" pitchFamily="34" charset="-122"/>
                <a:cs typeface="Cambria" pitchFamily="34" charset="-120"/>
              </a:rPr>
              <a:t>Reduction in Inspection Points</a:t>
            </a:r>
            <a:endParaRPr lang="en-US" sz="1300" dirty="0"/>
          </a:p>
        </p:txBody>
      </p:sp>
      <p:sp>
        <p:nvSpPr>
          <p:cNvPr id="20" name="Shape 16"/>
          <p:cNvSpPr/>
          <p:nvPr/>
        </p:nvSpPr>
        <p:spPr>
          <a:xfrm>
            <a:off x="8321040" y="3657600"/>
            <a:ext cx="3090672" cy="0"/>
          </a:xfrm>
          <a:prstGeom prst="line">
            <a:avLst/>
          </a:prstGeom>
          <a:noFill/>
          <a:ln w="9525">
            <a:solidFill>
              <a:srgbClr val="2F6B3A"/>
            </a:solidFill>
            <a:prstDash val="solid"/>
          </a:ln>
        </p:spPr>
        <p:txBody>
          <a:bodyPr/>
          <a:lstStyle/>
          <a:p>
            <a:endParaRPr lang="en-IN"/>
          </a:p>
        </p:txBody>
      </p:sp>
      <p:sp>
        <p:nvSpPr>
          <p:cNvPr id="21" name="Text 17"/>
          <p:cNvSpPr txBox="1"/>
          <p:nvPr/>
        </p:nvSpPr>
        <p:spPr>
          <a:xfrm>
            <a:off x="8321040" y="3794760"/>
            <a:ext cx="3090672" cy="2286000"/>
          </a:xfrm>
          <a:prstGeom prst="rect">
            <a:avLst/>
          </a:prstGeom>
          <a:noFill/>
          <a:ln/>
        </p:spPr>
        <p:txBody>
          <a:bodyPr wrap="square" lIns="0" tIns="0" rIns="0" bIns="0" rtlCol="0" anchor="t"/>
          <a:lstStyle/>
          <a:p>
            <a:pPr marL="0" indent="0" algn="ctr">
              <a:buNone/>
            </a:pPr>
            <a:r>
              <a:rPr lang="en-US" sz="1350" dirty="0">
                <a:solidFill>
                  <a:srgbClr val="2C261E"/>
                </a:solidFill>
                <a:latin typeface="Cambria" pitchFamily="34" charset="0"/>
                <a:ea typeface="Cambria" pitchFamily="34" charset="-122"/>
                <a:cs typeface="Cambria" pitchFamily="34" charset="-120"/>
              </a:rPr>
              <a:t>For uniform spatial corrosion (UIC), readings across the vessel shell correlate heavily. Statistical sample sizing proves that 7 well-spaced CMLs provide complete 95% confidence in minimum thickness.</a:t>
            </a:r>
            <a:endParaRPr lang="en-US" sz="1350" dirty="0"/>
          </a:p>
        </p:txBody>
      </p:sp>
      <p:pic>
        <p:nvPicPr>
          <p:cNvPr id="23" name="Picture 22">
            <a:extLst>
              <a:ext uri="{FF2B5EF4-FFF2-40B4-BE49-F238E27FC236}">
                <a16:creationId xmlns:a16="http://schemas.microsoft.com/office/drawing/2014/main" id="{07BB3175-A09F-4C1C-8804-A7ABA7002AC9}"/>
              </a:ext>
            </a:extLst>
          </p:cNvPr>
          <p:cNvPicPr>
            <a:picLocks noChangeAspect="1"/>
          </p:cNvPicPr>
          <p:nvPr/>
        </p:nvPicPr>
        <p:blipFill>
          <a:blip r:embed="rId4"/>
          <a:stretch>
            <a:fillRect/>
          </a:stretch>
        </p:blipFill>
        <p:spPr>
          <a:xfrm>
            <a:off x="640080" y="2563148"/>
            <a:ext cx="7223760" cy="2876951"/>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3">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07 — CML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Local Degradation &amp; Extreme Value Analysis (EVA)</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Statistical tail modeling predicting uninspected minimum wall thickness.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75</a:t>
            </a:r>
            <a:r>
              <a:rPr sz="900">
                <a:solidFill>
                  <a:srgbClr val="8A8477"/>
                </a:solidFill>
                <a:latin typeface="Courier New"/>
              </a:rPr>
              <a:t> / 80</a:t>
            </a:r>
            <a:endParaRPr lang="en-US" sz="900" dirty="0"/>
          </a:p>
        </p:txBody>
      </p:sp>
      <p:sp>
        <p:nvSpPr>
          <p:cNvPr id="13" name="Shape 10"/>
          <p:cNvSpPr/>
          <p:nvPr/>
        </p:nvSpPr>
        <p:spPr>
          <a:xfrm>
            <a:off x="548640" y="1783080"/>
            <a:ext cx="740664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704088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EXTREME VALUE ANALYSIS: LOW VS. HIGH VARIANCE TAIL</a:t>
            </a:r>
            <a:endParaRPr lang="en-US" sz="850" dirty="0"/>
          </a:p>
        </p:txBody>
      </p:sp>
      <p:sp>
        <p:nvSpPr>
          <p:cNvPr id="15" name="Shape 12"/>
          <p:cNvSpPr/>
          <p:nvPr/>
        </p:nvSpPr>
        <p:spPr>
          <a:xfrm>
            <a:off x="731520" y="2148840"/>
            <a:ext cx="7040880" cy="0"/>
          </a:xfrm>
          <a:prstGeom prst="line">
            <a:avLst/>
          </a:prstGeom>
          <a:noFill/>
          <a:ln w="9525">
            <a:solidFill>
              <a:srgbClr val="C9B48F"/>
            </a:solidFill>
            <a:prstDash val="solid"/>
          </a:ln>
        </p:spPr>
        <p:txBody>
          <a:bodyPr/>
          <a:lstStyle/>
          <a:p>
            <a:endParaRPr lang="en-IN"/>
          </a:p>
        </p:txBody>
      </p:sp>
      <p:pic>
        <p:nvPicPr>
          <p:cNvPr id="16" name="Image 1" descr="Extreme Value Analysis: Low vs. High Variance Tail"/>
          <p:cNvPicPr>
            <a:picLocks noChangeAspect="1"/>
          </p:cNvPicPr>
          <p:nvPr/>
        </p:nvPicPr>
        <p:blipFill>
          <a:blip r:embed="rId4"/>
          <a:stretch>
            <a:fillRect/>
          </a:stretch>
        </p:blipFill>
        <p:spPr>
          <a:xfrm>
            <a:off x="713232" y="3032699"/>
            <a:ext cx="7077456" cy="2264786"/>
          </a:xfrm>
          <a:prstGeom prst="rect">
            <a:avLst/>
          </a:prstGeom>
        </p:spPr>
      </p:pic>
      <p:sp>
        <p:nvSpPr>
          <p:cNvPr id="17" name="Shape 13"/>
          <p:cNvSpPr/>
          <p:nvPr/>
        </p:nvSpPr>
        <p:spPr>
          <a:xfrm>
            <a:off x="8092440" y="1783080"/>
            <a:ext cx="3547872" cy="4434840"/>
          </a:xfrm>
          <a:prstGeom prst="rect">
            <a:avLst/>
          </a:prstGeom>
          <a:solidFill>
            <a:srgbClr val="EFE4CD"/>
          </a:solidFill>
          <a:ln w="12700">
            <a:solidFill>
              <a:srgbClr val="C9B48F"/>
            </a:solidFill>
            <a:prstDash val="solid"/>
          </a:ln>
        </p:spPr>
        <p:txBody>
          <a:bodyPr/>
          <a:lstStyle/>
          <a:p>
            <a:endParaRPr lang="en-IN"/>
          </a:p>
        </p:txBody>
      </p:sp>
      <p:sp>
        <p:nvSpPr>
          <p:cNvPr id="18" name="Shape 14"/>
          <p:cNvSpPr/>
          <p:nvPr/>
        </p:nvSpPr>
        <p:spPr>
          <a:xfrm>
            <a:off x="8321040" y="2011680"/>
            <a:ext cx="566928" cy="566928"/>
          </a:xfrm>
          <a:prstGeom prst="ellipse">
            <a:avLst/>
          </a:prstGeom>
          <a:solidFill>
            <a:srgbClr val="EFDCCF"/>
          </a:solidFill>
          <a:ln w="15875">
            <a:solidFill>
              <a:srgbClr val="7A1F1A"/>
            </a:solidFill>
            <a:prstDash val="solid"/>
          </a:ln>
        </p:spPr>
        <p:txBody>
          <a:bodyPr/>
          <a:lstStyle/>
          <a:p>
            <a:endParaRPr lang="en-IN"/>
          </a:p>
        </p:txBody>
      </p:sp>
      <p:pic>
        <p:nvPicPr>
          <p:cNvPr id="19" name="Image 2" descr="preencoded.png"/>
          <p:cNvPicPr>
            <a:picLocks noChangeAspect="1"/>
          </p:cNvPicPr>
          <p:nvPr/>
        </p:nvPicPr>
        <p:blipFill>
          <a:blip r:embed="rId5"/>
          <a:stretch>
            <a:fillRect/>
          </a:stretch>
        </p:blipFill>
        <p:spPr>
          <a:xfrm>
            <a:off x="8462772" y="2153412"/>
            <a:ext cx="283464" cy="283464"/>
          </a:xfrm>
          <a:prstGeom prst="rect">
            <a:avLst/>
          </a:prstGeom>
        </p:spPr>
      </p:pic>
      <p:sp>
        <p:nvSpPr>
          <p:cNvPr id="20" name="Text 15"/>
          <p:cNvSpPr txBox="1"/>
          <p:nvPr/>
        </p:nvSpPr>
        <p:spPr>
          <a:xfrm>
            <a:off x="9052560" y="2121408"/>
            <a:ext cx="2468880" cy="310896"/>
          </a:xfrm>
          <a:prstGeom prst="rect">
            <a:avLst/>
          </a:prstGeom>
          <a:noFill/>
          <a:ln/>
        </p:spPr>
        <p:txBody>
          <a:bodyPr wrap="square" lIns="0" tIns="0" rIns="0" bIns="0" rtlCol="0" anchor="t"/>
          <a:lstStyle/>
          <a:p>
            <a:pPr marL="0" indent="0">
              <a:buNone/>
            </a:pPr>
            <a:r>
              <a:rPr lang="en-US" sz="1500" b="1" dirty="0">
                <a:solidFill>
                  <a:srgbClr val="1C1712"/>
                </a:solidFill>
                <a:latin typeface="Cambria" pitchFamily="34" charset="0"/>
                <a:ea typeface="Cambria" pitchFamily="34" charset="-122"/>
                <a:cs typeface="Cambria" pitchFamily="34" charset="-120"/>
              </a:rPr>
              <a:t>Tail-Risk Modeling</a:t>
            </a:r>
            <a:endParaRPr lang="en-US" sz="1500" dirty="0"/>
          </a:p>
        </p:txBody>
      </p:sp>
      <p:sp>
        <p:nvSpPr>
          <p:cNvPr id="21" name="Text 16"/>
          <p:cNvSpPr txBox="1"/>
          <p:nvPr/>
        </p:nvSpPr>
        <p:spPr>
          <a:xfrm>
            <a:off x="8321040" y="2880360"/>
            <a:ext cx="3108960" cy="1463040"/>
          </a:xfrm>
          <a:prstGeom prst="rect">
            <a:avLst/>
          </a:prstGeom>
          <a:noFill/>
          <a:ln/>
        </p:spPr>
        <p:txBody>
          <a:bodyPr wrap="square" lIns="0" tIns="0" rIns="0" bIns="0" rtlCol="0" anchor="t"/>
          <a:lstStyle/>
          <a:p>
            <a:pPr marL="0" indent="0">
              <a:buNone/>
            </a:pPr>
            <a:r>
              <a:rPr lang="en-US" sz="1350" dirty="0">
                <a:solidFill>
                  <a:srgbClr val="2C261E"/>
                </a:solidFill>
                <a:latin typeface="Cambria" pitchFamily="34" charset="0"/>
                <a:ea typeface="Cambria" pitchFamily="34" charset="-122"/>
                <a:cs typeface="Cambria" pitchFamily="34" charset="-120"/>
              </a:rPr>
              <a:t>General corrosion sampling captures the bulk of the wall-thickness distribution — but localized pitting and flow-accelerated corrosion live in the extreme lower tail.</a:t>
            </a:r>
            <a:endParaRPr lang="en-US" sz="1350" dirty="0"/>
          </a:p>
        </p:txBody>
      </p:sp>
      <p:sp>
        <p:nvSpPr>
          <p:cNvPr id="22" name="Text 17"/>
          <p:cNvSpPr txBox="1"/>
          <p:nvPr/>
        </p:nvSpPr>
        <p:spPr>
          <a:xfrm>
            <a:off x="8321040" y="4434840"/>
            <a:ext cx="3108960" cy="1645920"/>
          </a:xfrm>
          <a:prstGeom prst="rect">
            <a:avLst/>
          </a:prstGeom>
          <a:noFill/>
          <a:ln/>
        </p:spPr>
        <p:txBody>
          <a:bodyPr wrap="square" lIns="0" tIns="0" rIns="0" bIns="0" rtlCol="0" anchor="t"/>
          <a:lstStyle/>
          <a:p>
            <a:pPr marL="0" indent="0">
              <a:buNone/>
            </a:pPr>
            <a:r>
              <a:rPr lang="en-US" sz="1350" i="1" dirty="0">
                <a:solidFill>
                  <a:srgbClr val="1C1712"/>
                </a:solidFill>
                <a:latin typeface="Cambria" pitchFamily="34" charset="0"/>
                <a:ea typeface="Cambria" pitchFamily="34" charset="-122"/>
                <a:cs typeface="Cambria" pitchFamily="34" charset="-120"/>
              </a:rPr>
              <a:t>EVA fits a Gumbel / Fréchet extreme-value distribution to predict the true minimum wall thickness among the uninspected population.</a:t>
            </a:r>
            <a:endParaRPr lang="en-US" sz="13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4">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07 — CML OPTIMIZATION</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EVA Case Study: Exchanger Tube Bundle &amp; Living Program</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Inspecting 69 / 450 tubes to order the bundle 18 months before failure.</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76</a:t>
            </a:r>
            <a:r>
              <a:rPr sz="900">
                <a:solidFill>
                  <a:srgbClr val="8A8477"/>
                </a:solidFill>
                <a:latin typeface="Courier New"/>
              </a:rPr>
              <a:t> / 80</a:t>
            </a:r>
            <a:endParaRPr lang="en-US" sz="900" dirty="0"/>
          </a:p>
        </p:txBody>
      </p:sp>
      <p:sp>
        <p:nvSpPr>
          <p:cNvPr id="13" name="Shape 10"/>
          <p:cNvSpPr/>
          <p:nvPr/>
        </p:nvSpPr>
        <p:spPr>
          <a:xfrm>
            <a:off x="548640" y="1783080"/>
            <a:ext cx="5989320" cy="4434840"/>
          </a:xfrm>
          <a:prstGeom prst="rect">
            <a:avLst/>
          </a:prstGeom>
          <a:solidFill>
            <a:srgbClr val="FFFFFF"/>
          </a:solidFill>
          <a:ln w="12700">
            <a:solidFill>
              <a:srgbClr val="A68C5E"/>
            </a:solidFill>
            <a:prstDash val="solid"/>
          </a:ln>
        </p:spPr>
        <p:txBody>
          <a:bodyPr/>
          <a:lstStyle/>
          <a:p>
            <a:endParaRPr lang="en-IN"/>
          </a:p>
        </p:txBody>
      </p:sp>
      <p:sp>
        <p:nvSpPr>
          <p:cNvPr id="14" name="Text 11"/>
          <p:cNvSpPr txBox="1"/>
          <p:nvPr/>
        </p:nvSpPr>
        <p:spPr>
          <a:xfrm>
            <a:off x="731520" y="1901952"/>
            <a:ext cx="5623560" cy="219456"/>
          </a:xfrm>
          <a:prstGeom prst="rect">
            <a:avLst/>
          </a:prstGeom>
          <a:noFill/>
          <a:ln/>
        </p:spPr>
        <p:txBody>
          <a:bodyPr wrap="square" lIns="0" tIns="0" rIns="0" bIns="0" rtlCol="0" anchor="t"/>
          <a:lstStyle/>
          <a:p>
            <a:pPr marL="0" indent="0">
              <a:buNone/>
            </a:pPr>
            <a:r>
              <a:rPr lang="en-US" sz="850" b="1" kern="0" spc="150" dirty="0">
                <a:solidFill>
                  <a:srgbClr val="7A1F1A"/>
                </a:solidFill>
                <a:latin typeface="Courier New" pitchFamily="34" charset="0"/>
                <a:ea typeface="Courier New" pitchFamily="34" charset="-122"/>
                <a:cs typeface="Courier New" pitchFamily="34" charset="-120"/>
              </a:rPr>
              <a:t>FIG · EVA CASE: EXCHANGER TUBE BUNDLE (69/450 TUBES)</a:t>
            </a:r>
            <a:endParaRPr lang="en-US" sz="850" dirty="0"/>
          </a:p>
        </p:txBody>
      </p:sp>
      <p:sp>
        <p:nvSpPr>
          <p:cNvPr id="15" name="Shape 12"/>
          <p:cNvSpPr/>
          <p:nvPr/>
        </p:nvSpPr>
        <p:spPr>
          <a:xfrm>
            <a:off x="731520" y="2148840"/>
            <a:ext cx="5623560" cy="0"/>
          </a:xfrm>
          <a:prstGeom prst="line">
            <a:avLst/>
          </a:prstGeom>
          <a:noFill/>
          <a:ln w="9525">
            <a:solidFill>
              <a:srgbClr val="C9B48F"/>
            </a:solidFill>
            <a:prstDash val="solid"/>
          </a:ln>
        </p:spPr>
        <p:txBody>
          <a:bodyPr/>
          <a:lstStyle/>
          <a:p>
            <a:endParaRPr lang="en-IN"/>
          </a:p>
        </p:txBody>
      </p:sp>
      <p:pic>
        <p:nvPicPr>
          <p:cNvPr id="16" name="Image 1" descr="EVA Case: Exchanger Tube Bundle (69/450 Tubes)"/>
          <p:cNvPicPr>
            <a:picLocks noChangeAspect="1"/>
          </p:cNvPicPr>
          <p:nvPr/>
        </p:nvPicPr>
        <p:blipFill>
          <a:blip r:embed="rId4"/>
          <a:stretch>
            <a:fillRect/>
          </a:stretch>
        </p:blipFill>
        <p:spPr>
          <a:xfrm>
            <a:off x="713232" y="3182287"/>
            <a:ext cx="5660136" cy="1965611"/>
          </a:xfrm>
          <a:prstGeom prst="rect">
            <a:avLst/>
          </a:prstGeom>
        </p:spPr>
      </p:pic>
      <p:sp>
        <p:nvSpPr>
          <p:cNvPr id="17" name="Shape 13"/>
          <p:cNvSpPr/>
          <p:nvPr/>
        </p:nvSpPr>
        <p:spPr>
          <a:xfrm>
            <a:off x="6720840" y="1783080"/>
            <a:ext cx="4919472" cy="4434840"/>
          </a:xfrm>
          <a:prstGeom prst="rect">
            <a:avLst/>
          </a:prstGeom>
          <a:solidFill>
            <a:srgbClr val="FBF4E4"/>
          </a:solidFill>
          <a:ln w="12700">
            <a:solidFill>
              <a:srgbClr val="C9B48F"/>
            </a:solidFill>
            <a:prstDash val="solid"/>
          </a:ln>
        </p:spPr>
        <p:txBody>
          <a:bodyPr/>
          <a:lstStyle/>
          <a:p>
            <a:endParaRPr lang="en-IN"/>
          </a:p>
        </p:txBody>
      </p:sp>
      <p:sp>
        <p:nvSpPr>
          <p:cNvPr id="18" name="Text 14"/>
          <p:cNvSpPr txBox="1"/>
          <p:nvPr/>
        </p:nvSpPr>
        <p:spPr>
          <a:xfrm>
            <a:off x="6949440" y="1947672"/>
            <a:ext cx="4572000"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TUBE BUNDLE WORKED CASE STUDY</a:t>
            </a:r>
            <a:endParaRPr lang="en-US" sz="950" dirty="0"/>
          </a:p>
        </p:txBody>
      </p:sp>
      <p:sp>
        <p:nvSpPr>
          <p:cNvPr id="19" name="Shape 15"/>
          <p:cNvSpPr/>
          <p:nvPr/>
        </p:nvSpPr>
        <p:spPr>
          <a:xfrm>
            <a:off x="6949440" y="2395728"/>
            <a:ext cx="128016" cy="658368"/>
          </a:xfrm>
          <a:prstGeom prst="rect">
            <a:avLst/>
          </a:prstGeom>
          <a:solidFill>
            <a:srgbClr val="1A4A6E"/>
          </a:solidFill>
          <a:ln w="12700">
            <a:solidFill>
              <a:srgbClr val="333333"/>
            </a:solidFill>
            <a:prstDash val="solid"/>
          </a:ln>
        </p:spPr>
        <p:txBody>
          <a:bodyPr/>
          <a:lstStyle/>
          <a:p>
            <a:endParaRPr lang="en-IN"/>
          </a:p>
        </p:txBody>
      </p:sp>
      <p:sp>
        <p:nvSpPr>
          <p:cNvPr id="20" name="Text 16"/>
          <p:cNvSpPr txBox="1"/>
          <p:nvPr/>
        </p:nvSpPr>
        <p:spPr>
          <a:xfrm>
            <a:off x="7223760" y="2377440"/>
            <a:ext cx="4206240" cy="292608"/>
          </a:xfrm>
          <a:prstGeom prst="rect">
            <a:avLst/>
          </a:prstGeom>
          <a:noFill/>
          <a:ln/>
        </p:spPr>
        <p:txBody>
          <a:bodyPr wrap="square" lIns="0" tIns="0" rIns="0" bIns="0" rtlCol="0" anchor="t"/>
          <a:lstStyle/>
          <a:p>
            <a:pPr marL="0" indent="0">
              <a:buNone/>
            </a:pPr>
            <a:r>
              <a:rPr lang="en-US" sz="1400" b="1" dirty="0">
                <a:solidFill>
                  <a:srgbClr val="1A4A6E"/>
                </a:solidFill>
                <a:latin typeface="Cambria" pitchFamily="34" charset="0"/>
                <a:ea typeface="Cambria" pitchFamily="34" charset="-122"/>
                <a:cs typeface="Cambria" pitchFamily="34" charset="-120"/>
              </a:rPr>
              <a:t>Sample Scope</a:t>
            </a:r>
            <a:endParaRPr lang="en-US" sz="1400" dirty="0"/>
          </a:p>
        </p:txBody>
      </p:sp>
      <p:sp>
        <p:nvSpPr>
          <p:cNvPr id="21" name="Text 17"/>
          <p:cNvSpPr txBox="1"/>
          <p:nvPr/>
        </p:nvSpPr>
        <p:spPr>
          <a:xfrm>
            <a:off x="7223760" y="2670048"/>
            <a:ext cx="4206240" cy="5486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Only 69 tubes inspected out of 450 total.</a:t>
            </a:r>
            <a:endParaRPr lang="en-US" sz="1250" dirty="0"/>
          </a:p>
        </p:txBody>
      </p:sp>
      <p:sp>
        <p:nvSpPr>
          <p:cNvPr id="22" name="Shape 18"/>
          <p:cNvSpPr/>
          <p:nvPr/>
        </p:nvSpPr>
        <p:spPr>
          <a:xfrm>
            <a:off x="6949440" y="3328416"/>
            <a:ext cx="128016" cy="658368"/>
          </a:xfrm>
          <a:prstGeom prst="rect">
            <a:avLst/>
          </a:prstGeom>
          <a:solidFill>
            <a:srgbClr val="9A6A12"/>
          </a:solidFill>
          <a:ln w="12700">
            <a:solidFill>
              <a:srgbClr val="333333"/>
            </a:solidFill>
            <a:prstDash val="solid"/>
          </a:ln>
        </p:spPr>
        <p:txBody>
          <a:bodyPr/>
          <a:lstStyle/>
          <a:p>
            <a:endParaRPr lang="en-IN"/>
          </a:p>
        </p:txBody>
      </p:sp>
      <p:sp>
        <p:nvSpPr>
          <p:cNvPr id="23" name="Text 19"/>
          <p:cNvSpPr txBox="1"/>
          <p:nvPr/>
        </p:nvSpPr>
        <p:spPr>
          <a:xfrm>
            <a:off x="7223760" y="3310128"/>
            <a:ext cx="4206240" cy="292608"/>
          </a:xfrm>
          <a:prstGeom prst="rect">
            <a:avLst/>
          </a:prstGeom>
          <a:noFill/>
          <a:ln/>
        </p:spPr>
        <p:txBody>
          <a:bodyPr wrap="square" lIns="0" tIns="0" rIns="0" bIns="0" rtlCol="0" anchor="t"/>
          <a:lstStyle/>
          <a:p>
            <a:pPr marL="0" indent="0">
              <a:buNone/>
            </a:pPr>
            <a:r>
              <a:rPr lang="en-US" sz="1400" b="1" dirty="0">
                <a:solidFill>
                  <a:srgbClr val="9A6A12"/>
                </a:solidFill>
                <a:latin typeface="Cambria" pitchFamily="34" charset="0"/>
                <a:ea typeface="Cambria" pitchFamily="34" charset="-122"/>
                <a:cs typeface="Cambria" pitchFamily="34" charset="-120"/>
              </a:rPr>
              <a:t>Observed Minimum</a:t>
            </a:r>
            <a:endParaRPr lang="en-US" sz="1400" dirty="0"/>
          </a:p>
        </p:txBody>
      </p:sp>
      <p:sp>
        <p:nvSpPr>
          <p:cNvPr id="24" name="Text 20"/>
          <p:cNvSpPr txBox="1"/>
          <p:nvPr/>
        </p:nvSpPr>
        <p:spPr>
          <a:xfrm>
            <a:off x="7223760" y="3602736"/>
            <a:ext cx="4206240" cy="5486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Lowest measured tube was 0.052 inches.</a:t>
            </a:r>
            <a:endParaRPr lang="en-US" sz="1250" dirty="0"/>
          </a:p>
        </p:txBody>
      </p:sp>
      <p:sp>
        <p:nvSpPr>
          <p:cNvPr id="25" name="Shape 21"/>
          <p:cNvSpPr/>
          <p:nvPr/>
        </p:nvSpPr>
        <p:spPr>
          <a:xfrm>
            <a:off x="6949440" y="4261104"/>
            <a:ext cx="128016" cy="658368"/>
          </a:xfrm>
          <a:prstGeom prst="rect">
            <a:avLst/>
          </a:prstGeom>
          <a:solidFill>
            <a:srgbClr val="7A1F1A"/>
          </a:solidFill>
          <a:ln w="12700">
            <a:solidFill>
              <a:srgbClr val="333333"/>
            </a:solidFill>
            <a:prstDash val="solid"/>
          </a:ln>
        </p:spPr>
        <p:txBody>
          <a:bodyPr/>
          <a:lstStyle/>
          <a:p>
            <a:endParaRPr lang="en-IN"/>
          </a:p>
        </p:txBody>
      </p:sp>
      <p:sp>
        <p:nvSpPr>
          <p:cNvPr id="26" name="Text 22"/>
          <p:cNvSpPr txBox="1"/>
          <p:nvPr/>
        </p:nvSpPr>
        <p:spPr>
          <a:xfrm>
            <a:off x="7223760" y="4242816"/>
            <a:ext cx="4206240" cy="292608"/>
          </a:xfrm>
          <a:prstGeom prst="rect">
            <a:avLst/>
          </a:prstGeom>
          <a:noFill/>
          <a:ln/>
        </p:spPr>
        <p:txBody>
          <a:bodyPr wrap="square" lIns="0" tIns="0" rIns="0" bIns="0" rtlCol="0" anchor="t"/>
          <a:lstStyle/>
          <a:p>
            <a:pPr marL="0" indent="0">
              <a:buNone/>
            </a:pPr>
            <a:r>
              <a:rPr lang="en-US" sz="1400" b="1" dirty="0">
                <a:solidFill>
                  <a:srgbClr val="7A1F1A"/>
                </a:solidFill>
                <a:latin typeface="Cambria" pitchFamily="34" charset="0"/>
                <a:ea typeface="Cambria" pitchFamily="34" charset="-122"/>
                <a:cs typeface="Cambria" pitchFamily="34" charset="-120"/>
              </a:rPr>
              <a:t>Bayesian EVA Prediction</a:t>
            </a:r>
            <a:endParaRPr lang="en-US" sz="1400" dirty="0"/>
          </a:p>
        </p:txBody>
      </p:sp>
      <p:sp>
        <p:nvSpPr>
          <p:cNvPr id="27" name="Text 23"/>
          <p:cNvSpPr txBox="1"/>
          <p:nvPr/>
        </p:nvSpPr>
        <p:spPr>
          <a:xfrm>
            <a:off x="7223760" y="4535424"/>
            <a:ext cx="4206240" cy="5486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Proves the true minimum among uninspected tubes is 0.045 inches.</a:t>
            </a:r>
            <a:endParaRPr lang="en-US" sz="1250" dirty="0"/>
          </a:p>
        </p:txBody>
      </p:sp>
      <p:sp>
        <p:nvSpPr>
          <p:cNvPr id="28" name="Shape 24"/>
          <p:cNvSpPr/>
          <p:nvPr/>
        </p:nvSpPr>
        <p:spPr>
          <a:xfrm>
            <a:off x="6949440" y="5193792"/>
            <a:ext cx="128016" cy="658368"/>
          </a:xfrm>
          <a:prstGeom prst="rect">
            <a:avLst/>
          </a:prstGeom>
          <a:solidFill>
            <a:srgbClr val="2F6B3A"/>
          </a:solidFill>
          <a:ln w="12700">
            <a:solidFill>
              <a:srgbClr val="333333"/>
            </a:solidFill>
            <a:prstDash val="solid"/>
          </a:ln>
        </p:spPr>
        <p:txBody>
          <a:bodyPr/>
          <a:lstStyle/>
          <a:p>
            <a:endParaRPr lang="en-IN"/>
          </a:p>
        </p:txBody>
      </p:sp>
      <p:sp>
        <p:nvSpPr>
          <p:cNvPr id="29" name="Text 25"/>
          <p:cNvSpPr txBox="1"/>
          <p:nvPr/>
        </p:nvSpPr>
        <p:spPr>
          <a:xfrm>
            <a:off x="7223760" y="5175504"/>
            <a:ext cx="4206240" cy="292608"/>
          </a:xfrm>
          <a:prstGeom prst="rect">
            <a:avLst/>
          </a:prstGeom>
          <a:noFill/>
          <a:ln/>
        </p:spPr>
        <p:txBody>
          <a:bodyPr wrap="square" lIns="0" tIns="0" rIns="0" bIns="0" rtlCol="0" anchor="t"/>
          <a:lstStyle/>
          <a:p>
            <a:pPr marL="0" indent="0">
              <a:buNone/>
            </a:pPr>
            <a:r>
              <a:rPr lang="en-US" sz="1400" b="1" dirty="0">
                <a:solidFill>
                  <a:srgbClr val="2F6B3A"/>
                </a:solidFill>
                <a:latin typeface="Cambria" pitchFamily="34" charset="0"/>
                <a:ea typeface="Cambria" pitchFamily="34" charset="-122"/>
                <a:cs typeface="Cambria" pitchFamily="34" charset="-120"/>
              </a:rPr>
              <a:t>Outcome</a:t>
            </a:r>
            <a:endParaRPr lang="en-US" sz="1400" dirty="0"/>
          </a:p>
        </p:txBody>
      </p:sp>
      <p:sp>
        <p:nvSpPr>
          <p:cNvPr id="30" name="Text 26"/>
          <p:cNvSpPr txBox="1"/>
          <p:nvPr/>
        </p:nvSpPr>
        <p:spPr>
          <a:xfrm>
            <a:off x="7223760" y="5468112"/>
            <a:ext cx="4206240" cy="548640"/>
          </a:xfrm>
          <a:prstGeom prst="rect">
            <a:avLst/>
          </a:prstGeom>
          <a:noFill/>
          <a:ln/>
        </p:spPr>
        <p:txBody>
          <a:bodyPr wrap="square" lIns="0" tIns="0" rIns="0" bIns="0" rtlCol="0" anchor="t"/>
          <a:lstStyle/>
          <a:p>
            <a:pPr marL="0" indent="0">
              <a:buNone/>
            </a:pPr>
            <a:r>
              <a:rPr lang="en-US" sz="1250" dirty="0">
                <a:solidFill>
                  <a:srgbClr val="2C261E"/>
                </a:solidFill>
                <a:latin typeface="Cambria" pitchFamily="34" charset="0"/>
                <a:ea typeface="Cambria" pitchFamily="34" charset="-122"/>
                <a:cs typeface="Cambria" pitchFamily="34" charset="-120"/>
              </a:rPr>
              <a:t>Replacement bundle ordered 18 months in advance, preventing unplanned unit leak.</a:t>
            </a:r>
            <a:endParaRPr lang="en-US" sz="12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5">
    <p:bg>
      <p:bgPr>
        <a:solidFill>
          <a:srgbClr val="F4EBD7"/>
        </a:solidFill>
        <a:effectLst/>
      </p:bgPr>
    </p:bg>
    <p:spTree>
      <p:nvGrpSpPr>
        <p:cNvPr id="1" name=""/>
        <p:cNvGrpSpPr/>
        <p:nvPr/>
      </p:nvGrpSpPr>
      <p:grpSpPr>
        <a:xfrm>
          <a:off x="0" y="0"/>
          <a:ext cx="0" cy="0"/>
          <a:chOff x="0" y="0"/>
          <a:chExt cx="0" cy="0"/>
        </a:xfrm>
      </p:grpSpPr>
      <p:pic>
        <p:nvPicPr>
          <p:cNvPr id="2" name="Image 0" descr="assets/bg_section.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822960" y="1051560"/>
            <a:ext cx="10543032" cy="41148"/>
          </a:xfrm>
          <a:prstGeom prst="rect">
            <a:avLst/>
          </a:prstGeom>
          <a:solidFill>
            <a:srgbClr val="1C1712"/>
          </a:solidFill>
          <a:ln w="12700">
            <a:solidFill>
              <a:srgbClr val="333333"/>
            </a:solidFill>
            <a:prstDash val="solid"/>
          </a:ln>
        </p:spPr>
        <p:txBody>
          <a:bodyPr/>
          <a:lstStyle/>
          <a:p>
            <a:endParaRPr lang="en-IN"/>
          </a:p>
        </p:txBody>
      </p:sp>
      <p:sp>
        <p:nvSpPr>
          <p:cNvPr id="4" name="Shape 1"/>
          <p:cNvSpPr/>
          <p:nvPr/>
        </p:nvSpPr>
        <p:spPr>
          <a:xfrm>
            <a:off x="822960" y="1133856"/>
            <a:ext cx="10543032" cy="0"/>
          </a:xfrm>
          <a:prstGeom prst="line">
            <a:avLst/>
          </a:prstGeom>
          <a:noFill/>
          <a:ln w="12700">
            <a:solidFill>
              <a:srgbClr val="1C1712"/>
            </a:solidFill>
            <a:prstDash val="solid"/>
          </a:ln>
        </p:spPr>
        <p:txBody>
          <a:bodyPr/>
          <a:lstStyle/>
          <a:p>
            <a:endParaRPr lang="en-IN"/>
          </a:p>
        </p:txBody>
      </p:sp>
      <p:sp>
        <p:nvSpPr>
          <p:cNvPr id="5" name="Text 2"/>
          <p:cNvSpPr txBox="1"/>
          <p:nvPr/>
        </p:nvSpPr>
        <p:spPr>
          <a:xfrm>
            <a:off x="822960" y="1234440"/>
            <a:ext cx="10543032" cy="274320"/>
          </a:xfrm>
          <a:prstGeom prst="rect">
            <a:avLst/>
          </a:prstGeom>
          <a:noFill/>
          <a:ln/>
        </p:spPr>
        <p:txBody>
          <a:bodyPr wrap="square" lIns="0" tIns="0" rIns="0" bIns="0" rtlCol="0" anchor="t"/>
          <a:lstStyle/>
          <a:p>
            <a:pPr marL="0" indent="0" algn="ctr">
              <a:buNone/>
            </a:pPr>
            <a:r>
              <a:rPr lang="en-US" sz="1200" b="1" kern="0" spc="300" dirty="0">
                <a:solidFill>
                  <a:srgbClr val="7A1F1A"/>
                </a:solidFill>
                <a:latin typeface="Courier New" pitchFamily="34" charset="0"/>
                <a:ea typeface="Courier New" pitchFamily="34" charset="-122"/>
                <a:cs typeface="Courier New" pitchFamily="34" charset="-120"/>
              </a:rPr>
              <a:t>SPECIAL DISPATCH SECTION VIII</a:t>
            </a:r>
            <a:endParaRPr lang="en-US" sz="1200" dirty="0"/>
          </a:p>
        </p:txBody>
      </p:sp>
      <p:sp>
        <p:nvSpPr>
          <p:cNvPr id="6" name="Text 3"/>
          <p:cNvSpPr txBox="1"/>
          <p:nvPr/>
        </p:nvSpPr>
        <p:spPr>
          <a:xfrm>
            <a:off x="822960" y="1874520"/>
            <a:ext cx="10543032" cy="548640"/>
          </a:xfrm>
          <a:prstGeom prst="rect">
            <a:avLst/>
          </a:prstGeom>
          <a:noFill/>
          <a:ln/>
        </p:spPr>
        <p:txBody>
          <a:bodyPr wrap="square" lIns="0" tIns="0" rIns="0" bIns="0" rtlCol="0" anchor="t"/>
          <a:lstStyle/>
          <a:p>
            <a:pPr marL="0" indent="0" algn="ctr">
              <a:buNone/>
            </a:pPr>
            <a:r>
              <a:rPr lang="en-US" sz="1500" kern="0" spc="200" dirty="0">
                <a:solidFill>
                  <a:srgbClr val="8A8477"/>
                </a:solidFill>
                <a:latin typeface="Courier New" pitchFamily="34" charset="0"/>
                <a:ea typeface="Courier New" pitchFamily="34" charset="-122"/>
                <a:cs typeface="Courier New" pitchFamily="34" charset="-120"/>
              </a:rPr>
              <a:t>No. VIII</a:t>
            </a:r>
            <a:endParaRPr lang="en-US" sz="1500" dirty="0"/>
          </a:p>
        </p:txBody>
      </p:sp>
      <p:sp>
        <p:nvSpPr>
          <p:cNvPr id="7" name="Text 4"/>
          <p:cNvSpPr txBox="1"/>
          <p:nvPr/>
        </p:nvSpPr>
        <p:spPr>
          <a:xfrm>
            <a:off x="822960" y="2286000"/>
            <a:ext cx="10543032" cy="1325880"/>
          </a:xfrm>
          <a:prstGeom prst="rect">
            <a:avLst/>
          </a:prstGeom>
          <a:noFill/>
          <a:ln/>
        </p:spPr>
        <p:txBody>
          <a:bodyPr wrap="square" lIns="0" tIns="0" rIns="0" bIns="0" rtlCol="0" anchor="ctr">
            <a:normAutofit/>
          </a:bodyPr>
          <a:lstStyle/>
          <a:p>
            <a:pPr marL="0" indent="0" algn="ctr">
              <a:buNone/>
            </a:pPr>
            <a:r>
              <a:rPr lang="en-US" sz="5000" b="1" dirty="0">
                <a:solidFill>
                  <a:srgbClr val="1C1712"/>
                </a:solidFill>
                <a:latin typeface="Cambria" pitchFamily="34" charset="0"/>
                <a:ea typeface="Cambria" pitchFamily="34" charset="-122"/>
                <a:cs typeface="Cambria" pitchFamily="34" charset="-120"/>
              </a:rPr>
              <a:t>Master Formula Reference &amp; Glossary</a:t>
            </a:r>
            <a:endParaRPr lang="en-US" sz="5000" dirty="0"/>
          </a:p>
        </p:txBody>
      </p:sp>
      <p:sp>
        <p:nvSpPr>
          <p:cNvPr id="8" name="Shape 5"/>
          <p:cNvSpPr/>
          <p:nvPr/>
        </p:nvSpPr>
        <p:spPr>
          <a:xfrm>
            <a:off x="3108960" y="3703320"/>
            <a:ext cx="5971032" cy="0"/>
          </a:xfrm>
          <a:prstGeom prst="line">
            <a:avLst/>
          </a:prstGeom>
          <a:noFill/>
          <a:ln w="19050">
            <a:solidFill>
              <a:srgbClr val="7A1F1A"/>
            </a:solidFill>
            <a:prstDash val="solid"/>
          </a:ln>
        </p:spPr>
        <p:txBody>
          <a:bodyPr/>
          <a:lstStyle/>
          <a:p>
            <a:endParaRPr lang="en-IN"/>
          </a:p>
        </p:txBody>
      </p:sp>
      <p:sp>
        <p:nvSpPr>
          <p:cNvPr id="9" name="Text 6"/>
          <p:cNvSpPr txBox="1"/>
          <p:nvPr/>
        </p:nvSpPr>
        <p:spPr>
          <a:xfrm>
            <a:off x="1280160" y="3886200"/>
            <a:ext cx="9628632" cy="640080"/>
          </a:xfrm>
          <a:prstGeom prst="rect">
            <a:avLst/>
          </a:prstGeom>
          <a:noFill/>
          <a:ln/>
        </p:spPr>
        <p:txBody>
          <a:bodyPr wrap="square" lIns="0" tIns="0" rIns="0" bIns="0" rtlCol="0" anchor="t"/>
          <a:lstStyle/>
          <a:p>
            <a:pPr marL="0" indent="0" algn="ctr">
              <a:buNone/>
            </a:pPr>
            <a:r>
              <a:rPr lang="en-US" sz="1600" i="1" dirty="0">
                <a:solidFill>
                  <a:srgbClr val="5A5347"/>
                </a:solidFill>
                <a:latin typeface="Cambria" pitchFamily="34" charset="0"/>
                <a:ea typeface="Cambria" pitchFamily="34" charset="-122"/>
                <a:cs typeface="Cambria" pitchFamily="34" charset="-120"/>
              </a:rPr>
              <a:t>Comprehensive Mathematical Formulary, Definitions &amp; Executive Summary</a:t>
            </a:r>
            <a:endParaRPr lang="en-US" sz="1600" dirty="0"/>
          </a:p>
        </p:txBody>
      </p:sp>
      <p:sp>
        <p:nvSpPr>
          <p:cNvPr id="10" name="Shape 7"/>
          <p:cNvSpPr/>
          <p:nvPr/>
        </p:nvSpPr>
        <p:spPr>
          <a:xfrm>
            <a:off x="3238348" y="4709160"/>
            <a:ext cx="1174090" cy="274320"/>
          </a:xfrm>
          <a:prstGeom prst="rect">
            <a:avLst/>
          </a:prstGeom>
          <a:solidFill>
            <a:srgbClr val="EFDCCF"/>
          </a:solidFill>
          <a:ln w="12700">
            <a:solidFill>
              <a:srgbClr val="7A1F1A"/>
            </a:solidFill>
            <a:prstDash val="solid"/>
          </a:ln>
        </p:spPr>
        <p:txBody>
          <a:bodyPr/>
          <a:lstStyle/>
          <a:p>
            <a:endParaRPr lang="en-IN"/>
          </a:p>
        </p:txBody>
      </p:sp>
      <p:sp>
        <p:nvSpPr>
          <p:cNvPr id="11" name="Text 8"/>
          <p:cNvSpPr txBox="1"/>
          <p:nvPr/>
        </p:nvSpPr>
        <p:spPr>
          <a:xfrm>
            <a:off x="3238348" y="4709160"/>
            <a:ext cx="117409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AVAILABILITY</a:t>
            </a:r>
            <a:endParaRPr lang="en-US" sz="900" dirty="0"/>
          </a:p>
        </p:txBody>
      </p:sp>
      <p:sp>
        <p:nvSpPr>
          <p:cNvPr id="12" name="Shape 9"/>
          <p:cNvSpPr/>
          <p:nvPr/>
        </p:nvSpPr>
        <p:spPr>
          <a:xfrm>
            <a:off x="4577029" y="4709160"/>
            <a:ext cx="1249070" cy="274320"/>
          </a:xfrm>
          <a:prstGeom prst="rect">
            <a:avLst/>
          </a:prstGeom>
          <a:solidFill>
            <a:srgbClr val="EFDCCF"/>
          </a:solidFill>
          <a:ln w="12700">
            <a:solidFill>
              <a:srgbClr val="7A1F1A"/>
            </a:solidFill>
            <a:prstDash val="solid"/>
          </a:ln>
        </p:spPr>
        <p:txBody>
          <a:bodyPr/>
          <a:lstStyle/>
          <a:p>
            <a:endParaRPr lang="en-IN"/>
          </a:p>
        </p:txBody>
      </p:sp>
      <p:sp>
        <p:nvSpPr>
          <p:cNvPr id="13" name="Text 10"/>
          <p:cNvSpPr txBox="1"/>
          <p:nvPr/>
        </p:nvSpPr>
        <p:spPr>
          <a:xfrm>
            <a:off x="4577029" y="4709160"/>
            <a:ext cx="1249070"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DISTRIBUTIONS</a:t>
            </a:r>
            <a:endParaRPr lang="en-US" sz="900" dirty="0"/>
          </a:p>
        </p:txBody>
      </p:sp>
      <p:sp>
        <p:nvSpPr>
          <p:cNvPr id="14" name="Shape 11"/>
          <p:cNvSpPr/>
          <p:nvPr/>
        </p:nvSpPr>
        <p:spPr>
          <a:xfrm>
            <a:off x="5990692" y="4709160"/>
            <a:ext cx="1324051" cy="274320"/>
          </a:xfrm>
          <a:prstGeom prst="rect">
            <a:avLst/>
          </a:prstGeom>
          <a:solidFill>
            <a:srgbClr val="EFDCCF"/>
          </a:solidFill>
          <a:ln w="12700">
            <a:solidFill>
              <a:srgbClr val="7A1F1A"/>
            </a:solidFill>
            <a:prstDash val="solid"/>
          </a:ln>
        </p:spPr>
        <p:txBody>
          <a:bodyPr/>
          <a:lstStyle/>
          <a:p>
            <a:endParaRPr lang="en-IN"/>
          </a:p>
        </p:txBody>
      </p:sp>
      <p:sp>
        <p:nvSpPr>
          <p:cNvPr id="15" name="Text 12"/>
          <p:cNvSpPr txBox="1"/>
          <p:nvPr/>
        </p:nvSpPr>
        <p:spPr>
          <a:xfrm>
            <a:off x="5990692" y="4709160"/>
            <a:ext cx="1324051"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FINANCIAL RISK</a:t>
            </a:r>
            <a:endParaRPr lang="en-US" sz="900" dirty="0"/>
          </a:p>
        </p:txBody>
      </p:sp>
      <p:sp>
        <p:nvSpPr>
          <p:cNvPr id="16" name="Shape 13"/>
          <p:cNvSpPr/>
          <p:nvPr/>
        </p:nvSpPr>
        <p:spPr>
          <a:xfrm>
            <a:off x="7479335" y="4709160"/>
            <a:ext cx="1474013" cy="274320"/>
          </a:xfrm>
          <a:prstGeom prst="rect">
            <a:avLst/>
          </a:prstGeom>
          <a:solidFill>
            <a:srgbClr val="EFDCCF"/>
          </a:solidFill>
          <a:ln w="12700">
            <a:solidFill>
              <a:srgbClr val="7A1F1A"/>
            </a:solidFill>
            <a:prstDash val="solid"/>
          </a:ln>
        </p:spPr>
        <p:txBody>
          <a:bodyPr/>
          <a:lstStyle/>
          <a:p>
            <a:endParaRPr lang="en-IN"/>
          </a:p>
        </p:txBody>
      </p:sp>
      <p:sp>
        <p:nvSpPr>
          <p:cNvPr id="17" name="Text 14"/>
          <p:cNvSpPr txBox="1"/>
          <p:nvPr/>
        </p:nvSpPr>
        <p:spPr>
          <a:xfrm>
            <a:off x="7479335" y="4709160"/>
            <a:ext cx="1474013" cy="274320"/>
          </a:xfrm>
          <a:prstGeom prst="rect">
            <a:avLst/>
          </a:prstGeom>
          <a:noFill/>
          <a:ln/>
        </p:spPr>
        <p:txBody>
          <a:bodyPr wrap="square" lIns="0" tIns="0" rIns="0" bIns="0" rtlCol="0" anchor="ctr"/>
          <a:lstStyle/>
          <a:p>
            <a:pPr marL="0" indent="0" algn="ctr">
              <a:buNone/>
            </a:pPr>
            <a:r>
              <a:rPr lang="en-US" sz="900" b="1" dirty="0">
                <a:solidFill>
                  <a:srgbClr val="7A1F1A"/>
                </a:solidFill>
                <a:latin typeface="Courier New" pitchFamily="34" charset="0"/>
                <a:ea typeface="Courier New" pitchFamily="34" charset="-122"/>
                <a:cs typeface="Courier New" pitchFamily="34" charset="-120"/>
              </a:rPr>
              <a:t>DECISION SCIENCE</a:t>
            </a:r>
            <a:endParaRPr lang="en-US" sz="900" dirty="0"/>
          </a:p>
        </p:txBody>
      </p:sp>
      <p:sp>
        <p:nvSpPr>
          <p:cNvPr id="18" name="Shape 15"/>
          <p:cNvSpPr/>
          <p:nvPr/>
        </p:nvSpPr>
        <p:spPr>
          <a:xfrm>
            <a:off x="822960" y="5440680"/>
            <a:ext cx="10543032" cy="41148"/>
          </a:xfrm>
          <a:prstGeom prst="rect">
            <a:avLst/>
          </a:prstGeom>
          <a:solidFill>
            <a:srgbClr val="1C1712"/>
          </a:solidFill>
          <a:ln w="12700">
            <a:solidFill>
              <a:srgbClr val="333333"/>
            </a:solidFill>
            <a:prstDash val="solid"/>
          </a:ln>
        </p:spPr>
        <p:txBody>
          <a:bodyPr/>
          <a:lstStyle/>
          <a:p>
            <a:endParaRPr lang="en-IN"/>
          </a:p>
        </p:txBody>
      </p:sp>
      <p:sp>
        <p:nvSpPr>
          <p:cNvPr id="19" name="Shape 16"/>
          <p:cNvSpPr/>
          <p:nvPr/>
        </p:nvSpPr>
        <p:spPr>
          <a:xfrm>
            <a:off x="822960" y="5522976"/>
            <a:ext cx="10543032" cy="0"/>
          </a:xfrm>
          <a:prstGeom prst="line">
            <a:avLst/>
          </a:prstGeom>
          <a:noFill/>
          <a:ln w="12700">
            <a:solidFill>
              <a:srgbClr val="1C1712"/>
            </a:solidFill>
            <a:prstDash val="solid"/>
          </a:ln>
        </p:spPr>
        <p:txBody>
          <a:bodyPr/>
          <a:lstStyle/>
          <a:p>
            <a:endParaRPr lang="en-IN"/>
          </a:p>
        </p:txBody>
      </p:sp>
      <p:sp>
        <p:nvSpPr>
          <p:cNvPr id="20" name="Shape 1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21" name="Text 1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22" name="Text 1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77</a:t>
            </a:r>
            <a:r>
              <a:rPr sz="900">
                <a:solidFill>
                  <a:srgbClr val="8A8477"/>
                </a:solidFill>
                <a:latin typeface="Courier New"/>
              </a:rPr>
              <a:t> / 80</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6">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08 — MASTER REFERENCE</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Master Formulary: Availability &amp; Reliability 101</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Core formulas governing uptime, outage, and failure rates.</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78</a:t>
            </a:r>
            <a:r>
              <a:rPr sz="900">
                <a:solidFill>
                  <a:srgbClr val="8A8477"/>
                </a:solidFill>
                <a:latin typeface="Courier New"/>
              </a:rPr>
              <a:t> / 80</a:t>
            </a:r>
            <a:endParaRPr lang="en-US" sz="900" dirty="0"/>
          </a:p>
        </p:txBody>
      </p:sp>
      <p:sp>
        <p:nvSpPr>
          <p:cNvPr id="13" name="Shape 10"/>
          <p:cNvSpPr/>
          <p:nvPr/>
        </p:nvSpPr>
        <p:spPr>
          <a:xfrm>
            <a:off x="548640" y="1783080"/>
            <a:ext cx="5431536" cy="21488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965960"/>
            <a:ext cx="4974336"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AVAILABILITY RATIO</a:t>
            </a:r>
            <a:endParaRPr lang="en-US" sz="950" dirty="0"/>
          </a:p>
        </p:txBody>
      </p:sp>
      <p:sp>
        <p:nvSpPr>
          <p:cNvPr id="15" name="Shape 12"/>
          <p:cNvSpPr/>
          <p:nvPr/>
        </p:nvSpPr>
        <p:spPr>
          <a:xfrm>
            <a:off x="777240" y="2221992"/>
            <a:ext cx="4974336" cy="0"/>
          </a:xfrm>
          <a:prstGeom prst="line">
            <a:avLst/>
          </a:prstGeom>
          <a:noFill/>
          <a:ln w="9525">
            <a:solidFill>
              <a:srgbClr val="C9B48F"/>
            </a:solidFill>
            <a:prstDash val="solid"/>
          </a:ln>
        </p:spPr>
        <p:txBody>
          <a:bodyPr/>
          <a:lstStyle/>
          <a:p>
            <a:endParaRPr lang="en-IN"/>
          </a:p>
        </p:txBody>
      </p:sp>
      <p:sp>
        <p:nvSpPr>
          <p:cNvPr id="16" name="Shape 13"/>
          <p:cNvSpPr/>
          <p:nvPr/>
        </p:nvSpPr>
        <p:spPr>
          <a:xfrm>
            <a:off x="777240" y="2350008"/>
            <a:ext cx="4974336" cy="1371600"/>
          </a:xfrm>
          <a:prstGeom prst="rect">
            <a:avLst/>
          </a:prstGeom>
          <a:solidFill>
            <a:srgbClr val="EADDC0"/>
          </a:solidFill>
          <a:ln w="12700">
            <a:solidFill>
              <a:srgbClr val="C9B48F"/>
            </a:solidFill>
            <a:prstDash val="solid"/>
          </a:ln>
        </p:spPr>
        <p:txBody>
          <a:bodyPr/>
          <a:lstStyle/>
          <a:p>
            <a:endParaRPr lang="en-IN"/>
          </a:p>
        </p:txBody>
      </p:sp>
      <p:pic>
        <p:nvPicPr>
          <p:cNvPr id="17" name="Image 1" descr="Formula"/>
          <p:cNvPicPr>
            <a:picLocks noChangeAspect="1"/>
          </p:cNvPicPr>
          <p:nvPr/>
        </p:nvPicPr>
        <p:blipFill>
          <a:blip r:embed="rId4"/>
          <a:stretch>
            <a:fillRect/>
          </a:stretch>
        </p:blipFill>
        <p:spPr>
          <a:xfrm>
            <a:off x="1137214" y="2597532"/>
            <a:ext cx="4254389" cy="858264"/>
          </a:xfrm>
          <a:prstGeom prst="rect">
            <a:avLst/>
          </a:prstGeom>
        </p:spPr>
      </p:pic>
      <p:sp>
        <p:nvSpPr>
          <p:cNvPr id="18" name="Shape 14"/>
          <p:cNvSpPr/>
          <p:nvPr/>
        </p:nvSpPr>
        <p:spPr>
          <a:xfrm>
            <a:off x="6208776" y="1783080"/>
            <a:ext cx="5431536" cy="2148840"/>
          </a:xfrm>
          <a:prstGeom prst="rect">
            <a:avLst/>
          </a:prstGeom>
          <a:solidFill>
            <a:srgbClr val="FBF4E4"/>
          </a:solidFill>
          <a:ln w="12700">
            <a:solidFill>
              <a:srgbClr val="C9B48F"/>
            </a:solidFill>
            <a:prstDash val="solid"/>
          </a:ln>
        </p:spPr>
        <p:txBody>
          <a:bodyPr/>
          <a:lstStyle/>
          <a:p>
            <a:endParaRPr lang="en-IN"/>
          </a:p>
        </p:txBody>
      </p:sp>
      <p:sp>
        <p:nvSpPr>
          <p:cNvPr id="19" name="Text 15"/>
          <p:cNvSpPr txBox="1"/>
          <p:nvPr/>
        </p:nvSpPr>
        <p:spPr>
          <a:xfrm>
            <a:off x="6437376" y="1965960"/>
            <a:ext cx="4974336"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AVAILABILITY OUTAGE</a:t>
            </a:r>
            <a:endParaRPr lang="en-US" sz="950" dirty="0"/>
          </a:p>
        </p:txBody>
      </p:sp>
      <p:sp>
        <p:nvSpPr>
          <p:cNvPr id="20" name="Shape 16"/>
          <p:cNvSpPr/>
          <p:nvPr/>
        </p:nvSpPr>
        <p:spPr>
          <a:xfrm>
            <a:off x="6437376" y="2221992"/>
            <a:ext cx="4974336" cy="0"/>
          </a:xfrm>
          <a:prstGeom prst="line">
            <a:avLst/>
          </a:prstGeom>
          <a:noFill/>
          <a:ln w="9525">
            <a:solidFill>
              <a:srgbClr val="C9B48F"/>
            </a:solidFill>
            <a:prstDash val="solid"/>
          </a:ln>
        </p:spPr>
        <p:txBody>
          <a:bodyPr/>
          <a:lstStyle/>
          <a:p>
            <a:endParaRPr lang="en-IN"/>
          </a:p>
        </p:txBody>
      </p:sp>
      <p:sp>
        <p:nvSpPr>
          <p:cNvPr id="21" name="Shape 17"/>
          <p:cNvSpPr/>
          <p:nvPr/>
        </p:nvSpPr>
        <p:spPr>
          <a:xfrm>
            <a:off x="6437376" y="2350008"/>
            <a:ext cx="4974336" cy="1371600"/>
          </a:xfrm>
          <a:prstGeom prst="rect">
            <a:avLst/>
          </a:prstGeom>
          <a:solidFill>
            <a:srgbClr val="EADDC0"/>
          </a:solidFill>
          <a:ln w="12700">
            <a:solidFill>
              <a:srgbClr val="C9B48F"/>
            </a:solidFill>
            <a:prstDash val="solid"/>
          </a:ln>
        </p:spPr>
        <p:txBody>
          <a:bodyPr/>
          <a:lstStyle/>
          <a:p>
            <a:endParaRPr lang="en-IN"/>
          </a:p>
        </p:txBody>
      </p:sp>
      <p:pic>
        <p:nvPicPr>
          <p:cNvPr id="22" name="Image 2" descr="Formula"/>
          <p:cNvPicPr>
            <a:picLocks noChangeAspect="1"/>
          </p:cNvPicPr>
          <p:nvPr/>
        </p:nvPicPr>
        <p:blipFill>
          <a:blip r:embed="rId5"/>
          <a:stretch>
            <a:fillRect/>
          </a:stretch>
        </p:blipFill>
        <p:spPr>
          <a:xfrm>
            <a:off x="6528816" y="2758254"/>
            <a:ext cx="4791456" cy="536819"/>
          </a:xfrm>
          <a:prstGeom prst="rect">
            <a:avLst/>
          </a:prstGeom>
        </p:spPr>
      </p:pic>
      <p:sp>
        <p:nvSpPr>
          <p:cNvPr id="23" name="Shape 18"/>
          <p:cNvSpPr/>
          <p:nvPr/>
        </p:nvSpPr>
        <p:spPr>
          <a:xfrm>
            <a:off x="548640" y="4114800"/>
            <a:ext cx="5431536" cy="2148840"/>
          </a:xfrm>
          <a:prstGeom prst="rect">
            <a:avLst/>
          </a:prstGeom>
          <a:solidFill>
            <a:srgbClr val="FBF4E4"/>
          </a:solidFill>
          <a:ln w="12700">
            <a:solidFill>
              <a:srgbClr val="C9B48F"/>
            </a:solidFill>
            <a:prstDash val="solid"/>
          </a:ln>
        </p:spPr>
        <p:txBody>
          <a:bodyPr/>
          <a:lstStyle/>
          <a:p>
            <a:endParaRPr lang="en-IN"/>
          </a:p>
        </p:txBody>
      </p:sp>
      <p:sp>
        <p:nvSpPr>
          <p:cNvPr id="24" name="Text 19"/>
          <p:cNvSpPr txBox="1"/>
          <p:nvPr/>
        </p:nvSpPr>
        <p:spPr>
          <a:xfrm>
            <a:off x="777240" y="4297680"/>
            <a:ext cx="4974336"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FAILURE RATE (Λ)</a:t>
            </a:r>
            <a:endParaRPr lang="en-US" sz="950" dirty="0"/>
          </a:p>
        </p:txBody>
      </p:sp>
      <p:sp>
        <p:nvSpPr>
          <p:cNvPr id="25" name="Shape 20"/>
          <p:cNvSpPr/>
          <p:nvPr/>
        </p:nvSpPr>
        <p:spPr>
          <a:xfrm>
            <a:off x="777240" y="4553712"/>
            <a:ext cx="4974336" cy="0"/>
          </a:xfrm>
          <a:prstGeom prst="line">
            <a:avLst/>
          </a:prstGeom>
          <a:noFill/>
          <a:ln w="9525">
            <a:solidFill>
              <a:srgbClr val="C9B48F"/>
            </a:solidFill>
            <a:prstDash val="solid"/>
          </a:ln>
        </p:spPr>
        <p:txBody>
          <a:bodyPr/>
          <a:lstStyle/>
          <a:p>
            <a:endParaRPr lang="en-IN"/>
          </a:p>
        </p:txBody>
      </p:sp>
      <p:sp>
        <p:nvSpPr>
          <p:cNvPr id="26" name="Shape 21"/>
          <p:cNvSpPr/>
          <p:nvPr/>
        </p:nvSpPr>
        <p:spPr>
          <a:xfrm>
            <a:off x="777240" y="4681728"/>
            <a:ext cx="4974336" cy="1371600"/>
          </a:xfrm>
          <a:prstGeom prst="rect">
            <a:avLst/>
          </a:prstGeom>
          <a:solidFill>
            <a:srgbClr val="EADDC0"/>
          </a:solidFill>
          <a:ln w="12700">
            <a:solidFill>
              <a:srgbClr val="C9B48F"/>
            </a:solidFill>
            <a:prstDash val="solid"/>
          </a:ln>
        </p:spPr>
        <p:txBody>
          <a:bodyPr/>
          <a:lstStyle/>
          <a:p>
            <a:endParaRPr lang="en-IN"/>
          </a:p>
        </p:txBody>
      </p:sp>
      <p:pic>
        <p:nvPicPr>
          <p:cNvPr id="27" name="Image 3" descr="Formula"/>
          <p:cNvPicPr>
            <a:picLocks noChangeAspect="1"/>
          </p:cNvPicPr>
          <p:nvPr/>
        </p:nvPicPr>
        <p:blipFill>
          <a:blip r:embed="rId6"/>
          <a:stretch>
            <a:fillRect/>
          </a:stretch>
        </p:blipFill>
        <p:spPr>
          <a:xfrm>
            <a:off x="868680" y="5026933"/>
            <a:ext cx="4791456" cy="662903"/>
          </a:xfrm>
          <a:prstGeom prst="rect">
            <a:avLst/>
          </a:prstGeom>
        </p:spPr>
      </p:pic>
      <p:sp>
        <p:nvSpPr>
          <p:cNvPr id="28" name="Shape 22"/>
          <p:cNvSpPr/>
          <p:nvPr/>
        </p:nvSpPr>
        <p:spPr>
          <a:xfrm>
            <a:off x="6208776" y="4114800"/>
            <a:ext cx="5431536" cy="2148840"/>
          </a:xfrm>
          <a:prstGeom prst="rect">
            <a:avLst/>
          </a:prstGeom>
          <a:solidFill>
            <a:srgbClr val="FBF4E4"/>
          </a:solidFill>
          <a:ln w="12700">
            <a:solidFill>
              <a:srgbClr val="C9B48F"/>
            </a:solidFill>
            <a:prstDash val="solid"/>
          </a:ln>
        </p:spPr>
        <p:txBody>
          <a:bodyPr/>
          <a:lstStyle/>
          <a:p>
            <a:endParaRPr lang="en-IN"/>
          </a:p>
        </p:txBody>
      </p:sp>
      <p:sp>
        <p:nvSpPr>
          <p:cNvPr id="29" name="Text 23"/>
          <p:cNvSpPr txBox="1"/>
          <p:nvPr/>
        </p:nvSpPr>
        <p:spPr>
          <a:xfrm>
            <a:off x="6437376" y="4297680"/>
            <a:ext cx="4974336"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MEAN DOWNTIME (MDT)</a:t>
            </a:r>
            <a:endParaRPr lang="en-US" sz="950" dirty="0"/>
          </a:p>
        </p:txBody>
      </p:sp>
      <p:sp>
        <p:nvSpPr>
          <p:cNvPr id="30" name="Shape 24"/>
          <p:cNvSpPr/>
          <p:nvPr/>
        </p:nvSpPr>
        <p:spPr>
          <a:xfrm>
            <a:off x="6437376" y="4553712"/>
            <a:ext cx="4974336" cy="0"/>
          </a:xfrm>
          <a:prstGeom prst="line">
            <a:avLst/>
          </a:prstGeom>
          <a:noFill/>
          <a:ln w="9525">
            <a:solidFill>
              <a:srgbClr val="C9B48F"/>
            </a:solidFill>
            <a:prstDash val="solid"/>
          </a:ln>
        </p:spPr>
        <p:txBody>
          <a:bodyPr/>
          <a:lstStyle/>
          <a:p>
            <a:endParaRPr lang="en-IN"/>
          </a:p>
        </p:txBody>
      </p:sp>
      <p:sp>
        <p:nvSpPr>
          <p:cNvPr id="31" name="Shape 25"/>
          <p:cNvSpPr/>
          <p:nvPr/>
        </p:nvSpPr>
        <p:spPr>
          <a:xfrm>
            <a:off x="6437376" y="4681728"/>
            <a:ext cx="4974336" cy="1371600"/>
          </a:xfrm>
          <a:prstGeom prst="rect">
            <a:avLst/>
          </a:prstGeom>
          <a:solidFill>
            <a:srgbClr val="EADDC0"/>
          </a:solidFill>
          <a:ln w="12700">
            <a:solidFill>
              <a:srgbClr val="C9B48F"/>
            </a:solidFill>
            <a:prstDash val="solid"/>
          </a:ln>
        </p:spPr>
        <p:txBody>
          <a:bodyPr/>
          <a:lstStyle/>
          <a:p>
            <a:endParaRPr lang="en-IN"/>
          </a:p>
        </p:txBody>
      </p:sp>
      <p:pic>
        <p:nvPicPr>
          <p:cNvPr id="32" name="Image 4" descr="Formula"/>
          <p:cNvPicPr>
            <a:picLocks noChangeAspect="1"/>
          </p:cNvPicPr>
          <p:nvPr/>
        </p:nvPicPr>
        <p:blipFill>
          <a:blip r:embed="rId7"/>
          <a:stretch>
            <a:fillRect/>
          </a:stretch>
        </p:blipFill>
        <p:spPr>
          <a:xfrm>
            <a:off x="6528816" y="5043124"/>
            <a:ext cx="4791456" cy="630521"/>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7">
    <p:bg>
      <p:bgPr>
        <a:solidFill>
          <a:srgbClr val="F4EBD7"/>
        </a:solidFill>
        <a:effectLst/>
      </p:bgPr>
    </p:bg>
    <p:spTree>
      <p:nvGrpSpPr>
        <p:cNvPr id="1" name=""/>
        <p:cNvGrpSpPr/>
        <p:nvPr/>
      </p:nvGrpSpPr>
      <p:grpSpPr>
        <a:xfrm>
          <a:off x="0" y="0"/>
          <a:ext cx="0" cy="0"/>
          <a:chOff x="0" y="0"/>
          <a:chExt cx="0" cy="0"/>
        </a:xfrm>
      </p:grpSpPr>
      <p:pic>
        <p:nvPicPr>
          <p:cNvPr id="2" name="Image 0" descr="assets/bg_content.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329184"/>
            <a:ext cx="7772400" cy="219456"/>
          </a:xfrm>
          <a:prstGeom prst="rect">
            <a:avLst/>
          </a:prstGeom>
          <a:noFill/>
          <a:ln/>
        </p:spPr>
        <p:txBody>
          <a:bodyPr wrap="square" lIns="0" tIns="0" rIns="0" bIns="0" rtlCol="0" anchor="t"/>
          <a:lstStyle/>
          <a:p>
            <a:pPr marL="0" indent="0">
              <a:buNone/>
            </a:pPr>
            <a:r>
              <a:rPr lang="en-US" sz="900" b="1" kern="0" spc="150" dirty="0">
                <a:solidFill>
                  <a:srgbClr val="7A1F1A"/>
                </a:solidFill>
                <a:latin typeface="Courier New" pitchFamily="34" charset="0"/>
                <a:ea typeface="Courier New" pitchFamily="34" charset="-122"/>
                <a:cs typeface="Courier New" pitchFamily="34" charset="-120"/>
              </a:rPr>
              <a:t>MODULE 08 — MASTER REFERENCE</a:t>
            </a:r>
            <a:endParaRPr lang="en-US" sz="900" dirty="0"/>
          </a:p>
        </p:txBody>
      </p:sp>
      <p:sp>
        <p:nvSpPr>
          <p:cNvPr id="4" name="Text 1"/>
          <p:cNvSpPr txBox="1"/>
          <p:nvPr/>
        </p:nvSpPr>
        <p:spPr>
          <a:xfrm>
            <a:off x="7863840" y="329184"/>
            <a:ext cx="3776472" cy="219456"/>
          </a:xfrm>
          <a:prstGeom prst="rect">
            <a:avLst/>
          </a:prstGeom>
          <a:noFill/>
          <a:ln/>
        </p:spPr>
        <p:txBody>
          <a:bodyPr wrap="square" lIns="0" tIns="0" rIns="0" bIns="0" rtlCol="0" anchor="t"/>
          <a:lstStyle/>
          <a:p>
            <a:pPr marL="0" indent="0" algn="r">
              <a:buNone/>
            </a:pPr>
            <a:r>
              <a:rPr lang="en-US" sz="900" kern="0" spc="100" dirty="0">
                <a:solidFill>
                  <a:srgbClr val="8A8477"/>
                </a:solidFill>
                <a:latin typeface="Courier New" pitchFamily="34" charset="0"/>
                <a:ea typeface="Courier New" pitchFamily="34" charset="-122"/>
                <a:cs typeface="Courier New" pitchFamily="34" charset="-120"/>
              </a:rPr>
              <a:t>PINNACLE RELIABILITY · QRO DISPATCH</a:t>
            </a:r>
            <a:endParaRPr lang="en-US" sz="900" dirty="0"/>
          </a:p>
        </p:txBody>
      </p:sp>
      <p:sp>
        <p:nvSpPr>
          <p:cNvPr id="5" name="Shape 2"/>
          <p:cNvSpPr/>
          <p:nvPr/>
        </p:nvSpPr>
        <p:spPr>
          <a:xfrm>
            <a:off x="548640" y="576072"/>
            <a:ext cx="1109167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676656"/>
            <a:ext cx="11091672" cy="566928"/>
          </a:xfrm>
          <a:prstGeom prst="rect">
            <a:avLst/>
          </a:prstGeom>
          <a:noFill/>
          <a:ln/>
        </p:spPr>
        <p:txBody>
          <a:bodyPr wrap="square" lIns="0" tIns="0" rIns="0" bIns="0" rtlCol="0" anchor="ctr">
            <a:normAutofit/>
          </a:bodyPr>
          <a:lstStyle/>
          <a:p>
            <a:pPr marL="0" indent="0">
              <a:buNone/>
            </a:pPr>
            <a:r>
              <a:rPr lang="en-US" sz="2700" b="1" dirty="0">
                <a:solidFill>
                  <a:srgbClr val="1C1712"/>
                </a:solidFill>
                <a:latin typeface="Cambria" pitchFamily="34" charset="0"/>
                <a:ea typeface="Cambria" pitchFamily="34" charset="-122"/>
                <a:cs typeface="Cambria" pitchFamily="34" charset="-120"/>
              </a:rPr>
              <a:t>Master Formulary: Distributions &amp; Decision Science</a:t>
            </a:r>
            <a:endParaRPr lang="en-US" sz="2700" dirty="0"/>
          </a:p>
        </p:txBody>
      </p:sp>
      <p:sp>
        <p:nvSpPr>
          <p:cNvPr id="7" name="Text 4"/>
          <p:cNvSpPr txBox="1"/>
          <p:nvPr/>
        </p:nvSpPr>
        <p:spPr>
          <a:xfrm>
            <a:off x="548640" y="1280160"/>
            <a:ext cx="11091672" cy="292608"/>
          </a:xfrm>
          <a:prstGeom prst="rect">
            <a:avLst/>
          </a:prstGeom>
          <a:noFill/>
          <a:ln/>
        </p:spPr>
        <p:txBody>
          <a:bodyPr wrap="square" lIns="0" tIns="0" rIns="0" bIns="0" rtlCol="0" anchor="t"/>
          <a:lstStyle/>
          <a:p>
            <a:pPr marL="0" indent="0">
              <a:buNone/>
            </a:pPr>
            <a:r>
              <a:rPr lang="en-US" sz="1400" i="1" dirty="0">
                <a:solidFill>
                  <a:srgbClr val="5A5347"/>
                </a:solidFill>
                <a:latin typeface="Cambria" pitchFamily="34" charset="0"/>
                <a:ea typeface="Cambria" pitchFamily="34" charset="-122"/>
                <a:cs typeface="Cambria" pitchFamily="34" charset="-120"/>
              </a:rPr>
              <a:t>Weibull formulation, financial risk, and benefit-cost optimization.</a:t>
            </a:r>
            <a:endParaRPr lang="en-US" sz="1400" dirty="0"/>
          </a:p>
        </p:txBody>
      </p:sp>
      <p:sp>
        <p:nvSpPr>
          <p:cNvPr id="8" name="Shape 5"/>
          <p:cNvSpPr/>
          <p:nvPr/>
        </p:nvSpPr>
        <p:spPr>
          <a:xfrm>
            <a:off x="548640" y="1627632"/>
            <a:ext cx="11091672" cy="41148"/>
          </a:xfrm>
          <a:prstGeom prst="rect">
            <a:avLst/>
          </a:prstGeom>
          <a:solidFill>
            <a:srgbClr val="1C1712"/>
          </a:solidFill>
          <a:ln w="12700">
            <a:solidFill>
              <a:srgbClr val="333333"/>
            </a:solidFill>
            <a:prstDash val="solid"/>
          </a:ln>
        </p:spPr>
        <p:txBody>
          <a:bodyPr/>
          <a:lstStyle/>
          <a:p>
            <a:endParaRPr lang="en-IN"/>
          </a:p>
        </p:txBody>
      </p:sp>
      <p:sp>
        <p:nvSpPr>
          <p:cNvPr id="9" name="Shape 6"/>
          <p:cNvSpPr/>
          <p:nvPr/>
        </p:nvSpPr>
        <p:spPr>
          <a:xfrm>
            <a:off x="548640" y="1709928"/>
            <a:ext cx="11091672" cy="0"/>
          </a:xfrm>
          <a:prstGeom prst="line">
            <a:avLst/>
          </a:prstGeom>
          <a:noFill/>
          <a:ln w="12700">
            <a:solidFill>
              <a:srgbClr val="1C1712"/>
            </a:solidFill>
            <a:prstDash val="solid"/>
          </a:ln>
        </p:spPr>
        <p:txBody>
          <a:bodyPr/>
          <a:lstStyle/>
          <a:p>
            <a:endParaRPr lang="en-IN"/>
          </a:p>
        </p:txBody>
      </p:sp>
      <p:sp>
        <p:nvSpPr>
          <p:cNvPr id="10" name="Shape 7"/>
          <p:cNvSpPr/>
          <p:nvPr/>
        </p:nvSpPr>
        <p:spPr>
          <a:xfrm>
            <a:off x="548640" y="6355080"/>
            <a:ext cx="11091672" cy="0"/>
          </a:xfrm>
          <a:prstGeom prst="line">
            <a:avLst/>
          </a:prstGeom>
          <a:noFill/>
          <a:ln w="9525">
            <a:solidFill>
              <a:srgbClr val="A68C5E"/>
            </a:solidFill>
            <a:prstDash val="solid"/>
          </a:ln>
        </p:spPr>
        <p:txBody>
          <a:bodyPr/>
          <a:lstStyle/>
          <a:p>
            <a:endParaRPr lang="en-IN"/>
          </a:p>
        </p:txBody>
      </p:sp>
      <p:sp>
        <p:nvSpPr>
          <p:cNvPr id="11" name="Text 8"/>
          <p:cNvSpPr txBox="1"/>
          <p:nvPr/>
        </p:nvSpPr>
        <p:spPr>
          <a:xfrm>
            <a:off x="548640" y="6446520"/>
            <a:ext cx="8229600" cy="219456"/>
          </a:xfrm>
          <a:prstGeom prst="rect">
            <a:avLst/>
          </a:prstGeom>
          <a:noFill/>
          <a:ln/>
        </p:spPr>
        <p:txBody>
          <a:bodyPr wrap="square" lIns="0" tIns="0" rIns="0" bIns="0" rtlCol="0" anchor="t"/>
          <a:lstStyle/>
          <a:p>
            <a:pPr marL="0" indent="0">
              <a:buNone/>
            </a:pPr>
            <a:r>
              <a:rPr lang="en-US" sz="850" b="1" kern="0" spc="50" dirty="0">
                <a:solidFill>
                  <a:srgbClr val="7A1F1A"/>
                </a:solidFill>
                <a:latin typeface="Courier New" pitchFamily="34" charset="0"/>
                <a:ea typeface="Courier New" pitchFamily="34" charset="-122"/>
                <a:cs typeface="Courier New" pitchFamily="34" charset="-120"/>
              </a:rPr>
              <a:t>MUSTHAQUE ALI</a:t>
            </a:r>
            <a:r>
              <a:rPr lang="en-US" sz="850" kern="0" spc="50" dirty="0">
                <a:solidFill>
                  <a:srgbClr val="8A8477"/>
                </a:solidFill>
                <a:latin typeface="Courier New" pitchFamily="34" charset="0"/>
                <a:ea typeface="Courier New" pitchFamily="34" charset="-122"/>
                <a:cs typeface="Courier New" pitchFamily="34" charset="-120"/>
              </a:rPr>
              <a:t>  ·  PINNACLE RELIABILITY  ·  QRO METHODOLOGY DISPATCH</a:t>
            </a:r>
            <a:endParaRPr lang="en-US" sz="850" dirty="0"/>
          </a:p>
        </p:txBody>
      </p:sp>
      <p:sp>
        <p:nvSpPr>
          <p:cNvPr id="12" name="Text 9"/>
          <p:cNvSpPr txBox="1"/>
          <p:nvPr/>
        </p:nvSpPr>
        <p:spPr>
          <a:xfrm>
            <a:off x="10177272" y="6446520"/>
            <a:ext cx="1463040" cy="219456"/>
          </a:xfrm>
          <a:prstGeom prst="rect">
            <a:avLst/>
          </a:prstGeom>
          <a:noFill/>
          <a:ln/>
        </p:spPr>
        <p:txBody>
          <a:bodyPr wrap="square" lIns="0" tIns="0" rIns="0" bIns="0" rtlCol="0" anchor="t"/>
          <a:lstStyle/>
          <a:p>
            <a:pPr marL="0" indent="0" algn="r">
              <a:buNone/>
            </a:pPr>
            <a:r>
              <a:rPr sz="900" b="1">
                <a:solidFill>
                  <a:srgbClr val="7A1F1A"/>
                </a:solidFill>
                <a:latin typeface="Courier New"/>
              </a:rPr>
              <a:t>No. 79</a:t>
            </a:r>
            <a:r>
              <a:rPr sz="900">
                <a:solidFill>
                  <a:srgbClr val="8A8477"/>
                </a:solidFill>
                <a:latin typeface="Courier New"/>
              </a:rPr>
              <a:t> / 80</a:t>
            </a:r>
            <a:endParaRPr lang="en-US" sz="900" dirty="0"/>
          </a:p>
        </p:txBody>
      </p:sp>
      <p:sp>
        <p:nvSpPr>
          <p:cNvPr id="13" name="Shape 10"/>
          <p:cNvSpPr/>
          <p:nvPr/>
        </p:nvSpPr>
        <p:spPr>
          <a:xfrm>
            <a:off x="548640" y="1783080"/>
            <a:ext cx="5431536" cy="2148840"/>
          </a:xfrm>
          <a:prstGeom prst="rect">
            <a:avLst/>
          </a:prstGeom>
          <a:solidFill>
            <a:srgbClr val="FBF4E4"/>
          </a:solidFill>
          <a:ln w="12700">
            <a:solidFill>
              <a:srgbClr val="C9B48F"/>
            </a:solidFill>
            <a:prstDash val="solid"/>
          </a:ln>
        </p:spPr>
        <p:txBody>
          <a:bodyPr/>
          <a:lstStyle/>
          <a:p>
            <a:endParaRPr lang="en-IN"/>
          </a:p>
        </p:txBody>
      </p:sp>
      <p:sp>
        <p:nvSpPr>
          <p:cNvPr id="14" name="Text 11"/>
          <p:cNvSpPr txBox="1"/>
          <p:nvPr/>
        </p:nvSpPr>
        <p:spPr>
          <a:xfrm>
            <a:off x="777240" y="1965960"/>
            <a:ext cx="4974336"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WEIBULL RELIABILITY FUNCTION</a:t>
            </a:r>
            <a:endParaRPr lang="en-US" sz="950" dirty="0"/>
          </a:p>
        </p:txBody>
      </p:sp>
      <p:sp>
        <p:nvSpPr>
          <p:cNvPr id="15" name="Shape 12"/>
          <p:cNvSpPr/>
          <p:nvPr/>
        </p:nvSpPr>
        <p:spPr>
          <a:xfrm>
            <a:off x="777240" y="2221992"/>
            <a:ext cx="4974336" cy="0"/>
          </a:xfrm>
          <a:prstGeom prst="line">
            <a:avLst/>
          </a:prstGeom>
          <a:noFill/>
          <a:ln w="9525">
            <a:solidFill>
              <a:srgbClr val="C9B48F"/>
            </a:solidFill>
            <a:prstDash val="solid"/>
          </a:ln>
        </p:spPr>
        <p:txBody>
          <a:bodyPr/>
          <a:lstStyle/>
          <a:p>
            <a:endParaRPr lang="en-IN"/>
          </a:p>
        </p:txBody>
      </p:sp>
      <p:sp>
        <p:nvSpPr>
          <p:cNvPr id="16" name="Shape 13"/>
          <p:cNvSpPr/>
          <p:nvPr/>
        </p:nvSpPr>
        <p:spPr>
          <a:xfrm>
            <a:off x="777240" y="2350008"/>
            <a:ext cx="4974336" cy="1371600"/>
          </a:xfrm>
          <a:prstGeom prst="rect">
            <a:avLst/>
          </a:prstGeom>
          <a:solidFill>
            <a:srgbClr val="EADDC0"/>
          </a:solidFill>
          <a:ln w="12700">
            <a:solidFill>
              <a:srgbClr val="C9B48F"/>
            </a:solidFill>
            <a:prstDash val="solid"/>
          </a:ln>
        </p:spPr>
        <p:txBody>
          <a:bodyPr/>
          <a:lstStyle/>
          <a:p>
            <a:endParaRPr lang="en-IN"/>
          </a:p>
        </p:txBody>
      </p:sp>
      <p:pic>
        <p:nvPicPr>
          <p:cNvPr id="17" name="Image 1" descr="Formula"/>
          <p:cNvPicPr>
            <a:picLocks noChangeAspect="1"/>
          </p:cNvPicPr>
          <p:nvPr/>
        </p:nvPicPr>
        <p:blipFill>
          <a:blip r:embed="rId4"/>
          <a:stretch>
            <a:fillRect/>
          </a:stretch>
        </p:blipFill>
        <p:spPr>
          <a:xfrm>
            <a:off x="919058" y="2407301"/>
            <a:ext cx="4690701" cy="1238726"/>
          </a:xfrm>
          <a:prstGeom prst="rect">
            <a:avLst/>
          </a:prstGeom>
        </p:spPr>
      </p:pic>
      <p:sp>
        <p:nvSpPr>
          <p:cNvPr id="18" name="Shape 14"/>
          <p:cNvSpPr/>
          <p:nvPr/>
        </p:nvSpPr>
        <p:spPr>
          <a:xfrm>
            <a:off x="6208776" y="1783080"/>
            <a:ext cx="5431536" cy="2148840"/>
          </a:xfrm>
          <a:prstGeom prst="rect">
            <a:avLst/>
          </a:prstGeom>
          <a:solidFill>
            <a:srgbClr val="FBF4E4"/>
          </a:solidFill>
          <a:ln w="12700">
            <a:solidFill>
              <a:srgbClr val="C9B48F"/>
            </a:solidFill>
            <a:prstDash val="solid"/>
          </a:ln>
        </p:spPr>
        <p:txBody>
          <a:bodyPr/>
          <a:lstStyle/>
          <a:p>
            <a:endParaRPr lang="en-IN"/>
          </a:p>
        </p:txBody>
      </p:sp>
      <p:sp>
        <p:nvSpPr>
          <p:cNvPr id="19" name="Text 15"/>
          <p:cNvSpPr txBox="1"/>
          <p:nvPr/>
        </p:nvSpPr>
        <p:spPr>
          <a:xfrm>
            <a:off x="6437376" y="1965960"/>
            <a:ext cx="4974336"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MONETIZED OPERATIONAL RISK</a:t>
            </a:r>
            <a:endParaRPr lang="en-US" sz="950" dirty="0"/>
          </a:p>
        </p:txBody>
      </p:sp>
      <p:sp>
        <p:nvSpPr>
          <p:cNvPr id="20" name="Shape 16"/>
          <p:cNvSpPr/>
          <p:nvPr/>
        </p:nvSpPr>
        <p:spPr>
          <a:xfrm>
            <a:off x="6437376" y="2221992"/>
            <a:ext cx="4974336" cy="0"/>
          </a:xfrm>
          <a:prstGeom prst="line">
            <a:avLst/>
          </a:prstGeom>
          <a:noFill/>
          <a:ln w="9525">
            <a:solidFill>
              <a:srgbClr val="C9B48F"/>
            </a:solidFill>
            <a:prstDash val="solid"/>
          </a:ln>
        </p:spPr>
        <p:txBody>
          <a:bodyPr/>
          <a:lstStyle/>
          <a:p>
            <a:endParaRPr lang="en-IN"/>
          </a:p>
        </p:txBody>
      </p:sp>
      <p:sp>
        <p:nvSpPr>
          <p:cNvPr id="21" name="Shape 17"/>
          <p:cNvSpPr/>
          <p:nvPr/>
        </p:nvSpPr>
        <p:spPr>
          <a:xfrm>
            <a:off x="6437376" y="2350008"/>
            <a:ext cx="4974336" cy="1371600"/>
          </a:xfrm>
          <a:prstGeom prst="rect">
            <a:avLst/>
          </a:prstGeom>
          <a:solidFill>
            <a:srgbClr val="EADDC0"/>
          </a:solidFill>
          <a:ln w="12700">
            <a:solidFill>
              <a:srgbClr val="C9B48F"/>
            </a:solidFill>
            <a:prstDash val="solid"/>
          </a:ln>
        </p:spPr>
        <p:txBody>
          <a:bodyPr/>
          <a:lstStyle/>
          <a:p>
            <a:endParaRPr lang="en-IN"/>
          </a:p>
        </p:txBody>
      </p:sp>
      <p:pic>
        <p:nvPicPr>
          <p:cNvPr id="22" name="Image 2" descr="Formula"/>
          <p:cNvPicPr>
            <a:picLocks noChangeAspect="1"/>
          </p:cNvPicPr>
          <p:nvPr/>
        </p:nvPicPr>
        <p:blipFill>
          <a:blip r:embed="rId5"/>
          <a:stretch>
            <a:fillRect/>
          </a:stretch>
        </p:blipFill>
        <p:spPr>
          <a:xfrm>
            <a:off x="6943654" y="2744064"/>
            <a:ext cx="3961781" cy="565199"/>
          </a:xfrm>
          <a:prstGeom prst="rect">
            <a:avLst/>
          </a:prstGeom>
        </p:spPr>
      </p:pic>
      <p:sp>
        <p:nvSpPr>
          <p:cNvPr id="23" name="Shape 18"/>
          <p:cNvSpPr/>
          <p:nvPr/>
        </p:nvSpPr>
        <p:spPr>
          <a:xfrm>
            <a:off x="548640" y="4114800"/>
            <a:ext cx="5431536" cy="2148840"/>
          </a:xfrm>
          <a:prstGeom prst="rect">
            <a:avLst/>
          </a:prstGeom>
          <a:solidFill>
            <a:srgbClr val="FBF4E4"/>
          </a:solidFill>
          <a:ln w="12700">
            <a:solidFill>
              <a:srgbClr val="C9B48F"/>
            </a:solidFill>
            <a:prstDash val="solid"/>
          </a:ln>
        </p:spPr>
        <p:txBody>
          <a:bodyPr/>
          <a:lstStyle/>
          <a:p>
            <a:endParaRPr lang="en-IN"/>
          </a:p>
        </p:txBody>
      </p:sp>
      <p:sp>
        <p:nvSpPr>
          <p:cNvPr id="24" name="Text 19"/>
          <p:cNvSpPr txBox="1"/>
          <p:nvPr/>
        </p:nvSpPr>
        <p:spPr>
          <a:xfrm>
            <a:off x="777240" y="4297680"/>
            <a:ext cx="4974336"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EXPONENTIAL POF</a:t>
            </a:r>
            <a:endParaRPr lang="en-US" sz="950" dirty="0"/>
          </a:p>
        </p:txBody>
      </p:sp>
      <p:sp>
        <p:nvSpPr>
          <p:cNvPr id="25" name="Shape 20"/>
          <p:cNvSpPr/>
          <p:nvPr/>
        </p:nvSpPr>
        <p:spPr>
          <a:xfrm>
            <a:off x="777240" y="4553712"/>
            <a:ext cx="4974336" cy="0"/>
          </a:xfrm>
          <a:prstGeom prst="line">
            <a:avLst/>
          </a:prstGeom>
          <a:noFill/>
          <a:ln w="9525">
            <a:solidFill>
              <a:srgbClr val="C9B48F"/>
            </a:solidFill>
            <a:prstDash val="solid"/>
          </a:ln>
        </p:spPr>
        <p:txBody>
          <a:bodyPr/>
          <a:lstStyle/>
          <a:p>
            <a:endParaRPr lang="en-IN"/>
          </a:p>
        </p:txBody>
      </p:sp>
      <p:sp>
        <p:nvSpPr>
          <p:cNvPr id="26" name="Shape 21"/>
          <p:cNvSpPr/>
          <p:nvPr/>
        </p:nvSpPr>
        <p:spPr>
          <a:xfrm>
            <a:off x="777240" y="4681728"/>
            <a:ext cx="4974336" cy="1371600"/>
          </a:xfrm>
          <a:prstGeom prst="rect">
            <a:avLst/>
          </a:prstGeom>
          <a:solidFill>
            <a:srgbClr val="EADDC0"/>
          </a:solidFill>
          <a:ln w="12700">
            <a:solidFill>
              <a:srgbClr val="C9B48F"/>
            </a:solidFill>
            <a:prstDash val="solid"/>
          </a:ln>
        </p:spPr>
        <p:txBody>
          <a:bodyPr/>
          <a:lstStyle/>
          <a:p>
            <a:endParaRPr lang="en-IN"/>
          </a:p>
        </p:txBody>
      </p:sp>
      <p:pic>
        <p:nvPicPr>
          <p:cNvPr id="27" name="Image 3" descr="Formula"/>
          <p:cNvPicPr>
            <a:picLocks noChangeAspect="1"/>
          </p:cNvPicPr>
          <p:nvPr/>
        </p:nvPicPr>
        <p:blipFill>
          <a:blip r:embed="rId6"/>
          <a:stretch>
            <a:fillRect/>
          </a:stretch>
        </p:blipFill>
        <p:spPr>
          <a:xfrm>
            <a:off x="1445109" y="5057954"/>
            <a:ext cx="3638598" cy="600861"/>
          </a:xfrm>
          <a:prstGeom prst="rect">
            <a:avLst/>
          </a:prstGeom>
        </p:spPr>
      </p:pic>
      <p:sp>
        <p:nvSpPr>
          <p:cNvPr id="28" name="Shape 22"/>
          <p:cNvSpPr/>
          <p:nvPr/>
        </p:nvSpPr>
        <p:spPr>
          <a:xfrm>
            <a:off x="6208776" y="4114800"/>
            <a:ext cx="5431536" cy="2148840"/>
          </a:xfrm>
          <a:prstGeom prst="rect">
            <a:avLst/>
          </a:prstGeom>
          <a:solidFill>
            <a:srgbClr val="FBF4E4"/>
          </a:solidFill>
          <a:ln w="12700">
            <a:solidFill>
              <a:srgbClr val="C9B48F"/>
            </a:solidFill>
            <a:prstDash val="solid"/>
          </a:ln>
        </p:spPr>
        <p:txBody>
          <a:bodyPr/>
          <a:lstStyle/>
          <a:p>
            <a:endParaRPr lang="en-IN"/>
          </a:p>
        </p:txBody>
      </p:sp>
      <p:sp>
        <p:nvSpPr>
          <p:cNvPr id="29" name="Text 23"/>
          <p:cNvSpPr txBox="1"/>
          <p:nvPr/>
        </p:nvSpPr>
        <p:spPr>
          <a:xfrm>
            <a:off x="6437376" y="4297680"/>
            <a:ext cx="4974336" cy="219456"/>
          </a:xfrm>
          <a:prstGeom prst="rect">
            <a:avLst/>
          </a:prstGeom>
          <a:noFill/>
          <a:ln/>
        </p:spPr>
        <p:txBody>
          <a:bodyPr wrap="square" lIns="0" tIns="0" rIns="0" bIns="0" rtlCol="0" anchor="t"/>
          <a:lstStyle/>
          <a:p>
            <a:pPr marL="0" indent="0">
              <a:buNone/>
            </a:pPr>
            <a:r>
              <a:rPr lang="en-US" sz="950" b="1" kern="0" spc="150" dirty="0">
                <a:solidFill>
                  <a:srgbClr val="7A1F1A"/>
                </a:solidFill>
                <a:latin typeface="Courier New" pitchFamily="34" charset="0"/>
                <a:ea typeface="Courier New" pitchFamily="34" charset="-122"/>
                <a:cs typeface="Courier New" pitchFamily="34" charset="-120"/>
              </a:rPr>
              <a:t>BENEFIT-COST RATIO (BCR)</a:t>
            </a:r>
            <a:endParaRPr lang="en-US" sz="950" dirty="0"/>
          </a:p>
        </p:txBody>
      </p:sp>
      <p:sp>
        <p:nvSpPr>
          <p:cNvPr id="30" name="Shape 24"/>
          <p:cNvSpPr/>
          <p:nvPr/>
        </p:nvSpPr>
        <p:spPr>
          <a:xfrm>
            <a:off x="6437376" y="4553712"/>
            <a:ext cx="4974336" cy="0"/>
          </a:xfrm>
          <a:prstGeom prst="line">
            <a:avLst/>
          </a:prstGeom>
          <a:noFill/>
          <a:ln w="9525">
            <a:solidFill>
              <a:srgbClr val="C9B48F"/>
            </a:solidFill>
            <a:prstDash val="solid"/>
          </a:ln>
        </p:spPr>
        <p:txBody>
          <a:bodyPr/>
          <a:lstStyle/>
          <a:p>
            <a:endParaRPr lang="en-IN"/>
          </a:p>
        </p:txBody>
      </p:sp>
      <p:sp>
        <p:nvSpPr>
          <p:cNvPr id="31" name="Shape 25"/>
          <p:cNvSpPr/>
          <p:nvPr/>
        </p:nvSpPr>
        <p:spPr>
          <a:xfrm>
            <a:off x="6437376" y="4681728"/>
            <a:ext cx="4974336" cy="1371600"/>
          </a:xfrm>
          <a:prstGeom prst="rect">
            <a:avLst/>
          </a:prstGeom>
          <a:solidFill>
            <a:srgbClr val="EADDC0"/>
          </a:solidFill>
          <a:ln w="12700">
            <a:solidFill>
              <a:srgbClr val="C9B48F"/>
            </a:solidFill>
            <a:prstDash val="solid"/>
          </a:ln>
        </p:spPr>
        <p:txBody>
          <a:bodyPr/>
          <a:lstStyle/>
          <a:p>
            <a:endParaRPr lang="en-IN"/>
          </a:p>
        </p:txBody>
      </p:sp>
      <p:pic>
        <p:nvPicPr>
          <p:cNvPr id="32" name="Image 4" descr="Formula"/>
          <p:cNvPicPr>
            <a:picLocks noChangeAspect="1"/>
          </p:cNvPicPr>
          <p:nvPr/>
        </p:nvPicPr>
        <p:blipFill>
          <a:blip r:embed="rId7"/>
          <a:stretch>
            <a:fillRect/>
          </a:stretch>
        </p:blipFill>
        <p:spPr>
          <a:xfrm>
            <a:off x="6528816" y="5124876"/>
            <a:ext cx="4791456" cy="467017"/>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68">
    <p:bg>
      <p:bgPr>
        <a:solidFill>
          <a:srgbClr val="F4EBD7"/>
        </a:solidFill>
        <a:effectLst/>
      </p:bgPr>
    </p:bg>
    <p:spTree>
      <p:nvGrpSpPr>
        <p:cNvPr id="1" name=""/>
        <p:cNvGrpSpPr/>
        <p:nvPr/>
      </p:nvGrpSpPr>
      <p:grpSpPr>
        <a:xfrm>
          <a:off x="0" y="0"/>
          <a:ext cx="0" cy="0"/>
          <a:chOff x="0" y="0"/>
          <a:chExt cx="0" cy="0"/>
        </a:xfrm>
      </p:grpSpPr>
      <p:pic>
        <p:nvPicPr>
          <p:cNvPr id="2" name="Image 0" descr="assets/bg_cover.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548640" y="457200"/>
            <a:ext cx="11091672" cy="256032"/>
          </a:xfrm>
          <a:prstGeom prst="rect">
            <a:avLst/>
          </a:prstGeom>
          <a:noFill/>
          <a:ln/>
        </p:spPr>
        <p:txBody>
          <a:bodyPr wrap="square" lIns="0" tIns="0" rIns="0" bIns="0" rtlCol="0" anchor="t"/>
          <a:lstStyle/>
          <a:p>
            <a:pPr marL="0" indent="0" algn="ctr">
              <a:buNone/>
            </a:pPr>
            <a:r>
              <a:rPr lang="en-US" sz="1000" b="1" kern="0" spc="300" dirty="0">
                <a:solidFill>
                  <a:srgbClr val="7A1F1A"/>
                </a:solidFill>
                <a:latin typeface="Courier New" pitchFamily="34" charset="0"/>
                <a:ea typeface="Courier New" pitchFamily="34" charset="-122"/>
                <a:cs typeface="Courier New" pitchFamily="34" charset="-120"/>
              </a:rPr>
              <a:t>DISPATCH CLOSING</a:t>
            </a:r>
            <a:endParaRPr lang="en-US" sz="1000" dirty="0"/>
          </a:p>
        </p:txBody>
      </p:sp>
      <p:sp>
        <p:nvSpPr>
          <p:cNvPr id="4" name="Shape 1"/>
          <p:cNvSpPr/>
          <p:nvPr/>
        </p:nvSpPr>
        <p:spPr>
          <a:xfrm>
            <a:off x="822960" y="822960"/>
            <a:ext cx="10543032" cy="41148"/>
          </a:xfrm>
          <a:prstGeom prst="rect">
            <a:avLst/>
          </a:prstGeom>
          <a:solidFill>
            <a:srgbClr val="1C1712"/>
          </a:solidFill>
          <a:ln w="12700">
            <a:solidFill>
              <a:srgbClr val="333333"/>
            </a:solidFill>
            <a:prstDash val="solid"/>
          </a:ln>
        </p:spPr>
        <p:txBody>
          <a:bodyPr/>
          <a:lstStyle/>
          <a:p>
            <a:endParaRPr lang="en-IN"/>
          </a:p>
        </p:txBody>
      </p:sp>
      <p:sp>
        <p:nvSpPr>
          <p:cNvPr id="5" name="Shape 2"/>
          <p:cNvSpPr/>
          <p:nvPr/>
        </p:nvSpPr>
        <p:spPr>
          <a:xfrm>
            <a:off x="822960" y="905256"/>
            <a:ext cx="10543032" cy="0"/>
          </a:xfrm>
          <a:prstGeom prst="line">
            <a:avLst/>
          </a:prstGeom>
          <a:noFill/>
          <a:ln w="12700">
            <a:solidFill>
              <a:srgbClr val="1C1712"/>
            </a:solidFill>
            <a:prstDash val="solid"/>
          </a:ln>
        </p:spPr>
        <p:txBody>
          <a:bodyPr/>
          <a:lstStyle/>
          <a:p>
            <a:endParaRPr lang="en-IN"/>
          </a:p>
        </p:txBody>
      </p:sp>
      <p:sp>
        <p:nvSpPr>
          <p:cNvPr id="6" name="Text 3"/>
          <p:cNvSpPr txBox="1"/>
          <p:nvPr/>
        </p:nvSpPr>
        <p:spPr>
          <a:xfrm>
            <a:off x="548640" y="1051560"/>
            <a:ext cx="11091672" cy="914400"/>
          </a:xfrm>
          <a:prstGeom prst="rect">
            <a:avLst/>
          </a:prstGeom>
          <a:noFill/>
          <a:ln/>
        </p:spPr>
        <p:txBody>
          <a:bodyPr wrap="square" lIns="0" tIns="0" rIns="0" bIns="0" rtlCol="0" anchor="ctr"/>
          <a:lstStyle/>
          <a:p>
            <a:pPr marL="0" indent="0" algn="ctr">
              <a:buNone/>
            </a:pPr>
            <a:r>
              <a:rPr lang="en-US" sz="4400" b="1" dirty="0">
                <a:solidFill>
                  <a:srgbClr val="1C1712"/>
                </a:solidFill>
                <a:latin typeface="Cambria" pitchFamily="34" charset="0"/>
                <a:ea typeface="Cambria" pitchFamily="34" charset="-122"/>
                <a:cs typeface="Cambria" pitchFamily="34" charset="-120"/>
              </a:rPr>
              <a:t>Reliability Optimization Realized</a:t>
            </a:r>
            <a:endParaRPr lang="en-US" sz="4400" dirty="0"/>
          </a:p>
        </p:txBody>
      </p:sp>
      <p:sp>
        <p:nvSpPr>
          <p:cNvPr id="7" name="Text 4"/>
          <p:cNvSpPr txBox="1"/>
          <p:nvPr/>
        </p:nvSpPr>
        <p:spPr>
          <a:xfrm>
            <a:off x="548640" y="1965960"/>
            <a:ext cx="11091672" cy="365760"/>
          </a:xfrm>
          <a:prstGeom prst="rect">
            <a:avLst/>
          </a:prstGeom>
          <a:noFill/>
          <a:ln/>
        </p:spPr>
        <p:txBody>
          <a:bodyPr wrap="square" lIns="0" tIns="0" rIns="0" bIns="0" rtlCol="0" anchor="t"/>
          <a:lstStyle/>
          <a:p>
            <a:pPr marL="0" indent="0" algn="ctr">
              <a:buNone/>
            </a:pPr>
            <a:r>
              <a:rPr lang="en-US" sz="1600" i="1" dirty="0">
                <a:solidFill>
                  <a:srgbClr val="5A5347"/>
                </a:solidFill>
                <a:latin typeface="Cambria" pitchFamily="34" charset="0"/>
                <a:ea typeface="Cambria" pitchFamily="34" charset="-122"/>
                <a:cs typeface="Cambria" pitchFamily="34" charset="-120"/>
              </a:rPr>
              <a:t>Highest Reliability Performance at the Lowest Cost Possible — with Data-Driven Confidence</a:t>
            </a:r>
            <a:endParaRPr lang="en-US" sz="1600" dirty="0"/>
          </a:p>
        </p:txBody>
      </p:sp>
      <p:sp>
        <p:nvSpPr>
          <p:cNvPr id="8" name="Shape 5"/>
          <p:cNvSpPr/>
          <p:nvPr/>
        </p:nvSpPr>
        <p:spPr>
          <a:xfrm>
            <a:off x="822960" y="2514600"/>
            <a:ext cx="10543032" cy="0"/>
          </a:xfrm>
          <a:prstGeom prst="line">
            <a:avLst/>
          </a:prstGeom>
          <a:noFill/>
          <a:ln w="19050">
            <a:solidFill>
              <a:srgbClr val="7A1F1A"/>
            </a:solidFill>
            <a:prstDash val="solid"/>
          </a:ln>
        </p:spPr>
        <p:txBody>
          <a:bodyPr/>
          <a:lstStyle/>
          <a:p>
            <a:endParaRPr lang="en-IN"/>
          </a:p>
        </p:txBody>
      </p:sp>
      <p:sp>
        <p:nvSpPr>
          <p:cNvPr id="9" name="Shape 6"/>
          <p:cNvSpPr/>
          <p:nvPr/>
        </p:nvSpPr>
        <p:spPr>
          <a:xfrm>
            <a:off x="548640" y="2834640"/>
            <a:ext cx="3547872" cy="2331720"/>
          </a:xfrm>
          <a:prstGeom prst="rect">
            <a:avLst/>
          </a:prstGeom>
          <a:solidFill>
            <a:srgbClr val="FBF4E4"/>
          </a:solidFill>
          <a:ln w="12700">
            <a:solidFill>
              <a:srgbClr val="C9B48F"/>
            </a:solidFill>
            <a:prstDash val="solid"/>
          </a:ln>
        </p:spPr>
        <p:txBody>
          <a:bodyPr/>
          <a:lstStyle/>
          <a:p>
            <a:endParaRPr lang="en-IN"/>
          </a:p>
        </p:txBody>
      </p:sp>
      <p:sp>
        <p:nvSpPr>
          <p:cNvPr id="10" name="Shape 7"/>
          <p:cNvSpPr/>
          <p:nvPr/>
        </p:nvSpPr>
        <p:spPr>
          <a:xfrm>
            <a:off x="1979676" y="3063240"/>
            <a:ext cx="685800" cy="685800"/>
          </a:xfrm>
          <a:prstGeom prst="ellipse">
            <a:avLst/>
          </a:prstGeom>
          <a:solidFill>
            <a:srgbClr val="DCE6EC"/>
          </a:solidFill>
          <a:ln w="15875">
            <a:solidFill>
              <a:srgbClr val="1A4A6E"/>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2151126" y="3234690"/>
            <a:ext cx="342900" cy="342900"/>
          </a:xfrm>
          <a:prstGeom prst="rect">
            <a:avLst/>
          </a:prstGeom>
        </p:spPr>
      </p:pic>
      <p:sp>
        <p:nvSpPr>
          <p:cNvPr id="12" name="Text 8"/>
          <p:cNvSpPr txBox="1"/>
          <p:nvPr/>
        </p:nvSpPr>
        <p:spPr>
          <a:xfrm>
            <a:off x="548640" y="3931920"/>
            <a:ext cx="3547872" cy="365760"/>
          </a:xfrm>
          <a:prstGeom prst="rect">
            <a:avLst/>
          </a:prstGeom>
          <a:noFill/>
          <a:ln/>
        </p:spPr>
        <p:txBody>
          <a:bodyPr wrap="square" lIns="0" tIns="0" rIns="0" bIns="0" rtlCol="0" anchor="t"/>
          <a:lstStyle/>
          <a:p>
            <a:pPr marL="0" indent="0" algn="ctr">
              <a:buNone/>
            </a:pPr>
            <a:r>
              <a:rPr lang="en-US" sz="1700" b="1" dirty="0">
                <a:solidFill>
                  <a:srgbClr val="1A4A6E"/>
                </a:solidFill>
                <a:latin typeface="Cambria" pitchFamily="34" charset="0"/>
                <a:ea typeface="Cambria" pitchFamily="34" charset="-122"/>
                <a:cs typeface="Cambria" pitchFamily="34" charset="-120"/>
              </a:rPr>
              <a:t>Uncertainty Quantified</a:t>
            </a:r>
            <a:endParaRPr lang="en-US" sz="1700" dirty="0"/>
          </a:p>
        </p:txBody>
      </p:sp>
      <p:sp>
        <p:nvSpPr>
          <p:cNvPr id="13" name="Text 9"/>
          <p:cNvSpPr txBox="1"/>
          <p:nvPr/>
        </p:nvSpPr>
        <p:spPr>
          <a:xfrm>
            <a:off x="822960" y="4343400"/>
            <a:ext cx="2999232" cy="731520"/>
          </a:xfrm>
          <a:prstGeom prst="rect">
            <a:avLst/>
          </a:prstGeom>
          <a:noFill/>
          <a:ln/>
        </p:spPr>
        <p:txBody>
          <a:bodyPr wrap="square" lIns="0" tIns="0" rIns="0" bIns="0" rtlCol="0" anchor="t"/>
          <a:lstStyle/>
          <a:p>
            <a:pPr marL="0" indent="0" algn="ctr">
              <a:buNone/>
            </a:pPr>
            <a:r>
              <a:rPr lang="en-US" sz="1300" dirty="0">
                <a:solidFill>
                  <a:srgbClr val="2C261E"/>
                </a:solidFill>
                <a:latin typeface="Cambria" pitchFamily="34" charset="0"/>
                <a:ea typeface="Cambria" pitchFamily="34" charset="-122"/>
                <a:cs typeface="Cambria" pitchFamily="34" charset="-120"/>
              </a:rPr>
              <a:t>Replaces qualitative guesswork with stochastic LVC confidence bounds.</a:t>
            </a:r>
            <a:endParaRPr lang="en-US" sz="1300" dirty="0"/>
          </a:p>
        </p:txBody>
      </p:sp>
      <p:sp>
        <p:nvSpPr>
          <p:cNvPr id="14" name="Shape 10"/>
          <p:cNvSpPr/>
          <p:nvPr/>
        </p:nvSpPr>
        <p:spPr>
          <a:xfrm>
            <a:off x="4320540" y="2834640"/>
            <a:ext cx="3547872" cy="2331720"/>
          </a:xfrm>
          <a:prstGeom prst="rect">
            <a:avLst/>
          </a:prstGeom>
          <a:solidFill>
            <a:srgbClr val="FBF4E4"/>
          </a:solidFill>
          <a:ln w="12700">
            <a:solidFill>
              <a:srgbClr val="C9B48F"/>
            </a:solidFill>
            <a:prstDash val="solid"/>
          </a:ln>
        </p:spPr>
        <p:txBody>
          <a:bodyPr/>
          <a:lstStyle/>
          <a:p>
            <a:endParaRPr lang="en-IN"/>
          </a:p>
        </p:txBody>
      </p:sp>
      <p:sp>
        <p:nvSpPr>
          <p:cNvPr id="15" name="Shape 11"/>
          <p:cNvSpPr/>
          <p:nvPr/>
        </p:nvSpPr>
        <p:spPr>
          <a:xfrm>
            <a:off x="5751576" y="3063240"/>
            <a:ext cx="685800" cy="685800"/>
          </a:xfrm>
          <a:prstGeom prst="ellipse">
            <a:avLst/>
          </a:prstGeom>
          <a:solidFill>
            <a:srgbClr val="DDE7D6"/>
          </a:solidFill>
          <a:ln w="15875">
            <a:solidFill>
              <a:srgbClr val="2F6B3A"/>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5923026" y="3234690"/>
            <a:ext cx="342900" cy="342900"/>
          </a:xfrm>
          <a:prstGeom prst="rect">
            <a:avLst/>
          </a:prstGeom>
        </p:spPr>
      </p:pic>
      <p:sp>
        <p:nvSpPr>
          <p:cNvPr id="17" name="Text 12"/>
          <p:cNvSpPr txBox="1"/>
          <p:nvPr/>
        </p:nvSpPr>
        <p:spPr>
          <a:xfrm>
            <a:off x="4320540" y="3931920"/>
            <a:ext cx="3547872" cy="365760"/>
          </a:xfrm>
          <a:prstGeom prst="rect">
            <a:avLst/>
          </a:prstGeom>
          <a:noFill/>
          <a:ln/>
        </p:spPr>
        <p:txBody>
          <a:bodyPr wrap="square" lIns="0" tIns="0" rIns="0" bIns="0" rtlCol="0" anchor="t"/>
          <a:lstStyle/>
          <a:p>
            <a:pPr marL="0" indent="0" algn="ctr">
              <a:buNone/>
            </a:pPr>
            <a:r>
              <a:rPr lang="en-US" sz="1700" b="1" dirty="0">
                <a:solidFill>
                  <a:srgbClr val="2F6B3A"/>
                </a:solidFill>
                <a:latin typeface="Cambria" pitchFamily="34" charset="0"/>
                <a:ea typeface="Cambria" pitchFamily="34" charset="-122"/>
                <a:cs typeface="Cambria" pitchFamily="34" charset="-120"/>
              </a:rPr>
              <a:t>Availability Forecasted</a:t>
            </a:r>
            <a:endParaRPr lang="en-US" sz="1700" dirty="0"/>
          </a:p>
        </p:txBody>
      </p:sp>
      <p:sp>
        <p:nvSpPr>
          <p:cNvPr id="18" name="Text 13"/>
          <p:cNvSpPr txBox="1"/>
          <p:nvPr/>
        </p:nvSpPr>
        <p:spPr>
          <a:xfrm>
            <a:off x="4594860" y="4343400"/>
            <a:ext cx="2999232" cy="731520"/>
          </a:xfrm>
          <a:prstGeom prst="rect">
            <a:avLst/>
          </a:prstGeom>
          <a:noFill/>
          <a:ln/>
        </p:spPr>
        <p:txBody>
          <a:bodyPr wrap="square" lIns="0" tIns="0" rIns="0" bIns="0" rtlCol="0" anchor="t"/>
          <a:lstStyle/>
          <a:p>
            <a:pPr marL="0" indent="0" algn="ctr">
              <a:buNone/>
            </a:pPr>
            <a:r>
              <a:rPr lang="en-US" sz="1300" dirty="0">
                <a:solidFill>
                  <a:srgbClr val="2C261E"/>
                </a:solidFill>
                <a:latin typeface="Cambria" pitchFamily="34" charset="0"/>
                <a:ea typeface="Cambria" pitchFamily="34" charset="-122"/>
                <a:cs typeface="Cambria" pitchFamily="34" charset="-120"/>
              </a:rPr>
              <a:t>Markov-chain simulations predict live facility uptime in near-real-time.</a:t>
            </a:r>
            <a:endParaRPr lang="en-US" sz="1300" dirty="0"/>
          </a:p>
        </p:txBody>
      </p:sp>
      <p:sp>
        <p:nvSpPr>
          <p:cNvPr id="19" name="Shape 14"/>
          <p:cNvSpPr/>
          <p:nvPr/>
        </p:nvSpPr>
        <p:spPr>
          <a:xfrm>
            <a:off x="8092440" y="2834640"/>
            <a:ext cx="3547872" cy="2331720"/>
          </a:xfrm>
          <a:prstGeom prst="rect">
            <a:avLst/>
          </a:prstGeom>
          <a:solidFill>
            <a:srgbClr val="FBF4E4"/>
          </a:solidFill>
          <a:ln w="12700">
            <a:solidFill>
              <a:srgbClr val="C9B48F"/>
            </a:solidFill>
            <a:prstDash val="solid"/>
          </a:ln>
        </p:spPr>
        <p:txBody>
          <a:bodyPr/>
          <a:lstStyle/>
          <a:p>
            <a:endParaRPr lang="en-IN"/>
          </a:p>
        </p:txBody>
      </p:sp>
      <p:sp>
        <p:nvSpPr>
          <p:cNvPr id="20" name="Shape 15"/>
          <p:cNvSpPr/>
          <p:nvPr/>
        </p:nvSpPr>
        <p:spPr>
          <a:xfrm>
            <a:off x="9523476" y="3063240"/>
            <a:ext cx="685800" cy="685800"/>
          </a:xfrm>
          <a:prstGeom prst="ellipse">
            <a:avLst/>
          </a:prstGeom>
          <a:solidFill>
            <a:srgbClr val="EDE2C4"/>
          </a:solidFill>
          <a:ln w="15875">
            <a:solidFill>
              <a:srgbClr val="9A6A12"/>
            </a:solidFill>
            <a:prstDash val="solid"/>
          </a:ln>
        </p:spPr>
        <p:txBody>
          <a:bodyPr/>
          <a:lstStyle/>
          <a:p>
            <a:endParaRPr lang="en-IN"/>
          </a:p>
        </p:txBody>
      </p:sp>
      <p:pic>
        <p:nvPicPr>
          <p:cNvPr id="21" name="Image 3" descr="preencoded.png"/>
          <p:cNvPicPr>
            <a:picLocks noChangeAspect="1"/>
          </p:cNvPicPr>
          <p:nvPr/>
        </p:nvPicPr>
        <p:blipFill>
          <a:blip r:embed="rId6"/>
          <a:stretch>
            <a:fillRect/>
          </a:stretch>
        </p:blipFill>
        <p:spPr>
          <a:xfrm>
            <a:off x="9694926" y="3234690"/>
            <a:ext cx="342900" cy="342900"/>
          </a:xfrm>
          <a:prstGeom prst="rect">
            <a:avLst/>
          </a:prstGeom>
        </p:spPr>
      </p:pic>
      <p:sp>
        <p:nvSpPr>
          <p:cNvPr id="22" name="Text 16"/>
          <p:cNvSpPr txBox="1"/>
          <p:nvPr/>
        </p:nvSpPr>
        <p:spPr>
          <a:xfrm>
            <a:off x="8092440" y="3931920"/>
            <a:ext cx="3547872" cy="365760"/>
          </a:xfrm>
          <a:prstGeom prst="rect">
            <a:avLst/>
          </a:prstGeom>
          <a:noFill/>
          <a:ln/>
        </p:spPr>
        <p:txBody>
          <a:bodyPr wrap="square" lIns="0" tIns="0" rIns="0" bIns="0" rtlCol="0" anchor="t"/>
          <a:lstStyle/>
          <a:p>
            <a:pPr marL="0" indent="0" algn="ctr">
              <a:buNone/>
            </a:pPr>
            <a:r>
              <a:rPr lang="en-US" sz="1700" b="1" dirty="0">
                <a:solidFill>
                  <a:srgbClr val="9A6A12"/>
                </a:solidFill>
                <a:latin typeface="Cambria" pitchFamily="34" charset="0"/>
                <a:ea typeface="Cambria" pitchFamily="34" charset="-122"/>
                <a:cs typeface="Cambria" pitchFamily="34" charset="-120"/>
              </a:rPr>
              <a:t>Tasks Optimized</a:t>
            </a:r>
            <a:endParaRPr lang="en-US" sz="1700" dirty="0"/>
          </a:p>
        </p:txBody>
      </p:sp>
      <p:sp>
        <p:nvSpPr>
          <p:cNvPr id="23" name="Text 17"/>
          <p:cNvSpPr txBox="1"/>
          <p:nvPr/>
        </p:nvSpPr>
        <p:spPr>
          <a:xfrm>
            <a:off x="8366760" y="4343400"/>
            <a:ext cx="2999232" cy="731520"/>
          </a:xfrm>
          <a:prstGeom prst="rect">
            <a:avLst/>
          </a:prstGeom>
          <a:noFill/>
          <a:ln/>
        </p:spPr>
        <p:txBody>
          <a:bodyPr wrap="square" lIns="0" tIns="0" rIns="0" bIns="0" rtlCol="0" anchor="t"/>
          <a:lstStyle/>
          <a:p>
            <a:pPr marL="0" indent="0" algn="ctr">
              <a:buNone/>
            </a:pPr>
            <a:r>
              <a:rPr lang="en-US" sz="1300" dirty="0">
                <a:solidFill>
                  <a:srgbClr val="2C261E"/>
                </a:solidFill>
                <a:latin typeface="Cambria" pitchFamily="34" charset="0"/>
                <a:ea typeface="Cambria" pitchFamily="34" charset="-122"/>
                <a:cs typeface="Cambria" pitchFamily="34" charset="-120"/>
              </a:rPr>
              <a:t>BCR rankings and grouping ensure every maintenance dollar is justified.</a:t>
            </a:r>
            <a:endParaRPr lang="en-US" sz="1300" dirty="0"/>
          </a:p>
        </p:txBody>
      </p:sp>
      <p:sp>
        <p:nvSpPr>
          <p:cNvPr id="24" name="Shape 18"/>
          <p:cNvSpPr/>
          <p:nvPr/>
        </p:nvSpPr>
        <p:spPr>
          <a:xfrm rot="-180000">
            <a:off x="2880360" y="5486400"/>
            <a:ext cx="2743200" cy="365760"/>
          </a:xfrm>
          <a:prstGeom prst="rect">
            <a:avLst/>
          </a:prstGeom>
          <a:ln w="25400">
            <a:solidFill>
              <a:srgbClr val="7A1F1A"/>
            </a:solidFill>
            <a:prstDash val="solid"/>
          </a:ln>
        </p:spPr>
        <p:txBody>
          <a:bodyPr/>
          <a:lstStyle/>
          <a:p>
            <a:endParaRPr lang="en-IN"/>
          </a:p>
        </p:txBody>
      </p:sp>
      <p:sp>
        <p:nvSpPr>
          <p:cNvPr id="25" name="Text 19"/>
          <p:cNvSpPr txBox="1"/>
          <p:nvPr/>
        </p:nvSpPr>
        <p:spPr>
          <a:xfrm rot="-180000">
            <a:off x="2880360" y="5486400"/>
            <a:ext cx="2743200" cy="365760"/>
          </a:xfrm>
          <a:prstGeom prst="rect">
            <a:avLst/>
          </a:prstGeom>
          <a:noFill/>
          <a:ln/>
        </p:spPr>
        <p:txBody>
          <a:bodyPr wrap="square" lIns="0" tIns="0" rIns="0" bIns="0" rtlCol="0" anchor="ctr"/>
          <a:lstStyle/>
          <a:p>
            <a:pPr marL="0" indent="0" algn="ctr">
              <a:buNone/>
            </a:pPr>
            <a:r>
              <a:rPr lang="en-US" sz="950" b="1" kern="0" spc="100" dirty="0">
                <a:solidFill>
                  <a:srgbClr val="7A1F1A"/>
                </a:solidFill>
                <a:latin typeface="Courier New" pitchFamily="34" charset="0"/>
                <a:ea typeface="Courier New" pitchFamily="34" charset="-122"/>
                <a:cs typeface="Courier New" pitchFamily="34" charset="-120"/>
              </a:rPr>
              <a:t>★ PINNACLE RELIABILITY ★</a:t>
            </a:r>
            <a:endParaRPr lang="en-US" sz="950" dirty="0"/>
          </a:p>
        </p:txBody>
      </p:sp>
      <p:sp>
        <p:nvSpPr>
          <p:cNvPr id="28" name="Text 22"/>
          <p:cNvSpPr txBox="1"/>
          <p:nvPr/>
        </p:nvSpPr>
        <p:spPr>
          <a:xfrm>
            <a:off x="548640" y="6126480"/>
            <a:ext cx="11091672" cy="274320"/>
          </a:xfrm>
          <a:prstGeom prst="rect">
            <a:avLst/>
          </a:prstGeom>
          <a:noFill/>
          <a:ln/>
        </p:spPr>
        <p:txBody>
          <a:bodyPr wrap="square" lIns="0" tIns="0" rIns="0" bIns="0" rtlCol="0" anchor="t"/>
          <a:lstStyle/>
          <a:p>
            <a:pPr marL="0" indent="0" algn="ctr">
              <a:buNone/>
            </a:pPr>
            <a:r>
              <a:rPr lang="en-US" sz="850" kern="0" spc="50" dirty="0">
                <a:solidFill>
                  <a:srgbClr val="8A8477"/>
                </a:solidFill>
                <a:latin typeface="Courier New" pitchFamily="34" charset="0"/>
                <a:ea typeface="Courier New" pitchFamily="34" charset="-122"/>
                <a:cs typeface="Courier New" pitchFamily="34" charset="-120"/>
              </a:rPr>
              <a:t>PRESENTED BY MUSTHAQUE ALI · MECHANICAL INTEGRITY ENGINEER (RELIABILITY DATA ANALYST) · NIT CALICUT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9945</Words>
  <Application>Microsoft Office PowerPoint</Application>
  <PresentationFormat>Widescreen</PresentationFormat>
  <Paragraphs>1393</Paragraphs>
  <Slides>80</Slides>
  <Notes>68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80</vt:i4>
      </vt:variant>
    </vt:vector>
  </HeadingPairs>
  <TitlesOfParts>
    <vt:vector size="84" baseType="lpstr">
      <vt:lpstr>Arial</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Quantitative Reliability Optimization</dc:title>
  <dc:subject>PptxGenJS Presentation</dc:subject>
  <dc:creator>Musthaque Ali</dc:creator>
  <cp:lastModifiedBy>Musthaque Mayalankottu</cp:lastModifiedBy>
  <cp:revision>5</cp:revision>
  <dcterms:created xsi:type="dcterms:W3CDTF">2026-09-11T05:40:37Z</dcterms:created>
  <dcterms:modified xsi:type="dcterms:W3CDTF">2026-09-18T12:46:48Z</dcterms:modified>
</cp:coreProperties>
</file>